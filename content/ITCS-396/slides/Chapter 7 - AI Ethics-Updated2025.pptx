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39"/>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91" r:id="rId15"/>
    <p:sldId id="292" r:id="rId16"/>
    <p:sldId id="293" r:id="rId17"/>
    <p:sldId id="287" r:id="rId18"/>
    <p:sldId id="288" r:id="rId19"/>
    <p:sldId id="289" r:id="rId20"/>
    <p:sldId id="290" r:id="rId21"/>
    <p:sldId id="271" r:id="rId22"/>
    <p:sldId id="272" r:id="rId23"/>
    <p:sldId id="273" r:id="rId24"/>
    <p:sldId id="274" r:id="rId25"/>
    <p:sldId id="275" r:id="rId26"/>
    <p:sldId id="276" r:id="rId27"/>
    <p:sldId id="294" r:id="rId28"/>
    <p:sldId id="277" r:id="rId29"/>
    <p:sldId id="278" r:id="rId30"/>
    <p:sldId id="279" r:id="rId31"/>
    <p:sldId id="281" r:id="rId32"/>
    <p:sldId id="282" r:id="rId33"/>
    <p:sldId id="283" r:id="rId34"/>
    <p:sldId id="284" r:id="rId35"/>
    <p:sldId id="285" r:id="rId36"/>
    <p:sldId id="286" r:id="rId37"/>
    <p:sldId id="29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ACEAF2-4F25-4121-8060-B88DF0BF1B20}" v="7" dt="2026-02-02T10:41:24.1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067" autoAdjust="0"/>
  </p:normalViewPr>
  <p:slideViewPr>
    <p:cSldViewPr snapToGrid="0">
      <p:cViewPr varScale="1">
        <p:scale>
          <a:sx n="82" d="100"/>
          <a:sy n="82" d="100"/>
        </p:scale>
        <p:origin x="720" y="72"/>
      </p:cViewPr>
      <p:guideLst/>
    </p:cSldViewPr>
  </p:slideViewPr>
  <p:outlineViewPr>
    <p:cViewPr>
      <p:scale>
        <a:sx n="33" d="100"/>
        <a:sy n="33" d="100"/>
      </p:scale>
      <p:origin x="0" y="-1211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YAQOOB SALMAN MOHAMED ALSLAIS" userId="3b843498-0d2f-436b-9cfb-0641998d3142" providerId="ADAL" clId="{14E12B48-7A42-4907-9A13-F7839ACECA24}"/>
    <pc:docChg chg="undo custSel addSld delSld modSld sldOrd">
      <pc:chgData name="Dr. YAQOOB SALMAN MOHAMED ALSLAIS" userId="3b843498-0d2f-436b-9cfb-0641998d3142" providerId="ADAL" clId="{14E12B48-7A42-4907-9A13-F7839ACECA24}" dt="2026-02-02T10:42:51.091" v="1398" actId="47"/>
      <pc:docMkLst>
        <pc:docMk/>
      </pc:docMkLst>
      <pc:sldChg chg="addSp delSp modSp new add del mod">
        <pc:chgData name="Dr. YAQOOB SALMAN MOHAMED ALSLAIS" userId="3b843498-0d2f-436b-9cfb-0641998d3142" providerId="ADAL" clId="{14E12B48-7A42-4907-9A13-F7839ACECA24}" dt="2026-02-02T10:42:51.091" v="1398" actId="47"/>
        <pc:sldMkLst>
          <pc:docMk/>
          <pc:sldMk cId="3602812346" sldId="295"/>
        </pc:sldMkLst>
        <pc:spChg chg="mod">
          <ac:chgData name="Dr. YAQOOB SALMAN MOHAMED ALSLAIS" userId="3b843498-0d2f-436b-9cfb-0641998d3142" providerId="ADAL" clId="{14E12B48-7A42-4907-9A13-F7839ACECA24}" dt="2026-02-02T10:42:08.822" v="1396" actId="20577"/>
          <ac:spMkLst>
            <pc:docMk/>
            <pc:sldMk cId="3602812346" sldId="295"/>
            <ac:spMk id="2" creationId="{00788D14-B997-A42C-2B74-58F39E32B6FA}"/>
          </ac:spMkLst>
        </pc:spChg>
        <pc:spChg chg="add del mod">
          <ac:chgData name="Dr. YAQOOB SALMAN MOHAMED ALSLAIS" userId="3b843498-0d2f-436b-9cfb-0641998d3142" providerId="ADAL" clId="{14E12B48-7A42-4907-9A13-F7839ACECA24}" dt="2026-02-02T10:42:04.224" v="1389" actId="20577"/>
          <ac:spMkLst>
            <pc:docMk/>
            <pc:sldMk cId="3602812346" sldId="295"/>
            <ac:spMk id="3" creationId="{1E05A677-9E23-9E5C-AAE3-465B6D3096CE}"/>
          </ac:spMkLst>
        </pc:spChg>
        <pc:spChg chg="add mod">
          <ac:chgData name="Dr. YAQOOB SALMAN MOHAMED ALSLAIS" userId="3b843498-0d2f-436b-9cfb-0641998d3142" providerId="ADAL" clId="{14E12B48-7A42-4907-9A13-F7839ACECA24}" dt="2026-02-02T10:40:57.246" v="1370"/>
          <ac:spMkLst>
            <pc:docMk/>
            <pc:sldMk cId="3602812346" sldId="295"/>
            <ac:spMk id="4" creationId="{F8AD739D-5F77-932E-C59C-FB90F8B1AA12}"/>
          </ac:spMkLst>
        </pc:spChg>
        <pc:spChg chg="add mod">
          <ac:chgData name="Dr. YAQOOB SALMAN MOHAMED ALSLAIS" userId="3b843498-0d2f-436b-9cfb-0641998d3142" providerId="ADAL" clId="{14E12B48-7A42-4907-9A13-F7839ACECA24}" dt="2026-02-02T10:41:02.566" v="1372"/>
          <ac:spMkLst>
            <pc:docMk/>
            <pc:sldMk cId="3602812346" sldId="295"/>
            <ac:spMk id="5" creationId="{46D7D802-2212-FD99-A3C6-11EC0C156D1E}"/>
          </ac:spMkLst>
        </pc:spChg>
        <pc:spChg chg="add mod">
          <ac:chgData name="Dr. YAQOOB SALMAN MOHAMED ALSLAIS" userId="3b843498-0d2f-436b-9cfb-0641998d3142" providerId="ADAL" clId="{14E12B48-7A42-4907-9A13-F7839ACECA24}" dt="2026-02-02T10:41:16.087" v="1374"/>
          <ac:spMkLst>
            <pc:docMk/>
            <pc:sldMk cId="3602812346" sldId="295"/>
            <ac:spMk id="6" creationId="{8A695955-BCDA-4104-4A12-9A38F0C8E37B}"/>
          </ac:spMkLst>
        </pc:spChg>
      </pc:sldChg>
    </pc:docChg>
  </pc:docChgLst>
</pc:chgInfo>
</file>

<file path=ppt/diagrams/_rels/data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6.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2D2C05-150D-4224-9E73-ACD55FACDA96}"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D4305972-6EAA-4DB9-BA57-A7559B9152AD}">
      <dgm:prSet phldrT="[Text]"/>
      <dgm:spPr/>
      <dgm:t>
        <a:bodyPr/>
        <a:lstStyle/>
        <a:p>
          <a:r>
            <a:rPr lang="en-US"/>
            <a:t>Machine Learning</a:t>
          </a:r>
        </a:p>
      </dgm:t>
    </dgm:pt>
    <dgm:pt modelId="{CD728D2D-B8F4-49AE-B43D-38AA7F4BAC57}" type="parTrans" cxnId="{1BBAF5BB-4DB2-49EE-9729-BB0F325C60CA}">
      <dgm:prSet/>
      <dgm:spPr/>
      <dgm:t>
        <a:bodyPr/>
        <a:lstStyle/>
        <a:p>
          <a:endParaRPr lang="en-US"/>
        </a:p>
      </dgm:t>
    </dgm:pt>
    <dgm:pt modelId="{791CE64F-F4FF-4103-9C3B-94BD3BE541CE}" type="sibTrans" cxnId="{1BBAF5BB-4DB2-49EE-9729-BB0F325C60CA}">
      <dgm:prSet/>
      <dgm:spPr/>
      <dgm:t>
        <a:bodyPr/>
        <a:lstStyle/>
        <a:p>
          <a:endParaRPr lang="en-US"/>
        </a:p>
      </dgm:t>
    </dgm:pt>
    <dgm:pt modelId="{FE062BD2-61AA-4C79-82B0-258FA047DCC1}">
      <dgm:prSet phldrT="[Text]"/>
      <dgm:spPr/>
      <dgm:t>
        <a:bodyPr/>
        <a:lstStyle/>
        <a:p>
          <a:r>
            <a:rPr lang="en-US"/>
            <a:t>Deep Learning</a:t>
          </a:r>
        </a:p>
      </dgm:t>
    </dgm:pt>
    <dgm:pt modelId="{B91E329F-6FB0-4EB0-943B-C357A8230576}" type="parTrans" cxnId="{D9160870-7862-4AA8-8EAF-32C9AADFB5B0}">
      <dgm:prSet/>
      <dgm:spPr/>
      <dgm:t>
        <a:bodyPr/>
        <a:lstStyle/>
        <a:p>
          <a:endParaRPr lang="en-US"/>
        </a:p>
      </dgm:t>
    </dgm:pt>
    <dgm:pt modelId="{2D82D340-B3A4-4E36-B6EB-7BFC4AE27D6B}" type="sibTrans" cxnId="{D9160870-7862-4AA8-8EAF-32C9AADFB5B0}">
      <dgm:prSet/>
      <dgm:spPr/>
      <dgm:t>
        <a:bodyPr/>
        <a:lstStyle/>
        <a:p>
          <a:endParaRPr lang="en-US"/>
        </a:p>
      </dgm:t>
    </dgm:pt>
    <dgm:pt modelId="{0F307823-9813-4C39-926A-187DF160AE44}">
      <dgm:prSet phldrT="[Text]"/>
      <dgm:spPr/>
      <dgm:t>
        <a:bodyPr/>
        <a:lstStyle/>
        <a:p>
          <a:r>
            <a:rPr lang="en-US"/>
            <a:t>Computer Vision</a:t>
          </a:r>
        </a:p>
      </dgm:t>
    </dgm:pt>
    <dgm:pt modelId="{96074CCC-557A-451F-9024-CAACF1D44DA3}" type="parTrans" cxnId="{D3E8A13F-F17B-4D22-9493-7FFADE24F58E}">
      <dgm:prSet/>
      <dgm:spPr/>
      <dgm:t>
        <a:bodyPr/>
        <a:lstStyle/>
        <a:p>
          <a:endParaRPr lang="en-US"/>
        </a:p>
      </dgm:t>
    </dgm:pt>
    <dgm:pt modelId="{96D927E2-723B-4BFD-96D1-DF3CAB933A05}" type="sibTrans" cxnId="{D3E8A13F-F17B-4D22-9493-7FFADE24F58E}">
      <dgm:prSet/>
      <dgm:spPr/>
      <dgm:t>
        <a:bodyPr/>
        <a:lstStyle/>
        <a:p>
          <a:endParaRPr lang="en-US"/>
        </a:p>
      </dgm:t>
    </dgm:pt>
    <dgm:pt modelId="{A5012676-FCE8-4361-86E8-497EC18075AB}">
      <dgm:prSet phldrT="[Text]"/>
      <dgm:spPr/>
      <dgm:t>
        <a:bodyPr/>
        <a:lstStyle/>
        <a:p>
          <a:r>
            <a:rPr lang="en-US"/>
            <a:t>Natural Language Processing</a:t>
          </a:r>
        </a:p>
      </dgm:t>
    </dgm:pt>
    <dgm:pt modelId="{252DABEF-665E-4A76-A5C9-A0E5DA758EF9}" type="parTrans" cxnId="{013F1F93-37BB-42A4-98D0-1C1F82F9AA53}">
      <dgm:prSet/>
      <dgm:spPr/>
      <dgm:t>
        <a:bodyPr/>
        <a:lstStyle/>
        <a:p>
          <a:endParaRPr lang="en-US"/>
        </a:p>
      </dgm:t>
    </dgm:pt>
    <dgm:pt modelId="{26640399-A05F-4A14-84FE-C9DFD3382CC7}" type="sibTrans" cxnId="{013F1F93-37BB-42A4-98D0-1C1F82F9AA53}">
      <dgm:prSet/>
      <dgm:spPr/>
      <dgm:t>
        <a:bodyPr/>
        <a:lstStyle/>
        <a:p>
          <a:endParaRPr lang="en-US"/>
        </a:p>
      </dgm:t>
    </dgm:pt>
    <dgm:pt modelId="{01B7456D-05FA-4FCD-9A1C-8CFB189C4666}">
      <dgm:prSet phldrT="[Text]"/>
      <dgm:spPr/>
      <dgm:t>
        <a:bodyPr/>
        <a:lstStyle/>
        <a:p>
          <a:r>
            <a:rPr lang="en-US"/>
            <a:t>Large Language Models</a:t>
          </a:r>
        </a:p>
      </dgm:t>
    </dgm:pt>
    <dgm:pt modelId="{4B7DA4E9-0224-406F-B308-56660045EDF1}" type="parTrans" cxnId="{0C3947FB-4C82-4846-B328-9F3BFAB918C7}">
      <dgm:prSet/>
      <dgm:spPr/>
      <dgm:t>
        <a:bodyPr/>
        <a:lstStyle/>
        <a:p>
          <a:endParaRPr lang="en-US"/>
        </a:p>
      </dgm:t>
    </dgm:pt>
    <dgm:pt modelId="{B0B68FFD-965E-49BE-8817-EB000A0A5F61}" type="sibTrans" cxnId="{0C3947FB-4C82-4846-B328-9F3BFAB918C7}">
      <dgm:prSet/>
      <dgm:spPr/>
      <dgm:t>
        <a:bodyPr/>
        <a:lstStyle/>
        <a:p>
          <a:endParaRPr lang="en-US"/>
        </a:p>
      </dgm:t>
    </dgm:pt>
    <dgm:pt modelId="{43284C58-0EE7-424D-9619-5E767908E272}">
      <dgm:prSet phldrT="[Text]"/>
      <dgm:spPr/>
      <dgm:t>
        <a:bodyPr/>
        <a:lstStyle/>
        <a:p>
          <a:r>
            <a:rPr lang="en-US"/>
            <a:t>Generative Pre-trained Transformers</a:t>
          </a:r>
        </a:p>
      </dgm:t>
    </dgm:pt>
    <dgm:pt modelId="{3D64702E-3220-4E60-83A8-84A5CC5EF575}" type="parTrans" cxnId="{0FF89513-885C-4376-98BF-B1675E80EDA3}">
      <dgm:prSet/>
      <dgm:spPr/>
    </dgm:pt>
    <dgm:pt modelId="{AE803B4F-3C52-416B-8EC5-5869A1AEAB01}" type="sibTrans" cxnId="{0FF89513-885C-4376-98BF-B1675E80EDA3}">
      <dgm:prSet/>
      <dgm:spPr/>
    </dgm:pt>
    <dgm:pt modelId="{61BE908A-3516-4624-8487-2A888217ED38}" type="pres">
      <dgm:prSet presAssocID="{442D2C05-150D-4224-9E73-ACD55FACDA96}" presName="diagram" presStyleCnt="0">
        <dgm:presLayoutVars>
          <dgm:dir/>
          <dgm:resizeHandles val="exact"/>
        </dgm:presLayoutVars>
      </dgm:prSet>
      <dgm:spPr/>
    </dgm:pt>
    <dgm:pt modelId="{302AD6B7-BFAC-4F21-9ADE-E996E7CCA4C1}" type="pres">
      <dgm:prSet presAssocID="{D4305972-6EAA-4DB9-BA57-A7559B9152AD}" presName="node" presStyleLbl="node1" presStyleIdx="0" presStyleCnt="6">
        <dgm:presLayoutVars>
          <dgm:bulletEnabled val="1"/>
        </dgm:presLayoutVars>
      </dgm:prSet>
      <dgm:spPr/>
    </dgm:pt>
    <dgm:pt modelId="{FAECD3CA-AAB2-4DB4-AF24-EEA99415D185}" type="pres">
      <dgm:prSet presAssocID="{791CE64F-F4FF-4103-9C3B-94BD3BE541CE}" presName="sibTrans" presStyleCnt="0"/>
      <dgm:spPr/>
    </dgm:pt>
    <dgm:pt modelId="{8CE416AB-802D-4712-AF46-1123E0E99B5D}" type="pres">
      <dgm:prSet presAssocID="{FE062BD2-61AA-4C79-82B0-258FA047DCC1}" presName="node" presStyleLbl="node1" presStyleIdx="1" presStyleCnt="6">
        <dgm:presLayoutVars>
          <dgm:bulletEnabled val="1"/>
        </dgm:presLayoutVars>
      </dgm:prSet>
      <dgm:spPr/>
    </dgm:pt>
    <dgm:pt modelId="{4D843E90-A0E2-42FF-A93C-C5F0847110B0}" type="pres">
      <dgm:prSet presAssocID="{2D82D340-B3A4-4E36-B6EB-7BFC4AE27D6B}" presName="sibTrans" presStyleCnt="0"/>
      <dgm:spPr/>
    </dgm:pt>
    <dgm:pt modelId="{B84B6DAE-8E9F-4E5F-B1F3-E7035FAA8342}" type="pres">
      <dgm:prSet presAssocID="{0F307823-9813-4C39-926A-187DF160AE44}" presName="node" presStyleLbl="node1" presStyleIdx="2" presStyleCnt="6">
        <dgm:presLayoutVars>
          <dgm:bulletEnabled val="1"/>
        </dgm:presLayoutVars>
      </dgm:prSet>
      <dgm:spPr/>
    </dgm:pt>
    <dgm:pt modelId="{243AB503-9FE6-4D52-8E83-452E7EC4B10F}" type="pres">
      <dgm:prSet presAssocID="{96D927E2-723B-4BFD-96D1-DF3CAB933A05}" presName="sibTrans" presStyleCnt="0"/>
      <dgm:spPr/>
    </dgm:pt>
    <dgm:pt modelId="{C06A0A1C-BA5C-4763-94AA-455F6A647AE0}" type="pres">
      <dgm:prSet presAssocID="{A5012676-FCE8-4361-86E8-497EC18075AB}" presName="node" presStyleLbl="node1" presStyleIdx="3" presStyleCnt="6">
        <dgm:presLayoutVars>
          <dgm:bulletEnabled val="1"/>
        </dgm:presLayoutVars>
      </dgm:prSet>
      <dgm:spPr/>
    </dgm:pt>
    <dgm:pt modelId="{41B7531B-AE78-4E75-8060-C465BBE1E040}" type="pres">
      <dgm:prSet presAssocID="{26640399-A05F-4A14-84FE-C9DFD3382CC7}" presName="sibTrans" presStyleCnt="0"/>
      <dgm:spPr/>
    </dgm:pt>
    <dgm:pt modelId="{8FF21173-7DE1-4917-8E12-14E8845C531C}" type="pres">
      <dgm:prSet presAssocID="{01B7456D-05FA-4FCD-9A1C-8CFB189C4666}" presName="node" presStyleLbl="node1" presStyleIdx="4" presStyleCnt="6">
        <dgm:presLayoutVars>
          <dgm:bulletEnabled val="1"/>
        </dgm:presLayoutVars>
      </dgm:prSet>
      <dgm:spPr/>
    </dgm:pt>
    <dgm:pt modelId="{355E4BBD-0886-497D-9702-459194C7E103}" type="pres">
      <dgm:prSet presAssocID="{B0B68FFD-965E-49BE-8817-EB000A0A5F61}" presName="sibTrans" presStyleCnt="0"/>
      <dgm:spPr/>
    </dgm:pt>
    <dgm:pt modelId="{36BFBFFA-E601-4885-A6CF-34F4BF2E3C43}" type="pres">
      <dgm:prSet presAssocID="{43284C58-0EE7-424D-9619-5E767908E272}" presName="node" presStyleLbl="node1" presStyleIdx="5" presStyleCnt="6">
        <dgm:presLayoutVars>
          <dgm:bulletEnabled val="1"/>
        </dgm:presLayoutVars>
      </dgm:prSet>
      <dgm:spPr/>
    </dgm:pt>
  </dgm:ptLst>
  <dgm:cxnLst>
    <dgm:cxn modelId="{0DED3C02-A94B-4B80-ADB5-BB9FBD286126}" type="presOf" srcId="{D4305972-6EAA-4DB9-BA57-A7559B9152AD}" destId="{302AD6B7-BFAC-4F21-9ADE-E996E7CCA4C1}" srcOrd="0" destOrd="0" presId="urn:microsoft.com/office/officeart/2005/8/layout/default"/>
    <dgm:cxn modelId="{0FF89513-885C-4376-98BF-B1675E80EDA3}" srcId="{442D2C05-150D-4224-9E73-ACD55FACDA96}" destId="{43284C58-0EE7-424D-9619-5E767908E272}" srcOrd="5" destOrd="0" parTransId="{3D64702E-3220-4E60-83A8-84A5CC5EF575}" sibTransId="{AE803B4F-3C52-416B-8EC5-5869A1AEAB01}"/>
    <dgm:cxn modelId="{C4B1201C-7FB8-42A4-977B-9E63C9294476}" type="presOf" srcId="{A5012676-FCE8-4361-86E8-497EC18075AB}" destId="{C06A0A1C-BA5C-4763-94AA-455F6A647AE0}" srcOrd="0" destOrd="0" presId="urn:microsoft.com/office/officeart/2005/8/layout/default"/>
    <dgm:cxn modelId="{F2729F27-CB40-444A-879F-6F8AE38BE88D}" type="presOf" srcId="{442D2C05-150D-4224-9E73-ACD55FACDA96}" destId="{61BE908A-3516-4624-8487-2A888217ED38}" srcOrd="0" destOrd="0" presId="urn:microsoft.com/office/officeart/2005/8/layout/default"/>
    <dgm:cxn modelId="{D3E8A13F-F17B-4D22-9493-7FFADE24F58E}" srcId="{442D2C05-150D-4224-9E73-ACD55FACDA96}" destId="{0F307823-9813-4C39-926A-187DF160AE44}" srcOrd="2" destOrd="0" parTransId="{96074CCC-557A-451F-9024-CAACF1D44DA3}" sibTransId="{96D927E2-723B-4BFD-96D1-DF3CAB933A05}"/>
    <dgm:cxn modelId="{D9160870-7862-4AA8-8EAF-32C9AADFB5B0}" srcId="{442D2C05-150D-4224-9E73-ACD55FACDA96}" destId="{FE062BD2-61AA-4C79-82B0-258FA047DCC1}" srcOrd="1" destOrd="0" parTransId="{B91E329F-6FB0-4EB0-943B-C357A8230576}" sibTransId="{2D82D340-B3A4-4E36-B6EB-7BFC4AE27D6B}"/>
    <dgm:cxn modelId="{ED930D75-986C-41C8-A9D7-0EF3692785FC}" type="presOf" srcId="{43284C58-0EE7-424D-9619-5E767908E272}" destId="{36BFBFFA-E601-4885-A6CF-34F4BF2E3C43}" srcOrd="0" destOrd="0" presId="urn:microsoft.com/office/officeart/2005/8/layout/default"/>
    <dgm:cxn modelId="{FD2A6B56-2B82-4B27-BCBB-BF8892E49CBD}" type="presOf" srcId="{0F307823-9813-4C39-926A-187DF160AE44}" destId="{B84B6DAE-8E9F-4E5F-B1F3-E7035FAA8342}" srcOrd="0" destOrd="0" presId="urn:microsoft.com/office/officeart/2005/8/layout/default"/>
    <dgm:cxn modelId="{85B9BA8D-DDB2-4E4F-98A5-4F7A0920D161}" type="presOf" srcId="{01B7456D-05FA-4FCD-9A1C-8CFB189C4666}" destId="{8FF21173-7DE1-4917-8E12-14E8845C531C}" srcOrd="0" destOrd="0" presId="urn:microsoft.com/office/officeart/2005/8/layout/default"/>
    <dgm:cxn modelId="{013F1F93-37BB-42A4-98D0-1C1F82F9AA53}" srcId="{442D2C05-150D-4224-9E73-ACD55FACDA96}" destId="{A5012676-FCE8-4361-86E8-497EC18075AB}" srcOrd="3" destOrd="0" parTransId="{252DABEF-665E-4A76-A5C9-A0E5DA758EF9}" sibTransId="{26640399-A05F-4A14-84FE-C9DFD3382CC7}"/>
    <dgm:cxn modelId="{1BBAF5BB-4DB2-49EE-9729-BB0F325C60CA}" srcId="{442D2C05-150D-4224-9E73-ACD55FACDA96}" destId="{D4305972-6EAA-4DB9-BA57-A7559B9152AD}" srcOrd="0" destOrd="0" parTransId="{CD728D2D-B8F4-49AE-B43D-38AA7F4BAC57}" sibTransId="{791CE64F-F4FF-4103-9C3B-94BD3BE541CE}"/>
    <dgm:cxn modelId="{833ED7F1-0BD8-4909-B22C-C3CB5513E967}" type="presOf" srcId="{FE062BD2-61AA-4C79-82B0-258FA047DCC1}" destId="{8CE416AB-802D-4712-AF46-1123E0E99B5D}" srcOrd="0" destOrd="0" presId="urn:microsoft.com/office/officeart/2005/8/layout/default"/>
    <dgm:cxn modelId="{0C3947FB-4C82-4846-B328-9F3BFAB918C7}" srcId="{442D2C05-150D-4224-9E73-ACD55FACDA96}" destId="{01B7456D-05FA-4FCD-9A1C-8CFB189C4666}" srcOrd="4" destOrd="0" parTransId="{4B7DA4E9-0224-406F-B308-56660045EDF1}" sibTransId="{B0B68FFD-965E-49BE-8817-EB000A0A5F61}"/>
    <dgm:cxn modelId="{00A2344E-E7A8-4F9F-8E82-0E4FFF07A4F7}" type="presParOf" srcId="{61BE908A-3516-4624-8487-2A888217ED38}" destId="{302AD6B7-BFAC-4F21-9ADE-E996E7CCA4C1}" srcOrd="0" destOrd="0" presId="urn:microsoft.com/office/officeart/2005/8/layout/default"/>
    <dgm:cxn modelId="{EDA6B2A0-5715-471E-B66A-1D8418403466}" type="presParOf" srcId="{61BE908A-3516-4624-8487-2A888217ED38}" destId="{FAECD3CA-AAB2-4DB4-AF24-EEA99415D185}" srcOrd="1" destOrd="0" presId="urn:microsoft.com/office/officeart/2005/8/layout/default"/>
    <dgm:cxn modelId="{6F597DD3-281A-44A2-B5BD-D16B1C4C5BBF}" type="presParOf" srcId="{61BE908A-3516-4624-8487-2A888217ED38}" destId="{8CE416AB-802D-4712-AF46-1123E0E99B5D}" srcOrd="2" destOrd="0" presId="urn:microsoft.com/office/officeart/2005/8/layout/default"/>
    <dgm:cxn modelId="{6E16ADE9-1AEA-411A-9175-7063B649E935}" type="presParOf" srcId="{61BE908A-3516-4624-8487-2A888217ED38}" destId="{4D843E90-A0E2-42FF-A93C-C5F0847110B0}" srcOrd="3" destOrd="0" presId="urn:microsoft.com/office/officeart/2005/8/layout/default"/>
    <dgm:cxn modelId="{90C23B22-F0C6-49B8-BE63-3D8C35F63B00}" type="presParOf" srcId="{61BE908A-3516-4624-8487-2A888217ED38}" destId="{B84B6DAE-8E9F-4E5F-B1F3-E7035FAA8342}" srcOrd="4" destOrd="0" presId="urn:microsoft.com/office/officeart/2005/8/layout/default"/>
    <dgm:cxn modelId="{13137231-8BC1-467A-BD9C-CD956304E408}" type="presParOf" srcId="{61BE908A-3516-4624-8487-2A888217ED38}" destId="{243AB503-9FE6-4D52-8E83-452E7EC4B10F}" srcOrd="5" destOrd="0" presId="urn:microsoft.com/office/officeart/2005/8/layout/default"/>
    <dgm:cxn modelId="{E1923F60-7EC7-4484-B19B-692112C54244}" type="presParOf" srcId="{61BE908A-3516-4624-8487-2A888217ED38}" destId="{C06A0A1C-BA5C-4763-94AA-455F6A647AE0}" srcOrd="6" destOrd="0" presId="urn:microsoft.com/office/officeart/2005/8/layout/default"/>
    <dgm:cxn modelId="{D8EE8EF0-86F8-42A1-8D10-278B66738F3D}" type="presParOf" srcId="{61BE908A-3516-4624-8487-2A888217ED38}" destId="{41B7531B-AE78-4E75-8060-C465BBE1E040}" srcOrd="7" destOrd="0" presId="urn:microsoft.com/office/officeart/2005/8/layout/default"/>
    <dgm:cxn modelId="{2B3C87A7-1BBD-49B6-A0CB-C7B9424644C1}" type="presParOf" srcId="{61BE908A-3516-4624-8487-2A888217ED38}" destId="{8FF21173-7DE1-4917-8E12-14E8845C531C}" srcOrd="8" destOrd="0" presId="urn:microsoft.com/office/officeart/2005/8/layout/default"/>
    <dgm:cxn modelId="{AC9A9B51-011F-4D30-B4B4-3479E98AEE6F}" type="presParOf" srcId="{61BE908A-3516-4624-8487-2A888217ED38}" destId="{355E4BBD-0886-497D-9702-459194C7E103}" srcOrd="9" destOrd="0" presId="urn:microsoft.com/office/officeart/2005/8/layout/default"/>
    <dgm:cxn modelId="{61F75937-D411-44DD-BD1F-F863261C5FB2}" type="presParOf" srcId="{61BE908A-3516-4624-8487-2A888217ED38}" destId="{36BFBFFA-E601-4885-A6CF-34F4BF2E3C43}"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525585-CD91-48A2-B533-A1231AC67DA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4FEE1FE-D8CC-4A79-9119-4180DBCBC834}">
      <dgm:prSet/>
      <dgm:spPr/>
      <dgm:t>
        <a:bodyPr/>
        <a:lstStyle/>
        <a:p>
          <a:r>
            <a:rPr lang="en-US"/>
            <a:t>Allows systems to learn from data and improve their performance on a task without being explicitly programmed. </a:t>
          </a:r>
        </a:p>
      </dgm:t>
    </dgm:pt>
    <dgm:pt modelId="{59500668-F1D2-4030-998F-11B9314E342F}" type="parTrans" cxnId="{AB72B05B-F222-4B24-A327-2A29BAF3C1F8}">
      <dgm:prSet/>
      <dgm:spPr/>
      <dgm:t>
        <a:bodyPr/>
        <a:lstStyle/>
        <a:p>
          <a:endParaRPr lang="en-US"/>
        </a:p>
      </dgm:t>
    </dgm:pt>
    <dgm:pt modelId="{4E2C0FB8-FF19-42C8-B40B-9A5D265D6421}" type="sibTrans" cxnId="{AB72B05B-F222-4B24-A327-2A29BAF3C1F8}">
      <dgm:prSet/>
      <dgm:spPr/>
      <dgm:t>
        <a:bodyPr/>
        <a:lstStyle/>
        <a:p>
          <a:endParaRPr lang="en-US"/>
        </a:p>
      </dgm:t>
    </dgm:pt>
    <dgm:pt modelId="{10209772-3EE6-486E-B6E9-6917C7E8B52F}">
      <dgm:prSet/>
      <dgm:spPr/>
      <dgm:t>
        <a:bodyPr/>
        <a:lstStyle/>
        <a:p>
          <a:r>
            <a:rPr lang="en-US"/>
            <a:t>Example: A spam filter that gets better over time as it sees more emails.</a:t>
          </a:r>
        </a:p>
      </dgm:t>
    </dgm:pt>
    <dgm:pt modelId="{03D8A747-9A38-42D1-9A8C-720531609265}" type="parTrans" cxnId="{59834CF4-0FEA-4F54-8612-6955C0180243}">
      <dgm:prSet/>
      <dgm:spPr/>
      <dgm:t>
        <a:bodyPr/>
        <a:lstStyle/>
        <a:p>
          <a:endParaRPr lang="en-US"/>
        </a:p>
      </dgm:t>
    </dgm:pt>
    <dgm:pt modelId="{40432631-64D4-449D-AE52-410C41EF3986}" type="sibTrans" cxnId="{59834CF4-0FEA-4F54-8612-6955C0180243}">
      <dgm:prSet/>
      <dgm:spPr/>
      <dgm:t>
        <a:bodyPr/>
        <a:lstStyle/>
        <a:p>
          <a:endParaRPr lang="en-US"/>
        </a:p>
      </dgm:t>
    </dgm:pt>
    <dgm:pt modelId="{36C332C5-B5F0-463C-8D0E-AF80F77F0879}" type="pres">
      <dgm:prSet presAssocID="{6A525585-CD91-48A2-B533-A1231AC67DA9}" presName="linear" presStyleCnt="0">
        <dgm:presLayoutVars>
          <dgm:animLvl val="lvl"/>
          <dgm:resizeHandles val="exact"/>
        </dgm:presLayoutVars>
      </dgm:prSet>
      <dgm:spPr/>
    </dgm:pt>
    <dgm:pt modelId="{C3FAE26A-8C11-41C6-AEA4-D4103776FF01}" type="pres">
      <dgm:prSet presAssocID="{54FEE1FE-D8CC-4A79-9119-4180DBCBC834}" presName="parentText" presStyleLbl="node1" presStyleIdx="0" presStyleCnt="2">
        <dgm:presLayoutVars>
          <dgm:chMax val="0"/>
          <dgm:bulletEnabled val="1"/>
        </dgm:presLayoutVars>
      </dgm:prSet>
      <dgm:spPr/>
    </dgm:pt>
    <dgm:pt modelId="{AB72769F-B667-44ED-9D46-9B9A1875F1AA}" type="pres">
      <dgm:prSet presAssocID="{4E2C0FB8-FF19-42C8-B40B-9A5D265D6421}" presName="spacer" presStyleCnt="0"/>
      <dgm:spPr/>
    </dgm:pt>
    <dgm:pt modelId="{E6B26BEB-D48C-4172-BF88-14EC6A948418}" type="pres">
      <dgm:prSet presAssocID="{10209772-3EE6-486E-B6E9-6917C7E8B52F}" presName="parentText" presStyleLbl="node1" presStyleIdx="1" presStyleCnt="2">
        <dgm:presLayoutVars>
          <dgm:chMax val="0"/>
          <dgm:bulletEnabled val="1"/>
        </dgm:presLayoutVars>
      </dgm:prSet>
      <dgm:spPr/>
    </dgm:pt>
  </dgm:ptLst>
  <dgm:cxnLst>
    <dgm:cxn modelId="{AB72B05B-F222-4B24-A327-2A29BAF3C1F8}" srcId="{6A525585-CD91-48A2-B533-A1231AC67DA9}" destId="{54FEE1FE-D8CC-4A79-9119-4180DBCBC834}" srcOrd="0" destOrd="0" parTransId="{59500668-F1D2-4030-998F-11B9314E342F}" sibTransId="{4E2C0FB8-FF19-42C8-B40B-9A5D265D6421}"/>
    <dgm:cxn modelId="{85C03E53-60EF-45E9-A0B8-0C6223DC651C}" type="presOf" srcId="{54FEE1FE-D8CC-4A79-9119-4180DBCBC834}" destId="{C3FAE26A-8C11-41C6-AEA4-D4103776FF01}" srcOrd="0" destOrd="0" presId="urn:microsoft.com/office/officeart/2005/8/layout/vList2"/>
    <dgm:cxn modelId="{A7FFED77-7AD3-436D-BD7F-87B503300281}" type="presOf" srcId="{6A525585-CD91-48A2-B533-A1231AC67DA9}" destId="{36C332C5-B5F0-463C-8D0E-AF80F77F0879}" srcOrd="0" destOrd="0" presId="urn:microsoft.com/office/officeart/2005/8/layout/vList2"/>
    <dgm:cxn modelId="{D49E5994-25D3-414B-B6E5-09171069C129}" type="presOf" srcId="{10209772-3EE6-486E-B6E9-6917C7E8B52F}" destId="{E6B26BEB-D48C-4172-BF88-14EC6A948418}" srcOrd="0" destOrd="0" presId="urn:microsoft.com/office/officeart/2005/8/layout/vList2"/>
    <dgm:cxn modelId="{59834CF4-0FEA-4F54-8612-6955C0180243}" srcId="{6A525585-CD91-48A2-B533-A1231AC67DA9}" destId="{10209772-3EE6-486E-B6E9-6917C7E8B52F}" srcOrd="1" destOrd="0" parTransId="{03D8A747-9A38-42D1-9A8C-720531609265}" sibTransId="{40432631-64D4-449D-AE52-410C41EF3986}"/>
    <dgm:cxn modelId="{96459833-4772-4A92-9CB4-A1D48558012C}" type="presParOf" srcId="{36C332C5-B5F0-463C-8D0E-AF80F77F0879}" destId="{C3FAE26A-8C11-41C6-AEA4-D4103776FF01}" srcOrd="0" destOrd="0" presId="urn:microsoft.com/office/officeart/2005/8/layout/vList2"/>
    <dgm:cxn modelId="{E970CAE7-E2E1-4236-9A02-9C77B03BE38D}" type="presParOf" srcId="{36C332C5-B5F0-463C-8D0E-AF80F77F0879}" destId="{AB72769F-B667-44ED-9D46-9B9A1875F1AA}" srcOrd="1" destOrd="0" presId="urn:microsoft.com/office/officeart/2005/8/layout/vList2"/>
    <dgm:cxn modelId="{0663E3E7-31C5-44AF-816E-36383C8B07B8}" type="presParOf" srcId="{36C332C5-B5F0-463C-8D0E-AF80F77F0879}" destId="{E6B26BEB-D48C-4172-BF88-14EC6A948418}"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5FBC9DE-9038-4A9E-8FB6-774A0B535DE4}"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8D392A8E-29CD-4B77-9685-A4471FF86636}">
      <dgm:prSet phldrT="[Text]"/>
      <dgm:spPr/>
      <dgm:t>
        <a:bodyPr/>
        <a:lstStyle/>
        <a:p>
          <a:r>
            <a:rPr lang="en-US" dirty="0"/>
            <a:t>Beneficence</a:t>
          </a:r>
        </a:p>
      </dgm:t>
    </dgm:pt>
    <dgm:pt modelId="{C1E88D8D-90FC-44AB-86FA-B8795500845D}" type="parTrans" cxnId="{08774C16-8842-4ED5-B748-E82341A16CE0}">
      <dgm:prSet/>
      <dgm:spPr/>
      <dgm:t>
        <a:bodyPr/>
        <a:lstStyle/>
        <a:p>
          <a:endParaRPr lang="en-US"/>
        </a:p>
      </dgm:t>
    </dgm:pt>
    <dgm:pt modelId="{42311811-D5AA-46F5-AE58-33CC7C6077B8}" type="sibTrans" cxnId="{08774C16-8842-4ED5-B748-E82341A16CE0}">
      <dgm:prSet/>
      <dgm:spPr/>
      <dgm:t>
        <a:bodyPr/>
        <a:lstStyle/>
        <a:p>
          <a:endParaRPr lang="en-US"/>
        </a:p>
      </dgm:t>
    </dgm:pt>
    <dgm:pt modelId="{73431505-935D-4AC1-A8BB-AE7FCA0EFF4B}">
      <dgm:prSet phldrT="[Text]"/>
      <dgm:spPr/>
      <dgm:t>
        <a:bodyPr/>
        <a:lstStyle/>
        <a:p>
          <a:r>
            <a:rPr lang="en-US" dirty="0"/>
            <a:t>Nonmaleficence</a:t>
          </a:r>
        </a:p>
      </dgm:t>
    </dgm:pt>
    <dgm:pt modelId="{981DBDE6-8DB3-41C0-A64C-DF0960A53A61}" type="parTrans" cxnId="{AD46FA17-939B-451A-8A1D-E6266057CC7E}">
      <dgm:prSet/>
      <dgm:spPr/>
      <dgm:t>
        <a:bodyPr/>
        <a:lstStyle/>
        <a:p>
          <a:endParaRPr lang="en-US"/>
        </a:p>
      </dgm:t>
    </dgm:pt>
    <dgm:pt modelId="{9A2CFBC2-2007-42E8-B413-A82C38742334}" type="sibTrans" cxnId="{AD46FA17-939B-451A-8A1D-E6266057CC7E}">
      <dgm:prSet/>
      <dgm:spPr/>
      <dgm:t>
        <a:bodyPr/>
        <a:lstStyle/>
        <a:p>
          <a:endParaRPr lang="en-US"/>
        </a:p>
      </dgm:t>
    </dgm:pt>
    <dgm:pt modelId="{216B4088-2611-4CAE-A2F4-3BA16E8C2ADA}">
      <dgm:prSet phldrT="[Text]"/>
      <dgm:spPr/>
      <dgm:t>
        <a:bodyPr/>
        <a:lstStyle/>
        <a:p>
          <a:r>
            <a:rPr lang="en-US" dirty="0"/>
            <a:t>Autonomy</a:t>
          </a:r>
        </a:p>
      </dgm:t>
    </dgm:pt>
    <dgm:pt modelId="{F4678DCE-D1A6-47DE-B010-B6FD6A9EBB78}" type="parTrans" cxnId="{5E0E95E5-288A-4096-A8E3-7266220FB41C}">
      <dgm:prSet/>
      <dgm:spPr/>
      <dgm:t>
        <a:bodyPr/>
        <a:lstStyle/>
        <a:p>
          <a:endParaRPr lang="en-US"/>
        </a:p>
      </dgm:t>
    </dgm:pt>
    <dgm:pt modelId="{D607589A-FB70-4E62-8BE8-E5BA48CE0A00}" type="sibTrans" cxnId="{5E0E95E5-288A-4096-A8E3-7266220FB41C}">
      <dgm:prSet/>
      <dgm:spPr/>
      <dgm:t>
        <a:bodyPr/>
        <a:lstStyle/>
        <a:p>
          <a:endParaRPr lang="en-US"/>
        </a:p>
      </dgm:t>
    </dgm:pt>
    <dgm:pt modelId="{8A0071BC-E0FF-4144-B74D-D44662727BBF}">
      <dgm:prSet phldrT="[Text]"/>
      <dgm:spPr/>
      <dgm:t>
        <a:bodyPr/>
        <a:lstStyle/>
        <a:p>
          <a:r>
            <a:rPr lang="en-US" dirty="0"/>
            <a:t>Justice</a:t>
          </a:r>
        </a:p>
      </dgm:t>
    </dgm:pt>
    <dgm:pt modelId="{8782D61F-B9E8-4DBE-9B5E-95F7296D911A}" type="parTrans" cxnId="{3683D456-0092-482F-BC24-0168B713D9B3}">
      <dgm:prSet/>
      <dgm:spPr/>
      <dgm:t>
        <a:bodyPr/>
        <a:lstStyle/>
        <a:p>
          <a:endParaRPr lang="en-US"/>
        </a:p>
      </dgm:t>
    </dgm:pt>
    <dgm:pt modelId="{4F24ED7A-388A-4AEF-825D-4A4E40F88FB5}" type="sibTrans" cxnId="{3683D456-0092-482F-BC24-0168B713D9B3}">
      <dgm:prSet/>
      <dgm:spPr/>
      <dgm:t>
        <a:bodyPr/>
        <a:lstStyle/>
        <a:p>
          <a:endParaRPr lang="en-US"/>
        </a:p>
      </dgm:t>
    </dgm:pt>
    <dgm:pt modelId="{1E085387-EBCF-4C0E-A423-E76ABC459327}">
      <dgm:prSet phldrT="[Text]"/>
      <dgm:spPr/>
      <dgm:t>
        <a:bodyPr/>
        <a:lstStyle/>
        <a:p>
          <a:r>
            <a:rPr lang="en-US" dirty="0"/>
            <a:t>Explicability (Explainability)</a:t>
          </a:r>
        </a:p>
      </dgm:t>
    </dgm:pt>
    <dgm:pt modelId="{CC22D4F9-69E1-47B6-9681-B3F991D5FD7F}" type="parTrans" cxnId="{673F7FBB-BC10-4232-9EAF-F03B345AEB26}">
      <dgm:prSet/>
      <dgm:spPr/>
      <dgm:t>
        <a:bodyPr/>
        <a:lstStyle/>
        <a:p>
          <a:endParaRPr lang="en-US"/>
        </a:p>
      </dgm:t>
    </dgm:pt>
    <dgm:pt modelId="{D5058101-7425-4608-85C4-916DE9F0AC6E}" type="sibTrans" cxnId="{673F7FBB-BC10-4232-9EAF-F03B345AEB26}">
      <dgm:prSet/>
      <dgm:spPr/>
      <dgm:t>
        <a:bodyPr/>
        <a:lstStyle/>
        <a:p>
          <a:endParaRPr lang="en-US"/>
        </a:p>
      </dgm:t>
    </dgm:pt>
    <dgm:pt modelId="{0C0B7008-EDE4-4CFA-A2D9-BF0FDDECA355}" type="pres">
      <dgm:prSet presAssocID="{35FBC9DE-9038-4A9E-8FB6-774A0B535DE4}" presName="diagram" presStyleCnt="0">
        <dgm:presLayoutVars>
          <dgm:dir/>
          <dgm:resizeHandles val="exact"/>
        </dgm:presLayoutVars>
      </dgm:prSet>
      <dgm:spPr/>
    </dgm:pt>
    <dgm:pt modelId="{9E4BD368-5C4F-46D7-88EA-E9E667FA28E9}" type="pres">
      <dgm:prSet presAssocID="{8D392A8E-29CD-4B77-9685-A4471FF86636}" presName="node" presStyleLbl="node1" presStyleIdx="0" presStyleCnt="5">
        <dgm:presLayoutVars>
          <dgm:bulletEnabled val="1"/>
        </dgm:presLayoutVars>
      </dgm:prSet>
      <dgm:spPr/>
    </dgm:pt>
    <dgm:pt modelId="{CF742A61-53BF-4647-9463-4C3DC1ECF3D9}" type="pres">
      <dgm:prSet presAssocID="{42311811-D5AA-46F5-AE58-33CC7C6077B8}" presName="sibTrans" presStyleCnt="0"/>
      <dgm:spPr/>
    </dgm:pt>
    <dgm:pt modelId="{BF102EDB-C460-41EF-8E8F-195DEB47B9FE}" type="pres">
      <dgm:prSet presAssocID="{73431505-935D-4AC1-A8BB-AE7FCA0EFF4B}" presName="node" presStyleLbl="node1" presStyleIdx="1" presStyleCnt="5">
        <dgm:presLayoutVars>
          <dgm:bulletEnabled val="1"/>
        </dgm:presLayoutVars>
      </dgm:prSet>
      <dgm:spPr/>
    </dgm:pt>
    <dgm:pt modelId="{CCD05817-CA1F-43FB-B6E3-55FA6422AAF2}" type="pres">
      <dgm:prSet presAssocID="{9A2CFBC2-2007-42E8-B413-A82C38742334}" presName="sibTrans" presStyleCnt="0"/>
      <dgm:spPr/>
    </dgm:pt>
    <dgm:pt modelId="{F69AD591-32F7-4AB5-9A14-48DB8EEF5052}" type="pres">
      <dgm:prSet presAssocID="{216B4088-2611-4CAE-A2F4-3BA16E8C2ADA}" presName="node" presStyleLbl="node1" presStyleIdx="2" presStyleCnt="5">
        <dgm:presLayoutVars>
          <dgm:bulletEnabled val="1"/>
        </dgm:presLayoutVars>
      </dgm:prSet>
      <dgm:spPr/>
    </dgm:pt>
    <dgm:pt modelId="{CE601C69-0D5F-4901-A845-BEAE49792AF5}" type="pres">
      <dgm:prSet presAssocID="{D607589A-FB70-4E62-8BE8-E5BA48CE0A00}" presName="sibTrans" presStyleCnt="0"/>
      <dgm:spPr/>
    </dgm:pt>
    <dgm:pt modelId="{95347C1C-2AEF-49FF-B399-0F02E52FD990}" type="pres">
      <dgm:prSet presAssocID="{8A0071BC-E0FF-4144-B74D-D44662727BBF}" presName="node" presStyleLbl="node1" presStyleIdx="3" presStyleCnt="5">
        <dgm:presLayoutVars>
          <dgm:bulletEnabled val="1"/>
        </dgm:presLayoutVars>
      </dgm:prSet>
      <dgm:spPr/>
    </dgm:pt>
    <dgm:pt modelId="{3353D230-450E-4F02-9226-D1F4DA9DEA79}" type="pres">
      <dgm:prSet presAssocID="{4F24ED7A-388A-4AEF-825D-4A4E40F88FB5}" presName="sibTrans" presStyleCnt="0"/>
      <dgm:spPr/>
    </dgm:pt>
    <dgm:pt modelId="{61B73B29-674B-4954-99DB-BEB444C16A1B}" type="pres">
      <dgm:prSet presAssocID="{1E085387-EBCF-4C0E-A423-E76ABC459327}" presName="node" presStyleLbl="node1" presStyleIdx="4" presStyleCnt="5">
        <dgm:presLayoutVars>
          <dgm:bulletEnabled val="1"/>
        </dgm:presLayoutVars>
      </dgm:prSet>
      <dgm:spPr/>
    </dgm:pt>
  </dgm:ptLst>
  <dgm:cxnLst>
    <dgm:cxn modelId="{08774C16-8842-4ED5-B748-E82341A16CE0}" srcId="{35FBC9DE-9038-4A9E-8FB6-774A0B535DE4}" destId="{8D392A8E-29CD-4B77-9685-A4471FF86636}" srcOrd="0" destOrd="0" parTransId="{C1E88D8D-90FC-44AB-86FA-B8795500845D}" sibTransId="{42311811-D5AA-46F5-AE58-33CC7C6077B8}"/>
    <dgm:cxn modelId="{AD46FA17-939B-451A-8A1D-E6266057CC7E}" srcId="{35FBC9DE-9038-4A9E-8FB6-774A0B535DE4}" destId="{73431505-935D-4AC1-A8BB-AE7FCA0EFF4B}" srcOrd="1" destOrd="0" parTransId="{981DBDE6-8DB3-41C0-A64C-DF0960A53A61}" sibTransId="{9A2CFBC2-2007-42E8-B413-A82C38742334}"/>
    <dgm:cxn modelId="{A9183828-5A57-4C64-AF2B-301741AD8112}" type="presOf" srcId="{8A0071BC-E0FF-4144-B74D-D44662727BBF}" destId="{95347C1C-2AEF-49FF-B399-0F02E52FD990}" srcOrd="0" destOrd="0" presId="urn:microsoft.com/office/officeart/2005/8/layout/default"/>
    <dgm:cxn modelId="{3683D456-0092-482F-BC24-0168B713D9B3}" srcId="{35FBC9DE-9038-4A9E-8FB6-774A0B535DE4}" destId="{8A0071BC-E0FF-4144-B74D-D44662727BBF}" srcOrd="3" destOrd="0" parTransId="{8782D61F-B9E8-4DBE-9B5E-95F7296D911A}" sibTransId="{4F24ED7A-388A-4AEF-825D-4A4E40F88FB5}"/>
    <dgm:cxn modelId="{C8E52180-C781-4D3D-A62F-017670DF8844}" type="presOf" srcId="{8D392A8E-29CD-4B77-9685-A4471FF86636}" destId="{9E4BD368-5C4F-46D7-88EA-E9E667FA28E9}" srcOrd="0" destOrd="0" presId="urn:microsoft.com/office/officeart/2005/8/layout/default"/>
    <dgm:cxn modelId="{860552AE-E8C7-413D-90FF-75390FBE9E51}" type="presOf" srcId="{73431505-935D-4AC1-A8BB-AE7FCA0EFF4B}" destId="{BF102EDB-C460-41EF-8E8F-195DEB47B9FE}" srcOrd="0" destOrd="0" presId="urn:microsoft.com/office/officeart/2005/8/layout/default"/>
    <dgm:cxn modelId="{673F7FBB-BC10-4232-9EAF-F03B345AEB26}" srcId="{35FBC9DE-9038-4A9E-8FB6-774A0B535DE4}" destId="{1E085387-EBCF-4C0E-A423-E76ABC459327}" srcOrd="4" destOrd="0" parTransId="{CC22D4F9-69E1-47B6-9681-B3F991D5FD7F}" sibTransId="{D5058101-7425-4608-85C4-916DE9F0AC6E}"/>
    <dgm:cxn modelId="{B82C7DD9-529C-4D89-A024-89572939474D}" type="presOf" srcId="{35FBC9DE-9038-4A9E-8FB6-774A0B535DE4}" destId="{0C0B7008-EDE4-4CFA-A2D9-BF0FDDECA355}" srcOrd="0" destOrd="0" presId="urn:microsoft.com/office/officeart/2005/8/layout/default"/>
    <dgm:cxn modelId="{156C52DA-7F09-445F-876E-AC7AC1D8342F}" type="presOf" srcId="{1E085387-EBCF-4C0E-A423-E76ABC459327}" destId="{61B73B29-674B-4954-99DB-BEB444C16A1B}" srcOrd="0" destOrd="0" presId="urn:microsoft.com/office/officeart/2005/8/layout/default"/>
    <dgm:cxn modelId="{AFC7E0DB-2863-4830-9327-9854940F63CD}" type="presOf" srcId="{216B4088-2611-4CAE-A2F4-3BA16E8C2ADA}" destId="{F69AD591-32F7-4AB5-9A14-48DB8EEF5052}" srcOrd="0" destOrd="0" presId="urn:microsoft.com/office/officeart/2005/8/layout/default"/>
    <dgm:cxn modelId="{5E0E95E5-288A-4096-A8E3-7266220FB41C}" srcId="{35FBC9DE-9038-4A9E-8FB6-774A0B535DE4}" destId="{216B4088-2611-4CAE-A2F4-3BA16E8C2ADA}" srcOrd="2" destOrd="0" parTransId="{F4678DCE-D1A6-47DE-B010-B6FD6A9EBB78}" sibTransId="{D607589A-FB70-4E62-8BE8-E5BA48CE0A00}"/>
    <dgm:cxn modelId="{40B9C5E4-F358-4D2B-9A63-7E3D7881D9EC}" type="presParOf" srcId="{0C0B7008-EDE4-4CFA-A2D9-BF0FDDECA355}" destId="{9E4BD368-5C4F-46D7-88EA-E9E667FA28E9}" srcOrd="0" destOrd="0" presId="urn:microsoft.com/office/officeart/2005/8/layout/default"/>
    <dgm:cxn modelId="{667D7BB6-1179-4C46-B4ED-A77455DA9E79}" type="presParOf" srcId="{0C0B7008-EDE4-4CFA-A2D9-BF0FDDECA355}" destId="{CF742A61-53BF-4647-9463-4C3DC1ECF3D9}" srcOrd="1" destOrd="0" presId="urn:microsoft.com/office/officeart/2005/8/layout/default"/>
    <dgm:cxn modelId="{366A2796-BEFE-4662-A620-6B971C47CC36}" type="presParOf" srcId="{0C0B7008-EDE4-4CFA-A2D9-BF0FDDECA355}" destId="{BF102EDB-C460-41EF-8E8F-195DEB47B9FE}" srcOrd="2" destOrd="0" presId="urn:microsoft.com/office/officeart/2005/8/layout/default"/>
    <dgm:cxn modelId="{620EF3DA-08C4-419D-B491-195C88AFA0D2}" type="presParOf" srcId="{0C0B7008-EDE4-4CFA-A2D9-BF0FDDECA355}" destId="{CCD05817-CA1F-43FB-B6E3-55FA6422AAF2}" srcOrd="3" destOrd="0" presId="urn:microsoft.com/office/officeart/2005/8/layout/default"/>
    <dgm:cxn modelId="{9E156D53-7298-484A-8375-C8CE0507BE86}" type="presParOf" srcId="{0C0B7008-EDE4-4CFA-A2D9-BF0FDDECA355}" destId="{F69AD591-32F7-4AB5-9A14-48DB8EEF5052}" srcOrd="4" destOrd="0" presId="urn:microsoft.com/office/officeart/2005/8/layout/default"/>
    <dgm:cxn modelId="{38B35CE9-8ED2-4DCF-8575-88F062C9EDF2}" type="presParOf" srcId="{0C0B7008-EDE4-4CFA-A2D9-BF0FDDECA355}" destId="{CE601C69-0D5F-4901-A845-BEAE49792AF5}" srcOrd="5" destOrd="0" presId="urn:microsoft.com/office/officeart/2005/8/layout/default"/>
    <dgm:cxn modelId="{24E46D48-9FA1-41BD-A5F3-5140F04E786A}" type="presParOf" srcId="{0C0B7008-EDE4-4CFA-A2D9-BF0FDDECA355}" destId="{95347C1C-2AEF-49FF-B399-0F02E52FD990}" srcOrd="6" destOrd="0" presId="urn:microsoft.com/office/officeart/2005/8/layout/default"/>
    <dgm:cxn modelId="{B78635EC-D959-4F3D-AA4E-AFD8FFC9D6E7}" type="presParOf" srcId="{0C0B7008-EDE4-4CFA-A2D9-BF0FDDECA355}" destId="{3353D230-450E-4F02-9226-D1F4DA9DEA79}" srcOrd="7" destOrd="0" presId="urn:microsoft.com/office/officeart/2005/8/layout/default"/>
    <dgm:cxn modelId="{D782EFC6-C234-4901-B009-D9B2858772A4}" type="presParOf" srcId="{0C0B7008-EDE4-4CFA-A2D9-BF0FDDECA355}" destId="{61B73B29-674B-4954-99DB-BEB444C16A1B}"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F1AF71-13D0-485C-8D6A-D0F11152C32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C156311-B31A-4135-8756-A7A574642912}">
      <dgm:prSet/>
      <dgm:spPr/>
      <dgm:t>
        <a:bodyPr/>
        <a:lstStyle/>
        <a:p>
          <a:r>
            <a:rPr lang="en-US" b="1" dirty="0"/>
            <a:t>Diverse data collection </a:t>
          </a:r>
          <a:r>
            <a:rPr lang="en-US" dirty="0"/>
            <a:t>– Include underrepresented groups.</a:t>
          </a:r>
        </a:p>
      </dgm:t>
    </dgm:pt>
    <dgm:pt modelId="{CEF8EBAF-A007-4668-A85F-34F9B469B56B}" type="parTrans" cxnId="{C1FD1BD1-38E4-48E5-BAA4-E3683035A002}">
      <dgm:prSet/>
      <dgm:spPr/>
      <dgm:t>
        <a:bodyPr/>
        <a:lstStyle/>
        <a:p>
          <a:endParaRPr lang="en-US"/>
        </a:p>
      </dgm:t>
    </dgm:pt>
    <dgm:pt modelId="{4CFF0286-890C-4212-8442-BD9708B297C8}" type="sibTrans" cxnId="{C1FD1BD1-38E4-48E5-BAA4-E3683035A002}">
      <dgm:prSet/>
      <dgm:spPr/>
      <dgm:t>
        <a:bodyPr/>
        <a:lstStyle/>
        <a:p>
          <a:endParaRPr lang="en-US"/>
        </a:p>
      </dgm:t>
    </dgm:pt>
    <dgm:pt modelId="{BAE13C48-F8D7-4445-BE54-B11691DEBF96}">
      <dgm:prSet/>
      <dgm:spPr/>
      <dgm:t>
        <a:bodyPr/>
        <a:lstStyle/>
        <a:p>
          <a:r>
            <a:rPr lang="en-US" b="1" dirty="0"/>
            <a:t>Bias audits and fairness testing </a:t>
          </a:r>
          <a:r>
            <a:rPr lang="en-US" dirty="0"/>
            <a:t>– Test outcomes for different demographics.</a:t>
          </a:r>
        </a:p>
      </dgm:t>
    </dgm:pt>
    <dgm:pt modelId="{6096FF5E-47E0-4479-A660-4651AA17D260}" type="parTrans" cxnId="{5FE50AB9-E155-4590-897C-7B75CA6A66E9}">
      <dgm:prSet/>
      <dgm:spPr/>
      <dgm:t>
        <a:bodyPr/>
        <a:lstStyle/>
        <a:p>
          <a:endParaRPr lang="en-US"/>
        </a:p>
      </dgm:t>
    </dgm:pt>
    <dgm:pt modelId="{67111CED-6C7F-4943-8878-FBA7E3D58615}" type="sibTrans" cxnId="{5FE50AB9-E155-4590-897C-7B75CA6A66E9}">
      <dgm:prSet/>
      <dgm:spPr/>
      <dgm:t>
        <a:bodyPr/>
        <a:lstStyle/>
        <a:p>
          <a:endParaRPr lang="en-US"/>
        </a:p>
      </dgm:t>
    </dgm:pt>
    <dgm:pt modelId="{7A7089E1-0DBA-4F77-BEE0-FB49121951AB}">
      <dgm:prSet/>
      <dgm:spPr/>
      <dgm:t>
        <a:bodyPr/>
        <a:lstStyle/>
        <a:p>
          <a:r>
            <a:rPr lang="en-US" b="1" dirty="0"/>
            <a:t>Human oversight </a:t>
          </a:r>
          <a:r>
            <a:rPr lang="en-US" dirty="0"/>
            <a:t>– Let people review and override automated decisions.</a:t>
          </a:r>
        </a:p>
      </dgm:t>
    </dgm:pt>
    <dgm:pt modelId="{4D8463CD-53F7-4054-9DD0-7CDC2B0368E4}" type="parTrans" cxnId="{10B5A613-FF81-43B6-B247-F80C677347ED}">
      <dgm:prSet/>
      <dgm:spPr/>
      <dgm:t>
        <a:bodyPr/>
        <a:lstStyle/>
        <a:p>
          <a:endParaRPr lang="en-US"/>
        </a:p>
      </dgm:t>
    </dgm:pt>
    <dgm:pt modelId="{7F9A7436-FC2E-4B02-A250-0AF1C5809221}" type="sibTrans" cxnId="{10B5A613-FF81-43B6-B247-F80C677347ED}">
      <dgm:prSet/>
      <dgm:spPr/>
      <dgm:t>
        <a:bodyPr/>
        <a:lstStyle/>
        <a:p>
          <a:endParaRPr lang="en-US"/>
        </a:p>
      </dgm:t>
    </dgm:pt>
    <dgm:pt modelId="{B8C2294A-D9B9-4BCA-B365-69003BE46552}" type="pres">
      <dgm:prSet presAssocID="{A1F1AF71-13D0-485C-8D6A-D0F11152C329}" presName="linear" presStyleCnt="0">
        <dgm:presLayoutVars>
          <dgm:animLvl val="lvl"/>
          <dgm:resizeHandles val="exact"/>
        </dgm:presLayoutVars>
      </dgm:prSet>
      <dgm:spPr/>
    </dgm:pt>
    <dgm:pt modelId="{BEC77D4A-9EC0-4E4E-AF89-619C8ABEED8F}" type="pres">
      <dgm:prSet presAssocID="{7C156311-B31A-4135-8756-A7A574642912}" presName="parentText" presStyleLbl="node1" presStyleIdx="0" presStyleCnt="3">
        <dgm:presLayoutVars>
          <dgm:chMax val="0"/>
          <dgm:bulletEnabled val="1"/>
        </dgm:presLayoutVars>
      </dgm:prSet>
      <dgm:spPr/>
    </dgm:pt>
    <dgm:pt modelId="{9340EC08-5045-4851-90CD-200CD46BAC19}" type="pres">
      <dgm:prSet presAssocID="{4CFF0286-890C-4212-8442-BD9708B297C8}" presName="spacer" presStyleCnt="0"/>
      <dgm:spPr/>
    </dgm:pt>
    <dgm:pt modelId="{626829D5-7B70-4AA0-A57A-6EB3A8BB5066}" type="pres">
      <dgm:prSet presAssocID="{BAE13C48-F8D7-4445-BE54-B11691DEBF96}" presName="parentText" presStyleLbl="node1" presStyleIdx="1" presStyleCnt="3">
        <dgm:presLayoutVars>
          <dgm:chMax val="0"/>
          <dgm:bulletEnabled val="1"/>
        </dgm:presLayoutVars>
      </dgm:prSet>
      <dgm:spPr/>
    </dgm:pt>
    <dgm:pt modelId="{03486B97-3752-4A15-A251-6BBC39A9F265}" type="pres">
      <dgm:prSet presAssocID="{67111CED-6C7F-4943-8878-FBA7E3D58615}" presName="spacer" presStyleCnt="0"/>
      <dgm:spPr/>
    </dgm:pt>
    <dgm:pt modelId="{05678BC6-7464-4E48-A2FE-1EB70B1FBE29}" type="pres">
      <dgm:prSet presAssocID="{7A7089E1-0DBA-4F77-BEE0-FB49121951AB}" presName="parentText" presStyleLbl="node1" presStyleIdx="2" presStyleCnt="3">
        <dgm:presLayoutVars>
          <dgm:chMax val="0"/>
          <dgm:bulletEnabled val="1"/>
        </dgm:presLayoutVars>
      </dgm:prSet>
      <dgm:spPr/>
    </dgm:pt>
  </dgm:ptLst>
  <dgm:cxnLst>
    <dgm:cxn modelId="{10B5A613-FF81-43B6-B247-F80C677347ED}" srcId="{A1F1AF71-13D0-485C-8D6A-D0F11152C329}" destId="{7A7089E1-0DBA-4F77-BEE0-FB49121951AB}" srcOrd="2" destOrd="0" parTransId="{4D8463CD-53F7-4054-9DD0-7CDC2B0368E4}" sibTransId="{7F9A7436-FC2E-4B02-A250-0AF1C5809221}"/>
    <dgm:cxn modelId="{129E3814-0822-4B1B-925D-3595C88E8907}" type="presOf" srcId="{A1F1AF71-13D0-485C-8D6A-D0F11152C329}" destId="{B8C2294A-D9B9-4BCA-B365-69003BE46552}" srcOrd="0" destOrd="0" presId="urn:microsoft.com/office/officeart/2005/8/layout/vList2"/>
    <dgm:cxn modelId="{7336E764-FE43-4360-B78C-3C6678D5DBB8}" type="presOf" srcId="{7C156311-B31A-4135-8756-A7A574642912}" destId="{BEC77D4A-9EC0-4E4E-AF89-619C8ABEED8F}" srcOrd="0" destOrd="0" presId="urn:microsoft.com/office/officeart/2005/8/layout/vList2"/>
    <dgm:cxn modelId="{B2728A4C-CD9A-4BE8-AE92-1D613224A4B3}" type="presOf" srcId="{BAE13C48-F8D7-4445-BE54-B11691DEBF96}" destId="{626829D5-7B70-4AA0-A57A-6EB3A8BB5066}" srcOrd="0" destOrd="0" presId="urn:microsoft.com/office/officeart/2005/8/layout/vList2"/>
    <dgm:cxn modelId="{E54F2592-71AA-4254-93F0-070CC9237F62}" type="presOf" srcId="{7A7089E1-0DBA-4F77-BEE0-FB49121951AB}" destId="{05678BC6-7464-4E48-A2FE-1EB70B1FBE29}" srcOrd="0" destOrd="0" presId="urn:microsoft.com/office/officeart/2005/8/layout/vList2"/>
    <dgm:cxn modelId="{5FE50AB9-E155-4590-897C-7B75CA6A66E9}" srcId="{A1F1AF71-13D0-485C-8D6A-D0F11152C329}" destId="{BAE13C48-F8D7-4445-BE54-B11691DEBF96}" srcOrd="1" destOrd="0" parTransId="{6096FF5E-47E0-4479-A660-4651AA17D260}" sibTransId="{67111CED-6C7F-4943-8878-FBA7E3D58615}"/>
    <dgm:cxn modelId="{C1FD1BD1-38E4-48E5-BAA4-E3683035A002}" srcId="{A1F1AF71-13D0-485C-8D6A-D0F11152C329}" destId="{7C156311-B31A-4135-8756-A7A574642912}" srcOrd="0" destOrd="0" parTransId="{CEF8EBAF-A007-4668-A85F-34F9B469B56B}" sibTransId="{4CFF0286-890C-4212-8442-BD9708B297C8}"/>
    <dgm:cxn modelId="{63F82268-D670-4BD5-8123-59602D4C7D84}" type="presParOf" srcId="{B8C2294A-D9B9-4BCA-B365-69003BE46552}" destId="{BEC77D4A-9EC0-4E4E-AF89-619C8ABEED8F}" srcOrd="0" destOrd="0" presId="urn:microsoft.com/office/officeart/2005/8/layout/vList2"/>
    <dgm:cxn modelId="{18A03E90-60AE-47AF-B716-9390B4404E96}" type="presParOf" srcId="{B8C2294A-D9B9-4BCA-B365-69003BE46552}" destId="{9340EC08-5045-4851-90CD-200CD46BAC19}" srcOrd="1" destOrd="0" presId="urn:microsoft.com/office/officeart/2005/8/layout/vList2"/>
    <dgm:cxn modelId="{00BEE6D9-E1D1-49DC-96FC-A14AF00A2BEC}" type="presParOf" srcId="{B8C2294A-D9B9-4BCA-B365-69003BE46552}" destId="{626829D5-7B70-4AA0-A57A-6EB3A8BB5066}" srcOrd="2" destOrd="0" presId="urn:microsoft.com/office/officeart/2005/8/layout/vList2"/>
    <dgm:cxn modelId="{0DF3A710-8964-4B1A-AE8D-FFC8EAF088E5}" type="presParOf" srcId="{B8C2294A-D9B9-4BCA-B365-69003BE46552}" destId="{03486B97-3752-4A15-A251-6BBC39A9F265}" srcOrd="3" destOrd="0" presId="urn:microsoft.com/office/officeart/2005/8/layout/vList2"/>
    <dgm:cxn modelId="{D58E7207-D983-4CAE-BDFA-8D580F1012DC}" type="presParOf" srcId="{B8C2294A-D9B9-4BCA-B365-69003BE46552}" destId="{05678BC6-7464-4E48-A2FE-1EB70B1FBE2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D2E9B00-248F-46C0-B1C4-9EBC43B3FC5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B02FAD5-0347-4124-BAA8-F1D84AA7E3DE}">
      <dgm:prSet/>
      <dgm:spPr/>
      <dgm:t>
        <a:bodyPr/>
        <a:lstStyle/>
        <a:p>
          <a:r>
            <a:rPr lang="en-US"/>
            <a:t>This pillar focuses on the transparency and explainability of AI systems</a:t>
          </a:r>
        </a:p>
      </dgm:t>
    </dgm:pt>
    <dgm:pt modelId="{520036F0-4051-4610-9E43-C27203B34FC5}" type="parTrans" cxnId="{69ACD2DE-7698-45CD-AB05-564AE204E142}">
      <dgm:prSet/>
      <dgm:spPr/>
      <dgm:t>
        <a:bodyPr/>
        <a:lstStyle/>
        <a:p>
          <a:endParaRPr lang="en-US"/>
        </a:p>
      </dgm:t>
    </dgm:pt>
    <dgm:pt modelId="{D8302694-F87A-4D64-8542-967514E9A2C2}" type="sibTrans" cxnId="{69ACD2DE-7698-45CD-AB05-564AE204E142}">
      <dgm:prSet/>
      <dgm:spPr/>
      <dgm:t>
        <a:bodyPr/>
        <a:lstStyle/>
        <a:p>
          <a:endParaRPr lang="en-US"/>
        </a:p>
      </dgm:t>
    </dgm:pt>
    <dgm:pt modelId="{EE3DEFCB-2034-420C-8CD7-C00D0B71B347}">
      <dgm:prSet/>
      <dgm:spPr/>
      <dgm:t>
        <a:bodyPr/>
        <a:lstStyle/>
        <a:p>
          <a:r>
            <a:rPr lang="en-US"/>
            <a:t>AI systems must be understandable for both experts and ordinary users. </a:t>
          </a:r>
        </a:p>
      </dgm:t>
    </dgm:pt>
    <dgm:pt modelId="{0D1E076E-E63B-4338-9B0D-CD27811C653C}" type="parTrans" cxnId="{431CAD3A-F287-4D62-BCA1-81F85964C180}">
      <dgm:prSet/>
      <dgm:spPr/>
      <dgm:t>
        <a:bodyPr/>
        <a:lstStyle/>
        <a:p>
          <a:endParaRPr lang="en-US"/>
        </a:p>
      </dgm:t>
    </dgm:pt>
    <dgm:pt modelId="{32BF6E33-1738-49B8-A5DB-1EC643624719}" type="sibTrans" cxnId="{431CAD3A-F287-4D62-BCA1-81F85964C180}">
      <dgm:prSet/>
      <dgm:spPr/>
      <dgm:t>
        <a:bodyPr/>
        <a:lstStyle/>
        <a:p>
          <a:endParaRPr lang="en-US"/>
        </a:p>
      </dgm:t>
    </dgm:pt>
    <dgm:pt modelId="{76EE154A-BBDA-4253-B989-24E53814227A}">
      <dgm:prSet/>
      <dgm:spPr/>
      <dgm:t>
        <a:bodyPr/>
        <a:lstStyle/>
        <a:p>
          <a:r>
            <a:rPr lang="en-US"/>
            <a:t>By understanding how AI works and how it reaches its decisions, we can be clear about who is responsible for AI outcomes.</a:t>
          </a:r>
        </a:p>
      </dgm:t>
    </dgm:pt>
    <dgm:pt modelId="{5F4BE418-E8B0-4101-906C-46BF6F0F263C}" type="parTrans" cxnId="{27C294FF-98C6-4590-909D-F01B2AE0485F}">
      <dgm:prSet/>
      <dgm:spPr/>
      <dgm:t>
        <a:bodyPr/>
        <a:lstStyle/>
        <a:p>
          <a:endParaRPr lang="en-US"/>
        </a:p>
      </dgm:t>
    </dgm:pt>
    <dgm:pt modelId="{5176844F-F212-4229-9D28-81375C7E9F51}" type="sibTrans" cxnId="{27C294FF-98C6-4590-909D-F01B2AE0485F}">
      <dgm:prSet/>
      <dgm:spPr/>
      <dgm:t>
        <a:bodyPr/>
        <a:lstStyle/>
        <a:p>
          <a:endParaRPr lang="en-US"/>
        </a:p>
      </dgm:t>
    </dgm:pt>
    <dgm:pt modelId="{E5B69FB9-F75E-4F63-9CF1-E90BC98D9A29}" type="pres">
      <dgm:prSet presAssocID="{4D2E9B00-248F-46C0-B1C4-9EBC43B3FC51}" presName="root" presStyleCnt="0">
        <dgm:presLayoutVars>
          <dgm:dir/>
          <dgm:resizeHandles val="exact"/>
        </dgm:presLayoutVars>
      </dgm:prSet>
      <dgm:spPr/>
    </dgm:pt>
    <dgm:pt modelId="{D011F0FB-D1F7-4932-9CBE-93F344EDC531}" type="pres">
      <dgm:prSet presAssocID="{5B02FAD5-0347-4124-BAA8-F1D84AA7E3DE}" presName="compNode" presStyleCnt="0"/>
      <dgm:spPr/>
    </dgm:pt>
    <dgm:pt modelId="{7F52E787-990D-4A41-923D-91C009DF76D6}" type="pres">
      <dgm:prSet presAssocID="{5B02FAD5-0347-4124-BAA8-F1D84AA7E3DE}" presName="bgRect" presStyleLbl="bgShp" presStyleIdx="0" presStyleCnt="3"/>
      <dgm:spPr/>
    </dgm:pt>
    <dgm:pt modelId="{9C26A796-8857-4BF2-9382-51F6E064F06A}" type="pres">
      <dgm:prSet presAssocID="{5B02FAD5-0347-4124-BAA8-F1D84AA7E3D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34D2E627-82BE-440C-82BB-FA9A24914945}" type="pres">
      <dgm:prSet presAssocID="{5B02FAD5-0347-4124-BAA8-F1D84AA7E3DE}" presName="spaceRect" presStyleCnt="0"/>
      <dgm:spPr/>
    </dgm:pt>
    <dgm:pt modelId="{0A6FD268-1C0F-4B15-895F-BB71E9374733}" type="pres">
      <dgm:prSet presAssocID="{5B02FAD5-0347-4124-BAA8-F1D84AA7E3DE}" presName="parTx" presStyleLbl="revTx" presStyleIdx="0" presStyleCnt="3">
        <dgm:presLayoutVars>
          <dgm:chMax val="0"/>
          <dgm:chPref val="0"/>
        </dgm:presLayoutVars>
      </dgm:prSet>
      <dgm:spPr/>
    </dgm:pt>
    <dgm:pt modelId="{BAB9F8F7-9AA2-4C2B-BA22-A6E90E6F2C10}" type="pres">
      <dgm:prSet presAssocID="{D8302694-F87A-4D64-8542-967514E9A2C2}" presName="sibTrans" presStyleCnt="0"/>
      <dgm:spPr/>
    </dgm:pt>
    <dgm:pt modelId="{464A908F-7DAB-49BF-AD36-7AF7F8025449}" type="pres">
      <dgm:prSet presAssocID="{EE3DEFCB-2034-420C-8CD7-C00D0B71B347}" presName="compNode" presStyleCnt="0"/>
      <dgm:spPr/>
    </dgm:pt>
    <dgm:pt modelId="{329FFE42-41A5-49E5-A246-356382BFBBA6}" type="pres">
      <dgm:prSet presAssocID="{EE3DEFCB-2034-420C-8CD7-C00D0B71B347}" presName="bgRect" presStyleLbl="bgShp" presStyleIdx="1" presStyleCnt="3"/>
      <dgm:spPr/>
    </dgm:pt>
    <dgm:pt modelId="{E7F90E9B-264E-4A99-90C9-81651D64B320}" type="pres">
      <dgm:prSet presAssocID="{EE3DEFCB-2034-420C-8CD7-C00D0B71B34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96C9093E-9DA5-4183-AFAA-3A688B918525}" type="pres">
      <dgm:prSet presAssocID="{EE3DEFCB-2034-420C-8CD7-C00D0B71B347}" presName="spaceRect" presStyleCnt="0"/>
      <dgm:spPr/>
    </dgm:pt>
    <dgm:pt modelId="{AED81550-5D63-4577-83AA-5E5D3570E7BF}" type="pres">
      <dgm:prSet presAssocID="{EE3DEFCB-2034-420C-8CD7-C00D0B71B347}" presName="parTx" presStyleLbl="revTx" presStyleIdx="1" presStyleCnt="3">
        <dgm:presLayoutVars>
          <dgm:chMax val="0"/>
          <dgm:chPref val="0"/>
        </dgm:presLayoutVars>
      </dgm:prSet>
      <dgm:spPr/>
    </dgm:pt>
    <dgm:pt modelId="{7713949E-E6D5-4482-8CFB-520952FB59DB}" type="pres">
      <dgm:prSet presAssocID="{32BF6E33-1738-49B8-A5DB-1EC643624719}" presName="sibTrans" presStyleCnt="0"/>
      <dgm:spPr/>
    </dgm:pt>
    <dgm:pt modelId="{3FF2B2CE-CFA9-4262-900E-E4ED5EAAEDD1}" type="pres">
      <dgm:prSet presAssocID="{76EE154A-BBDA-4253-B989-24E53814227A}" presName="compNode" presStyleCnt="0"/>
      <dgm:spPr/>
    </dgm:pt>
    <dgm:pt modelId="{3715D704-DF28-4EDB-848B-FF07FFB663D3}" type="pres">
      <dgm:prSet presAssocID="{76EE154A-BBDA-4253-B989-24E53814227A}" presName="bgRect" presStyleLbl="bgShp" presStyleIdx="2" presStyleCnt="3"/>
      <dgm:spPr/>
    </dgm:pt>
    <dgm:pt modelId="{2BE85883-DF76-480D-8E2E-2B0AC044EA5F}" type="pres">
      <dgm:prSet presAssocID="{76EE154A-BBDA-4253-B989-24E53814227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erson with Idea"/>
        </a:ext>
      </dgm:extLst>
    </dgm:pt>
    <dgm:pt modelId="{BFF962F3-2A00-4546-9821-348A9CE7DC45}" type="pres">
      <dgm:prSet presAssocID="{76EE154A-BBDA-4253-B989-24E53814227A}" presName="spaceRect" presStyleCnt="0"/>
      <dgm:spPr/>
    </dgm:pt>
    <dgm:pt modelId="{25D3FC6E-A69E-49C3-8CA0-4636A34200B0}" type="pres">
      <dgm:prSet presAssocID="{76EE154A-BBDA-4253-B989-24E53814227A}" presName="parTx" presStyleLbl="revTx" presStyleIdx="2" presStyleCnt="3">
        <dgm:presLayoutVars>
          <dgm:chMax val="0"/>
          <dgm:chPref val="0"/>
        </dgm:presLayoutVars>
      </dgm:prSet>
      <dgm:spPr/>
    </dgm:pt>
  </dgm:ptLst>
  <dgm:cxnLst>
    <dgm:cxn modelId="{431CAD3A-F287-4D62-BCA1-81F85964C180}" srcId="{4D2E9B00-248F-46C0-B1C4-9EBC43B3FC51}" destId="{EE3DEFCB-2034-420C-8CD7-C00D0B71B347}" srcOrd="1" destOrd="0" parTransId="{0D1E076E-E63B-4338-9B0D-CD27811C653C}" sibTransId="{32BF6E33-1738-49B8-A5DB-1EC643624719}"/>
    <dgm:cxn modelId="{B7646F40-D23B-4B1A-A86C-AA373AF79148}" type="presOf" srcId="{5B02FAD5-0347-4124-BAA8-F1D84AA7E3DE}" destId="{0A6FD268-1C0F-4B15-895F-BB71E9374733}" srcOrd="0" destOrd="0" presId="urn:microsoft.com/office/officeart/2018/2/layout/IconVerticalSolidList"/>
    <dgm:cxn modelId="{557EBDAA-B11B-4BDF-AB34-BBAC24A293E9}" type="presOf" srcId="{EE3DEFCB-2034-420C-8CD7-C00D0B71B347}" destId="{AED81550-5D63-4577-83AA-5E5D3570E7BF}" srcOrd="0" destOrd="0" presId="urn:microsoft.com/office/officeart/2018/2/layout/IconVerticalSolidList"/>
    <dgm:cxn modelId="{4E9B9CDE-325F-4B3E-B862-8CE874C775FF}" type="presOf" srcId="{4D2E9B00-248F-46C0-B1C4-9EBC43B3FC51}" destId="{E5B69FB9-F75E-4F63-9CF1-E90BC98D9A29}" srcOrd="0" destOrd="0" presId="urn:microsoft.com/office/officeart/2018/2/layout/IconVerticalSolidList"/>
    <dgm:cxn modelId="{69ACD2DE-7698-45CD-AB05-564AE204E142}" srcId="{4D2E9B00-248F-46C0-B1C4-9EBC43B3FC51}" destId="{5B02FAD5-0347-4124-BAA8-F1D84AA7E3DE}" srcOrd="0" destOrd="0" parTransId="{520036F0-4051-4610-9E43-C27203B34FC5}" sibTransId="{D8302694-F87A-4D64-8542-967514E9A2C2}"/>
    <dgm:cxn modelId="{3BE544E2-5A1F-4202-8F57-5D3790B7B13E}" type="presOf" srcId="{76EE154A-BBDA-4253-B989-24E53814227A}" destId="{25D3FC6E-A69E-49C3-8CA0-4636A34200B0}" srcOrd="0" destOrd="0" presId="urn:microsoft.com/office/officeart/2018/2/layout/IconVerticalSolidList"/>
    <dgm:cxn modelId="{27C294FF-98C6-4590-909D-F01B2AE0485F}" srcId="{4D2E9B00-248F-46C0-B1C4-9EBC43B3FC51}" destId="{76EE154A-BBDA-4253-B989-24E53814227A}" srcOrd="2" destOrd="0" parTransId="{5F4BE418-E8B0-4101-906C-46BF6F0F263C}" sibTransId="{5176844F-F212-4229-9D28-81375C7E9F51}"/>
    <dgm:cxn modelId="{E7C9E99A-97FF-4E84-A459-D6AAAE7C7572}" type="presParOf" srcId="{E5B69FB9-F75E-4F63-9CF1-E90BC98D9A29}" destId="{D011F0FB-D1F7-4932-9CBE-93F344EDC531}" srcOrd="0" destOrd="0" presId="urn:microsoft.com/office/officeart/2018/2/layout/IconVerticalSolidList"/>
    <dgm:cxn modelId="{489996D0-21AF-4DE3-952C-EF75B4123A3E}" type="presParOf" srcId="{D011F0FB-D1F7-4932-9CBE-93F344EDC531}" destId="{7F52E787-990D-4A41-923D-91C009DF76D6}" srcOrd="0" destOrd="0" presId="urn:microsoft.com/office/officeart/2018/2/layout/IconVerticalSolidList"/>
    <dgm:cxn modelId="{EB3B5F17-BCB8-4BA5-A754-8304A71923A5}" type="presParOf" srcId="{D011F0FB-D1F7-4932-9CBE-93F344EDC531}" destId="{9C26A796-8857-4BF2-9382-51F6E064F06A}" srcOrd="1" destOrd="0" presId="urn:microsoft.com/office/officeart/2018/2/layout/IconVerticalSolidList"/>
    <dgm:cxn modelId="{8E7D944C-BEBA-4C67-B946-CE539392D7FA}" type="presParOf" srcId="{D011F0FB-D1F7-4932-9CBE-93F344EDC531}" destId="{34D2E627-82BE-440C-82BB-FA9A24914945}" srcOrd="2" destOrd="0" presId="urn:microsoft.com/office/officeart/2018/2/layout/IconVerticalSolidList"/>
    <dgm:cxn modelId="{B176480F-B35D-4B58-95B4-DB9E18D9891E}" type="presParOf" srcId="{D011F0FB-D1F7-4932-9CBE-93F344EDC531}" destId="{0A6FD268-1C0F-4B15-895F-BB71E9374733}" srcOrd="3" destOrd="0" presId="urn:microsoft.com/office/officeart/2018/2/layout/IconVerticalSolidList"/>
    <dgm:cxn modelId="{BF285741-C8EE-46CB-B82E-4F149713536E}" type="presParOf" srcId="{E5B69FB9-F75E-4F63-9CF1-E90BC98D9A29}" destId="{BAB9F8F7-9AA2-4C2B-BA22-A6E90E6F2C10}" srcOrd="1" destOrd="0" presId="urn:microsoft.com/office/officeart/2018/2/layout/IconVerticalSolidList"/>
    <dgm:cxn modelId="{6FC510B9-C69F-450C-A85D-A01D5768F729}" type="presParOf" srcId="{E5B69FB9-F75E-4F63-9CF1-E90BC98D9A29}" destId="{464A908F-7DAB-49BF-AD36-7AF7F8025449}" srcOrd="2" destOrd="0" presId="urn:microsoft.com/office/officeart/2018/2/layout/IconVerticalSolidList"/>
    <dgm:cxn modelId="{D4111B6E-DC25-4414-A2F8-3B1C661896F0}" type="presParOf" srcId="{464A908F-7DAB-49BF-AD36-7AF7F8025449}" destId="{329FFE42-41A5-49E5-A246-356382BFBBA6}" srcOrd="0" destOrd="0" presId="urn:microsoft.com/office/officeart/2018/2/layout/IconVerticalSolidList"/>
    <dgm:cxn modelId="{63C91BBE-42B1-4D73-A058-D13F9FA2BBFA}" type="presParOf" srcId="{464A908F-7DAB-49BF-AD36-7AF7F8025449}" destId="{E7F90E9B-264E-4A99-90C9-81651D64B320}" srcOrd="1" destOrd="0" presId="urn:microsoft.com/office/officeart/2018/2/layout/IconVerticalSolidList"/>
    <dgm:cxn modelId="{0EA19E5E-9C86-4F70-ABB2-B0D3E1ADCDDA}" type="presParOf" srcId="{464A908F-7DAB-49BF-AD36-7AF7F8025449}" destId="{96C9093E-9DA5-4183-AFAA-3A688B918525}" srcOrd="2" destOrd="0" presId="urn:microsoft.com/office/officeart/2018/2/layout/IconVerticalSolidList"/>
    <dgm:cxn modelId="{4D364BA7-74F0-41C7-81ED-8B609D94E344}" type="presParOf" srcId="{464A908F-7DAB-49BF-AD36-7AF7F8025449}" destId="{AED81550-5D63-4577-83AA-5E5D3570E7BF}" srcOrd="3" destOrd="0" presId="urn:microsoft.com/office/officeart/2018/2/layout/IconVerticalSolidList"/>
    <dgm:cxn modelId="{A388E3AD-A9F0-4993-9568-19CE7AD436BB}" type="presParOf" srcId="{E5B69FB9-F75E-4F63-9CF1-E90BC98D9A29}" destId="{7713949E-E6D5-4482-8CFB-520952FB59DB}" srcOrd="3" destOrd="0" presId="urn:microsoft.com/office/officeart/2018/2/layout/IconVerticalSolidList"/>
    <dgm:cxn modelId="{D668D73B-8480-4DD4-8AB4-63F9E161BC21}" type="presParOf" srcId="{E5B69FB9-F75E-4F63-9CF1-E90BC98D9A29}" destId="{3FF2B2CE-CFA9-4262-900E-E4ED5EAAEDD1}" srcOrd="4" destOrd="0" presId="urn:microsoft.com/office/officeart/2018/2/layout/IconVerticalSolidList"/>
    <dgm:cxn modelId="{BB214A73-2E63-4694-80FD-FBDFF69A0644}" type="presParOf" srcId="{3FF2B2CE-CFA9-4262-900E-E4ED5EAAEDD1}" destId="{3715D704-DF28-4EDB-848B-FF07FFB663D3}" srcOrd="0" destOrd="0" presId="urn:microsoft.com/office/officeart/2018/2/layout/IconVerticalSolidList"/>
    <dgm:cxn modelId="{679691D3-D5E9-498A-AA2E-4DB43C3339B8}" type="presParOf" srcId="{3FF2B2CE-CFA9-4262-900E-E4ED5EAAEDD1}" destId="{2BE85883-DF76-480D-8E2E-2B0AC044EA5F}" srcOrd="1" destOrd="0" presId="urn:microsoft.com/office/officeart/2018/2/layout/IconVerticalSolidList"/>
    <dgm:cxn modelId="{F1CB2489-0413-4634-BB8B-4AD23F9C2E18}" type="presParOf" srcId="{3FF2B2CE-CFA9-4262-900E-E4ED5EAAEDD1}" destId="{BFF962F3-2A00-4546-9821-348A9CE7DC45}" srcOrd="2" destOrd="0" presId="urn:microsoft.com/office/officeart/2018/2/layout/IconVerticalSolidList"/>
    <dgm:cxn modelId="{DB70583C-19C8-43B5-946D-6E3348BD82E1}" type="presParOf" srcId="{3FF2B2CE-CFA9-4262-900E-E4ED5EAAEDD1}" destId="{25D3FC6E-A69E-49C3-8CA0-4636A34200B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8947136-60D8-488A-8115-C3D58C71E9E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43E1A43-195D-4AF9-8992-569BD1293C29}">
      <dgm:prSet/>
      <dgm:spPr/>
      <dgm:t>
        <a:bodyPr/>
        <a:lstStyle/>
        <a:p>
          <a:r>
            <a:rPr lang="en-US" dirty="0"/>
            <a:t>Model Simplification: Use interpretable models (e.g., decision trees)  when possible</a:t>
          </a:r>
        </a:p>
      </dgm:t>
    </dgm:pt>
    <dgm:pt modelId="{2704255E-7FC7-4C36-835C-C19583CB3C08}" type="parTrans" cxnId="{047AF0EB-F33C-4191-839C-5C0B765DDF5D}">
      <dgm:prSet/>
      <dgm:spPr/>
      <dgm:t>
        <a:bodyPr/>
        <a:lstStyle/>
        <a:p>
          <a:endParaRPr lang="en-US"/>
        </a:p>
      </dgm:t>
    </dgm:pt>
    <dgm:pt modelId="{557D819D-6182-4D10-9751-2478D06B4452}" type="sibTrans" cxnId="{047AF0EB-F33C-4191-839C-5C0B765DDF5D}">
      <dgm:prSet/>
      <dgm:spPr/>
      <dgm:t>
        <a:bodyPr/>
        <a:lstStyle/>
        <a:p>
          <a:endParaRPr lang="en-US"/>
        </a:p>
      </dgm:t>
    </dgm:pt>
    <dgm:pt modelId="{5B406C2B-0EDF-4039-B5D9-35E28B871846}">
      <dgm:prSet/>
      <dgm:spPr/>
      <dgm:t>
        <a:bodyPr/>
        <a:lstStyle/>
        <a:p>
          <a:r>
            <a:rPr lang="en-US"/>
            <a:t>Post-hoc Explanation Tools: LIME, SHAP which help highlight which features influenced decisions</a:t>
          </a:r>
        </a:p>
      </dgm:t>
    </dgm:pt>
    <dgm:pt modelId="{9A0AB490-9C09-4231-AB5F-0D7DC83BAE1F}" type="parTrans" cxnId="{6B0643A8-0006-4966-8117-C9D938F550FD}">
      <dgm:prSet/>
      <dgm:spPr/>
      <dgm:t>
        <a:bodyPr/>
        <a:lstStyle/>
        <a:p>
          <a:endParaRPr lang="en-US"/>
        </a:p>
      </dgm:t>
    </dgm:pt>
    <dgm:pt modelId="{703B59B3-8E85-4C16-AEC5-A2F7FDC0780A}" type="sibTrans" cxnId="{6B0643A8-0006-4966-8117-C9D938F550FD}">
      <dgm:prSet/>
      <dgm:spPr/>
      <dgm:t>
        <a:bodyPr/>
        <a:lstStyle/>
        <a:p>
          <a:endParaRPr lang="en-US"/>
        </a:p>
      </dgm:t>
    </dgm:pt>
    <dgm:pt modelId="{037EC184-C638-41BA-9212-19D53355ABC9}">
      <dgm:prSet/>
      <dgm:spPr/>
      <dgm:t>
        <a:bodyPr/>
        <a:lstStyle/>
        <a:p>
          <a:r>
            <a:rPr lang="en-US"/>
            <a:t>Auditability: Keep detailed logs of how decisions were made</a:t>
          </a:r>
        </a:p>
      </dgm:t>
    </dgm:pt>
    <dgm:pt modelId="{65262570-EFB9-415E-B9C4-1622BD37366F}" type="parTrans" cxnId="{A6E7647A-F473-42A5-A96B-ADD0E6C75114}">
      <dgm:prSet/>
      <dgm:spPr/>
      <dgm:t>
        <a:bodyPr/>
        <a:lstStyle/>
        <a:p>
          <a:endParaRPr lang="en-US"/>
        </a:p>
      </dgm:t>
    </dgm:pt>
    <dgm:pt modelId="{B5093AA5-9733-49DA-B377-798663398922}" type="sibTrans" cxnId="{A6E7647A-F473-42A5-A96B-ADD0E6C75114}">
      <dgm:prSet/>
      <dgm:spPr/>
      <dgm:t>
        <a:bodyPr/>
        <a:lstStyle/>
        <a:p>
          <a:endParaRPr lang="en-US"/>
        </a:p>
      </dgm:t>
    </dgm:pt>
    <dgm:pt modelId="{51221F80-0128-4AA0-A954-7AE55FBB992D}">
      <dgm:prSet/>
      <dgm:spPr/>
      <dgm:t>
        <a:bodyPr/>
        <a:lstStyle/>
        <a:p>
          <a:r>
            <a:rPr lang="en-US"/>
            <a:t>Human-in-the-loop systems: Ensuring ways that humans can review or override the AI’s output.</a:t>
          </a:r>
        </a:p>
      </dgm:t>
    </dgm:pt>
    <dgm:pt modelId="{95075EA7-7B8B-492F-99C0-4232B51CE677}" type="parTrans" cxnId="{9C9B9DE9-6532-4089-B048-88413A2FB402}">
      <dgm:prSet/>
      <dgm:spPr/>
      <dgm:t>
        <a:bodyPr/>
        <a:lstStyle/>
        <a:p>
          <a:endParaRPr lang="en-US"/>
        </a:p>
      </dgm:t>
    </dgm:pt>
    <dgm:pt modelId="{489B97C4-68F1-4C2D-B263-B425E764EE5B}" type="sibTrans" cxnId="{9C9B9DE9-6532-4089-B048-88413A2FB402}">
      <dgm:prSet/>
      <dgm:spPr/>
      <dgm:t>
        <a:bodyPr/>
        <a:lstStyle/>
        <a:p>
          <a:endParaRPr lang="en-US"/>
        </a:p>
      </dgm:t>
    </dgm:pt>
    <dgm:pt modelId="{EC9AC2A0-3C81-47AF-B204-72EB4CEE4B74}" type="pres">
      <dgm:prSet presAssocID="{98947136-60D8-488A-8115-C3D58C71E9E4}" presName="root" presStyleCnt="0">
        <dgm:presLayoutVars>
          <dgm:dir/>
          <dgm:resizeHandles val="exact"/>
        </dgm:presLayoutVars>
      </dgm:prSet>
      <dgm:spPr/>
    </dgm:pt>
    <dgm:pt modelId="{968CA88D-8D94-4860-AEB0-392AF27ABD95}" type="pres">
      <dgm:prSet presAssocID="{E43E1A43-195D-4AF9-8992-569BD1293C29}" presName="compNode" presStyleCnt="0"/>
      <dgm:spPr/>
    </dgm:pt>
    <dgm:pt modelId="{85064385-ADC6-4B91-B02C-4CF1C38643B8}" type="pres">
      <dgm:prSet presAssocID="{E43E1A43-195D-4AF9-8992-569BD1293C29}" presName="bgRect" presStyleLbl="bgShp" presStyleIdx="0" presStyleCnt="4"/>
      <dgm:spPr/>
    </dgm:pt>
    <dgm:pt modelId="{C00A0292-2848-4E6F-964C-DBA25C83BF82}" type="pres">
      <dgm:prSet presAssocID="{E43E1A43-195D-4AF9-8992-569BD1293C2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cision chart"/>
        </a:ext>
      </dgm:extLst>
    </dgm:pt>
    <dgm:pt modelId="{9E699091-1544-427E-A725-920F58CF653A}" type="pres">
      <dgm:prSet presAssocID="{E43E1A43-195D-4AF9-8992-569BD1293C29}" presName="spaceRect" presStyleCnt="0"/>
      <dgm:spPr/>
    </dgm:pt>
    <dgm:pt modelId="{2AD1AF66-E154-4899-A330-3F1E8C84C878}" type="pres">
      <dgm:prSet presAssocID="{E43E1A43-195D-4AF9-8992-569BD1293C29}" presName="parTx" presStyleLbl="revTx" presStyleIdx="0" presStyleCnt="4">
        <dgm:presLayoutVars>
          <dgm:chMax val="0"/>
          <dgm:chPref val="0"/>
        </dgm:presLayoutVars>
      </dgm:prSet>
      <dgm:spPr/>
    </dgm:pt>
    <dgm:pt modelId="{19CE05DF-E932-46BB-A483-A5D0993CBA9D}" type="pres">
      <dgm:prSet presAssocID="{557D819D-6182-4D10-9751-2478D06B4452}" presName="sibTrans" presStyleCnt="0"/>
      <dgm:spPr/>
    </dgm:pt>
    <dgm:pt modelId="{C5122272-AD30-4829-B41D-2DAD8794C0CD}" type="pres">
      <dgm:prSet presAssocID="{5B406C2B-0EDF-4039-B5D9-35E28B871846}" presName="compNode" presStyleCnt="0"/>
      <dgm:spPr/>
    </dgm:pt>
    <dgm:pt modelId="{0A4A7E1A-43BD-4F9A-B1A2-AFCA52CC56B6}" type="pres">
      <dgm:prSet presAssocID="{5B406C2B-0EDF-4039-B5D9-35E28B871846}" presName="bgRect" presStyleLbl="bgShp" presStyleIdx="1" presStyleCnt="4"/>
      <dgm:spPr/>
    </dgm:pt>
    <dgm:pt modelId="{EDB0BF0D-6087-4DB2-AB9F-6B75DB09BC5F}" type="pres">
      <dgm:prSet presAssocID="{5B406C2B-0EDF-4039-B5D9-35E28B87184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ingle gear"/>
        </a:ext>
      </dgm:extLst>
    </dgm:pt>
    <dgm:pt modelId="{A8798E4F-3487-46F4-82B3-4E710A2DF894}" type="pres">
      <dgm:prSet presAssocID="{5B406C2B-0EDF-4039-B5D9-35E28B871846}" presName="spaceRect" presStyleCnt="0"/>
      <dgm:spPr/>
    </dgm:pt>
    <dgm:pt modelId="{C5A64CAE-B940-4093-9CEE-CD770373D561}" type="pres">
      <dgm:prSet presAssocID="{5B406C2B-0EDF-4039-B5D9-35E28B871846}" presName="parTx" presStyleLbl="revTx" presStyleIdx="1" presStyleCnt="4">
        <dgm:presLayoutVars>
          <dgm:chMax val="0"/>
          <dgm:chPref val="0"/>
        </dgm:presLayoutVars>
      </dgm:prSet>
      <dgm:spPr/>
    </dgm:pt>
    <dgm:pt modelId="{2756CB0A-6CF9-4381-91A1-E1F09DCF265B}" type="pres">
      <dgm:prSet presAssocID="{703B59B3-8E85-4C16-AEC5-A2F7FDC0780A}" presName="sibTrans" presStyleCnt="0"/>
      <dgm:spPr/>
    </dgm:pt>
    <dgm:pt modelId="{D6041BC4-F9C5-4546-8024-1F41A1464D1D}" type="pres">
      <dgm:prSet presAssocID="{037EC184-C638-41BA-9212-19D53355ABC9}" presName="compNode" presStyleCnt="0"/>
      <dgm:spPr/>
    </dgm:pt>
    <dgm:pt modelId="{4B8B547D-0806-4C0E-979E-74F2A9E46E64}" type="pres">
      <dgm:prSet presAssocID="{037EC184-C638-41BA-9212-19D53355ABC9}" presName="bgRect" presStyleLbl="bgShp" presStyleIdx="2" presStyleCnt="4"/>
      <dgm:spPr/>
    </dgm:pt>
    <dgm:pt modelId="{869077D2-23EB-404D-B977-85B4F7891B7F}" type="pres">
      <dgm:prSet presAssocID="{037EC184-C638-41BA-9212-19D53355ABC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ble"/>
        </a:ext>
      </dgm:extLst>
    </dgm:pt>
    <dgm:pt modelId="{414EF599-50FC-4222-AB05-D8A7DC7E56F1}" type="pres">
      <dgm:prSet presAssocID="{037EC184-C638-41BA-9212-19D53355ABC9}" presName="spaceRect" presStyleCnt="0"/>
      <dgm:spPr/>
    </dgm:pt>
    <dgm:pt modelId="{5EB4791C-5B45-4E49-8101-E98F1E899680}" type="pres">
      <dgm:prSet presAssocID="{037EC184-C638-41BA-9212-19D53355ABC9}" presName="parTx" presStyleLbl="revTx" presStyleIdx="2" presStyleCnt="4">
        <dgm:presLayoutVars>
          <dgm:chMax val="0"/>
          <dgm:chPref val="0"/>
        </dgm:presLayoutVars>
      </dgm:prSet>
      <dgm:spPr/>
    </dgm:pt>
    <dgm:pt modelId="{AFF55C28-563A-44E0-A94C-B94B0B39032C}" type="pres">
      <dgm:prSet presAssocID="{B5093AA5-9733-49DA-B377-798663398922}" presName="sibTrans" presStyleCnt="0"/>
      <dgm:spPr/>
    </dgm:pt>
    <dgm:pt modelId="{5F3E80E7-BD9C-45B8-9078-C7CC13751DF1}" type="pres">
      <dgm:prSet presAssocID="{51221F80-0128-4AA0-A954-7AE55FBB992D}" presName="compNode" presStyleCnt="0"/>
      <dgm:spPr/>
    </dgm:pt>
    <dgm:pt modelId="{FFB8F6F0-9CE5-4B0F-ACAA-CEA13DD17B0D}" type="pres">
      <dgm:prSet presAssocID="{51221F80-0128-4AA0-A954-7AE55FBB992D}" presName="bgRect" presStyleLbl="bgShp" presStyleIdx="3" presStyleCnt="4"/>
      <dgm:spPr/>
    </dgm:pt>
    <dgm:pt modelId="{33ABB703-14E3-40AE-A638-27E5E9D93C93}" type="pres">
      <dgm:prSet presAssocID="{51221F80-0128-4AA0-A954-7AE55FBB992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D4979505-90F8-4027-8A56-E6302DD2D743}" type="pres">
      <dgm:prSet presAssocID="{51221F80-0128-4AA0-A954-7AE55FBB992D}" presName="spaceRect" presStyleCnt="0"/>
      <dgm:spPr/>
    </dgm:pt>
    <dgm:pt modelId="{75DE7B98-DF18-4D06-8462-E0987936A5F0}" type="pres">
      <dgm:prSet presAssocID="{51221F80-0128-4AA0-A954-7AE55FBB992D}" presName="parTx" presStyleLbl="revTx" presStyleIdx="3" presStyleCnt="4">
        <dgm:presLayoutVars>
          <dgm:chMax val="0"/>
          <dgm:chPref val="0"/>
        </dgm:presLayoutVars>
      </dgm:prSet>
      <dgm:spPr/>
    </dgm:pt>
  </dgm:ptLst>
  <dgm:cxnLst>
    <dgm:cxn modelId="{A6E7647A-F473-42A5-A96B-ADD0E6C75114}" srcId="{98947136-60D8-488A-8115-C3D58C71E9E4}" destId="{037EC184-C638-41BA-9212-19D53355ABC9}" srcOrd="2" destOrd="0" parTransId="{65262570-EFB9-415E-B9C4-1622BD37366F}" sibTransId="{B5093AA5-9733-49DA-B377-798663398922}"/>
    <dgm:cxn modelId="{43566999-F287-471C-8E26-BB880C5BC715}" type="presOf" srcId="{51221F80-0128-4AA0-A954-7AE55FBB992D}" destId="{75DE7B98-DF18-4D06-8462-E0987936A5F0}" srcOrd="0" destOrd="0" presId="urn:microsoft.com/office/officeart/2018/2/layout/IconVerticalSolidList"/>
    <dgm:cxn modelId="{9AA30F9B-579F-41D9-B6E9-E6941B7C6766}" type="presOf" srcId="{98947136-60D8-488A-8115-C3D58C71E9E4}" destId="{EC9AC2A0-3C81-47AF-B204-72EB4CEE4B74}" srcOrd="0" destOrd="0" presId="urn:microsoft.com/office/officeart/2018/2/layout/IconVerticalSolidList"/>
    <dgm:cxn modelId="{967F6F9D-CE52-4DA0-80E1-BAE79682DA6D}" type="presOf" srcId="{037EC184-C638-41BA-9212-19D53355ABC9}" destId="{5EB4791C-5B45-4E49-8101-E98F1E899680}" srcOrd="0" destOrd="0" presId="urn:microsoft.com/office/officeart/2018/2/layout/IconVerticalSolidList"/>
    <dgm:cxn modelId="{6B0643A8-0006-4966-8117-C9D938F550FD}" srcId="{98947136-60D8-488A-8115-C3D58C71E9E4}" destId="{5B406C2B-0EDF-4039-B5D9-35E28B871846}" srcOrd="1" destOrd="0" parTransId="{9A0AB490-9C09-4231-AB5F-0D7DC83BAE1F}" sibTransId="{703B59B3-8E85-4C16-AEC5-A2F7FDC0780A}"/>
    <dgm:cxn modelId="{18E29EAA-7732-461D-A385-70554D544E01}" type="presOf" srcId="{E43E1A43-195D-4AF9-8992-569BD1293C29}" destId="{2AD1AF66-E154-4899-A330-3F1E8C84C878}" srcOrd="0" destOrd="0" presId="urn:microsoft.com/office/officeart/2018/2/layout/IconVerticalSolidList"/>
    <dgm:cxn modelId="{45A16AC6-AE93-4573-A82E-B5C6514E506B}" type="presOf" srcId="{5B406C2B-0EDF-4039-B5D9-35E28B871846}" destId="{C5A64CAE-B940-4093-9CEE-CD770373D561}" srcOrd="0" destOrd="0" presId="urn:microsoft.com/office/officeart/2018/2/layout/IconVerticalSolidList"/>
    <dgm:cxn modelId="{9C9B9DE9-6532-4089-B048-88413A2FB402}" srcId="{98947136-60D8-488A-8115-C3D58C71E9E4}" destId="{51221F80-0128-4AA0-A954-7AE55FBB992D}" srcOrd="3" destOrd="0" parTransId="{95075EA7-7B8B-492F-99C0-4232B51CE677}" sibTransId="{489B97C4-68F1-4C2D-B263-B425E764EE5B}"/>
    <dgm:cxn modelId="{047AF0EB-F33C-4191-839C-5C0B765DDF5D}" srcId="{98947136-60D8-488A-8115-C3D58C71E9E4}" destId="{E43E1A43-195D-4AF9-8992-569BD1293C29}" srcOrd="0" destOrd="0" parTransId="{2704255E-7FC7-4C36-835C-C19583CB3C08}" sibTransId="{557D819D-6182-4D10-9751-2478D06B4452}"/>
    <dgm:cxn modelId="{9328B126-263D-4985-9A7F-9C77499FF92A}" type="presParOf" srcId="{EC9AC2A0-3C81-47AF-B204-72EB4CEE4B74}" destId="{968CA88D-8D94-4860-AEB0-392AF27ABD95}" srcOrd="0" destOrd="0" presId="urn:microsoft.com/office/officeart/2018/2/layout/IconVerticalSolidList"/>
    <dgm:cxn modelId="{2DB92CB8-6AD6-4491-B2B2-D4A0AF01ECDB}" type="presParOf" srcId="{968CA88D-8D94-4860-AEB0-392AF27ABD95}" destId="{85064385-ADC6-4B91-B02C-4CF1C38643B8}" srcOrd="0" destOrd="0" presId="urn:microsoft.com/office/officeart/2018/2/layout/IconVerticalSolidList"/>
    <dgm:cxn modelId="{A8115A37-E2F9-474C-B1D2-F7924A125EEB}" type="presParOf" srcId="{968CA88D-8D94-4860-AEB0-392AF27ABD95}" destId="{C00A0292-2848-4E6F-964C-DBA25C83BF82}" srcOrd="1" destOrd="0" presId="urn:microsoft.com/office/officeart/2018/2/layout/IconVerticalSolidList"/>
    <dgm:cxn modelId="{3EBA9C82-2C7B-465E-8C5B-86E3D09B09EF}" type="presParOf" srcId="{968CA88D-8D94-4860-AEB0-392AF27ABD95}" destId="{9E699091-1544-427E-A725-920F58CF653A}" srcOrd="2" destOrd="0" presId="urn:microsoft.com/office/officeart/2018/2/layout/IconVerticalSolidList"/>
    <dgm:cxn modelId="{7E27D8F0-8707-442B-9907-441698BAD17E}" type="presParOf" srcId="{968CA88D-8D94-4860-AEB0-392AF27ABD95}" destId="{2AD1AF66-E154-4899-A330-3F1E8C84C878}" srcOrd="3" destOrd="0" presId="urn:microsoft.com/office/officeart/2018/2/layout/IconVerticalSolidList"/>
    <dgm:cxn modelId="{435F08CF-4430-465E-878A-85504201DCE4}" type="presParOf" srcId="{EC9AC2A0-3C81-47AF-B204-72EB4CEE4B74}" destId="{19CE05DF-E932-46BB-A483-A5D0993CBA9D}" srcOrd="1" destOrd="0" presId="urn:microsoft.com/office/officeart/2018/2/layout/IconVerticalSolidList"/>
    <dgm:cxn modelId="{62213FC9-BF75-43DA-AF3B-70E49522968E}" type="presParOf" srcId="{EC9AC2A0-3C81-47AF-B204-72EB4CEE4B74}" destId="{C5122272-AD30-4829-B41D-2DAD8794C0CD}" srcOrd="2" destOrd="0" presId="urn:microsoft.com/office/officeart/2018/2/layout/IconVerticalSolidList"/>
    <dgm:cxn modelId="{448CC5D8-75FE-4F4F-B689-FDF6750AB00C}" type="presParOf" srcId="{C5122272-AD30-4829-B41D-2DAD8794C0CD}" destId="{0A4A7E1A-43BD-4F9A-B1A2-AFCA52CC56B6}" srcOrd="0" destOrd="0" presId="urn:microsoft.com/office/officeart/2018/2/layout/IconVerticalSolidList"/>
    <dgm:cxn modelId="{F94EC8BF-9AC8-43CC-993C-B53AE56A5C72}" type="presParOf" srcId="{C5122272-AD30-4829-B41D-2DAD8794C0CD}" destId="{EDB0BF0D-6087-4DB2-AB9F-6B75DB09BC5F}" srcOrd="1" destOrd="0" presId="urn:microsoft.com/office/officeart/2018/2/layout/IconVerticalSolidList"/>
    <dgm:cxn modelId="{38BD7827-216A-4025-AE58-F2DA8A9B653C}" type="presParOf" srcId="{C5122272-AD30-4829-B41D-2DAD8794C0CD}" destId="{A8798E4F-3487-46F4-82B3-4E710A2DF894}" srcOrd="2" destOrd="0" presId="urn:microsoft.com/office/officeart/2018/2/layout/IconVerticalSolidList"/>
    <dgm:cxn modelId="{B4EAD29E-F3C5-4487-950D-659077D3DC3F}" type="presParOf" srcId="{C5122272-AD30-4829-B41D-2DAD8794C0CD}" destId="{C5A64CAE-B940-4093-9CEE-CD770373D561}" srcOrd="3" destOrd="0" presId="urn:microsoft.com/office/officeart/2018/2/layout/IconVerticalSolidList"/>
    <dgm:cxn modelId="{1EEE1DDA-BE65-4293-9E49-C5A03BD78D42}" type="presParOf" srcId="{EC9AC2A0-3C81-47AF-B204-72EB4CEE4B74}" destId="{2756CB0A-6CF9-4381-91A1-E1F09DCF265B}" srcOrd="3" destOrd="0" presId="urn:microsoft.com/office/officeart/2018/2/layout/IconVerticalSolidList"/>
    <dgm:cxn modelId="{01BCD97F-7011-46FE-9E3B-7436AA567B2F}" type="presParOf" srcId="{EC9AC2A0-3C81-47AF-B204-72EB4CEE4B74}" destId="{D6041BC4-F9C5-4546-8024-1F41A1464D1D}" srcOrd="4" destOrd="0" presId="urn:microsoft.com/office/officeart/2018/2/layout/IconVerticalSolidList"/>
    <dgm:cxn modelId="{0102FF0E-7D4D-4BC5-9A1F-A878EB0BD942}" type="presParOf" srcId="{D6041BC4-F9C5-4546-8024-1F41A1464D1D}" destId="{4B8B547D-0806-4C0E-979E-74F2A9E46E64}" srcOrd="0" destOrd="0" presId="urn:microsoft.com/office/officeart/2018/2/layout/IconVerticalSolidList"/>
    <dgm:cxn modelId="{6480A401-9D6C-4314-A78A-FE2A8EA0531D}" type="presParOf" srcId="{D6041BC4-F9C5-4546-8024-1F41A1464D1D}" destId="{869077D2-23EB-404D-B977-85B4F7891B7F}" srcOrd="1" destOrd="0" presId="urn:microsoft.com/office/officeart/2018/2/layout/IconVerticalSolidList"/>
    <dgm:cxn modelId="{030F9BCD-FC03-4B25-9EF9-930D338170AE}" type="presParOf" srcId="{D6041BC4-F9C5-4546-8024-1F41A1464D1D}" destId="{414EF599-50FC-4222-AB05-D8A7DC7E56F1}" srcOrd="2" destOrd="0" presId="urn:microsoft.com/office/officeart/2018/2/layout/IconVerticalSolidList"/>
    <dgm:cxn modelId="{FF6EB5FB-4419-4581-AFEC-70F14451F44B}" type="presParOf" srcId="{D6041BC4-F9C5-4546-8024-1F41A1464D1D}" destId="{5EB4791C-5B45-4E49-8101-E98F1E899680}" srcOrd="3" destOrd="0" presId="urn:microsoft.com/office/officeart/2018/2/layout/IconVerticalSolidList"/>
    <dgm:cxn modelId="{8B7E17C1-2B16-4CE4-B6EA-3BE9634D7529}" type="presParOf" srcId="{EC9AC2A0-3C81-47AF-B204-72EB4CEE4B74}" destId="{AFF55C28-563A-44E0-A94C-B94B0B39032C}" srcOrd="5" destOrd="0" presId="urn:microsoft.com/office/officeart/2018/2/layout/IconVerticalSolidList"/>
    <dgm:cxn modelId="{C9D9BD22-AF9B-47E7-A285-970BDF1E2F5D}" type="presParOf" srcId="{EC9AC2A0-3C81-47AF-B204-72EB4CEE4B74}" destId="{5F3E80E7-BD9C-45B8-9078-C7CC13751DF1}" srcOrd="6" destOrd="0" presId="urn:microsoft.com/office/officeart/2018/2/layout/IconVerticalSolidList"/>
    <dgm:cxn modelId="{E16CE19A-8E9F-413E-AFB4-512E4C261E87}" type="presParOf" srcId="{5F3E80E7-BD9C-45B8-9078-C7CC13751DF1}" destId="{FFB8F6F0-9CE5-4B0F-ACAA-CEA13DD17B0D}" srcOrd="0" destOrd="0" presId="urn:microsoft.com/office/officeart/2018/2/layout/IconVerticalSolidList"/>
    <dgm:cxn modelId="{64D2BF21-EF47-4E53-B32C-C42352616C32}" type="presParOf" srcId="{5F3E80E7-BD9C-45B8-9078-C7CC13751DF1}" destId="{33ABB703-14E3-40AE-A638-27E5E9D93C93}" srcOrd="1" destOrd="0" presId="urn:microsoft.com/office/officeart/2018/2/layout/IconVerticalSolidList"/>
    <dgm:cxn modelId="{20DF36A5-03B8-4C8F-8CB9-D8AA8C1D933E}" type="presParOf" srcId="{5F3E80E7-BD9C-45B8-9078-C7CC13751DF1}" destId="{D4979505-90F8-4027-8A56-E6302DD2D743}" srcOrd="2" destOrd="0" presId="urn:microsoft.com/office/officeart/2018/2/layout/IconVerticalSolidList"/>
    <dgm:cxn modelId="{75A0375C-F347-4000-9D96-1221451A5CF0}" type="presParOf" srcId="{5F3E80E7-BD9C-45B8-9078-C7CC13751DF1}" destId="{75DE7B98-DF18-4D06-8462-E0987936A5F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3BE26BC-21BA-46B7-A14E-602E2072AEA6}"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756ECA0D-8105-4D03-8235-A0A2FA8B7703}">
      <dgm:prSet/>
      <dgm:spPr/>
      <dgm:t>
        <a:bodyPr/>
        <a:lstStyle/>
        <a:p>
          <a:r>
            <a:rPr lang="en-US" b="1"/>
            <a:t>Feature Importance: </a:t>
          </a:r>
          <a:r>
            <a:rPr lang="en-US"/>
            <a:t>Shows which input features mattered the most in a decision</a:t>
          </a:r>
        </a:p>
      </dgm:t>
    </dgm:pt>
    <dgm:pt modelId="{056DF8B0-52B6-48DD-B9D8-5498BE18D640}" type="parTrans" cxnId="{21605094-5800-4E9B-9468-FD1617F0C688}">
      <dgm:prSet/>
      <dgm:spPr/>
      <dgm:t>
        <a:bodyPr/>
        <a:lstStyle/>
        <a:p>
          <a:endParaRPr lang="en-US"/>
        </a:p>
      </dgm:t>
    </dgm:pt>
    <dgm:pt modelId="{5A4F2FEE-E905-4BE1-831A-A4DC381A8051}" type="sibTrans" cxnId="{21605094-5800-4E9B-9468-FD1617F0C688}">
      <dgm:prSet/>
      <dgm:spPr/>
      <dgm:t>
        <a:bodyPr/>
        <a:lstStyle/>
        <a:p>
          <a:endParaRPr lang="en-US"/>
        </a:p>
      </dgm:t>
    </dgm:pt>
    <dgm:pt modelId="{26D62C06-BA96-4C3D-AB2A-F6641DFF61D0}">
      <dgm:prSet/>
      <dgm:spPr/>
      <dgm:t>
        <a:bodyPr/>
        <a:lstStyle/>
        <a:p>
          <a:r>
            <a:rPr lang="en-US" b="1"/>
            <a:t>Example:  </a:t>
          </a:r>
          <a:r>
            <a:rPr lang="en-US"/>
            <a:t>A model shows that “income level” had the biggest impact on loan approval</a:t>
          </a:r>
        </a:p>
      </dgm:t>
    </dgm:pt>
    <dgm:pt modelId="{3285C74C-2C76-4073-A2B4-D30CF1B1902A}" type="parTrans" cxnId="{E02E1080-8724-41AD-B0A1-C8682C73C53A}">
      <dgm:prSet/>
      <dgm:spPr/>
      <dgm:t>
        <a:bodyPr/>
        <a:lstStyle/>
        <a:p>
          <a:endParaRPr lang="en-US"/>
        </a:p>
      </dgm:t>
    </dgm:pt>
    <dgm:pt modelId="{1166B29F-8619-4C9F-9CF9-67E223DD7E4D}" type="sibTrans" cxnId="{E02E1080-8724-41AD-B0A1-C8682C73C53A}">
      <dgm:prSet/>
      <dgm:spPr/>
      <dgm:t>
        <a:bodyPr/>
        <a:lstStyle/>
        <a:p>
          <a:endParaRPr lang="en-US"/>
        </a:p>
      </dgm:t>
    </dgm:pt>
    <dgm:pt modelId="{6938D938-6EAD-45D4-A58E-A1FFF782F422}">
      <dgm:prSet/>
      <dgm:spPr/>
      <dgm:t>
        <a:bodyPr/>
        <a:lstStyle/>
        <a:p>
          <a:r>
            <a:rPr lang="en-US" b="1"/>
            <a:t>Counterfactual Explanations: </a:t>
          </a:r>
          <a:r>
            <a:rPr lang="en-US"/>
            <a:t>Shows how different input would have led to a different outcome.</a:t>
          </a:r>
        </a:p>
      </dgm:t>
    </dgm:pt>
    <dgm:pt modelId="{511E9EA2-433E-4A11-B8B7-95F8228F9102}" type="parTrans" cxnId="{4AECC840-7BF0-4169-B113-8A22E1E12279}">
      <dgm:prSet/>
      <dgm:spPr/>
      <dgm:t>
        <a:bodyPr/>
        <a:lstStyle/>
        <a:p>
          <a:endParaRPr lang="en-US"/>
        </a:p>
      </dgm:t>
    </dgm:pt>
    <dgm:pt modelId="{FC34B128-309A-400E-9245-8895E75D5167}" type="sibTrans" cxnId="{4AECC840-7BF0-4169-B113-8A22E1E12279}">
      <dgm:prSet/>
      <dgm:spPr/>
      <dgm:t>
        <a:bodyPr/>
        <a:lstStyle/>
        <a:p>
          <a:endParaRPr lang="en-US"/>
        </a:p>
      </dgm:t>
    </dgm:pt>
    <dgm:pt modelId="{2CE63FF8-0D8E-4F22-AA00-AA9086DCE0F8}">
      <dgm:prSet/>
      <dgm:spPr/>
      <dgm:t>
        <a:bodyPr/>
        <a:lstStyle/>
        <a:p>
          <a:r>
            <a:rPr lang="en-US" b="1"/>
            <a:t>Example: </a:t>
          </a:r>
          <a:r>
            <a:rPr lang="en-US"/>
            <a:t>“If your credit score had been 20 points higher, your loan would have been approved”.</a:t>
          </a:r>
        </a:p>
      </dgm:t>
    </dgm:pt>
    <dgm:pt modelId="{0C3E34ED-5D81-4AE3-9672-062DEAC68CB1}" type="parTrans" cxnId="{46D584FB-12DC-4E5E-A4CC-EE1368C70348}">
      <dgm:prSet/>
      <dgm:spPr/>
      <dgm:t>
        <a:bodyPr/>
        <a:lstStyle/>
        <a:p>
          <a:endParaRPr lang="en-US"/>
        </a:p>
      </dgm:t>
    </dgm:pt>
    <dgm:pt modelId="{9655B464-99B1-4476-9E0C-73C38C67D1F1}" type="sibTrans" cxnId="{46D584FB-12DC-4E5E-A4CC-EE1368C70348}">
      <dgm:prSet/>
      <dgm:spPr/>
      <dgm:t>
        <a:bodyPr/>
        <a:lstStyle/>
        <a:p>
          <a:endParaRPr lang="en-US"/>
        </a:p>
      </dgm:t>
    </dgm:pt>
    <dgm:pt modelId="{D8D36B15-3BAC-4B98-9E12-43FD41528CBA}">
      <dgm:prSet/>
      <dgm:spPr/>
      <dgm:t>
        <a:bodyPr/>
        <a:lstStyle/>
        <a:p>
          <a:r>
            <a:rPr lang="en-US" b="1"/>
            <a:t>Decision Trees: </a:t>
          </a:r>
          <a:r>
            <a:rPr lang="en-US"/>
            <a:t>Known to be simple, hierarchical if-then rules making it easy for humans to trace the logic step-by-step</a:t>
          </a:r>
        </a:p>
      </dgm:t>
    </dgm:pt>
    <dgm:pt modelId="{62B518D6-596E-4B70-9000-0FEEBDEFCA19}" type="parTrans" cxnId="{E4B2F8DE-E2CD-46E0-8E8B-5A120B51E5F9}">
      <dgm:prSet/>
      <dgm:spPr/>
      <dgm:t>
        <a:bodyPr/>
        <a:lstStyle/>
        <a:p>
          <a:endParaRPr lang="en-US"/>
        </a:p>
      </dgm:t>
    </dgm:pt>
    <dgm:pt modelId="{2D9E2DFF-C211-47E9-866D-F5D6BF46A3F8}" type="sibTrans" cxnId="{E4B2F8DE-E2CD-46E0-8E8B-5A120B51E5F9}">
      <dgm:prSet/>
      <dgm:spPr/>
      <dgm:t>
        <a:bodyPr/>
        <a:lstStyle/>
        <a:p>
          <a:endParaRPr lang="en-US"/>
        </a:p>
      </dgm:t>
    </dgm:pt>
    <dgm:pt modelId="{FFA7BB42-B026-4B38-8628-BBCE25A86487}" type="pres">
      <dgm:prSet presAssocID="{83BE26BC-21BA-46B7-A14E-602E2072AEA6}" presName="Name0" presStyleCnt="0">
        <dgm:presLayoutVars>
          <dgm:dir/>
          <dgm:animLvl val="lvl"/>
          <dgm:resizeHandles val="exact"/>
        </dgm:presLayoutVars>
      </dgm:prSet>
      <dgm:spPr/>
    </dgm:pt>
    <dgm:pt modelId="{71FDFA23-5EEB-4751-A3A2-88CD43F889BE}" type="pres">
      <dgm:prSet presAssocID="{D8D36B15-3BAC-4B98-9E12-43FD41528CBA}" presName="boxAndChildren" presStyleCnt="0"/>
      <dgm:spPr/>
    </dgm:pt>
    <dgm:pt modelId="{51F56418-60AE-4FAA-A4E6-941335FBA08B}" type="pres">
      <dgm:prSet presAssocID="{D8D36B15-3BAC-4B98-9E12-43FD41528CBA}" presName="parentTextBox" presStyleLbl="node1" presStyleIdx="0" presStyleCnt="3"/>
      <dgm:spPr/>
    </dgm:pt>
    <dgm:pt modelId="{AAE83ED6-5B66-490B-88F3-6CE975588C32}" type="pres">
      <dgm:prSet presAssocID="{FC34B128-309A-400E-9245-8895E75D5167}" presName="sp" presStyleCnt="0"/>
      <dgm:spPr/>
    </dgm:pt>
    <dgm:pt modelId="{3551AEC9-EB1D-47B0-A7DA-082B4341D35F}" type="pres">
      <dgm:prSet presAssocID="{6938D938-6EAD-45D4-A58E-A1FFF782F422}" presName="arrowAndChildren" presStyleCnt="0"/>
      <dgm:spPr/>
    </dgm:pt>
    <dgm:pt modelId="{664EDD2C-BFE2-4F17-BAF5-8408C08FC3AB}" type="pres">
      <dgm:prSet presAssocID="{6938D938-6EAD-45D4-A58E-A1FFF782F422}" presName="parentTextArrow" presStyleLbl="node1" presStyleIdx="0" presStyleCnt="3"/>
      <dgm:spPr/>
    </dgm:pt>
    <dgm:pt modelId="{A608D2DC-1650-465E-BCCC-F39AD452529B}" type="pres">
      <dgm:prSet presAssocID="{6938D938-6EAD-45D4-A58E-A1FFF782F422}" presName="arrow" presStyleLbl="node1" presStyleIdx="1" presStyleCnt="3"/>
      <dgm:spPr/>
    </dgm:pt>
    <dgm:pt modelId="{FB10831C-E383-4EAD-9ACC-A749AEA2E63A}" type="pres">
      <dgm:prSet presAssocID="{6938D938-6EAD-45D4-A58E-A1FFF782F422}" presName="descendantArrow" presStyleCnt="0"/>
      <dgm:spPr/>
    </dgm:pt>
    <dgm:pt modelId="{4B6FC881-DF29-42C7-A469-306074E56FC2}" type="pres">
      <dgm:prSet presAssocID="{2CE63FF8-0D8E-4F22-AA00-AA9086DCE0F8}" presName="childTextArrow" presStyleLbl="fgAccFollowNode1" presStyleIdx="0" presStyleCnt="2">
        <dgm:presLayoutVars>
          <dgm:bulletEnabled val="1"/>
        </dgm:presLayoutVars>
      </dgm:prSet>
      <dgm:spPr/>
    </dgm:pt>
    <dgm:pt modelId="{B7C31CB7-A6DE-461B-85D5-25C6CDFBD8E7}" type="pres">
      <dgm:prSet presAssocID="{5A4F2FEE-E905-4BE1-831A-A4DC381A8051}" presName="sp" presStyleCnt="0"/>
      <dgm:spPr/>
    </dgm:pt>
    <dgm:pt modelId="{C6607201-B1FC-4243-88D7-D38E15B755C8}" type="pres">
      <dgm:prSet presAssocID="{756ECA0D-8105-4D03-8235-A0A2FA8B7703}" presName="arrowAndChildren" presStyleCnt="0"/>
      <dgm:spPr/>
    </dgm:pt>
    <dgm:pt modelId="{210A8146-03E5-484F-9526-C1A13AAFD6C5}" type="pres">
      <dgm:prSet presAssocID="{756ECA0D-8105-4D03-8235-A0A2FA8B7703}" presName="parentTextArrow" presStyleLbl="node1" presStyleIdx="1" presStyleCnt="3"/>
      <dgm:spPr/>
    </dgm:pt>
    <dgm:pt modelId="{65251CC3-F0B7-4CE2-92C7-9ECA3449BBA0}" type="pres">
      <dgm:prSet presAssocID="{756ECA0D-8105-4D03-8235-A0A2FA8B7703}" presName="arrow" presStyleLbl="node1" presStyleIdx="2" presStyleCnt="3"/>
      <dgm:spPr/>
    </dgm:pt>
    <dgm:pt modelId="{91FD6442-5F6F-4CC8-BE77-D3AA6E24EC39}" type="pres">
      <dgm:prSet presAssocID="{756ECA0D-8105-4D03-8235-A0A2FA8B7703}" presName="descendantArrow" presStyleCnt="0"/>
      <dgm:spPr/>
    </dgm:pt>
    <dgm:pt modelId="{6C1A4331-1DB3-4762-9185-B44716CF3740}" type="pres">
      <dgm:prSet presAssocID="{26D62C06-BA96-4C3D-AB2A-F6641DFF61D0}" presName="childTextArrow" presStyleLbl="fgAccFollowNode1" presStyleIdx="1" presStyleCnt="2">
        <dgm:presLayoutVars>
          <dgm:bulletEnabled val="1"/>
        </dgm:presLayoutVars>
      </dgm:prSet>
      <dgm:spPr/>
    </dgm:pt>
  </dgm:ptLst>
  <dgm:cxnLst>
    <dgm:cxn modelId="{7CD5EA04-EC5E-4B13-A167-1EBC79252818}" type="presOf" srcId="{6938D938-6EAD-45D4-A58E-A1FFF782F422}" destId="{A608D2DC-1650-465E-BCCC-F39AD452529B}" srcOrd="1" destOrd="0" presId="urn:microsoft.com/office/officeart/2005/8/layout/process4"/>
    <dgm:cxn modelId="{A3C1AA25-B409-4EBF-9F20-FDF0F0A9D6D8}" type="presOf" srcId="{2CE63FF8-0D8E-4F22-AA00-AA9086DCE0F8}" destId="{4B6FC881-DF29-42C7-A469-306074E56FC2}" srcOrd="0" destOrd="0" presId="urn:microsoft.com/office/officeart/2005/8/layout/process4"/>
    <dgm:cxn modelId="{43DDF926-DA7A-4811-BDC9-00DA8F3D9D07}" type="presOf" srcId="{756ECA0D-8105-4D03-8235-A0A2FA8B7703}" destId="{210A8146-03E5-484F-9526-C1A13AAFD6C5}" srcOrd="0" destOrd="0" presId="urn:microsoft.com/office/officeart/2005/8/layout/process4"/>
    <dgm:cxn modelId="{4AECC840-7BF0-4169-B113-8A22E1E12279}" srcId="{83BE26BC-21BA-46B7-A14E-602E2072AEA6}" destId="{6938D938-6EAD-45D4-A58E-A1FFF782F422}" srcOrd="1" destOrd="0" parTransId="{511E9EA2-433E-4A11-B8B7-95F8228F9102}" sibTransId="{FC34B128-309A-400E-9245-8895E75D5167}"/>
    <dgm:cxn modelId="{0EABC36B-E092-43C9-AD3A-7C5E72F714E2}" type="presOf" srcId="{6938D938-6EAD-45D4-A58E-A1FFF782F422}" destId="{664EDD2C-BFE2-4F17-BAF5-8408C08FC3AB}" srcOrd="0" destOrd="0" presId="urn:microsoft.com/office/officeart/2005/8/layout/process4"/>
    <dgm:cxn modelId="{E02E1080-8724-41AD-B0A1-C8682C73C53A}" srcId="{756ECA0D-8105-4D03-8235-A0A2FA8B7703}" destId="{26D62C06-BA96-4C3D-AB2A-F6641DFF61D0}" srcOrd="0" destOrd="0" parTransId="{3285C74C-2C76-4073-A2B4-D30CF1B1902A}" sibTransId="{1166B29F-8619-4C9F-9CF9-67E223DD7E4D}"/>
    <dgm:cxn modelId="{21605094-5800-4E9B-9468-FD1617F0C688}" srcId="{83BE26BC-21BA-46B7-A14E-602E2072AEA6}" destId="{756ECA0D-8105-4D03-8235-A0A2FA8B7703}" srcOrd="0" destOrd="0" parTransId="{056DF8B0-52B6-48DD-B9D8-5498BE18D640}" sibTransId="{5A4F2FEE-E905-4BE1-831A-A4DC381A8051}"/>
    <dgm:cxn modelId="{DF641699-5F09-47BA-8AF3-A9595098D55F}" type="presOf" srcId="{26D62C06-BA96-4C3D-AB2A-F6641DFF61D0}" destId="{6C1A4331-1DB3-4762-9185-B44716CF3740}" srcOrd="0" destOrd="0" presId="urn:microsoft.com/office/officeart/2005/8/layout/process4"/>
    <dgm:cxn modelId="{EECA78D8-EF7C-4C2B-8D41-26E29ACC27F2}" type="presOf" srcId="{83BE26BC-21BA-46B7-A14E-602E2072AEA6}" destId="{FFA7BB42-B026-4B38-8628-BBCE25A86487}" srcOrd="0" destOrd="0" presId="urn:microsoft.com/office/officeart/2005/8/layout/process4"/>
    <dgm:cxn modelId="{E4B2F8DE-E2CD-46E0-8E8B-5A120B51E5F9}" srcId="{83BE26BC-21BA-46B7-A14E-602E2072AEA6}" destId="{D8D36B15-3BAC-4B98-9E12-43FD41528CBA}" srcOrd="2" destOrd="0" parTransId="{62B518D6-596E-4B70-9000-0FEEBDEFCA19}" sibTransId="{2D9E2DFF-C211-47E9-866D-F5D6BF46A3F8}"/>
    <dgm:cxn modelId="{2297A3F5-FF57-4099-B625-A3308D61B5C4}" type="presOf" srcId="{D8D36B15-3BAC-4B98-9E12-43FD41528CBA}" destId="{51F56418-60AE-4FAA-A4E6-941335FBA08B}" srcOrd="0" destOrd="0" presId="urn:microsoft.com/office/officeart/2005/8/layout/process4"/>
    <dgm:cxn modelId="{46D584FB-12DC-4E5E-A4CC-EE1368C70348}" srcId="{6938D938-6EAD-45D4-A58E-A1FFF782F422}" destId="{2CE63FF8-0D8E-4F22-AA00-AA9086DCE0F8}" srcOrd="0" destOrd="0" parTransId="{0C3E34ED-5D81-4AE3-9672-062DEAC68CB1}" sibTransId="{9655B464-99B1-4476-9E0C-73C38C67D1F1}"/>
    <dgm:cxn modelId="{63D29FFF-5118-4AC9-A3E9-8C2CCFE0B1F7}" type="presOf" srcId="{756ECA0D-8105-4D03-8235-A0A2FA8B7703}" destId="{65251CC3-F0B7-4CE2-92C7-9ECA3449BBA0}" srcOrd="1" destOrd="0" presId="urn:microsoft.com/office/officeart/2005/8/layout/process4"/>
    <dgm:cxn modelId="{E2A2D55D-5AF6-446C-A177-BBB0F0C7C074}" type="presParOf" srcId="{FFA7BB42-B026-4B38-8628-BBCE25A86487}" destId="{71FDFA23-5EEB-4751-A3A2-88CD43F889BE}" srcOrd="0" destOrd="0" presId="urn:microsoft.com/office/officeart/2005/8/layout/process4"/>
    <dgm:cxn modelId="{B6E32D94-00DC-433D-96CA-FDAACA1D827A}" type="presParOf" srcId="{71FDFA23-5EEB-4751-A3A2-88CD43F889BE}" destId="{51F56418-60AE-4FAA-A4E6-941335FBA08B}" srcOrd="0" destOrd="0" presId="urn:microsoft.com/office/officeart/2005/8/layout/process4"/>
    <dgm:cxn modelId="{1F3DD023-0D3A-46A5-B152-AD95CB3EE692}" type="presParOf" srcId="{FFA7BB42-B026-4B38-8628-BBCE25A86487}" destId="{AAE83ED6-5B66-490B-88F3-6CE975588C32}" srcOrd="1" destOrd="0" presId="urn:microsoft.com/office/officeart/2005/8/layout/process4"/>
    <dgm:cxn modelId="{2E486901-C0C5-4F5F-B5C1-2FFE8A9DA22D}" type="presParOf" srcId="{FFA7BB42-B026-4B38-8628-BBCE25A86487}" destId="{3551AEC9-EB1D-47B0-A7DA-082B4341D35F}" srcOrd="2" destOrd="0" presId="urn:microsoft.com/office/officeart/2005/8/layout/process4"/>
    <dgm:cxn modelId="{1329AAF7-E57C-4891-9DCC-CD5DA58E5ECB}" type="presParOf" srcId="{3551AEC9-EB1D-47B0-A7DA-082B4341D35F}" destId="{664EDD2C-BFE2-4F17-BAF5-8408C08FC3AB}" srcOrd="0" destOrd="0" presId="urn:microsoft.com/office/officeart/2005/8/layout/process4"/>
    <dgm:cxn modelId="{C291267C-FC8A-48EA-B004-40F1F18EE422}" type="presParOf" srcId="{3551AEC9-EB1D-47B0-A7DA-082B4341D35F}" destId="{A608D2DC-1650-465E-BCCC-F39AD452529B}" srcOrd="1" destOrd="0" presId="urn:microsoft.com/office/officeart/2005/8/layout/process4"/>
    <dgm:cxn modelId="{D7F6BA3B-BFC7-4AB0-B0AE-311258AF0981}" type="presParOf" srcId="{3551AEC9-EB1D-47B0-A7DA-082B4341D35F}" destId="{FB10831C-E383-4EAD-9ACC-A749AEA2E63A}" srcOrd="2" destOrd="0" presId="urn:microsoft.com/office/officeart/2005/8/layout/process4"/>
    <dgm:cxn modelId="{F6CA7749-A792-4EBB-9DD8-E72DC66937CF}" type="presParOf" srcId="{FB10831C-E383-4EAD-9ACC-A749AEA2E63A}" destId="{4B6FC881-DF29-42C7-A469-306074E56FC2}" srcOrd="0" destOrd="0" presId="urn:microsoft.com/office/officeart/2005/8/layout/process4"/>
    <dgm:cxn modelId="{63754E64-A060-4955-A70B-83AADBC905F8}" type="presParOf" srcId="{FFA7BB42-B026-4B38-8628-BBCE25A86487}" destId="{B7C31CB7-A6DE-461B-85D5-25C6CDFBD8E7}" srcOrd="3" destOrd="0" presId="urn:microsoft.com/office/officeart/2005/8/layout/process4"/>
    <dgm:cxn modelId="{8BC1750C-AD41-4F49-B19C-D5AA29BD8D99}" type="presParOf" srcId="{FFA7BB42-B026-4B38-8628-BBCE25A86487}" destId="{C6607201-B1FC-4243-88D7-D38E15B755C8}" srcOrd="4" destOrd="0" presId="urn:microsoft.com/office/officeart/2005/8/layout/process4"/>
    <dgm:cxn modelId="{FA6373FC-7509-4318-ADE8-E25D03E99BD7}" type="presParOf" srcId="{C6607201-B1FC-4243-88D7-D38E15B755C8}" destId="{210A8146-03E5-484F-9526-C1A13AAFD6C5}" srcOrd="0" destOrd="0" presId="urn:microsoft.com/office/officeart/2005/8/layout/process4"/>
    <dgm:cxn modelId="{6DE90C7F-6566-41D3-8807-BE24A154F0A1}" type="presParOf" srcId="{C6607201-B1FC-4243-88D7-D38E15B755C8}" destId="{65251CC3-F0B7-4CE2-92C7-9ECA3449BBA0}" srcOrd="1" destOrd="0" presId="urn:microsoft.com/office/officeart/2005/8/layout/process4"/>
    <dgm:cxn modelId="{CB611BD3-55D9-4DE1-8736-FFF1697FBC35}" type="presParOf" srcId="{C6607201-B1FC-4243-88D7-D38E15B755C8}" destId="{91FD6442-5F6F-4CC8-BE77-D3AA6E24EC39}" srcOrd="2" destOrd="0" presId="urn:microsoft.com/office/officeart/2005/8/layout/process4"/>
    <dgm:cxn modelId="{47E5B6C1-C6C0-4C94-8ABA-6139756A6CFA}" type="presParOf" srcId="{91FD6442-5F6F-4CC8-BE77-D3AA6E24EC39}" destId="{6C1A4331-1DB3-4762-9185-B44716CF3740}"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AD6B7-BFAC-4F21-9ADE-E996E7CCA4C1}">
      <dsp:nvSpPr>
        <dsp:cNvPr id="0" name=""/>
        <dsp:cNvSpPr/>
      </dsp:nvSpPr>
      <dsp:spPr>
        <a:xfrm>
          <a:off x="240333" y="1219"/>
          <a:ext cx="2950873" cy="17705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Machine Learning</a:t>
          </a:r>
        </a:p>
      </dsp:txBody>
      <dsp:txXfrm>
        <a:off x="240333" y="1219"/>
        <a:ext cx="2950873" cy="1770523"/>
      </dsp:txXfrm>
    </dsp:sp>
    <dsp:sp modelId="{8CE416AB-802D-4712-AF46-1123E0E99B5D}">
      <dsp:nvSpPr>
        <dsp:cNvPr id="0" name=""/>
        <dsp:cNvSpPr/>
      </dsp:nvSpPr>
      <dsp:spPr>
        <a:xfrm>
          <a:off x="3486294" y="1219"/>
          <a:ext cx="2950873" cy="17705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Deep Learning</a:t>
          </a:r>
        </a:p>
      </dsp:txBody>
      <dsp:txXfrm>
        <a:off x="3486294" y="1219"/>
        <a:ext cx="2950873" cy="1770523"/>
      </dsp:txXfrm>
    </dsp:sp>
    <dsp:sp modelId="{B84B6DAE-8E9F-4E5F-B1F3-E7035FAA8342}">
      <dsp:nvSpPr>
        <dsp:cNvPr id="0" name=""/>
        <dsp:cNvSpPr/>
      </dsp:nvSpPr>
      <dsp:spPr>
        <a:xfrm>
          <a:off x="6732254" y="1219"/>
          <a:ext cx="2950873" cy="17705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Computer Vision</a:t>
          </a:r>
        </a:p>
      </dsp:txBody>
      <dsp:txXfrm>
        <a:off x="6732254" y="1219"/>
        <a:ext cx="2950873" cy="1770523"/>
      </dsp:txXfrm>
    </dsp:sp>
    <dsp:sp modelId="{C06A0A1C-BA5C-4763-94AA-455F6A647AE0}">
      <dsp:nvSpPr>
        <dsp:cNvPr id="0" name=""/>
        <dsp:cNvSpPr/>
      </dsp:nvSpPr>
      <dsp:spPr>
        <a:xfrm>
          <a:off x="240333" y="2066831"/>
          <a:ext cx="2950873" cy="17705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Natural Language Processing</a:t>
          </a:r>
        </a:p>
      </dsp:txBody>
      <dsp:txXfrm>
        <a:off x="240333" y="2066831"/>
        <a:ext cx="2950873" cy="1770523"/>
      </dsp:txXfrm>
    </dsp:sp>
    <dsp:sp modelId="{8FF21173-7DE1-4917-8E12-14E8845C531C}">
      <dsp:nvSpPr>
        <dsp:cNvPr id="0" name=""/>
        <dsp:cNvSpPr/>
      </dsp:nvSpPr>
      <dsp:spPr>
        <a:xfrm>
          <a:off x="3486294" y="2066831"/>
          <a:ext cx="2950873" cy="17705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Large Language Models</a:t>
          </a:r>
        </a:p>
      </dsp:txBody>
      <dsp:txXfrm>
        <a:off x="3486294" y="2066831"/>
        <a:ext cx="2950873" cy="1770523"/>
      </dsp:txXfrm>
    </dsp:sp>
    <dsp:sp modelId="{36BFBFFA-E601-4885-A6CF-34F4BF2E3C43}">
      <dsp:nvSpPr>
        <dsp:cNvPr id="0" name=""/>
        <dsp:cNvSpPr/>
      </dsp:nvSpPr>
      <dsp:spPr>
        <a:xfrm>
          <a:off x="6732254" y="2066831"/>
          <a:ext cx="2950873" cy="17705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Generative Pre-trained Transformers</a:t>
          </a:r>
        </a:p>
      </dsp:txBody>
      <dsp:txXfrm>
        <a:off x="6732254" y="2066831"/>
        <a:ext cx="2950873" cy="17705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FAE26A-8C11-41C6-AEA4-D4103776FF01}">
      <dsp:nvSpPr>
        <dsp:cNvPr id="0" name=""/>
        <dsp:cNvSpPr/>
      </dsp:nvSpPr>
      <dsp:spPr>
        <a:xfrm>
          <a:off x="0" y="45218"/>
          <a:ext cx="6207841" cy="221247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Allows systems to learn from data and improve their performance on a task without being explicitly programmed. </a:t>
          </a:r>
        </a:p>
      </dsp:txBody>
      <dsp:txXfrm>
        <a:off x="108004" y="153222"/>
        <a:ext cx="5991833" cy="1996462"/>
      </dsp:txXfrm>
    </dsp:sp>
    <dsp:sp modelId="{E6B26BEB-D48C-4172-BF88-14EC6A948418}">
      <dsp:nvSpPr>
        <dsp:cNvPr id="0" name=""/>
        <dsp:cNvSpPr/>
      </dsp:nvSpPr>
      <dsp:spPr>
        <a:xfrm>
          <a:off x="0" y="2346968"/>
          <a:ext cx="6207841" cy="2212470"/>
        </a:xfrm>
        <a:prstGeom prst="roundRect">
          <a:avLst/>
        </a:prstGeom>
        <a:solidFill>
          <a:schemeClr val="accent2">
            <a:hueOff val="-1477413"/>
            <a:satOff val="-615"/>
            <a:lumOff val="666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Example: A spam filter that gets better over time as it sees more emails.</a:t>
          </a:r>
        </a:p>
      </dsp:txBody>
      <dsp:txXfrm>
        <a:off x="108004" y="2454972"/>
        <a:ext cx="5991833" cy="19964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4BD368-5C4F-46D7-88EA-E9E667FA28E9}">
      <dsp:nvSpPr>
        <dsp:cNvPr id="0" name=""/>
        <dsp:cNvSpPr/>
      </dsp:nvSpPr>
      <dsp:spPr>
        <a:xfrm>
          <a:off x="240333" y="1219"/>
          <a:ext cx="2950873" cy="17705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Beneficence</a:t>
          </a:r>
        </a:p>
      </dsp:txBody>
      <dsp:txXfrm>
        <a:off x="240333" y="1219"/>
        <a:ext cx="2950873" cy="1770523"/>
      </dsp:txXfrm>
    </dsp:sp>
    <dsp:sp modelId="{BF102EDB-C460-41EF-8E8F-195DEB47B9FE}">
      <dsp:nvSpPr>
        <dsp:cNvPr id="0" name=""/>
        <dsp:cNvSpPr/>
      </dsp:nvSpPr>
      <dsp:spPr>
        <a:xfrm>
          <a:off x="3486294" y="1219"/>
          <a:ext cx="2950873" cy="17705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Nonmaleficence</a:t>
          </a:r>
        </a:p>
      </dsp:txBody>
      <dsp:txXfrm>
        <a:off x="3486294" y="1219"/>
        <a:ext cx="2950873" cy="1770523"/>
      </dsp:txXfrm>
    </dsp:sp>
    <dsp:sp modelId="{F69AD591-32F7-4AB5-9A14-48DB8EEF5052}">
      <dsp:nvSpPr>
        <dsp:cNvPr id="0" name=""/>
        <dsp:cNvSpPr/>
      </dsp:nvSpPr>
      <dsp:spPr>
        <a:xfrm>
          <a:off x="6732254" y="1219"/>
          <a:ext cx="2950873" cy="17705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Autonomy</a:t>
          </a:r>
        </a:p>
      </dsp:txBody>
      <dsp:txXfrm>
        <a:off x="6732254" y="1219"/>
        <a:ext cx="2950873" cy="1770523"/>
      </dsp:txXfrm>
    </dsp:sp>
    <dsp:sp modelId="{95347C1C-2AEF-49FF-B399-0F02E52FD990}">
      <dsp:nvSpPr>
        <dsp:cNvPr id="0" name=""/>
        <dsp:cNvSpPr/>
      </dsp:nvSpPr>
      <dsp:spPr>
        <a:xfrm>
          <a:off x="1863314" y="2066831"/>
          <a:ext cx="2950873" cy="17705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Justice</a:t>
          </a:r>
        </a:p>
      </dsp:txBody>
      <dsp:txXfrm>
        <a:off x="1863314" y="2066831"/>
        <a:ext cx="2950873" cy="1770523"/>
      </dsp:txXfrm>
    </dsp:sp>
    <dsp:sp modelId="{61B73B29-674B-4954-99DB-BEB444C16A1B}">
      <dsp:nvSpPr>
        <dsp:cNvPr id="0" name=""/>
        <dsp:cNvSpPr/>
      </dsp:nvSpPr>
      <dsp:spPr>
        <a:xfrm>
          <a:off x="5109274" y="2066831"/>
          <a:ext cx="2950873" cy="17705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Explicability (Explainability)</a:t>
          </a:r>
        </a:p>
      </dsp:txBody>
      <dsp:txXfrm>
        <a:off x="5109274" y="2066831"/>
        <a:ext cx="2950873" cy="17705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C77D4A-9EC0-4E4E-AF89-619C8ABEED8F}">
      <dsp:nvSpPr>
        <dsp:cNvPr id="0" name=""/>
        <dsp:cNvSpPr/>
      </dsp:nvSpPr>
      <dsp:spPr>
        <a:xfrm>
          <a:off x="0" y="54515"/>
          <a:ext cx="9922764" cy="11875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1" kern="1200" dirty="0"/>
            <a:t>Diverse data collection </a:t>
          </a:r>
          <a:r>
            <a:rPr lang="en-US" sz="2900" kern="1200" dirty="0"/>
            <a:t>– Include underrepresented groups.</a:t>
          </a:r>
        </a:p>
      </dsp:txBody>
      <dsp:txXfrm>
        <a:off x="57971" y="112486"/>
        <a:ext cx="9806822" cy="1071608"/>
      </dsp:txXfrm>
    </dsp:sp>
    <dsp:sp modelId="{626829D5-7B70-4AA0-A57A-6EB3A8BB5066}">
      <dsp:nvSpPr>
        <dsp:cNvPr id="0" name=""/>
        <dsp:cNvSpPr/>
      </dsp:nvSpPr>
      <dsp:spPr>
        <a:xfrm>
          <a:off x="0" y="1325585"/>
          <a:ext cx="9922764" cy="11875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1" kern="1200" dirty="0"/>
            <a:t>Bias audits and fairness testing </a:t>
          </a:r>
          <a:r>
            <a:rPr lang="en-US" sz="2900" kern="1200" dirty="0"/>
            <a:t>– Test outcomes for different demographics.</a:t>
          </a:r>
        </a:p>
      </dsp:txBody>
      <dsp:txXfrm>
        <a:off x="57971" y="1383556"/>
        <a:ext cx="9806822" cy="1071608"/>
      </dsp:txXfrm>
    </dsp:sp>
    <dsp:sp modelId="{05678BC6-7464-4E48-A2FE-1EB70B1FBE29}">
      <dsp:nvSpPr>
        <dsp:cNvPr id="0" name=""/>
        <dsp:cNvSpPr/>
      </dsp:nvSpPr>
      <dsp:spPr>
        <a:xfrm>
          <a:off x="0" y="2596656"/>
          <a:ext cx="9922764" cy="11875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1" kern="1200" dirty="0"/>
            <a:t>Human oversight </a:t>
          </a:r>
          <a:r>
            <a:rPr lang="en-US" sz="2900" kern="1200" dirty="0"/>
            <a:t>– Let people review and override automated decisions.</a:t>
          </a:r>
        </a:p>
      </dsp:txBody>
      <dsp:txXfrm>
        <a:off x="57971" y="2654627"/>
        <a:ext cx="9806822" cy="107160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52E787-990D-4A41-923D-91C009DF76D6}">
      <dsp:nvSpPr>
        <dsp:cNvPr id="0" name=""/>
        <dsp:cNvSpPr/>
      </dsp:nvSpPr>
      <dsp:spPr>
        <a:xfrm>
          <a:off x="0" y="697"/>
          <a:ext cx="6096000" cy="16324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26A796-8857-4BF2-9382-51F6E064F06A}">
      <dsp:nvSpPr>
        <dsp:cNvPr id="0" name=""/>
        <dsp:cNvSpPr/>
      </dsp:nvSpPr>
      <dsp:spPr>
        <a:xfrm>
          <a:off x="493818" y="368000"/>
          <a:ext cx="897852" cy="8978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6FD268-1C0F-4B15-895F-BB71E9374733}">
      <dsp:nvSpPr>
        <dsp:cNvPr id="0" name=""/>
        <dsp:cNvSpPr/>
      </dsp:nvSpPr>
      <dsp:spPr>
        <a:xfrm>
          <a:off x="1885489" y="697"/>
          <a:ext cx="4210510" cy="1632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768" tIns="172768" rIns="172768" bIns="172768" numCol="1" spcCol="1270" anchor="ctr" anchorCtr="0">
          <a:noAutofit/>
        </a:bodyPr>
        <a:lstStyle/>
        <a:p>
          <a:pPr marL="0" lvl="0" indent="0" algn="l" defTabSz="844550">
            <a:lnSpc>
              <a:spcPct val="90000"/>
            </a:lnSpc>
            <a:spcBef>
              <a:spcPct val="0"/>
            </a:spcBef>
            <a:spcAft>
              <a:spcPct val="35000"/>
            </a:spcAft>
            <a:buNone/>
          </a:pPr>
          <a:r>
            <a:rPr lang="en-US" sz="1900" kern="1200"/>
            <a:t>This pillar focuses on the transparency and explainability of AI systems</a:t>
          </a:r>
        </a:p>
      </dsp:txBody>
      <dsp:txXfrm>
        <a:off x="1885489" y="697"/>
        <a:ext cx="4210510" cy="1632458"/>
      </dsp:txXfrm>
    </dsp:sp>
    <dsp:sp modelId="{329FFE42-41A5-49E5-A246-356382BFBBA6}">
      <dsp:nvSpPr>
        <dsp:cNvPr id="0" name=""/>
        <dsp:cNvSpPr/>
      </dsp:nvSpPr>
      <dsp:spPr>
        <a:xfrm>
          <a:off x="0" y="2041270"/>
          <a:ext cx="6096000" cy="16324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F90E9B-264E-4A99-90C9-81651D64B320}">
      <dsp:nvSpPr>
        <dsp:cNvPr id="0" name=""/>
        <dsp:cNvSpPr/>
      </dsp:nvSpPr>
      <dsp:spPr>
        <a:xfrm>
          <a:off x="493818" y="2408573"/>
          <a:ext cx="897852" cy="8978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D81550-5D63-4577-83AA-5E5D3570E7BF}">
      <dsp:nvSpPr>
        <dsp:cNvPr id="0" name=""/>
        <dsp:cNvSpPr/>
      </dsp:nvSpPr>
      <dsp:spPr>
        <a:xfrm>
          <a:off x="1885489" y="2041270"/>
          <a:ext cx="4210510" cy="1632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768" tIns="172768" rIns="172768" bIns="172768" numCol="1" spcCol="1270" anchor="ctr" anchorCtr="0">
          <a:noAutofit/>
        </a:bodyPr>
        <a:lstStyle/>
        <a:p>
          <a:pPr marL="0" lvl="0" indent="0" algn="l" defTabSz="844550">
            <a:lnSpc>
              <a:spcPct val="90000"/>
            </a:lnSpc>
            <a:spcBef>
              <a:spcPct val="0"/>
            </a:spcBef>
            <a:spcAft>
              <a:spcPct val="35000"/>
            </a:spcAft>
            <a:buNone/>
          </a:pPr>
          <a:r>
            <a:rPr lang="en-US" sz="1900" kern="1200"/>
            <a:t>AI systems must be understandable for both experts and ordinary users. </a:t>
          </a:r>
        </a:p>
      </dsp:txBody>
      <dsp:txXfrm>
        <a:off x="1885489" y="2041270"/>
        <a:ext cx="4210510" cy="1632458"/>
      </dsp:txXfrm>
    </dsp:sp>
    <dsp:sp modelId="{3715D704-DF28-4EDB-848B-FF07FFB663D3}">
      <dsp:nvSpPr>
        <dsp:cNvPr id="0" name=""/>
        <dsp:cNvSpPr/>
      </dsp:nvSpPr>
      <dsp:spPr>
        <a:xfrm>
          <a:off x="0" y="4081843"/>
          <a:ext cx="6096000" cy="16324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E85883-DF76-480D-8E2E-2B0AC044EA5F}">
      <dsp:nvSpPr>
        <dsp:cNvPr id="0" name=""/>
        <dsp:cNvSpPr/>
      </dsp:nvSpPr>
      <dsp:spPr>
        <a:xfrm>
          <a:off x="493818" y="4449146"/>
          <a:ext cx="897852" cy="8978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D3FC6E-A69E-49C3-8CA0-4636A34200B0}">
      <dsp:nvSpPr>
        <dsp:cNvPr id="0" name=""/>
        <dsp:cNvSpPr/>
      </dsp:nvSpPr>
      <dsp:spPr>
        <a:xfrm>
          <a:off x="1885489" y="4081843"/>
          <a:ext cx="4210510" cy="1632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768" tIns="172768" rIns="172768" bIns="172768" numCol="1" spcCol="1270" anchor="ctr" anchorCtr="0">
          <a:noAutofit/>
        </a:bodyPr>
        <a:lstStyle/>
        <a:p>
          <a:pPr marL="0" lvl="0" indent="0" algn="l" defTabSz="844550">
            <a:lnSpc>
              <a:spcPct val="90000"/>
            </a:lnSpc>
            <a:spcBef>
              <a:spcPct val="0"/>
            </a:spcBef>
            <a:spcAft>
              <a:spcPct val="35000"/>
            </a:spcAft>
            <a:buNone/>
          </a:pPr>
          <a:r>
            <a:rPr lang="en-US" sz="1900" kern="1200"/>
            <a:t>By understanding how AI works and how it reaches its decisions, we can be clear about who is responsible for AI outcomes.</a:t>
          </a:r>
        </a:p>
      </dsp:txBody>
      <dsp:txXfrm>
        <a:off x="1885489" y="4081843"/>
        <a:ext cx="4210510" cy="163245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064385-ADC6-4B91-B02C-4CF1C38643B8}">
      <dsp:nvSpPr>
        <dsp:cNvPr id="0" name=""/>
        <dsp:cNvSpPr/>
      </dsp:nvSpPr>
      <dsp:spPr>
        <a:xfrm>
          <a:off x="0" y="2371"/>
          <a:ext cx="6096000" cy="12021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0A0292-2848-4E6F-964C-DBA25C83BF82}">
      <dsp:nvSpPr>
        <dsp:cNvPr id="0" name=""/>
        <dsp:cNvSpPr/>
      </dsp:nvSpPr>
      <dsp:spPr>
        <a:xfrm>
          <a:off x="363653" y="272857"/>
          <a:ext cx="661187" cy="661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D1AF66-E154-4899-A330-3F1E8C84C878}">
      <dsp:nvSpPr>
        <dsp:cNvPr id="0" name=""/>
        <dsp:cNvSpPr/>
      </dsp:nvSpPr>
      <dsp:spPr>
        <a:xfrm>
          <a:off x="1388493" y="2371"/>
          <a:ext cx="4707506" cy="1202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28" tIns="127228" rIns="127228" bIns="127228" numCol="1" spcCol="1270" anchor="ctr" anchorCtr="0">
          <a:noAutofit/>
        </a:bodyPr>
        <a:lstStyle/>
        <a:p>
          <a:pPr marL="0" lvl="0" indent="0" algn="l" defTabSz="977900">
            <a:lnSpc>
              <a:spcPct val="90000"/>
            </a:lnSpc>
            <a:spcBef>
              <a:spcPct val="0"/>
            </a:spcBef>
            <a:spcAft>
              <a:spcPct val="35000"/>
            </a:spcAft>
            <a:buNone/>
          </a:pPr>
          <a:r>
            <a:rPr lang="en-US" sz="2200" kern="1200" dirty="0"/>
            <a:t>Model Simplification: Use interpretable models (e.g., decision trees)  when possible</a:t>
          </a:r>
        </a:p>
      </dsp:txBody>
      <dsp:txXfrm>
        <a:off x="1388493" y="2371"/>
        <a:ext cx="4707506" cy="1202158"/>
      </dsp:txXfrm>
    </dsp:sp>
    <dsp:sp modelId="{0A4A7E1A-43BD-4F9A-B1A2-AFCA52CC56B6}">
      <dsp:nvSpPr>
        <dsp:cNvPr id="0" name=""/>
        <dsp:cNvSpPr/>
      </dsp:nvSpPr>
      <dsp:spPr>
        <a:xfrm>
          <a:off x="0" y="1505070"/>
          <a:ext cx="6096000" cy="12021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B0BF0D-6087-4DB2-AB9F-6B75DB09BC5F}">
      <dsp:nvSpPr>
        <dsp:cNvPr id="0" name=""/>
        <dsp:cNvSpPr/>
      </dsp:nvSpPr>
      <dsp:spPr>
        <a:xfrm>
          <a:off x="363653" y="1775556"/>
          <a:ext cx="661187" cy="661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A64CAE-B940-4093-9CEE-CD770373D561}">
      <dsp:nvSpPr>
        <dsp:cNvPr id="0" name=""/>
        <dsp:cNvSpPr/>
      </dsp:nvSpPr>
      <dsp:spPr>
        <a:xfrm>
          <a:off x="1388493" y="1505070"/>
          <a:ext cx="4707506" cy="1202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28" tIns="127228" rIns="127228" bIns="127228" numCol="1" spcCol="1270" anchor="ctr" anchorCtr="0">
          <a:noAutofit/>
        </a:bodyPr>
        <a:lstStyle/>
        <a:p>
          <a:pPr marL="0" lvl="0" indent="0" algn="l" defTabSz="977900">
            <a:lnSpc>
              <a:spcPct val="90000"/>
            </a:lnSpc>
            <a:spcBef>
              <a:spcPct val="0"/>
            </a:spcBef>
            <a:spcAft>
              <a:spcPct val="35000"/>
            </a:spcAft>
            <a:buNone/>
          </a:pPr>
          <a:r>
            <a:rPr lang="en-US" sz="2200" kern="1200"/>
            <a:t>Post-hoc Explanation Tools: LIME, SHAP which help highlight which features influenced decisions</a:t>
          </a:r>
        </a:p>
      </dsp:txBody>
      <dsp:txXfrm>
        <a:off x="1388493" y="1505070"/>
        <a:ext cx="4707506" cy="1202158"/>
      </dsp:txXfrm>
    </dsp:sp>
    <dsp:sp modelId="{4B8B547D-0806-4C0E-979E-74F2A9E46E64}">
      <dsp:nvSpPr>
        <dsp:cNvPr id="0" name=""/>
        <dsp:cNvSpPr/>
      </dsp:nvSpPr>
      <dsp:spPr>
        <a:xfrm>
          <a:off x="0" y="3007769"/>
          <a:ext cx="6096000" cy="12021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9077D2-23EB-404D-B977-85B4F7891B7F}">
      <dsp:nvSpPr>
        <dsp:cNvPr id="0" name=""/>
        <dsp:cNvSpPr/>
      </dsp:nvSpPr>
      <dsp:spPr>
        <a:xfrm>
          <a:off x="363653" y="3278255"/>
          <a:ext cx="661187" cy="661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B4791C-5B45-4E49-8101-E98F1E899680}">
      <dsp:nvSpPr>
        <dsp:cNvPr id="0" name=""/>
        <dsp:cNvSpPr/>
      </dsp:nvSpPr>
      <dsp:spPr>
        <a:xfrm>
          <a:off x="1388493" y="3007769"/>
          <a:ext cx="4707506" cy="1202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28" tIns="127228" rIns="127228" bIns="127228" numCol="1" spcCol="1270" anchor="ctr" anchorCtr="0">
          <a:noAutofit/>
        </a:bodyPr>
        <a:lstStyle/>
        <a:p>
          <a:pPr marL="0" lvl="0" indent="0" algn="l" defTabSz="977900">
            <a:lnSpc>
              <a:spcPct val="90000"/>
            </a:lnSpc>
            <a:spcBef>
              <a:spcPct val="0"/>
            </a:spcBef>
            <a:spcAft>
              <a:spcPct val="35000"/>
            </a:spcAft>
            <a:buNone/>
          </a:pPr>
          <a:r>
            <a:rPr lang="en-US" sz="2200" kern="1200"/>
            <a:t>Auditability: Keep detailed logs of how decisions were made</a:t>
          </a:r>
        </a:p>
      </dsp:txBody>
      <dsp:txXfrm>
        <a:off x="1388493" y="3007769"/>
        <a:ext cx="4707506" cy="1202158"/>
      </dsp:txXfrm>
    </dsp:sp>
    <dsp:sp modelId="{FFB8F6F0-9CE5-4B0F-ACAA-CEA13DD17B0D}">
      <dsp:nvSpPr>
        <dsp:cNvPr id="0" name=""/>
        <dsp:cNvSpPr/>
      </dsp:nvSpPr>
      <dsp:spPr>
        <a:xfrm>
          <a:off x="0" y="4510468"/>
          <a:ext cx="6096000" cy="120215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ABB703-14E3-40AE-A638-27E5E9D93C93}">
      <dsp:nvSpPr>
        <dsp:cNvPr id="0" name=""/>
        <dsp:cNvSpPr/>
      </dsp:nvSpPr>
      <dsp:spPr>
        <a:xfrm>
          <a:off x="363653" y="4780953"/>
          <a:ext cx="661187" cy="66118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5DE7B98-DF18-4D06-8462-E0987936A5F0}">
      <dsp:nvSpPr>
        <dsp:cNvPr id="0" name=""/>
        <dsp:cNvSpPr/>
      </dsp:nvSpPr>
      <dsp:spPr>
        <a:xfrm>
          <a:off x="1388493" y="4510468"/>
          <a:ext cx="4707506" cy="1202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28" tIns="127228" rIns="127228" bIns="127228" numCol="1" spcCol="1270" anchor="ctr" anchorCtr="0">
          <a:noAutofit/>
        </a:bodyPr>
        <a:lstStyle/>
        <a:p>
          <a:pPr marL="0" lvl="0" indent="0" algn="l" defTabSz="977900">
            <a:lnSpc>
              <a:spcPct val="90000"/>
            </a:lnSpc>
            <a:spcBef>
              <a:spcPct val="0"/>
            </a:spcBef>
            <a:spcAft>
              <a:spcPct val="35000"/>
            </a:spcAft>
            <a:buNone/>
          </a:pPr>
          <a:r>
            <a:rPr lang="en-US" sz="2200" kern="1200"/>
            <a:t>Human-in-the-loop systems: Ensuring ways that humans can review or override the AI’s output.</a:t>
          </a:r>
        </a:p>
      </dsp:txBody>
      <dsp:txXfrm>
        <a:off x="1388493" y="4510468"/>
        <a:ext cx="4707506" cy="120215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F56418-60AE-4FAA-A4E6-941335FBA08B}">
      <dsp:nvSpPr>
        <dsp:cNvPr id="0" name=""/>
        <dsp:cNvSpPr/>
      </dsp:nvSpPr>
      <dsp:spPr>
        <a:xfrm>
          <a:off x="0" y="4301982"/>
          <a:ext cx="6096000" cy="141200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b="1" kern="1200"/>
            <a:t>Decision Trees: </a:t>
          </a:r>
          <a:r>
            <a:rPr lang="en-US" sz="1700" kern="1200"/>
            <a:t>Known to be simple, hierarchical if-then rules making it easy for humans to trace the logic step-by-step</a:t>
          </a:r>
        </a:p>
      </dsp:txBody>
      <dsp:txXfrm>
        <a:off x="0" y="4301982"/>
        <a:ext cx="6096000" cy="1412006"/>
      </dsp:txXfrm>
    </dsp:sp>
    <dsp:sp modelId="{A608D2DC-1650-465E-BCCC-F39AD452529B}">
      <dsp:nvSpPr>
        <dsp:cNvPr id="0" name=""/>
        <dsp:cNvSpPr/>
      </dsp:nvSpPr>
      <dsp:spPr>
        <a:xfrm rot="10800000">
          <a:off x="0" y="2151496"/>
          <a:ext cx="6096000" cy="2171666"/>
        </a:xfrm>
        <a:prstGeom prst="upArrowCallout">
          <a:avLst/>
        </a:prstGeom>
        <a:solidFill>
          <a:schemeClr val="accent2">
            <a:hueOff val="-738707"/>
            <a:satOff val="-308"/>
            <a:lumOff val="333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b="1" kern="1200"/>
            <a:t>Counterfactual Explanations: </a:t>
          </a:r>
          <a:r>
            <a:rPr lang="en-US" sz="1700" kern="1200"/>
            <a:t>Shows how different input would have led to a different outcome.</a:t>
          </a:r>
        </a:p>
      </dsp:txBody>
      <dsp:txXfrm rot="-10800000">
        <a:off x="0" y="2151496"/>
        <a:ext cx="6096000" cy="762254"/>
      </dsp:txXfrm>
    </dsp:sp>
    <dsp:sp modelId="{4B6FC881-DF29-42C7-A469-306074E56FC2}">
      <dsp:nvSpPr>
        <dsp:cNvPr id="0" name=""/>
        <dsp:cNvSpPr/>
      </dsp:nvSpPr>
      <dsp:spPr>
        <a:xfrm>
          <a:off x="0" y="2913751"/>
          <a:ext cx="6096000" cy="649328"/>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b="1" kern="1200"/>
            <a:t>Example: </a:t>
          </a:r>
          <a:r>
            <a:rPr lang="en-US" sz="1900" kern="1200"/>
            <a:t>“If your credit score had been 20 points higher, your loan would have been approved”.</a:t>
          </a:r>
        </a:p>
      </dsp:txBody>
      <dsp:txXfrm>
        <a:off x="0" y="2913751"/>
        <a:ext cx="6096000" cy="649328"/>
      </dsp:txXfrm>
    </dsp:sp>
    <dsp:sp modelId="{65251CC3-F0B7-4CE2-92C7-9ECA3449BBA0}">
      <dsp:nvSpPr>
        <dsp:cNvPr id="0" name=""/>
        <dsp:cNvSpPr/>
      </dsp:nvSpPr>
      <dsp:spPr>
        <a:xfrm rot="10800000">
          <a:off x="0" y="1010"/>
          <a:ext cx="6096000" cy="2171666"/>
        </a:xfrm>
        <a:prstGeom prst="upArrowCallout">
          <a:avLst/>
        </a:prstGeom>
        <a:solidFill>
          <a:schemeClr val="accent2">
            <a:hueOff val="-1477413"/>
            <a:satOff val="-615"/>
            <a:lumOff val="666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b="1" kern="1200"/>
            <a:t>Feature Importance: </a:t>
          </a:r>
          <a:r>
            <a:rPr lang="en-US" sz="1700" kern="1200"/>
            <a:t>Shows which input features mattered the most in a decision</a:t>
          </a:r>
        </a:p>
      </dsp:txBody>
      <dsp:txXfrm rot="-10800000">
        <a:off x="0" y="1010"/>
        <a:ext cx="6096000" cy="762254"/>
      </dsp:txXfrm>
    </dsp:sp>
    <dsp:sp modelId="{6C1A4331-1DB3-4762-9185-B44716CF3740}">
      <dsp:nvSpPr>
        <dsp:cNvPr id="0" name=""/>
        <dsp:cNvSpPr/>
      </dsp:nvSpPr>
      <dsp:spPr>
        <a:xfrm>
          <a:off x="0" y="763264"/>
          <a:ext cx="6096000" cy="649328"/>
        </a:xfrm>
        <a:prstGeom prst="rect">
          <a:avLst/>
        </a:prstGeom>
        <a:solidFill>
          <a:schemeClr val="accent2">
            <a:tint val="40000"/>
            <a:alpha val="90000"/>
            <a:hueOff val="-1288877"/>
            <a:satOff val="12959"/>
            <a:lumOff val="1336"/>
            <a:alphaOff val="0"/>
          </a:schemeClr>
        </a:solidFill>
        <a:ln w="12700" cap="flat" cmpd="sng" algn="ctr">
          <a:solidFill>
            <a:schemeClr val="accent2">
              <a:tint val="40000"/>
              <a:alpha val="90000"/>
              <a:hueOff val="-1288877"/>
              <a:satOff val="12959"/>
              <a:lumOff val="133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b="1" kern="1200"/>
            <a:t>Example:  </a:t>
          </a:r>
          <a:r>
            <a:rPr lang="en-US" sz="1900" kern="1200"/>
            <a:t>A model shows that “income level” had the biggest impact on loan approval</a:t>
          </a:r>
        </a:p>
      </dsp:txBody>
      <dsp:txXfrm>
        <a:off x="0" y="763264"/>
        <a:ext cx="6096000" cy="64932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72E32C-32DB-4552-AAEB-2DCC35C9D5B4}" type="datetimeFigureOut">
              <a:rPr lang="en-US" smtClean="0"/>
              <a:t>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57CB5-9293-4180-A4E6-97F6D0FE5715}" type="slidenum">
              <a:rPr lang="en-US" smtClean="0"/>
              <a:t>‹#›</a:t>
            </a:fld>
            <a:endParaRPr lang="en-US" dirty="0"/>
          </a:p>
        </p:txBody>
      </p:sp>
    </p:spTree>
    <p:extLst>
      <p:ext uri="{BB962C8B-B14F-4D97-AF65-F5344CB8AC3E}">
        <p14:creationId xmlns:p14="http://schemas.microsoft.com/office/powerpoint/2010/main" val="2517724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38518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2239029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3894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2058817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3769736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1281620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2850009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4191708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1189044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1086637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dirty="0"/>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5355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A1E45834-53BD-4C8F-B791-CD5378F4150E}" type="datetimeFigureOut">
              <a:rPr lang="en-US" smtClean="0"/>
              <a:t>2/2/2026</a:t>
            </a:fld>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dirty="0"/>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744189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1.xml.rels><?xml version="1.0" encoding="UTF-8" standalone="yes"?>
<Relationships xmlns="http://schemas.openxmlformats.org/package/2006/relationships"><Relationship Id="rId3" Type="http://schemas.openxmlformats.org/officeDocument/2006/relationships/hyperlink" Target="https://www.centrawealth.com.au/lifestyle/what-does-engine-size-mean-and-does-it-still-matter/" TargetMode="External"/><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hyperlink" Target="https://www.econotimes.com/Tesla-Model-3-Dashboard-The-Same-As-Model-S-Will-Have-Better-Range-Than-Chevy-Bolt-Though-609889" TargetMode="External"/><Relationship Id="rId4" Type="http://schemas.openxmlformats.org/officeDocument/2006/relationships/image" Target="../media/image29.jpg"/></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1C99DC-C3C5-4EBE-91DD-345109C3D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0DF5DF-70C8-1CEA-D39E-C34728BD6BDD}"/>
              </a:ext>
            </a:extLst>
          </p:cNvPr>
          <p:cNvSpPr>
            <a:spLocks noGrp="1"/>
          </p:cNvSpPr>
          <p:nvPr>
            <p:ph type="ctrTitle"/>
          </p:nvPr>
        </p:nvSpPr>
        <p:spPr>
          <a:xfrm>
            <a:off x="1080789" y="2457319"/>
            <a:ext cx="5015211" cy="3495365"/>
          </a:xfrm>
        </p:spPr>
        <p:txBody>
          <a:bodyPr anchor="b">
            <a:normAutofit/>
          </a:bodyPr>
          <a:lstStyle/>
          <a:p>
            <a:r>
              <a:rPr lang="en-US" sz="3600" dirty="0"/>
              <a:t>Chapter 7: AI Ethics and Risks</a:t>
            </a:r>
          </a:p>
        </p:txBody>
      </p:sp>
      <p:sp>
        <p:nvSpPr>
          <p:cNvPr id="3" name="Subtitle 2">
            <a:extLst>
              <a:ext uri="{FF2B5EF4-FFF2-40B4-BE49-F238E27FC236}">
                <a16:creationId xmlns:a16="http://schemas.microsoft.com/office/drawing/2014/main" id="{CECE0DD2-D7D9-8145-6C15-D59E2A99FC7D}"/>
              </a:ext>
            </a:extLst>
          </p:cNvPr>
          <p:cNvSpPr>
            <a:spLocks noGrp="1"/>
          </p:cNvSpPr>
          <p:nvPr>
            <p:ph type="subTitle" idx="1"/>
          </p:nvPr>
        </p:nvSpPr>
        <p:spPr>
          <a:xfrm>
            <a:off x="1094716" y="1022130"/>
            <a:ext cx="5001284" cy="1268361"/>
          </a:xfrm>
        </p:spPr>
        <p:txBody>
          <a:bodyPr anchor="t">
            <a:normAutofit/>
          </a:bodyPr>
          <a:lstStyle/>
          <a:p>
            <a:endParaRPr lang="en-US" dirty="0"/>
          </a:p>
        </p:txBody>
      </p:sp>
      <p:cxnSp>
        <p:nvCxnSpPr>
          <p:cNvPr id="11" name="Straight Connector 10">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4" y="118679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purple and white sky&#10;&#10;Description automatically generated">
            <a:extLst>
              <a:ext uri="{FF2B5EF4-FFF2-40B4-BE49-F238E27FC236}">
                <a16:creationId xmlns:a16="http://schemas.microsoft.com/office/drawing/2014/main" id="{E633B07B-028F-BDD4-8CF6-7210973F3E09}"/>
              </a:ext>
            </a:extLst>
          </p:cNvPr>
          <p:cNvPicPr>
            <a:picLocks noChangeAspect="1"/>
          </p:cNvPicPr>
          <p:nvPr/>
        </p:nvPicPr>
        <p:blipFill>
          <a:blip r:embed="rId2"/>
          <a:srcRect l="5687" r="14313"/>
          <a:stretch/>
        </p:blipFill>
        <p:spPr>
          <a:xfrm>
            <a:off x="6705594" y="1"/>
            <a:ext cx="5486407" cy="6857999"/>
          </a:xfrm>
          <a:prstGeom prst="rect">
            <a:avLst/>
          </a:prstGeom>
        </p:spPr>
      </p:pic>
    </p:spTree>
    <p:extLst>
      <p:ext uri="{BB962C8B-B14F-4D97-AF65-F5344CB8AC3E}">
        <p14:creationId xmlns:p14="http://schemas.microsoft.com/office/powerpoint/2010/main" val="2305668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32111F-EEF3-9C57-BC61-9C74E38401DE}"/>
              </a:ext>
            </a:extLst>
          </p:cNvPr>
          <p:cNvSpPr>
            <a:spLocks noGrp="1"/>
          </p:cNvSpPr>
          <p:nvPr>
            <p:ph type="title"/>
          </p:nvPr>
        </p:nvSpPr>
        <p:spPr>
          <a:xfrm>
            <a:off x="1083468" y="1098637"/>
            <a:ext cx="4147804" cy="2042160"/>
          </a:xfrm>
        </p:spPr>
        <p:txBody>
          <a:bodyPr>
            <a:normAutofit fontScale="90000"/>
          </a:bodyPr>
          <a:lstStyle/>
          <a:p>
            <a:r>
              <a:rPr lang="en-US" sz="4000" dirty="0"/>
              <a:t>DISCUSSION 7.1</a:t>
            </a:r>
            <a:br>
              <a:rPr lang="en-US" sz="4000" dirty="0"/>
            </a:br>
            <a:r>
              <a:rPr lang="en-US" sz="4000" dirty="0"/>
              <a:t>SHOULD AI WRITE OUR LAWS?</a:t>
            </a:r>
          </a:p>
        </p:txBody>
      </p:sp>
      <p:cxnSp>
        <p:nvCxnSpPr>
          <p:cNvPr id="15" name="Straight Connector 14">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800" y="1186344"/>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A1CADE3-8C33-5B4E-6837-36869B334C46}"/>
              </a:ext>
            </a:extLst>
          </p:cNvPr>
          <p:cNvSpPr>
            <a:spLocks noGrp="1"/>
          </p:cNvSpPr>
          <p:nvPr>
            <p:ph idx="1"/>
          </p:nvPr>
        </p:nvSpPr>
        <p:spPr>
          <a:xfrm>
            <a:off x="1120232" y="3204755"/>
            <a:ext cx="4147804" cy="2966043"/>
          </a:xfrm>
        </p:spPr>
        <p:txBody>
          <a:bodyPr>
            <a:normAutofit/>
          </a:bodyPr>
          <a:lstStyle/>
          <a:p>
            <a:endParaRPr lang="en-US"/>
          </a:p>
        </p:txBody>
      </p:sp>
      <p:pic>
        <p:nvPicPr>
          <p:cNvPr id="5" name="Picture 4">
            <a:extLst>
              <a:ext uri="{FF2B5EF4-FFF2-40B4-BE49-F238E27FC236}">
                <a16:creationId xmlns:a16="http://schemas.microsoft.com/office/drawing/2014/main" id="{3310F690-0AAE-9419-E7B9-EBB1744D1DBA}"/>
              </a:ext>
            </a:extLst>
          </p:cNvPr>
          <p:cNvPicPr>
            <a:picLocks noChangeAspect="1"/>
          </p:cNvPicPr>
          <p:nvPr/>
        </p:nvPicPr>
        <p:blipFill>
          <a:blip r:embed="rId2"/>
          <a:stretch>
            <a:fillRect/>
          </a:stretch>
        </p:blipFill>
        <p:spPr>
          <a:xfrm>
            <a:off x="6096000" y="1143000"/>
            <a:ext cx="5492377" cy="5011793"/>
          </a:xfrm>
          <a:prstGeom prst="rect">
            <a:avLst/>
          </a:prstGeom>
        </p:spPr>
      </p:pic>
    </p:spTree>
    <p:extLst>
      <p:ext uri="{BB962C8B-B14F-4D97-AF65-F5344CB8AC3E}">
        <p14:creationId xmlns:p14="http://schemas.microsoft.com/office/powerpoint/2010/main" val="4117896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0DCC3C-E0BD-963E-4717-FA0208A5E27A}"/>
              </a:ext>
            </a:extLst>
          </p:cNvPr>
          <p:cNvSpPr>
            <a:spLocks noGrp="1"/>
          </p:cNvSpPr>
          <p:nvPr>
            <p:ph type="title"/>
          </p:nvPr>
        </p:nvSpPr>
        <p:spPr>
          <a:xfrm>
            <a:off x="1091203" y="1069848"/>
            <a:ext cx="6308775" cy="2049620"/>
          </a:xfrm>
        </p:spPr>
        <p:txBody>
          <a:bodyPr>
            <a:normAutofit/>
          </a:bodyPr>
          <a:lstStyle/>
          <a:p>
            <a:r>
              <a:rPr lang="en-US" sz="6000"/>
              <a:t>Artificial Intelligence (AI)</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E6D9145-0BA0-814D-9AC3-576D2EF36298}"/>
              </a:ext>
            </a:extLst>
          </p:cNvPr>
          <p:cNvSpPr>
            <a:spLocks noGrp="1"/>
          </p:cNvSpPr>
          <p:nvPr>
            <p:ph idx="1"/>
          </p:nvPr>
        </p:nvSpPr>
        <p:spPr>
          <a:xfrm>
            <a:off x="1097280" y="3180522"/>
            <a:ext cx="6223996" cy="3105978"/>
          </a:xfrm>
        </p:spPr>
        <p:txBody>
          <a:bodyPr>
            <a:normAutofit/>
          </a:bodyPr>
          <a:lstStyle/>
          <a:p>
            <a:pPr>
              <a:lnSpc>
                <a:spcPct val="120000"/>
              </a:lnSpc>
            </a:pPr>
            <a:r>
              <a:rPr lang="en-US" b="1" dirty="0"/>
              <a:t>Artificial Intelligence: </a:t>
            </a:r>
            <a:r>
              <a:rPr lang="en-US" dirty="0"/>
              <a:t>A branch of computer science that aims to create machines or systems that can perform tasks typically requiring human intelligence. These tasks include:</a:t>
            </a:r>
          </a:p>
          <a:p>
            <a:pPr>
              <a:lnSpc>
                <a:spcPct val="120000"/>
              </a:lnSpc>
            </a:pPr>
            <a:r>
              <a:rPr lang="en-US" b="1" dirty="0"/>
              <a:t>Perception: </a:t>
            </a:r>
            <a:r>
              <a:rPr lang="en-US" dirty="0"/>
              <a:t>Interpreting sensory input e.g. computer vision, speech recognition)</a:t>
            </a:r>
          </a:p>
          <a:p>
            <a:pPr>
              <a:lnSpc>
                <a:spcPct val="120000"/>
              </a:lnSpc>
            </a:pPr>
            <a:r>
              <a:rPr lang="en-US" b="1" dirty="0"/>
              <a:t>Reasoning: </a:t>
            </a:r>
            <a:r>
              <a:rPr lang="en-US" dirty="0"/>
              <a:t>Drawing conclusions from available information</a:t>
            </a:r>
          </a:p>
        </p:txBody>
      </p:sp>
      <p:pic>
        <p:nvPicPr>
          <p:cNvPr id="5" name="Picture 4" descr="Angle view of circuit shaped like a brain">
            <a:extLst>
              <a:ext uri="{FF2B5EF4-FFF2-40B4-BE49-F238E27FC236}">
                <a16:creationId xmlns:a16="http://schemas.microsoft.com/office/drawing/2014/main" id="{4FC76E27-E132-1C2C-6356-28A7D7C41F2B}"/>
              </a:ext>
            </a:extLst>
          </p:cNvPr>
          <p:cNvPicPr>
            <a:picLocks noChangeAspect="1"/>
          </p:cNvPicPr>
          <p:nvPr/>
        </p:nvPicPr>
        <p:blipFill>
          <a:blip r:embed="rId2"/>
          <a:srcRect l="31473" r="31328" b="2"/>
          <a:stretch/>
        </p:blipFill>
        <p:spPr>
          <a:xfrm>
            <a:off x="8534400" y="10"/>
            <a:ext cx="3657601" cy="6857990"/>
          </a:xfrm>
          <a:prstGeom prst="rect">
            <a:avLst/>
          </a:prstGeom>
        </p:spPr>
      </p:pic>
    </p:spTree>
    <p:extLst>
      <p:ext uri="{BB962C8B-B14F-4D97-AF65-F5344CB8AC3E}">
        <p14:creationId xmlns:p14="http://schemas.microsoft.com/office/powerpoint/2010/main" val="2475991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0DCC3C-E0BD-963E-4717-FA0208A5E27A}"/>
              </a:ext>
            </a:extLst>
          </p:cNvPr>
          <p:cNvSpPr>
            <a:spLocks noGrp="1"/>
          </p:cNvSpPr>
          <p:nvPr>
            <p:ph type="title"/>
          </p:nvPr>
        </p:nvSpPr>
        <p:spPr>
          <a:xfrm>
            <a:off x="1091203" y="1069848"/>
            <a:ext cx="6308775" cy="2049620"/>
          </a:xfrm>
        </p:spPr>
        <p:txBody>
          <a:bodyPr>
            <a:normAutofit/>
          </a:bodyPr>
          <a:lstStyle/>
          <a:p>
            <a:r>
              <a:rPr lang="en-US" sz="6000"/>
              <a:t>Artificial Intelligence (AI)</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E6D9145-0BA0-814D-9AC3-576D2EF36298}"/>
              </a:ext>
            </a:extLst>
          </p:cNvPr>
          <p:cNvSpPr>
            <a:spLocks noGrp="1"/>
          </p:cNvSpPr>
          <p:nvPr>
            <p:ph idx="1"/>
          </p:nvPr>
        </p:nvSpPr>
        <p:spPr>
          <a:xfrm>
            <a:off x="1097280" y="3180522"/>
            <a:ext cx="6223996" cy="3105978"/>
          </a:xfrm>
        </p:spPr>
        <p:txBody>
          <a:bodyPr>
            <a:normAutofit/>
          </a:bodyPr>
          <a:lstStyle/>
          <a:p>
            <a:r>
              <a:rPr lang="en-US" b="1" dirty="0"/>
              <a:t>Learning: </a:t>
            </a:r>
            <a:r>
              <a:rPr lang="en-US" dirty="0"/>
              <a:t>Improving performance over time through experience (e.g., machine learning)</a:t>
            </a:r>
          </a:p>
          <a:p>
            <a:r>
              <a:rPr lang="en-US" b="1" dirty="0"/>
              <a:t>Language Understanding: </a:t>
            </a:r>
            <a:r>
              <a:rPr lang="en-US" dirty="0"/>
              <a:t>Processing human language, e.g., Natural Language Processing NLP</a:t>
            </a:r>
          </a:p>
          <a:p>
            <a:r>
              <a:rPr lang="en-US" b="1" dirty="0"/>
              <a:t>Acting: </a:t>
            </a:r>
            <a:r>
              <a:rPr lang="en-US" dirty="0"/>
              <a:t>Making decisions or taking actions (e.g., robotics</a:t>
            </a:r>
            <a:r>
              <a:rPr lang="en-US"/>
              <a:t>, game </a:t>
            </a:r>
            <a:r>
              <a:rPr lang="en-US" dirty="0"/>
              <a:t>AI)</a:t>
            </a:r>
          </a:p>
        </p:txBody>
      </p:sp>
      <p:pic>
        <p:nvPicPr>
          <p:cNvPr id="5" name="Picture 4" descr="Abstract background">
            <a:extLst>
              <a:ext uri="{FF2B5EF4-FFF2-40B4-BE49-F238E27FC236}">
                <a16:creationId xmlns:a16="http://schemas.microsoft.com/office/drawing/2014/main" id="{77D668AF-CA79-9DAC-5AD7-CF2076CB968E}"/>
              </a:ext>
            </a:extLst>
          </p:cNvPr>
          <p:cNvPicPr>
            <a:picLocks noChangeAspect="1"/>
          </p:cNvPicPr>
          <p:nvPr/>
        </p:nvPicPr>
        <p:blipFill>
          <a:blip r:embed="rId2"/>
          <a:srcRect l="53776" r="14224"/>
          <a:stretch/>
        </p:blipFill>
        <p:spPr>
          <a:xfrm>
            <a:off x="8534400" y="10"/>
            <a:ext cx="3657601" cy="6857990"/>
          </a:xfrm>
          <a:prstGeom prst="rect">
            <a:avLst/>
          </a:prstGeom>
        </p:spPr>
      </p:pic>
    </p:spTree>
    <p:extLst>
      <p:ext uri="{BB962C8B-B14F-4D97-AF65-F5344CB8AC3E}">
        <p14:creationId xmlns:p14="http://schemas.microsoft.com/office/powerpoint/2010/main" val="759895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34A7A-1846-2F10-B11F-E867C484231A}"/>
              </a:ext>
            </a:extLst>
          </p:cNvPr>
          <p:cNvSpPr>
            <a:spLocks noGrp="1"/>
          </p:cNvSpPr>
          <p:nvPr>
            <p:ph type="title"/>
          </p:nvPr>
        </p:nvSpPr>
        <p:spPr/>
        <p:txBody>
          <a:bodyPr/>
          <a:lstStyle/>
          <a:p>
            <a:r>
              <a:rPr lang="en-US"/>
              <a:t>Types of AI</a:t>
            </a:r>
          </a:p>
        </p:txBody>
      </p:sp>
      <p:graphicFrame>
        <p:nvGraphicFramePr>
          <p:cNvPr id="4" name="Content Placeholder 3">
            <a:extLst>
              <a:ext uri="{FF2B5EF4-FFF2-40B4-BE49-F238E27FC236}">
                <a16:creationId xmlns:a16="http://schemas.microsoft.com/office/drawing/2014/main" id="{7D338549-476F-F059-A18F-9A4897102F4A}"/>
              </a:ext>
            </a:extLst>
          </p:cNvPr>
          <p:cNvGraphicFramePr>
            <a:graphicFrameLocks noGrp="1"/>
          </p:cNvGraphicFramePr>
          <p:nvPr>
            <p:ph idx="1"/>
            <p:extLst>
              <p:ext uri="{D42A27DB-BD31-4B8C-83A1-F6EECF244321}">
                <p14:modId xmlns:p14="http://schemas.microsoft.com/office/powerpoint/2010/main" val="4187171389"/>
              </p:ext>
            </p:extLst>
          </p:nvPr>
        </p:nvGraphicFramePr>
        <p:xfrm>
          <a:off x="1087440" y="2062913"/>
          <a:ext cx="10543086" cy="4177465"/>
        </p:xfrm>
        <a:graphic>
          <a:graphicData uri="http://schemas.openxmlformats.org/drawingml/2006/table">
            <a:tbl>
              <a:tblPr firstRow="1" bandRow="1">
                <a:tableStyleId>{5C22544A-7EE6-4342-B048-85BDC9FD1C3A}</a:tableStyleId>
              </a:tblPr>
              <a:tblGrid>
                <a:gridCol w="3514362">
                  <a:extLst>
                    <a:ext uri="{9D8B030D-6E8A-4147-A177-3AD203B41FA5}">
                      <a16:colId xmlns:a16="http://schemas.microsoft.com/office/drawing/2014/main" val="3195076421"/>
                    </a:ext>
                  </a:extLst>
                </a:gridCol>
                <a:gridCol w="3514362">
                  <a:extLst>
                    <a:ext uri="{9D8B030D-6E8A-4147-A177-3AD203B41FA5}">
                      <a16:colId xmlns:a16="http://schemas.microsoft.com/office/drawing/2014/main" val="1641679111"/>
                    </a:ext>
                  </a:extLst>
                </a:gridCol>
                <a:gridCol w="3514362">
                  <a:extLst>
                    <a:ext uri="{9D8B030D-6E8A-4147-A177-3AD203B41FA5}">
                      <a16:colId xmlns:a16="http://schemas.microsoft.com/office/drawing/2014/main" val="3937762795"/>
                    </a:ext>
                  </a:extLst>
                </a:gridCol>
              </a:tblGrid>
              <a:tr h="457204">
                <a:tc>
                  <a:txBody>
                    <a:bodyPr/>
                    <a:lstStyle/>
                    <a:p>
                      <a:r>
                        <a:rPr lang="en-US"/>
                        <a:t>Type</a:t>
                      </a:r>
                    </a:p>
                  </a:txBody>
                  <a:tcPr/>
                </a:tc>
                <a:tc>
                  <a:txBody>
                    <a:bodyPr/>
                    <a:lstStyle/>
                    <a:p>
                      <a:r>
                        <a:rPr lang="en-US"/>
                        <a:t>Description</a:t>
                      </a:r>
                    </a:p>
                  </a:txBody>
                  <a:tcPr/>
                </a:tc>
                <a:tc>
                  <a:txBody>
                    <a:bodyPr/>
                    <a:lstStyle/>
                    <a:p>
                      <a:r>
                        <a:rPr lang="en-US"/>
                        <a:t>Example</a:t>
                      </a:r>
                    </a:p>
                  </a:txBody>
                  <a:tcPr/>
                </a:tc>
                <a:extLst>
                  <a:ext uri="{0D108BD9-81ED-4DB2-BD59-A6C34878D82A}">
                    <a16:rowId xmlns:a16="http://schemas.microsoft.com/office/drawing/2014/main" val="1979096725"/>
                  </a:ext>
                </a:extLst>
              </a:tr>
              <a:tr h="1465557">
                <a:tc>
                  <a:txBody>
                    <a:bodyPr/>
                    <a:lstStyle/>
                    <a:p>
                      <a:r>
                        <a:rPr lang="en-US"/>
                        <a:t>Artificial Narrow Intelligence (ANI)</a:t>
                      </a:r>
                    </a:p>
                  </a:txBody>
                  <a:tcPr/>
                </a:tc>
                <a:tc>
                  <a:txBody>
                    <a:bodyPr/>
                    <a:lstStyle/>
                    <a:p>
                      <a:r>
                        <a:rPr lang="en-US"/>
                        <a:t>- Specializing in one task. </a:t>
                      </a:r>
                    </a:p>
                    <a:p>
                      <a:r>
                        <a:rPr lang="en-US"/>
                        <a:t>- All training is done for a specific use.</a:t>
                      </a:r>
                    </a:p>
                    <a:p>
                      <a:r>
                        <a:rPr lang="en-US"/>
                        <a:t> - All current systems are ANI</a:t>
                      </a:r>
                    </a:p>
                  </a:txBody>
                  <a:tcPr/>
                </a:tc>
                <a:tc>
                  <a:txBody>
                    <a:bodyPr/>
                    <a:lstStyle/>
                    <a:p>
                      <a:r>
                        <a:rPr lang="en-US"/>
                        <a:t>Siri, Google Translate</a:t>
                      </a:r>
                    </a:p>
                  </a:txBody>
                  <a:tcPr/>
                </a:tc>
                <a:extLst>
                  <a:ext uri="{0D108BD9-81ED-4DB2-BD59-A6C34878D82A}">
                    <a16:rowId xmlns:a16="http://schemas.microsoft.com/office/drawing/2014/main" val="1458390137"/>
                  </a:ext>
                </a:extLst>
              </a:tr>
              <a:tr h="1127352">
                <a:tc>
                  <a:txBody>
                    <a:bodyPr/>
                    <a:lstStyle/>
                    <a:p>
                      <a:r>
                        <a:rPr lang="en-US"/>
                        <a:t>Artificial General Intelligence (AGI)</a:t>
                      </a:r>
                    </a:p>
                  </a:txBody>
                  <a:tcPr/>
                </a:tc>
                <a:tc>
                  <a:txBody>
                    <a:bodyPr/>
                    <a:lstStyle/>
                    <a:p>
                      <a:r>
                        <a:rPr lang="en-US"/>
                        <a:t>- Equal to human cognitive abilities across tasks. </a:t>
                      </a:r>
                    </a:p>
                    <a:p>
                      <a:r>
                        <a:rPr lang="en-US"/>
                        <a:t>- Still theoretical</a:t>
                      </a:r>
                    </a:p>
                  </a:txBody>
                  <a:tcPr/>
                </a:tc>
                <a:tc>
                  <a:txBody>
                    <a:bodyPr/>
                    <a:lstStyle/>
                    <a:p>
                      <a:r>
                        <a:rPr lang="en-US"/>
                        <a:t>None yet</a:t>
                      </a:r>
                    </a:p>
                  </a:txBody>
                  <a:tcPr/>
                </a:tc>
                <a:extLst>
                  <a:ext uri="{0D108BD9-81ED-4DB2-BD59-A6C34878D82A}">
                    <a16:rowId xmlns:a16="http://schemas.microsoft.com/office/drawing/2014/main" val="1369425419"/>
                  </a:ext>
                </a:extLst>
              </a:tr>
              <a:tr h="1127352">
                <a:tc>
                  <a:txBody>
                    <a:bodyPr/>
                    <a:lstStyle/>
                    <a:p>
                      <a:r>
                        <a:rPr lang="en-US"/>
                        <a:t>Artificial Superinteligence (ASI)</a:t>
                      </a:r>
                    </a:p>
                  </a:txBody>
                  <a:tcPr/>
                </a:tc>
                <a:tc>
                  <a:txBody>
                    <a:bodyPr/>
                    <a:lstStyle/>
                    <a:p>
                      <a:r>
                        <a:rPr lang="en-US"/>
                        <a:t>- Surpasses human intelligence in all aspects.</a:t>
                      </a:r>
                    </a:p>
                    <a:p>
                      <a:r>
                        <a:rPr lang="en-US"/>
                        <a:t>- Hypothetical future state </a:t>
                      </a:r>
                    </a:p>
                  </a:txBody>
                  <a:tcPr/>
                </a:tc>
                <a:tc>
                  <a:txBody>
                    <a:bodyPr/>
                    <a:lstStyle/>
                    <a:p>
                      <a:r>
                        <a:rPr lang="en-US"/>
                        <a:t>Not yet developed </a:t>
                      </a:r>
                    </a:p>
                  </a:txBody>
                  <a:tcPr/>
                </a:tc>
                <a:extLst>
                  <a:ext uri="{0D108BD9-81ED-4DB2-BD59-A6C34878D82A}">
                    <a16:rowId xmlns:a16="http://schemas.microsoft.com/office/drawing/2014/main" val="2646581699"/>
                  </a:ext>
                </a:extLst>
              </a:tr>
            </a:tbl>
          </a:graphicData>
        </a:graphic>
      </p:graphicFrame>
    </p:spTree>
    <p:extLst>
      <p:ext uri="{BB962C8B-B14F-4D97-AF65-F5344CB8AC3E}">
        <p14:creationId xmlns:p14="http://schemas.microsoft.com/office/powerpoint/2010/main" val="1416006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BEFFD-42AF-752B-68E0-D3EA718FD20A}"/>
              </a:ext>
            </a:extLst>
          </p:cNvPr>
          <p:cNvSpPr>
            <a:spLocks noGrp="1"/>
          </p:cNvSpPr>
          <p:nvPr>
            <p:ph type="title"/>
          </p:nvPr>
        </p:nvSpPr>
        <p:spPr/>
        <p:txBody>
          <a:bodyPr/>
          <a:lstStyle/>
          <a:p>
            <a:r>
              <a:rPr lang="en-US"/>
              <a:t>Components of AI</a:t>
            </a:r>
          </a:p>
        </p:txBody>
      </p:sp>
      <p:graphicFrame>
        <p:nvGraphicFramePr>
          <p:cNvPr id="4" name="Content Placeholder 3">
            <a:extLst>
              <a:ext uri="{FF2B5EF4-FFF2-40B4-BE49-F238E27FC236}">
                <a16:creationId xmlns:a16="http://schemas.microsoft.com/office/drawing/2014/main" id="{CF992826-D984-6A19-0DFE-1FD7C48EE383}"/>
              </a:ext>
            </a:extLst>
          </p:cNvPr>
          <p:cNvGraphicFramePr>
            <a:graphicFrameLocks noGrp="1"/>
          </p:cNvGraphicFramePr>
          <p:nvPr>
            <p:ph idx="1"/>
            <p:extLst>
              <p:ext uri="{D42A27DB-BD31-4B8C-83A1-F6EECF244321}">
                <p14:modId xmlns:p14="http://schemas.microsoft.com/office/powerpoint/2010/main" val="3572674861"/>
              </p:ext>
            </p:extLst>
          </p:nvPr>
        </p:nvGraphicFramePr>
        <p:xfrm>
          <a:off x="1087438" y="2447925"/>
          <a:ext cx="9923462" cy="3838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415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8C38AB-00B3-4611-B51A-458666907A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165BD5-710F-7C51-BBEA-8C0493E9AE3C}"/>
              </a:ext>
            </a:extLst>
          </p:cNvPr>
          <p:cNvSpPr>
            <a:spLocks noGrp="1"/>
          </p:cNvSpPr>
          <p:nvPr>
            <p:ph type="title"/>
          </p:nvPr>
        </p:nvSpPr>
        <p:spPr>
          <a:xfrm>
            <a:off x="1092304" y="4504002"/>
            <a:ext cx="3784496" cy="1790886"/>
          </a:xfrm>
        </p:spPr>
        <p:txBody>
          <a:bodyPr anchor="t">
            <a:normAutofit/>
          </a:bodyPr>
          <a:lstStyle/>
          <a:p>
            <a:r>
              <a:rPr lang="en-US" sz="4000"/>
              <a:t>Machine Learning</a:t>
            </a:r>
          </a:p>
        </p:txBody>
      </p:sp>
      <p:cxnSp>
        <p:nvCxnSpPr>
          <p:cNvPr id="11" name="Straight Connector 10">
            <a:extLst>
              <a:ext uri="{FF2B5EF4-FFF2-40B4-BE49-F238E27FC236}">
                <a16:creationId xmlns:a16="http://schemas.microsoft.com/office/drawing/2014/main" id="{8F5909CB-6CD3-45DF-9920-8D81824854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607234"/>
            <a:ext cx="804195" cy="0"/>
          </a:xfrm>
          <a:prstGeom prst="line">
            <a:avLst/>
          </a:prstGeom>
          <a:ln w="825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10DC0F0C-E834-DFDA-41F1-5DA59C4B1697}"/>
              </a:ext>
            </a:extLst>
          </p:cNvPr>
          <p:cNvGraphicFramePr>
            <a:graphicFrameLocks noGrp="1"/>
          </p:cNvGraphicFramePr>
          <p:nvPr>
            <p:ph idx="1"/>
            <p:extLst>
              <p:ext uri="{D42A27DB-BD31-4B8C-83A1-F6EECF244321}">
                <p14:modId xmlns:p14="http://schemas.microsoft.com/office/powerpoint/2010/main" val="3430906926"/>
              </p:ext>
            </p:extLst>
          </p:nvPr>
        </p:nvGraphicFramePr>
        <p:xfrm>
          <a:off x="5412658" y="1110343"/>
          <a:ext cx="6207841" cy="4604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6017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6E724F-B099-CAF1-88CA-2BBC57671AEC}"/>
              </a:ext>
            </a:extLst>
          </p:cNvPr>
          <p:cNvSpPr>
            <a:spLocks noGrp="1"/>
          </p:cNvSpPr>
          <p:nvPr>
            <p:ph type="title"/>
          </p:nvPr>
        </p:nvSpPr>
        <p:spPr>
          <a:xfrm>
            <a:off x="1091203" y="1069848"/>
            <a:ext cx="6308775" cy="2049620"/>
          </a:xfrm>
        </p:spPr>
        <p:txBody>
          <a:bodyPr>
            <a:normAutofit/>
          </a:bodyPr>
          <a:lstStyle/>
          <a:p>
            <a:r>
              <a:rPr lang="en-US" sz="6000"/>
              <a:t>Deep Learning</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12C1021-6C14-24CC-813D-01E9F856DBB4}"/>
              </a:ext>
            </a:extLst>
          </p:cNvPr>
          <p:cNvSpPr>
            <a:spLocks noGrp="1"/>
          </p:cNvSpPr>
          <p:nvPr>
            <p:ph idx="1"/>
          </p:nvPr>
        </p:nvSpPr>
        <p:spPr>
          <a:xfrm>
            <a:off x="1097280" y="3180522"/>
            <a:ext cx="6223996" cy="3105978"/>
          </a:xfrm>
        </p:spPr>
        <p:txBody>
          <a:bodyPr>
            <a:normAutofit/>
          </a:bodyPr>
          <a:lstStyle/>
          <a:p>
            <a:r>
              <a:rPr lang="en-US" dirty="0"/>
              <a:t>A type of machine learning that uses multi-layered neural networks to model complex patterns in large datasets</a:t>
            </a:r>
          </a:p>
          <a:p>
            <a:r>
              <a:rPr lang="en-US" dirty="0"/>
              <a:t>Example: Voice assistants recognizing your speech accurately</a:t>
            </a:r>
          </a:p>
        </p:txBody>
      </p:sp>
      <p:pic>
        <p:nvPicPr>
          <p:cNvPr id="5" name="Picture 4" descr="A network formed by white dots">
            <a:extLst>
              <a:ext uri="{FF2B5EF4-FFF2-40B4-BE49-F238E27FC236}">
                <a16:creationId xmlns:a16="http://schemas.microsoft.com/office/drawing/2014/main" id="{E543DAF4-E9F3-B6FC-00C9-BC0217EE0DA2}"/>
              </a:ext>
            </a:extLst>
          </p:cNvPr>
          <p:cNvPicPr>
            <a:picLocks noChangeAspect="1"/>
          </p:cNvPicPr>
          <p:nvPr/>
        </p:nvPicPr>
        <p:blipFill>
          <a:blip r:embed="rId2"/>
          <a:srcRect l="50674" r="8259" b="-1"/>
          <a:stretch/>
        </p:blipFill>
        <p:spPr>
          <a:xfrm>
            <a:off x="8534400" y="10"/>
            <a:ext cx="3657601" cy="6857990"/>
          </a:xfrm>
          <a:prstGeom prst="rect">
            <a:avLst/>
          </a:prstGeom>
        </p:spPr>
      </p:pic>
    </p:spTree>
    <p:extLst>
      <p:ext uri="{BB962C8B-B14F-4D97-AF65-F5344CB8AC3E}">
        <p14:creationId xmlns:p14="http://schemas.microsoft.com/office/powerpoint/2010/main" val="1764296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A96976-E692-DFDA-46E3-F32EE5DED150}"/>
              </a:ext>
            </a:extLst>
          </p:cNvPr>
          <p:cNvSpPr>
            <a:spLocks noGrp="1"/>
          </p:cNvSpPr>
          <p:nvPr>
            <p:ph type="title"/>
          </p:nvPr>
        </p:nvSpPr>
        <p:spPr>
          <a:xfrm>
            <a:off x="1091203" y="1069848"/>
            <a:ext cx="6308775" cy="2049620"/>
          </a:xfrm>
        </p:spPr>
        <p:txBody>
          <a:bodyPr>
            <a:normAutofit/>
          </a:bodyPr>
          <a:lstStyle/>
          <a:p>
            <a:r>
              <a:rPr lang="en-US" sz="6000"/>
              <a:t>Computer Vision</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3848295-FD81-D120-02FF-711595AC40FF}"/>
              </a:ext>
            </a:extLst>
          </p:cNvPr>
          <p:cNvSpPr>
            <a:spLocks noGrp="1"/>
          </p:cNvSpPr>
          <p:nvPr>
            <p:ph idx="1"/>
          </p:nvPr>
        </p:nvSpPr>
        <p:spPr>
          <a:xfrm>
            <a:off x="1097280" y="3180522"/>
            <a:ext cx="6223996" cy="3105978"/>
          </a:xfrm>
        </p:spPr>
        <p:txBody>
          <a:bodyPr>
            <a:normAutofit/>
          </a:bodyPr>
          <a:lstStyle/>
          <a:p>
            <a:r>
              <a:rPr lang="en-US"/>
              <a:t>A field of AI that enables machines to interpret and understand visual information from the world,  images and videos.</a:t>
            </a:r>
          </a:p>
          <a:p>
            <a:r>
              <a:rPr lang="en-US"/>
              <a:t>Example: Self-driving cars detecting pedestrians and traffic signs</a:t>
            </a:r>
          </a:p>
        </p:txBody>
      </p:sp>
      <p:pic>
        <p:nvPicPr>
          <p:cNvPr id="5" name="Picture 4" descr="Display with stock market charts">
            <a:extLst>
              <a:ext uri="{FF2B5EF4-FFF2-40B4-BE49-F238E27FC236}">
                <a16:creationId xmlns:a16="http://schemas.microsoft.com/office/drawing/2014/main" id="{05D653C7-7B0C-E53F-2113-2CE5BA5A7AD4}"/>
              </a:ext>
            </a:extLst>
          </p:cNvPr>
          <p:cNvPicPr>
            <a:picLocks noChangeAspect="1"/>
          </p:cNvPicPr>
          <p:nvPr/>
        </p:nvPicPr>
        <p:blipFill>
          <a:blip r:embed="rId2"/>
          <a:srcRect l="50699" r="13701" b="-1"/>
          <a:stretch/>
        </p:blipFill>
        <p:spPr>
          <a:xfrm>
            <a:off x="8534400" y="10"/>
            <a:ext cx="3657601" cy="6857990"/>
          </a:xfrm>
          <a:prstGeom prst="rect">
            <a:avLst/>
          </a:prstGeom>
        </p:spPr>
      </p:pic>
    </p:spTree>
    <p:extLst>
      <p:ext uri="{BB962C8B-B14F-4D97-AF65-F5344CB8AC3E}">
        <p14:creationId xmlns:p14="http://schemas.microsoft.com/office/powerpoint/2010/main" val="3581232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1D5413-5D50-A8FF-BB37-055C38AC92D4}"/>
              </a:ext>
            </a:extLst>
          </p:cNvPr>
          <p:cNvSpPr>
            <a:spLocks noGrp="1"/>
          </p:cNvSpPr>
          <p:nvPr>
            <p:ph type="title"/>
          </p:nvPr>
        </p:nvSpPr>
        <p:spPr>
          <a:xfrm>
            <a:off x="1091203" y="1069848"/>
            <a:ext cx="6308775" cy="2049620"/>
          </a:xfrm>
        </p:spPr>
        <p:txBody>
          <a:bodyPr>
            <a:normAutofit/>
          </a:bodyPr>
          <a:lstStyle/>
          <a:p>
            <a:r>
              <a:rPr lang="en-US" sz="5600"/>
              <a:t>Natural Language Processing (NLP)</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AAF863D-8998-613A-09AB-5CCAF82CA4D0}"/>
              </a:ext>
            </a:extLst>
          </p:cNvPr>
          <p:cNvSpPr>
            <a:spLocks noGrp="1"/>
          </p:cNvSpPr>
          <p:nvPr>
            <p:ph idx="1"/>
          </p:nvPr>
        </p:nvSpPr>
        <p:spPr>
          <a:xfrm>
            <a:off x="1097280" y="3180522"/>
            <a:ext cx="6223996" cy="3105978"/>
          </a:xfrm>
        </p:spPr>
        <p:txBody>
          <a:bodyPr>
            <a:normAutofit/>
          </a:bodyPr>
          <a:lstStyle/>
          <a:p>
            <a:r>
              <a:rPr lang="en-US"/>
              <a:t>The branch of AI focused on enabling machines to understand, interpret, generate, and respond to human language.</a:t>
            </a:r>
          </a:p>
          <a:p>
            <a:r>
              <a:rPr lang="en-US"/>
              <a:t>Example: Chatbots, translation tools, and sentiment analysis</a:t>
            </a:r>
          </a:p>
        </p:txBody>
      </p:sp>
      <p:pic>
        <p:nvPicPr>
          <p:cNvPr id="5" name="Picture 4" descr="Toy robots shaking hands">
            <a:extLst>
              <a:ext uri="{FF2B5EF4-FFF2-40B4-BE49-F238E27FC236}">
                <a16:creationId xmlns:a16="http://schemas.microsoft.com/office/drawing/2014/main" id="{5072A68C-52A9-FEB7-B020-8F204A72033E}"/>
              </a:ext>
            </a:extLst>
          </p:cNvPr>
          <p:cNvPicPr>
            <a:picLocks noChangeAspect="1"/>
          </p:cNvPicPr>
          <p:nvPr/>
        </p:nvPicPr>
        <p:blipFill>
          <a:blip r:embed="rId2"/>
          <a:srcRect l="39948" r="24585"/>
          <a:stretch/>
        </p:blipFill>
        <p:spPr>
          <a:xfrm>
            <a:off x="8534400" y="10"/>
            <a:ext cx="3657601" cy="6857990"/>
          </a:xfrm>
          <a:prstGeom prst="rect">
            <a:avLst/>
          </a:prstGeom>
        </p:spPr>
      </p:pic>
    </p:spTree>
    <p:extLst>
      <p:ext uri="{BB962C8B-B14F-4D97-AF65-F5344CB8AC3E}">
        <p14:creationId xmlns:p14="http://schemas.microsoft.com/office/powerpoint/2010/main" val="1313583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CC6677-2DB5-23FB-906F-B1FA486D6F82}"/>
              </a:ext>
            </a:extLst>
          </p:cNvPr>
          <p:cNvSpPr>
            <a:spLocks noGrp="1"/>
          </p:cNvSpPr>
          <p:nvPr>
            <p:ph type="title"/>
          </p:nvPr>
        </p:nvSpPr>
        <p:spPr>
          <a:xfrm>
            <a:off x="1091203" y="1069848"/>
            <a:ext cx="6308775" cy="2049620"/>
          </a:xfrm>
        </p:spPr>
        <p:txBody>
          <a:bodyPr>
            <a:normAutofit/>
          </a:bodyPr>
          <a:lstStyle/>
          <a:p>
            <a:r>
              <a:rPr lang="en-US" sz="6000"/>
              <a:t>Large Language Models (LLM)</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5E5C788-0121-7E2D-FD52-6F4EAA4BCC81}"/>
              </a:ext>
            </a:extLst>
          </p:cNvPr>
          <p:cNvSpPr>
            <a:spLocks noGrp="1"/>
          </p:cNvSpPr>
          <p:nvPr>
            <p:ph idx="1"/>
          </p:nvPr>
        </p:nvSpPr>
        <p:spPr>
          <a:xfrm>
            <a:off x="1097280" y="3180522"/>
            <a:ext cx="6223996" cy="3105978"/>
          </a:xfrm>
        </p:spPr>
        <p:txBody>
          <a:bodyPr>
            <a:normAutofit/>
          </a:bodyPr>
          <a:lstStyle/>
          <a:p>
            <a:r>
              <a:rPr lang="en-US" dirty="0"/>
              <a:t>A type of AI that uses vast amounts of text data to learn and generate human-like language.</a:t>
            </a:r>
          </a:p>
          <a:p>
            <a:r>
              <a:rPr lang="en-US" dirty="0"/>
              <a:t>IT can understand, summarize, translate, and create new text based on the input it receives.</a:t>
            </a:r>
          </a:p>
          <a:p>
            <a:r>
              <a:rPr lang="en-US" dirty="0"/>
              <a:t>Example: ChatGPT, Grok, Google Gemini</a:t>
            </a:r>
          </a:p>
        </p:txBody>
      </p:sp>
      <p:pic>
        <p:nvPicPr>
          <p:cNvPr id="5" name="Picture 4">
            <a:extLst>
              <a:ext uri="{FF2B5EF4-FFF2-40B4-BE49-F238E27FC236}">
                <a16:creationId xmlns:a16="http://schemas.microsoft.com/office/drawing/2014/main" id="{C374911C-756F-4377-5519-6A2226B6B908}"/>
              </a:ext>
            </a:extLst>
          </p:cNvPr>
          <p:cNvPicPr>
            <a:picLocks noChangeAspect="1"/>
          </p:cNvPicPr>
          <p:nvPr/>
        </p:nvPicPr>
        <p:blipFill>
          <a:blip r:embed="rId2"/>
          <a:srcRect l="7912" r="56488" b="-1"/>
          <a:stretch/>
        </p:blipFill>
        <p:spPr>
          <a:xfrm>
            <a:off x="8534400" y="10"/>
            <a:ext cx="3657601" cy="6857990"/>
          </a:xfrm>
          <a:prstGeom prst="rect">
            <a:avLst/>
          </a:prstGeom>
        </p:spPr>
      </p:pic>
    </p:spTree>
    <p:extLst>
      <p:ext uri="{BB962C8B-B14F-4D97-AF65-F5344CB8AC3E}">
        <p14:creationId xmlns:p14="http://schemas.microsoft.com/office/powerpoint/2010/main" val="2927168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1C1F02-0CA5-E22F-2C08-ABF3FC7F7456}"/>
              </a:ext>
            </a:extLst>
          </p:cNvPr>
          <p:cNvSpPr>
            <a:spLocks noGrp="1"/>
          </p:cNvSpPr>
          <p:nvPr>
            <p:ph type="title"/>
          </p:nvPr>
        </p:nvSpPr>
        <p:spPr>
          <a:xfrm>
            <a:off x="1091203" y="1069848"/>
            <a:ext cx="6308775" cy="2049620"/>
          </a:xfrm>
        </p:spPr>
        <p:txBody>
          <a:bodyPr>
            <a:normAutofit/>
          </a:bodyPr>
          <a:lstStyle/>
          <a:p>
            <a:r>
              <a:rPr lang="en-US" sz="4700"/>
              <a:t>Generative Pre-trained Transformer (GPT)</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0B6A8F2-3F18-2761-D4D8-8E6A59B09871}"/>
              </a:ext>
            </a:extLst>
          </p:cNvPr>
          <p:cNvSpPr>
            <a:spLocks noGrp="1"/>
          </p:cNvSpPr>
          <p:nvPr>
            <p:ph idx="1"/>
          </p:nvPr>
        </p:nvSpPr>
        <p:spPr>
          <a:xfrm>
            <a:off x="1097280" y="3180522"/>
            <a:ext cx="6223996" cy="3105978"/>
          </a:xfrm>
        </p:spPr>
        <p:txBody>
          <a:bodyPr>
            <a:normAutofit/>
          </a:bodyPr>
          <a:lstStyle/>
          <a:p>
            <a:pPr>
              <a:lnSpc>
                <a:spcPct val="120000"/>
              </a:lnSpc>
            </a:pPr>
            <a:r>
              <a:rPr lang="en-US" sz="1300" dirty="0"/>
              <a:t>GPT is a specific type of LLM developed by  OpenAI. It uses a neural network architecture called a Transformer and is trained </a:t>
            </a:r>
            <a:r>
              <a:rPr lang="en-US" sz="1300"/>
              <a:t>on massive </a:t>
            </a:r>
            <a:r>
              <a:rPr lang="en-US" sz="1300" dirty="0"/>
              <a:t>datasets to generate text that’s coherent and contextually appropriate.</a:t>
            </a:r>
          </a:p>
          <a:p>
            <a:pPr>
              <a:lnSpc>
                <a:spcPct val="120000"/>
              </a:lnSpc>
            </a:pPr>
            <a:r>
              <a:rPr lang="en-US" sz="1300" dirty="0"/>
              <a:t>Generative: It can produce new content</a:t>
            </a:r>
          </a:p>
          <a:p>
            <a:pPr>
              <a:lnSpc>
                <a:spcPct val="120000"/>
              </a:lnSpc>
            </a:pPr>
            <a:r>
              <a:rPr lang="en-US" sz="1300" dirty="0"/>
              <a:t>Pre-trained: it learns from a broad range of texts before fine-tuning</a:t>
            </a:r>
          </a:p>
          <a:p>
            <a:pPr>
              <a:lnSpc>
                <a:spcPct val="120000"/>
              </a:lnSpc>
            </a:pPr>
            <a:r>
              <a:rPr lang="en-US" sz="1300" dirty="0"/>
              <a:t>Transformer: a model architecture that’s capable at handling the nuances of language</a:t>
            </a:r>
          </a:p>
          <a:p>
            <a:pPr>
              <a:lnSpc>
                <a:spcPct val="120000"/>
              </a:lnSpc>
            </a:pPr>
            <a:r>
              <a:rPr lang="en-US" sz="1300" dirty="0"/>
              <a:t>Example: GPT -4 can answer questions, write code, or simulate conversations</a:t>
            </a:r>
          </a:p>
        </p:txBody>
      </p:sp>
      <p:pic>
        <p:nvPicPr>
          <p:cNvPr id="5" name="Picture 4">
            <a:extLst>
              <a:ext uri="{FF2B5EF4-FFF2-40B4-BE49-F238E27FC236}">
                <a16:creationId xmlns:a16="http://schemas.microsoft.com/office/drawing/2014/main" id="{0EBB1A2F-4459-740E-12B0-27F0C900C18B}"/>
              </a:ext>
            </a:extLst>
          </p:cNvPr>
          <p:cNvPicPr>
            <a:picLocks noChangeAspect="1"/>
          </p:cNvPicPr>
          <p:nvPr/>
        </p:nvPicPr>
        <p:blipFill>
          <a:blip r:embed="rId2"/>
          <a:srcRect l="17103" r="47296" b="-1"/>
          <a:stretch/>
        </p:blipFill>
        <p:spPr>
          <a:xfrm>
            <a:off x="8534400" y="10"/>
            <a:ext cx="3657601" cy="6857990"/>
          </a:xfrm>
          <a:prstGeom prst="rect">
            <a:avLst/>
          </a:prstGeom>
        </p:spPr>
      </p:pic>
    </p:spTree>
    <p:extLst>
      <p:ext uri="{BB962C8B-B14F-4D97-AF65-F5344CB8AC3E}">
        <p14:creationId xmlns:p14="http://schemas.microsoft.com/office/powerpoint/2010/main" val="3256247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BCAC8-A84A-F716-0162-569E4E20E0D9}"/>
              </a:ext>
            </a:extLst>
          </p:cNvPr>
          <p:cNvSpPr>
            <a:spLocks noGrp="1"/>
          </p:cNvSpPr>
          <p:nvPr>
            <p:ph type="title"/>
          </p:nvPr>
        </p:nvSpPr>
        <p:spPr/>
        <p:txBody>
          <a:bodyPr/>
          <a:lstStyle/>
          <a:p>
            <a:r>
              <a:rPr lang="en-US" dirty="0" err="1"/>
              <a:t>Floridi’s</a:t>
            </a:r>
            <a:r>
              <a:rPr lang="en-US" dirty="0"/>
              <a:t> Five Pillars of Ethical AI</a:t>
            </a:r>
          </a:p>
        </p:txBody>
      </p:sp>
      <p:graphicFrame>
        <p:nvGraphicFramePr>
          <p:cNvPr id="4" name="Content Placeholder 3">
            <a:extLst>
              <a:ext uri="{FF2B5EF4-FFF2-40B4-BE49-F238E27FC236}">
                <a16:creationId xmlns:a16="http://schemas.microsoft.com/office/drawing/2014/main" id="{C698AAA7-5CE5-38C9-DC2C-4DFACAB45B1F}"/>
              </a:ext>
            </a:extLst>
          </p:cNvPr>
          <p:cNvGraphicFramePr>
            <a:graphicFrameLocks noGrp="1"/>
          </p:cNvGraphicFramePr>
          <p:nvPr>
            <p:ph idx="1"/>
            <p:extLst>
              <p:ext uri="{D42A27DB-BD31-4B8C-83A1-F6EECF244321}">
                <p14:modId xmlns:p14="http://schemas.microsoft.com/office/powerpoint/2010/main" val="3219812912"/>
              </p:ext>
            </p:extLst>
          </p:nvPr>
        </p:nvGraphicFramePr>
        <p:xfrm>
          <a:off x="1087438" y="2447925"/>
          <a:ext cx="9923462" cy="3838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3888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5E9F5C-9DB1-0D84-8AED-5E6865E52309}"/>
              </a:ext>
            </a:extLst>
          </p:cNvPr>
          <p:cNvSpPr>
            <a:spLocks noGrp="1"/>
          </p:cNvSpPr>
          <p:nvPr>
            <p:ph type="title"/>
          </p:nvPr>
        </p:nvSpPr>
        <p:spPr>
          <a:xfrm>
            <a:off x="1091203" y="1069848"/>
            <a:ext cx="6308775" cy="2049620"/>
          </a:xfrm>
        </p:spPr>
        <p:txBody>
          <a:bodyPr>
            <a:normAutofit/>
          </a:bodyPr>
          <a:lstStyle/>
          <a:p>
            <a:r>
              <a:rPr lang="en-US" sz="6000"/>
              <a:t>Beneficence</a:t>
            </a:r>
          </a:p>
        </p:txBody>
      </p:sp>
      <p:cxnSp>
        <p:nvCxnSpPr>
          <p:cNvPr id="7" name="Straight Connector 6">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9F53BA3-586E-7D32-359B-85CDFCADB57F}"/>
              </a:ext>
            </a:extLst>
          </p:cNvPr>
          <p:cNvSpPr>
            <a:spLocks noGrp="1"/>
          </p:cNvSpPr>
          <p:nvPr>
            <p:ph idx="1"/>
          </p:nvPr>
        </p:nvSpPr>
        <p:spPr>
          <a:xfrm>
            <a:off x="1097280" y="3180522"/>
            <a:ext cx="6223996" cy="3105978"/>
          </a:xfrm>
        </p:spPr>
        <p:txBody>
          <a:bodyPr>
            <a:normAutofit/>
          </a:bodyPr>
          <a:lstStyle/>
          <a:p>
            <a:r>
              <a:rPr lang="en-US" dirty="0"/>
              <a:t>The principle of Beneficence promotes Well-Being, Dignity, and Sustainability</a:t>
            </a:r>
          </a:p>
          <a:p>
            <a:r>
              <a:rPr lang="en-US" b="1" dirty="0"/>
              <a:t>Well-being of living things:  </a:t>
            </a:r>
            <a:r>
              <a:rPr lang="en-US" dirty="0"/>
              <a:t>AI should not only serve humans but also consider the welfare of all sentient beings that might be affected (humans, animals, and potentially other entities). This broadens the ethical scope beyond human-centered benefits.</a:t>
            </a:r>
          </a:p>
        </p:txBody>
      </p:sp>
      <p:pic>
        <p:nvPicPr>
          <p:cNvPr id="8" name="Picture 7" descr="A cropped image of a person touching a plant">
            <a:extLst>
              <a:ext uri="{FF2B5EF4-FFF2-40B4-BE49-F238E27FC236}">
                <a16:creationId xmlns:a16="http://schemas.microsoft.com/office/drawing/2014/main" id="{77BAE1AA-0372-6F2F-27D9-69A780CFAA6D}"/>
              </a:ext>
            </a:extLst>
          </p:cNvPr>
          <p:cNvPicPr>
            <a:picLocks noChangeAspect="1"/>
          </p:cNvPicPr>
          <p:nvPr/>
        </p:nvPicPr>
        <p:blipFill>
          <a:blip r:embed="rId2"/>
          <a:srcRect l="30724" r="33676" b="-1"/>
          <a:stretch>
            <a:fillRect/>
          </a:stretch>
        </p:blipFill>
        <p:spPr>
          <a:xfrm>
            <a:off x="8534400" y="10"/>
            <a:ext cx="3657601" cy="6857990"/>
          </a:xfrm>
          <a:prstGeom prst="rect">
            <a:avLst/>
          </a:prstGeom>
        </p:spPr>
      </p:pic>
    </p:spTree>
    <p:extLst>
      <p:ext uri="{BB962C8B-B14F-4D97-AF65-F5344CB8AC3E}">
        <p14:creationId xmlns:p14="http://schemas.microsoft.com/office/powerpoint/2010/main" val="3366925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933FC1-92D5-D6C0-9075-4A29B903111E}"/>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E45B2387-2C86-F252-1FA9-801E36D7A7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52FE72-E40C-E875-B7C1-71AB7C1D73AE}"/>
              </a:ext>
            </a:extLst>
          </p:cNvPr>
          <p:cNvSpPr>
            <a:spLocks noGrp="1"/>
          </p:cNvSpPr>
          <p:nvPr>
            <p:ph type="title"/>
          </p:nvPr>
        </p:nvSpPr>
        <p:spPr>
          <a:xfrm>
            <a:off x="1091203" y="1069848"/>
            <a:ext cx="6308775" cy="2049620"/>
          </a:xfrm>
        </p:spPr>
        <p:txBody>
          <a:bodyPr>
            <a:normAutofit/>
          </a:bodyPr>
          <a:lstStyle/>
          <a:p>
            <a:r>
              <a:rPr lang="en-US" sz="6000"/>
              <a:t>Beneficence</a:t>
            </a:r>
          </a:p>
        </p:txBody>
      </p:sp>
      <p:cxnSp>
        <p:nvCxnSpPr>
          <p:cNvPr id="7" name="Straight Connector 6">
            <a:extLst>
              <a:ext uri="{FF2B5EF4-FFF2-40B4-BE49-F238E27FC236}">
                <a16:creationId xmlns:a16="http://schemas.microsoft.com/office/drawing/2014/main" id="{9E4A41A4-333B-D219-E9DB-AAB3D32CFC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A7B1652-0728-01FA-9A67-B6F119315FA5}"/>
              </a:ext>
            </a:extLst>
          </p:cNvPr>
          <p:cNvSpPr>
            <a:spLocks noGrp="1"/>
          </p:cNvSpPr>
          <p:nvPr>
            <p:ph idx="1"/>
          </p:nvPr>
        </p:nvSpPr>
        <p:spPr>
          <a:xfrm>
            <a:off x="1097280" y="3180522"/>
            <a:ext cx="6223996" cy="3105978"/>
          </a:xfrm>
        </p:spPr>
        <p:txBody>
          <a:bodyPr>
            <a:normAutofit fontScale="92500" lnSpcReduction="10000"/>
          </a:bodyPr>
          <a:lstStyle/>
          <a:p>
            <a:r>
              <a:rPr lang="en-US" b="1" dirty="0"/>
              <a:t>Human Dignity: </a:t>
            </a:r>
            <a:r>
              <a:rPr lang="en-US" dirty="0"/>
              <a:t>AI systems should respect individuals as ends in themselves, not merely as means. For example, AI in employment should enhance workers’ abilities rather than reducing them to data points or replaceable resources.</a:t>
            </a:r>
          </a:p>
          <a:p>
            <a:r>
              <a:rPr lang="en-US" b="1" dirty="0"/>
              <a:t>Sustainability: </a:t>
            </a:r>
            <a:r>
              <a:rPr lang="en-US" dirty="0"/>
              <a:t>AI development must align with ecological responsibility. Beyond short-term economic gain, it should preserve environmental stability, minimize carbon footprints, and ensure resources for future generations.</a:t>
            </a:r>
          </a:p>
        </p:txBody>
      </p:sp>
      <p:pic>
        <p:nvPicPr>
          <p:cNvPr id="8" name="Picture 7" descr="A cropped image of a person touching a plant">
            <a:extLst>
              <a:ext uri="{FF2B5EF4-FFF2-40B4-BE49-F238E27FC236}">
                <a16:creationId xmlns:a16="http://schemas.microsoft.com/office/drawing/2014/main" id="{E328B724-E3C0-A20A-D0F1-EF72FE7D66F0}"/>
              </a:ext>
            </a:extLst>
          </p:cNvPr>
          <p:cNvPicPr>
            <a:picLocks noChangeAspect="1"/>
          </p:cNvPicPr>
          <p:nvPr/>
        </p:nvPicPr>
        <p:blipFill>
          <a:blip r:embed="rId2"/>
          <a:srcRect l="30724" r="33676" b="-1"/>
          <a:stretch>
            <a:fillRect/>
          </a:stretch>
        </p:blipFill>
        <p:spPr>
          <a:xfrm>
            <a:off x="8534400" y="10"/>
            <a:ext cx="3657601" cy="6857990"/>
          </a:xfrm>
          <a:prstGeom prst="rect">
            <a:avLst/>
          </a:prstGeom>
        </p:spPr>
      </p:pic>
    </p:spTree>
    <p:extLst>
      <p:ext uri="{BB962C8B-B14F-4D97-AF65-F5344CB8AC3E}">
        <p14:creationId xmlns:p14="http://schemas.microsoft.com/office/powerpoint/2010/main" val="3073008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49EE2-1B29-1360-8FF8-A916FDCB0E03}"/>
              </a:ext>
            </a:extLst>
          </p:cNvPr>
          <p:cNvSpPr>
            <a:spLocks noGrp="1"/>
          </p:cNvSpPr>
          <p:nvPr>
            <p:ph type="title"/>
          </p:nvPr>
        </p:nvSpPr>
        <p:spPr/>
        <p:txBody>
          <a:bodyPr/>
          <a:lstStyle/>
          <a:p>
            <a:r>
              <a:rPr lang="en-US" dirty="0"/>
              <a:t>Nonmaleficence (Do No Harm)</a:t>
            </a:r>
          </a:p>
        </p:txBody>
      </p:sp>
      <p:sp>
        <p:nvSpPr>
          <p:cNvPr id="3" name="Content Placeholder 2">
            <a:extLst>
              <a:ext uri="{FF2B5EF4-FFF2-40B4-BE49-F238E27FC236}">
                <a16:creationId xmlns:a16="http://schemas.microsoft.com/office/drawing/2014/main" id="{1D4B0D06-9102-ED2E-AE1B-E7E5C587205E}"/>
              </a:ext>
            </a:extLst>
          </p:cNvPr>
          <p:cNvSpPr>
            <a:spLocks noGrp="1"/>
          </p:cNvSpPr>
          <p:nvPr>
            <p:ph idx="1"/>
          </p:nvPr>
        </p:nvSpPr>
        <p:spPr/>
        <p:txBody>
          <a:bodyPr>
            <a:normAutofit lnSpcReduction="10000"/>
          </a:bodyPr>
          <a:lstStyle/>
          <a:p>
            <a:r>
              <a:rPr lang="en-US" b="1" dirty="0"/>
              <a:t>Data Protection: </a:t>
            </a:r>
          </a:p>
          <a:p>
            <a:pPr lvl="1"/>
            <a:r>
              <a:rPr lang="en-US" dirty="0"/>
              <a:t>AI must safeguard sensitive data, avoid mass surveillance, and prevent the erosion of personal identity.</a:t>
            </a:r>
          </a:p>
          <a:p>
            <a:pPr lvl="1"/>
            <a:r>
              <a:rPr lang="en-US" dirty="0"/>
              <a:t>AI should be designed to resist hacking and misuse. Unsecured AI in critical systems (e.g., power grids, healthcare devices) could have catastrophic consequences</a:t>
            </a:r>
          </a:p>
          <a:p>
            <a:r>
              <a:rPr lang="en-US" b="1" dirty="0"/>
              <a:t>Avoiding AI Arms Race and Capability Caution:</a:t>
            </a:r>
          </a:p>
          <a:p>
            <a:pPr lvl="1"/>
            <a:r>
              <a:rPr lang="en-US" dirty="0"/>
              <a:t>The Asilomar Principles warn against the militarization of AI and uncontrolled self-improvement (leading to ASI) that could spiral into unpredictable dangers.</a:t>
            </a:r>
          </a:p>
          <a:p>
            <a:pPr lvl="1"/>
            <a:r>
              <a:rPr lang="en-US" dirty="0"/>
              <a:t>Ethical governance is needed to prevent AI from being exploited in harmful geopolitical competitions.</a:t>
            </a:r>
          </a:p>
          <a:p>
            <a:endParaRPr lang="en-US" dirty="0"/>
          </a:p>
        </p:txBody>
      </p:sp>
    </p:spTree>
    <p:extLst>
      <p:ext uri="{BB962C8B-B14F-4D97-AF65-F5344CB8AC3E}">
        <p14:creationId xmlns:p14="http://schemas.microsoft.com/office/powerpoint/2010/main" val="1715538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EC5195-F216-EC6C-38B6-2C69A061B6A9}"/>
              </a:ext>
            </a:extLst>
          </p:cNvPr>
          <p:cNvSpPr>
            <a:spLocks noGrp="1"/>
          </p:cNvSpPr>
          <p:nvPr>
            <p:ph type="title"/>
          </p:nvPr>
        </p:nvSpPr>
        <p:spPr>
          <a:xfrm>
            <a:off x="1091203" y="1069848"/>
            <a:ext cx="6308775" cy="2049620"/>
          </a:xfrm>
        </p:spPr>
        <p:txBody>
          <a:bodyPr>
            <a:normAutofit/>
          </a:bodyPr>
          <a:lstStyle/>
          <a:p>
            <a:r>
              <a:rPr lang="en-US" sz="5100"/>
              <a:t>Human Autonomy and Control</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27D4197-882E-0BE7-FA70-D7164EDF7F06}"/>
              </a:ext>
            </a:extLst>
          </p:cNvPr>
          <p:cNvSpPr>
            <a:spLocks noGrp="1"/>
          </p:cNvSpPr>
          <p:nvPr>
            <p:ph idx="1"/>
          </p:nvPr>
        </p:nvSpPr>
        <p:spPr>
          <a:xfrm>
            <a:off x="1097280" y="3180522"/>
            <a:ext cx="6223996" cy="3105978"/>
          </a:xfrm>
        </p:spPr>
        <p:txBody>
          <a:bodyPr>
            <a:normAutofit/>
          </a:bodyPr>
          <a:lstStyle/>
          <a:p>
            <a:pPr>
              <a:lnSpc>
                <a:spcPct val="120000"/>
              </a:lnSpc>
            </a:pPr>
            <a:r>
              <a:rPr lang="en-US" sz="1500" b="1"/>
              <a:t>Human autonomy: </a:t>
            </a:r>
            <a:r>
              <a:rPr lang="en-US" sz="1500"/>
              <a:t>An individual’s ability to make independent, informed decisions without undue influence or manipulation by AI systems. </a:t>
            </a:r>
          </a:p>
          <a:p>
            <a:pPr>
              <a:lnSpc>
                <a:spcPct val="120000"/>
              </a:lnSpc>
            </a:pPr>
            <a:r>
              <a:rPr lang="en-US" sz="1500"/>
              <a:t>It’s about ensuring that people remain in control of their lives and that AI does not override, coerce, or manipulate them</a:t>
            </a:r>
          </a:p>
          <a:p>
            <a:pPr>
              <a:lnSpc>
                <a:spcPct val="120000"/>
              </a:lnSpc>
            </a:pPr>
            <a:r>
              <a:rPr lang="en-US" sz="1500" b="1"/>
              <a:t>Human control: </a:t>
            </a:r>
            <a:r>
              <a:rPr lang="en-US" sz="1500"/>
              <a:t>Refer to the oversight and governance mechanisms that ensure humans can supervise, guide, override, or stop AI systems, especially in high-risk situations</a:t>
            </a:r>
          </a:p>
        </p:txBody>
      </p:sp>
      <p:pic>
        <p:nvPicPr>
          <p:cNvPr id="5" name="Picture 4" descr="One in a crowd">
            <a:extLst>
              <a:ext uri="{FF2B5EF4-FFF2-40B4-BE49-F238E27FC236}">
                <a16:creationId xmlns:a16="http://schemas.microsoft.com/office/drawing/2014/main" id="{522ED895-A082-72D2-D81B-4E9CD99FECCD}"/>
              </a:ext>
            </a:extLst>
          </p:cNvPr>
          <p:cNvPicPr>
            <a:picLocks noChangeAspect="1"/>
          </p:cNvPicPr>
          <p:nvPr/>
        </p:nvPicPr>
        <p:blipFill>
          <a:blip r:embed="rId2"/>
          <a:srcRect l="34095" r="25905"/>
          <a:stretch/>
        </p:blipFill>
        <p:spPr>
          <a:xfrm>
            <a:off x="8534400" y="10"/>
            <a:ext cx="3657601" cy="6857990"/>
          </a:xfrm>
          <a:prstGeom prst="rect">
            <a:avLst/>
          </a:prstGeom>
        </p:spPr>
      </p:pic>
    </p:spTree>
    <p:extLst>
      <p:ext uri="{BB962C8B-B14F-4D97-AF65-F5344CB8AC3E}">
        <p14:creationId xmlns:p14="http://schemas.microsoft.com/office/powerpoint/2010/main" val="3389448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B2AA4-F478-C226-EF8F-C26C969FD3F0}"/>
              </a:ext>
            </a:extLst>
          </p:cNvPr>
          <p:cNvSpPr>
            <a:spLocks noGrp="1"/>
          </p:cNvSpPr>
          <p:nvPr>
            <p:ph type="title"/>
          </p:nvPr>
        </p:nvSpPr>
        <p:spPr/>
        <p:txBody>
          <a:bodyPr/>
          <a:lstStyle/>
          <a:p>
            <a:r>
              <a:rPr lang="en-US" dirty="0"/>
              <a:t>Levels of Human Control</a:t>
            </a:r>
          </a:p>
        </p:txBody>
      </p:sp>
      <p:sp>
        <p:nvSpPr>
          <p:cNvPr id="3" name="Content Placeholder 2">
            <a:extLst>
              <a:ext uri="{FF2B5EF4-FFF2-40B4-BE49-F238E27FC236}">
                <a16:creationId xmlns:a16="http://schemas.microsoft.com/office/drawing/2014/main" id="{95264433-6FA7-0084-FE6B-CA43EBD75A47}"/>
              </a:ext>
            </a:extLst>
          </p:cNvPr>
          <p:cNvSpPr>
            <a:spLocks noGrp="1"/>
          </p:cNvSpPr>
          <p:nvPr>
            <p:ph idx="1"/>
          </p:nvPr>
        </p:nvSpPr>
        <p:spPr/>
        <p:txBody>
          <a:bodyPr>
            <a:normAutofit fontScale="85000" lnSpcReduction="10000"/>
          </a:bodyPr>
          <a:lstStyle/>
          <a:p>
            <a:pPr marL="342900" indent="-342900">
              <a:buFont typeface="+mj-lt"/>
              <a:buAutoNum type="arabicPeriod"/>
            </a:pPr>
            <a:r>
              <a:rPr lang="en-US" b="1" dirty="0"/>
              <a:t>Human-in-the-loop (HITL): </a:t>
            </a:r>
            <a:r>
              <a:rPr lang="en-US" dirty="0"/>
              <a:t>AI assists, but a human makes the final decision. AI provides inputs or recommendations</a:t>
            </a:r>
          </a:p>
          <a:p>
            <a:pPr marL="274320" lvl="1" indent="0">
              <a:buNone/>
            </a:pPr>
            <a:r>
              <a:rPr lang="en-US" b="1" dirty="0"/>
              <a:t>Example: </a:t>
            </a:r>
            <a:r>
              <a:rPr lang="en-US" dirty="0"/>
              <a:t>An AI model analyzes a chest X-ray and flags potential pneumonia, but the radiologist makes the final diagnosis</a:t>
            </a:r>
          </a:p>
          <a:p>
            <a:pPr marL="342900" indent="-342900">
              <a:buFont typeface="+mj-lt"/>
              <a:buAutoNum type="arabicPeriod"/>
            </a:pPr>
            <a:r>
              <a:rPr lang="en-US" b="1" dirty="0"/>
              <a:t>Human-on-the-loop (HOTL): </a:t>
            </a:r>
            <a:r>
              <a:rPr lang="en-US" dirty="0"/>
              <a:t>The AI system acts autonomously, but a human monitors its performance and can intervene or override if necessary</a:t>
            </a:r>
          </a:p>
          <a:p>
            <a:pPr marL="274320" lvl="1" indent="0">
              <a:buNone/>
            </a:pPr>
            <a:r>
              <a:rPr lang="en-US" b="1"/>
              <a:t>Example: </a:t>
            </a:r>
            <a:r>
              <a:rPr lang="en-US"/>
              <a:t>A self-driving car navigates roads independently, but the human driver can take control at any time.</a:t>
            </a:r>
          </a:p>
          <a:p>
            <a:pPr marL="342900" indent="-342900">
              <a:buFont typeface="+mj-lt"/>
              <a:buAutoNum type="arabicPeriod"/>
            </a:pPr>
            <a:r>
              <a:rPr lang="en-US" b="1"/>
              <a:t>Human-out-of-the-loop (HOOTL): </a:t>
            </a:r>
            <a:r>
              <a:rPr lang="en-US"/>
              <a:t>The AI operates entirely autonomously, with no human involvement during decision-making or execution.</a:t>
            </a:r>
          </a:p>
          <a:p>
            <a:pPr marL="274320" lvl="1" indent="0">
              <a:buNone/>
            </a:pPr>
            <a:r>
              <a:rPr lang="en-US" b="1"/>
              <a:t>Example: </a:t>
            </a:r>
            <a:r>
              <a:rPr lang="en-US"/>
              <a:t>AI curates and updates social media or news feeds without any user control or review, often nudging behaviour subtly</a:t>
            </a:r>
            <a:endParaRPr lang="en-US" dirty="0"/>
          </a:p>
        </p:txBody>
      </p:sp>
    </p:spTree>
    <p:extLst>
      <p:ext uri="{BB962C8B-B14F-4D97-AF65-F5344CB8AC3E}">
        <p14:creationId xmlns:p14="http://schemas.microsoft.com/office/powerpoint/2010/main" val="2170345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C4E834-241A-C3B7-EDD6-A1952B105AB9}"/>
              </a:ext>
            </a:extLst>
          </p:cNvPr>
          <p:cNvSpPr>
            <a:spLocks noGrp="1"/>
          </p:cNvSpPr>
          <p:nvPr>
            <p:ph type="title"/>
          </p:nvPr>
        </p:nvSpPr>
        <p:spPr>
          <a:xfrm>
            <a:off x="1091203" y="1069848"/>
            <a:ext cx="6308775" cy="2049620"/>
          </a:xfrm>
        </p:spPr>
        <p:txBody>
          <a:bodyPr>
            <a:normAutofit/>
          </a:bodyPr>
          <a:lstStyle/>
          <a:p>
            <a:r>
              <a:rPr lang="en-US" sz="4700"/>
              <a:t>Risks caused by loss of autonomy or control </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495D66B-BC25-EECF-9C28-F8F93F4793F0}"/>
              </a:ext>
            </a:extLst>
          </p:cNvPr>
          <p:cNvSpPr>
            <a:spLocks noGrp="1"/>
          </p:cNvSpPr>
          <p:nvPr>
            <p:ph idx="1"/>
          </p:nvPr>
        </p:nvSpPr>
        <p:spPr>
          <a:xfrm>
            <a:off x="1097280" y="3180522"/>
            <a:ext cx="6223996" cy="3105978"/>
          </a:xfrm>
        </p:spPr>
        <p:txBody>
          <a:bodyPr>
            <a:normAutofit lnSpcReduction="10000"/>
          </a:bodyPr>
          <a:lstStyle/>
          <a:p>
            <a:r>
              <a:rPr lang="en-US" b="1" dirty="0"/>
              <a:t>Automation Bias: </a:t>
            </a:r>
            <a:r>
              <a:rPr lang="en-US" dirty="0"/>
              <a:t>People </a:t>
            </a:r>
            <a:r>
              <a:rPr lang="en-US" dirty="0" err="1"/>
              <a:t>overtrusting</a:t>
            </a:r>
            <a:r>
              <a:rPr lang="en-US" dirty="0"/>
              <a:t> AI, even when it’s wrong e.g., Doctors blindly following AI diagnostics</a:t>
            </a:r>
          </a:p>
          <a:p>
            <a:r>
              <a:rPr lang="en-US" b="1" dirty="0"/>
              <a:t>Manipulative Design: </a:t>
            </a:r>
            <a:r>
              <a:rPr lang="en-US" dirty="0"/>
              <a:t>AI nudges or persuades users without them realizing e.g., Social media algorithms driving addiction</a:t>
            </a:r>
          </a:p>
          <a:p>
            <a:r>
              <a:rPr lang="en-US" b="1" dirty="0"/>
              <a:t>Loss of meaningful choice: </a:t>
            </a:r>
            <a:r>
              <a:rPr lang="en-US" dirty="0"/>
              <a:t>AI decisions are opaque or pre-determined e.g., Personalized pricing without user consent</a:t>
            </a:r>
          </a:p>
        </p:txBody>
      </p:sp>
      <p:pic>
        <p:nvPicPr>
          <p:cNvPr id="5" name="Picture 4" descr="A robot using a laptop sitting on a blue chair">
            <a:extLst>
              <a:ext uri="{FF2B5EF4-FFF2-40B4-BE49-F238E27FC236}">
                <a16:creationId xmlns:a16="http://schemas.microsoft.com/office/drawing/2014/main" id="{BFD9340A-E75D-4B4D-E184-458CBB481AD8}"/>
              </a:ext>
            </a:extLst>
          </p:cNvPr>
          <p:cNvPicPr>
            <a:picLocks noChangeAspect="1"/>
          </p:cNvPicPr>
          <p:nvPr/>
        </p:nvPicPr>
        <p:blipFill>
          <a:blip r:embed="rId2"/>
          <a:srcRect l="62311" r="7689"/>
          <a:stretch/>
        </p:blipFill>
        <p:spPr>
          <a:xfrm>
            <a:off x="8534400" y="10"/>
            <a:ext cx="3657601" cy="6857990"/>
          </a:xfrm>
          <a:prstGeom prst="rect">
            <a:avLst/>
          </a:prstGeom>
        </p:spPr>
      </p:pic>
    </p:spTree>
    <p:extLst>
      <p:ext uri="{BB962C8B-B14F-4D97-AF65-F5344CB8AC3E}">
        <p14:creationId xmlns:p14="http://schemas.microsoft.com/office/powerpoint/2010/main" val="2140781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BD0D7E-41A7-09F8-603B-1D9BC280486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2E859B8-CFF7-D90F-8A04-8323E85B7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395680-67A1-23BB-4F17-DC40E7EB5490}"/>
              </a:ext>
            </a:extLst>
          </p:cNvPr>
          <p:cNvSpPr>
            <a:spLocks noGrp="1"/>
          </p:cNvSpPr>
          <p:nvPr>
            <p:ph type="title"/>
          </p:nvPr>
        </p:nvSpPr>
        <p:spPr>
          <a:xfrm>
            <a:off x="1091203" y="1069848"/>
            <a:ext cx="6308775" cy="2049620"/>
          </a:xfrm>
        </p:spPr>
        <p:txBody>
          <a:bodyPr>
            <a:normAutofit/>
          </a:bodyPr>
          <a:lstStyle/>
          <a:p>
            <a:r>
              <a:rPr lang="en-US" sz="4700"/>
              <a:t>Risks caused by loss of autonomy or control </a:t>
            </a:r>
          </a:p>
        </p:txBody>
      </p:sp>
      <p:cxnSp>
        <p:nvCxnSpPr>
          <p:cNvPr id="11" name="Straight Connector 10">
            <a:extLst>
              <a:ext uri="{FF2B5EF4-FFF2-40B4-BE49-F238E27FC236}">
                <a16:creationId xmlns:a16="http://schemas.microsoft.com/office/drawing/2014/main" id="{81CFC8ED-468D-5BA2-BE0C-673A10364B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EBE3E9E-C051-F28E-AFD9-1E0CC35C3F73}"/>
              </a:ext>
            </a:extLst>
          </p:cNvPr>
          <p:cNvSpPr>
            <a:spLocks noGrp="1"/>
          </p:cNvSpPr>
          <p:nvPr>
            <p:ph idx="1"/>
          </p:nvPr>
        </p:nvSpPr>
        <p:spPr>
          <a:xfrm>
            <a:off x="1097280" y="3180522"/>
            <a:ext cx="6223996" cy="3105978"/>
          </a:xfrm>
        </p:spPr>
        <p:txBody>
          <a:bodyPr>
            <a:normAutofit/>
          </a:bodyPr>
          <a:lstStyle/>
          <a:p>
            <a:r>
              <a:rPr lang="en-US" b="1" dirty="0"/>
              <a:t>Lack of override mechanisms: </a:t>
            </a:r>
            <a:r>
              <a:rPr lang="en-US" dirty="0"/>
              <a:t>Users can’t challenge or change an AI decision e.g., Credit scoring tools that don’t allow appeals</a:t>
            </a:r>
          </a:p>
          <a:p>
            <a:r>
              <a:rPr lang="en-US" b="1" dirty="0"/>
              <a:t>Autonomous weapons: </a:t>
            </a:r>
            <a:r>
              <a:rPr lang="en-US" dirty="0"/>
              <a:t>AI systems make life-or-death decisions with no human input e.g., Lethal drones operating without human approval</a:t>
            </a:r>
          </a:p>
        </p:txBody>
      </p:sp>
      <p:pic>
        <p:nvPicPr>
          <p:cNvPr id="5" name="Picture 4" descr="A robot using a laptop sitting on a blue chair">
            <a:extLst>
              <a:ext uri="{FF2B5EF4-FFF2-40B4-BE49-F238E27FC236}">
                <a16:creationId xmlns:a16="http://schemas.microsoft.com/office/drawing/2014/main" id="{6448D77B-55F4-0B2A-FB9B-6E4F89568F1B}"/>
              </a:ext>
            </a:extLst>
          </p:cNvPr>
          <p:cNvPicPr>
            <a:picLocks noChangeAspect="1"/>
          </p:cNvPicPr>
          <p:nvPr/>
        </p:nvPicPr>
        <p:blipFill>
          <a:blip r:embed="rId2"/>
          <a:srcRect l="62311" r="7689"/>
          <a:stretch/>
        </p:blipFill>
        <p:spPr>
          <a:xfrm>
            <a:off x="8534400" y="10"/>
            <a:ext cx="3657601" cy="6857990"/>
          </a:xfrm>
          <a:prstGeom prst="rect">
            <a:avLst/>
          </a:prstGeom>
        </p:spPr>
      </p:pic>
    </p:spTree>
    <p:extLst>
      <p:ext uri="{BB962C8B-B14F-4D97-AF65-F5344CB8AC3E}">
        <p14:creationId xmlns:p14="http://schemas.microsoft.com/office/powerpoint/2010/main" val="4090875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08C3E-97F4-B446-1636-6DAC9391B9E3}"/>
              </a:ext>
            </a:extLst>
          </p:cNvPr>
          <p:cNvSpPr>
            <a:spLocks noGrp="1"/>
          </p:cNvSpPr>
          <p:nvPr>
            <p:ph type="title"/>
          </p:nvPr>
        </p:nvSpPr>
        <p:spPr/>
        <p:txBody>
          <a:bodyPr/>
          <a:lstStyle/>
          <a:p>
            <a:r>
              <a:rPr lang="en-US" dirty="0"/>
              <a:t>Justice</a:t>
            </a:r>
          </a:p>
        </p:txBody>
      </p:sp>
      <p:sp>
        <p:nvSpPr>
          <p:cNvPr id="3" name="Content Placeholder 2">
            <a:extLst>
              <a:ext uri="{FF2B5EF4-FFF2-40B4-BE49-F238E27FC236}">
                <a16:creationId xmlns:a16="http://schemas.microsoft.com/office/drawing/2014/main" id="{9CCF629A-D122-D602-EE77-E221AD445C3A}"/>
              </a:ext>
            </a:extLst>
          </p:cNvPr>
          <p:cNvSpPr>
            <a:spLocks noGrp="1"/>
          </p:cNvSpPr>
          <p:nvPr>
            <p:ph idx="1"/>
          </p:nvPr>
        </p:nvSpPr>
        <p:spPr/>
        <p:txBody>
          <a:bodyPr/>
          <a:lstStyle/>
          <a:p>
            <a:r>
              <a:rPr lang="en-US" dirty="0"/>
              <a:t>It refers to the equitable and just treatment of individuals or groups by AI systems.</a:t>
            </a:r>
          </a:p>
          <a:p>
            <a:r>
              <a:rPr lang="en-US" dirty="0"/>
              <a:t> It means avoiding discrimination, bias, or </a:t>
            </a:r>
            <a:r>
              <a:rPr lang="en-US" dirty="0" err="1"/>
              <a:t>favouritism</a:t>
            </a:r>
            <a:r>
              <a:rPr lang="en-US" dirty="0"/>
              <a:t>, especially based on sensitive attributes like race, sex, age, or socioeconomic status. </a:t>
            </a:r>
          </a:p>
          <a:p>
            <a:r>
              <a:rPr lang="en-US" b="1" dirty="0"/>
              <a:t>Challenges: </a:t>
            </a:r>
          </a:p>
          <a:p>
            <a:r>
              <a:rPr lang="en-US" dirty="0"/>
              <a:t>AI systems can inherit and amplify biases present in the data they’re trained on.</a:t>
            </a:r>
          </a:p>
          <a:p>
            <a:r>
              <a:rPr lang="en-US" dirty="0"/>
              <a:t>Biased data can lead to discriminatory outcomes, e.g. the US court system’s use of the COMPAS algorithm which revealed racial bias in predicting reoffenders</a:t>
            </a:r>
          </a:p>
        </p:txBody>
      </p:sp>
    </p:spTree>
    <p:extLst>
      <p:ext uri="{BB962C8B-B14F-4D97-AF65-F5344CB8AC3E}">
        <p14:creationId xmlns:p14="http://schemas.microsoft.com/office/powerpoint/2010/main" val="3698692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1DAE7-6A59-92B0-BE89-F7EF549461F0}"/>
              </a:ext>
            </a:extLst>
          </p:cNvPr>
          <p:cNvSpPr>
            <a:spLocks noGrp="1"/>
          </p:cNvSpPr>
          <p:nvPr>
            <p:ph type="title"/>
          </p:nvPr>
        </p:nvSpPr>
        <p:spPr/>
        <p:txBody>
          <a:bodyPr/>
          <a:lstStyle/>
          <a:p>
            <a:r>
              <a:rPr lang="en-US" dirty="0"/>
              <a:t>Unfair AI: The COMPAS algorithm </a:t>
            </a:r>
          </a:p>
        </p:txBody>
      </p:sp>
      <p:sp>
        <p:nvSpPr>
          <p:cNvPr id="3" name="Content Placeholder 2">
            <a:extLst>
              <a:ext uri="{FF2B5EF4-FFF2-40B4-BE49-F238E27FC236}">
                <a16:creationId xmlns:a16="http://schemas.microsoft.com/office/drawing/2014/main" id="{8DA8BF34-15B3-9BD2-CC06-151FF3128570}"/>
              </a:ext>
            </a:extLst>
          </p:cNvPr>
          <p:cNvSpPr>
            <a:spLocks noGrp="1"/>
          </p:cNvSpPr>
          <p:nvPr>
            <p:ph idx="1"/>
          </p:nvPr>
        </p:nvSpPr>
        <p:spPr/>
        <p:txBody>
          <a:bodyPr/>
          <a:lstStyle/>
          <a:p>
            <a:r>
              <a:rPr lang="en-US" dirty="0"/>
              <a:t>COMPAS (Correctional Offender Management Profiling for Alternative Sanctions) is a risk assessment tool developed by </a:t>
            </a:r>
            <a:r>
              <a:rPr lang="en-US" dirty="0" err="1"/>
              <a:t>Equivant</a:t>
            </a:r>
            <a:r>
              <a:rPr lang="en-US" dirty="0"/>
              <a:t> . It’s used in the US criminal justice system to assess the likelihood that a defendant will:</a:t>
            </a:r>
          </a:p>
          <a:p>
            <a:pPr lvl="1"/>
            <a:r>
              <a:rPr lang="en-US" dirty="0"/>
              <a:t>Reoffend</a:t>
            </a:r>
          </a:p>
          <a:p>
            <a:pPr lvl="1"/>
            <a:r>
              <a:rPr lang="en-US" dirty="0"/>
              <a:t>Fail to appear in court</a:t>
            </a:r>
          </a:p>
          <a:p>
            <a:pPr lvl="1"/>
            <a:r>
              <a:rPr lang="en-US" dirty="0"/>
              <a:t>Engage in violent </a:t>
            </a:r>
            <a:r>
              <a:rPr lang="en-US" dirty="0" err="1"/>
              <a:t>behaviour</a:t>
            </a:r>
            <a:endParaRPr lang="en-US" dirty="0"/>
          </a:p>
          <a:p>
            <a:r>
              <a:rPr lang="en-US" dirty="0"/>
              <a:t>Judges use this tool to inform decisions about bail, parole, and sentencing.</a:t>
            </a:r>
          </a:p>
          <a:p>
            <a:endParaRPr lang="en-US" dirty="0"/>
          </a:p>
        </p:txBody>
      </p:sp>
    </p:spTree>
    <p:extLst>
      <p:ext uri="{BB962C8B-B14F-4D97-AF65-F5344CB8AC3E}">
        <p14:creationId xmlns:p14="http://schemas.microsoft.com/office/powerpoint/2010/main" val="1064126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8689CE0-64D2-447C-9C1F-872D111D8A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4DD10FE8-3DB7-481A-B708-9E14C9BE3A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6CA8DEE-B69D-C124-3008-FBC03308BFA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1273" b="-1"/>
          <a:stretch/>
        </p:blipFill>
        <p:spPr>
          <a:xfrm>
            <a:off x="567813" y="516194"/>
            <a:ext cx="11052687" cy="5765559"/>
          </a:xfrm>
          <a:prstGeom prst="rect">
            <a:avLst/>
          </a:prstGeom>
        </p:spPr>
      </p:pic>
    </p:spTree>
    <p:extLst>
      <p:ext uri="{BB962C8B-B14F-4D97-AF65-F5344CB8AC3E}">
        <p14:creationId xmlns:p14="http://schemas.microsoft.com/office/powerpoint/2010/main" val="87464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7CF83-E58A-AD92-0764-BD9361BCB637}"/>
              </a:ext>
            </a:extLst>
          </p:cNvPr>
          <p:cNvSpPr>
            <a:spLocks noGrp="1"/>
          </p:cNvSpPr>
          <p:nvPr>
            <p:ph type="title"/>
          </p:nvPr>
        </p:nvSpPr>
        <p:spPr/>
        <p:txBody>
          <a:bodyPr/>
          <a:lstStyle/>
          <a:p>
            <a:r>
              <a:rPr lang="en-US" dirty="0"/>
              <a:t>Unfair AI: The COMPAS Algorithm</a:t>
            </a:r>
          </a:p>
        </p:txBody>
      </p:sp>
      <p:sp>
        <p:nvSpPr>
          <p:cNvPr id="3" name="Content Placeholder 2">
            <a:extLst>
              <a:ext uri="{FF2B5EF4-FFF2-40B4-BE49-F238E27FC236}">
                <a16:creationId xmlns:a16="http://schemas.microsoft.com/office/drawing/2014/main" id="{F3E74EFC-E15E-886A-D13B-135587302146}"/>
              </a:ext>
            </a:extLst>
          </p:cNvPr>
          <p:cNvSpPr>
            <a:spLocks noGrp="1"/>
          </p:cNvSpPr>
          <p:nvPr>
            <p:ph idx="1"/>
          </p:nvPr>
        </p:nvSpPr>
        <p:spPr/>
        <p:txBody>
          <a:bodyPr/>
          <a:lstStyle/>
          <a:p>
            <a:r>
              <a:rPr lang="en-US" dirty="0"/>
              <a:t>In 2016, an investigation by ProPublica found significant racial bias in COMPAS:</a:t>
            </a:r>
          </a:p>
          <a:p>
            <a:r>
              <a:rPr lang="en-US" b="1" dirty="0"/>
              <a:t>False positives: </a:t>
            </a:r>
            <a:r>
              <a:rPr lang="en-US" dirty="0"/>
              <a:t>Black defendants were twice as likely as white defendants to be incorrectly labeled high-risk</a:t>
            </a:r>
          </a:p>
          <a:p>
            <a:r>
              <a:rPr lang="en-US" b="1" dirty="0"/>
              <a:t>False negatives: </a:t>
            </a:r>
            <a:r>
              <a:rPr lang="en-US" dirty="0"/>
              <a:t>White defendants were more often labeled low-risk but went on to commit new crimes</a:t>
            </a:r>
          </a:p>
          <a:p>
            <a:r>
              <a:rPr lang="en-US" b="1" dirty="0"/>
              <a:t>Opaque system: </a:t>
            </a:r>
            <a:r>
              <a:rPr lang="en-US" dirty="0"/>
              <a:t>Defendants and even judges couldn’t see how the scores were generated</a:t>
            </a:r>
          </a:p>
          <a:p>
            <a:r>
              <a:rPr lang="en-US" b="1" dirty="0"/>
              <a:t>Feedback loop: </a:t>
            </a:r>
            <a:r>
              <a:rPr lang="en-US" dirty="0"/>
              <a:t>Risk scores influenced decisions that could lead to more policing and arrests, especially in marginalized communities</a:t>
            </a:r>
          </a:p>
        </p:txBody>
      </p:sp>
    </p:spTree>
    <p:extLst>
      <p:ext uri="{BB962C8B-B14F-4D97-AF65-F5344CB8AC3E}">
        <p14:creationId xmlns:p14="http://schemas.microsoft.com/office/powerpoint/2010/main" val="3291780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BB283-4B65-51C9-017B-CFB272108E20}"/>
              </a:ext>
            </a:extLst>
          </p:cNvPr>
          <p:cNvSpPr>
            <a:spLocks noGrp="1"/>
          </p:cNvSpPr>
          <p:nvPr>
            <p:ph type="title"/>
          </p:nvPr>
        </p:nvSpPr>
        <p:spPr/>
        <p:txBody>
          <a:bodyPr/>
          <a:lstStyle/>
          <a:p>
            <a:r>
              <a:rPr lang="en-US" dirty="0"/>
              <a:t>Types of Biases in AI systems</a:t>
            </a:r>
          </a:p>
        </p:txBody>
      </p:sp>
      <p:graphicFrame>
        <p:nvGraphicFramePr>
          <p:cNvPr id="9" name="Content Placeholder 8">
            <a:extLst>
              <a:ext uri="{FF2B5EF4-FFF2-40B4-BE49-F238E27FC236}">
                <a16:creationId xmlns:a16="http://schemas.microsoft.com/office/drawing/2014/main" id="{DBA564AA-3831-6DD9-E5F8-AD992D618B42}"/>
              </a:ext>
            </a:extLst>
          </p:cNvPr>
          <p:cNvGraphicFramePr>
            <a:graphicFrameLocks noGrp="1"/>
          </p:cNvGraphicFramePr>
          <p:nvPr>
            <p:ph idx="1"/>
            <p:extLst>
              <p:ext uri="{D42A27DB-BD31-4B8C-83A1-F6EECF244321}">
                <p14:modId xmlns:p14="http://schemas.microsoft.com/office/powerpoint/2010/main" val="3414416683"/>
              </p:ext>
            </p:extLst>
          </p:nvPr>
        </p:nvGraphicFramePr>
        <p:xfrm>
          <a:off x="737937" y="1892968"/>
          <a:ext cx="10443410" cy="4034757"/>
        </p:xfrm>
        <a:graphic>
          <a:graphicData uri="http://schemas.openxmlformats.org/drawingml/2006/table">
            <a:tbl>
              <a:tblPr firstRow="1" bandRow="1">
                <a:tableStyleId>{5C22544A-7EE6-4342-B048-85BDC9FD1C3A}</a:tableStyleId>
              </a:tblPr>
              <a:tblGrid>
                <a:gridCol w="2596500">
                  <a:extLst>
                    <a:ext uri="{9D8B030D-6E8A-4147-A177-3AD203B41FA5}">
                      <a16:colId xmlns:a16="http://schemas.microsoft.com/office/drawing/2014/main" val="2590661544"/>
                    </a:ext>
                  </a:extLst>
                </a:gridCol>
                <a:gridCol w="3434636">
                  <a:extLst>
                    <a:ext uri="{9D8B030D-6E8A-4147-A177-3AD203B41FA5}">
                      <a16:colId xmlns:a16="http://schemas.microsoft.com/office/drawing/2014/main" val="3832426613"/>
                    </a:ext>
                  </a:extLst>
                </a:gridCol>
                <a:gridCol w="4412274">
                  <a:extLst>
                    <a:ext uri="{9D8B030D-6E8A-4147-A177-3AD203B41FA5}">
                      <a16:colId xmlns:a16="http://schemas.microsoft.com/office/drawing/2014/main" val="358373707"/>
                    </a:ext>
                  </a:extLst>
                </a:gridCol>
              </a:tblGrid>
              <a:tr h="429981">
                <a:tc>
                  <a:txBody>
                    <a:bodyPr/>
                    <a:lstStyle/>
                    <a:p>
                      <a:r>
                        <a:rPr lang="en-US" dirty="0"/>
                        <a:t>Type</a:t>
                      </a:r>
                    </a:p>
                  </a:txBody>
                  <a:tcPr anchor="ctr"/>
                </a:tc>
                <a:tc>
                  <a:txBody>
                    <a:bodyPr/>
                    <a:lstStyle/>
                    <a:p>
                      <a:r>
                        <a:rPr lang="en-US"/>
                        <a:t>Description</a:t>
                      </a:r>
                    </a:p>
                  </a:txBody>
                  <a:tcPr anchor="ctr"/>
                </a:tc>
                <a:tc>
                  <a:txBody>
                    <a:bodyPr/>
                    <a:lstStyle/>
                    <a:p>
                      <a:r>
                        <a:rPr lang="en-US" dirty="0"/>
                        <a:t>Example</a:t>
                      </a:r>
                    </a:p>
                  </a:txBody>
                  <a:tcPr anchor="ctr"/>
                </a:tc>
                <a:extLst>
                  <a:ext uri="{0D108BD9-81ED-4DB2-BD59-A6C34878D82A}">
                    <a16:rowId xmlns:a16="http://schemas.microsoft.com/office/drawing/2014/main" val="1917951915"/>
                  </a:ext>
                </a:extLst>
              </a:tr>
              <a:tr h="742160">
                <a:tc>
                  <a:txBody>
                    <a:bodyPr/>
                    <a:lstStyle/>
                    <a:p>
                      <a:pPr algn="l"/>
                      <a:r>
                        <a:rPr lang="en-US" b="1" dirty="0"/>
                        <a:t>Historical Bias</a:t>
                      </a:r>
                      <a:endParaRPr lang="en-US" dirty="0"/>
                    </a:p>
                  </a:txBody>
                  <a:tcPr anchor="ctr"/>
                </a:tc>
                <a:tc>
                  <a:txBody>
                    <a:bodyPr/>
                    <a:lstStyle/>
                    <a:p>
                      <a:pPr algn="l"/>
                      <a:r>
                        <a:rPr lang="en-US" dirty="0"/>
                        <a:t>Bias already present in the data</a:t>
                      </a:r>
                    </a:p>
                  </a:txBody>
                  <a:tcPr anchor="ctr"/>
                </a:tc>
                <a:tc>
                  <a:txBody>
                    <a:bodyPr/>
                    <a:lstStyle/>
                    <a:p>
                      <a:pPr algn="l"/>
                      <a:r>
                        <a:rPr lang="en-US" dirty="0"/>
                        <a:t>Loan approvals reflecting past racial discrimination</a:t>
                      </a:r>
                    </a:p>
                  </a:txBody>
                  <a:tcPr anchor="ctr"/>
                </a:tc>
                <a:extLst>
                  <a:ext uri="{0D108BD9-81ED-4DB2-BD59-A6C34878D82A}">
                    <a16:rowId xmlns:a16="http://schemas.microsoft.com/office/drawing/2014/main" val="2783928556"/>
                  </a:ext>
                </a:extLst>
              </a:tr>
              <a:tr h="1060228">
                <a:tc>
                  <a:txBody>
                    <a:bodyPr/>
                    <a:lstStyle/>
                    <a:p>
                      <a:pPr algn="l"/>
                      <a:r>
                        <a:rPr lang="en-US" b="1" dirty="0"/>
                        <a:t>Representation Bias</a:t>
                      </a:r>
                      <a:endParaRPr lang="en-US" dirty="0"/>
                    </a:p>
                  </a:txBody>
                  <a:tcPr anchor="ctr"/>
                </a:tc>
                <a:tc>
                  <a:txBody>
                    <a:bodyPr/>
                    <a:lstStyle/>
                    <a:p>
                      <a:pPr algn="l"/>
                      <a:r>
                        <a:rPr lang="en-US" dirty="0"/>
                        <a:t> Under/ overrepresentation of groups in data</a:t>
                      </a:r>
                    </a:p>
                  </a:txBody>
                  <a:tcPr anchor="ctr"/>
                </a:tc>
                <a:tc>
                  <a:txBody>
                    <a:bodyPr/>
                    <a:lstStyle/>
                    <a:p>
                      <a:pPr algn="l"/>
                      <a:r>
                        <a:rPr lang="en-US" dirty="0"/>
                        <a:t>Face recognition systems that are trained mostly on lighter-skinned faces </a:t>
                      </a:r>
                    </a:p>
                  </a:txBody>
                  <a:tcPr anchor="ctr"/>
                </a:tc>
                <a:extLst>
                  <a:ext uri="{0D108BD9-81ED-4DB2-BD59-A6C34878D82A}">
                    <a16:rowId xmlns:a16="http://schemas.microsoft.com/office/drawing/2014/main" val="2801750586"/>
                  </a:ext>
                </a:extLst>
              </a:tr>
              <a:tr h="742160">
                <a:tc>
                  <a:txBody>
                    <a:bodyPr/>
                    <a:lstStyle/>
                    <a:p>
                      <a:pPr algn="l"/>
                      <a:r>
                        <a:rPr lang="en-US" b="1" dirty="0"/>
                        <a:t>Measurement Bias</a:t>
                      </a:r>
                      <a:endParaRPr lang="en-US" dirty="0"/>
                    </a:p>
                  </a:txBody>
                  <a:tcPr anchor="ctr"/>
                </a:tc>
                <a:tc>
                  <a:txBody>
                    <a:bodyPr/>
                    <a:lstStyle/>
                    <a:p>
                      <a:pPr algn="l"/>
                      <a:r>
                        <a:rPr lang="en-US" dirty="0"/>
                        <a:t>Using flawed or proxy indicators</a:t>
                      </a:r>
                    </a:p>
                  </a:txBody>
                  <a:tcPr anchor="ctr"/>
                </a:tc>
                <a:tc>
                  <a:txBody>
                    <a:bodyPr/>
                    <a:lstStyle/>
                    <a:p>
                      <a:pPr algn="l"/>
                      <a:r>
                        <a:rPr lang="en-US" dirty="0"/>
                        <a:t>Using zip code as a proxy for creditworthiness</a:t>
                      </a:r>
                    </a:p>
                  </a:txBody>
                  <a:tcPr anchor="ctr"/>
                </a:tc>
                <a:extLst>
                  <a:ext uri="{0D108BD9-81ED-4DB2-BD59-A6C34878D82A}">
                    <a16:rowId xmlns:a16="http://schemas.microsoft.com/office/drawing/2014/main" val="244683791"/>
                  </a:ext>
                </a:extLst>
              </a:tr>
              <a:tr h="1060228">
                <a:tc>
                  <a:txBody>
                    <a:bodyPr/>
                    <a:lstStyle/>
                    <a:p>
                      <a:pPr algn="l"/>
                      <a:r>
                        <a:rPr lang="en-US" b="1" dirty="0"/>
                        <a:t>Algorithmic Bias</a:t>
                      </a:r>
                      <a:endParaRPr lang="en-US" dirty="0"/>
                    </a:p>
                  </a:txBody>
                  <a:tcPr anchor="ctr"/>
                </a:tc>
                <a:tc>
                  <a:txBody>
                    <a:bodyPr/>
                    <a:lstStyle/>
                    <a:p>
                      <a:pPr algn="l"/>
                      <a:r>
                        <a:rPr lang="en-US" dirty="0"/>
                        <a:t>Arises from how models process data</a:t>
                      </a:r>
                    </a:p>
                  </a:txBody>
                  <a:tcPr anchor="ctr"/>
                </a:tc>
                <a:tc>
                  <a:txBody>
                    <a:bodyPr/>
                    <a:lstStyle/>
                    <a:p>
                      <a:pPr algn="l"/>
                      <a:r>
                        <a:rPr lang="en-US" dirty="0"/>
                        <a:t>Predictive policing reinforcing arrests in certain neighborhoods</a:t>
                      </a:r>
                    </a:p>
                  </a:txBody>
                  <a:tcPr anchor="ctr"/>
                </a:tc>
                <a:extLst>
                  <a:ext uri="{0D108BD9-81ED-4DB2-BD59-A6C34878D82A}">
                    <a16:rowId xmlns:a16="http://schemas.microsoft.com/office/drawing/2014/main" val="3732988387"/>
                  </a:ext>
                </a:extLst>
              </a:tr>
            </a:tbl>
          </a:graphicData>
        </a:graphic>
      </p:graphicFrame>
    </p:spTree>
    <p:extLst>
      <p:ext uri="{BB962C8B-B14F-4D97-AF65-F5344CB8AC3E}">
        <p14:creationId xmlns:p14="http://schemas.microsoft.com/office/powerpoint/2010/main" val="70562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2C79A-A864-CD94-2399-EA824C5FAD61}"/>
              </a:ext>
            </a:extLst>
          </p:cNvPr>
          <p:cNvSpPr>
            <a:spLocks noGrp="1"/>
          </p:cNvSpPr>
          <p:nvPr>
            <p:ph type="title"/>
          </p:nvPr>
        </p:nvSpPr>
        <p:spPr/>
        <p:txBody>
          <a:bodyPr/>
          <a:lstStyle/>
          <a:p>
            <a:r>
              <a:rPr lang="en-US" dirty="0"/>
              <a:t>Promoting Fairness in AI Design</a:t>
            </a:r>
          </a:p>
        </p:txBody>
      </p:sp>
      <p:graphicFrame>
        <p:nvGraphicFramePr>
          <p:cNvPr id="5" name="Content Placeholder 2">
            <a:extLst>
              <a:ext uri="{FF2B5EF4-FFF2-40B4-BE49-F238E27FC236}">
                <a16:creationId xmlns:a16="http://schemas.microsoft.com/office/drawing/2014/main" id="{00D94A2B-C18E-8E43-D251-B8A7AA005F00}"/>
              </a:ext>
            </a:extLst>
          </p:cNvPr>
          <p:cNvGraphicFramePr>
            <a:graphicFrameLocks noGrp="1"/>
          </p:cNvGraphicFramePr>
          <p:nvPr>
            <p:ph idx="1"/>
            <p:extLst>
              <p:ext uri="{D42A27DB-BD31-4B8C-83A1-F6EECF244321}">
                <p14:modId xmlns:p14="http://schemas.microsoft.com/office/powerpoint/2010/main" val="1011296142"/>
              </p:ext>
            </p:extLst>
          </p:nvPr>
        </p:nvGraphicFramePr>
        <p:xfrm>
          <a:off x="1088136" y="2447778"/>
          <a:ext cx="9922764" cy="38387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4916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27BDC9-FB18-487D-844E-9A6B39F8C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8D50DF-1B60-E768-0D30-149024DE5C1D}"/>
              </a:ext>
            </a:extLst>
          </p:cNvPr>
          <p:cNvSpPr>
            <a:spLocks noGrp="1"/>
          </p:cNvSpPr>
          <p:nvPr>
            <p:ph type="title"/>
          </p:nvPr>
        </p:nvSpPr>
        <p:spPr>
          <a:xfrm>
            <a:off x="1088136" y="2235210"/>
            <a:ext cx="3807714" cy="3352789"/>
          </a:xfrm>
        </p:spPr>
        <p:txBody>
          <a:bodyPr anchor="t">
            <a:normAutofit/>
          </a:bodyPr>
          <a:lstStyle/>
          <a:p>
            <a:r>
              <a:rPr lang="en-US" sz="4000"/>
              <a:t>Explicability</a:t>
            </a:r>
          </a:p>
        </p:txBody>
      </p:sp>
      <p:cxnSp>
        <p:nvCxnSpPr>
          <p:cNvPr id="11" name="Straight Connector 10">
            <a:extLst>
              <a:ext uri="{FF2B5EF4-FFF2-40B4-BE49-F238E27FC236}">
                <a16:creationId xmlns:a16="http://schemas.microsoft.com/office/drawing/2014/main" id="{25BE18DF-459C-485A-834C-292AA6BB10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95" y="233762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3F6E34F4-26C2-CED9-C501-5C84A3540B60}"/>
              </a:ext>
            </a:extLst>
          </p:cNvPr>
          <p:cNvGraphicFramePr>
            <a:graphicFrameLocks noGrp="1"/>
          </p:cNvGraphicFramePr>
          <p:nvPr>
            <p:ph idx="1"/>
            <p:extLst>
              <p:ext uri="{D42A27DB-BD31-4B8C-83A1-F6EECF244321}">
                <p14:modId xmlns:p14="http://schemas.microsoft.com/office/powerpoint/2010/main" val="2377893473"/>
              </p:ext>
            </p:extLst>
          </p:nvPr>
        </p:nvGraphicFramePr>
        <p:xfrm>
          <a:off x="5524500" y="571500"/>
          <a:ext cx="6096000" cy="5714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01726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76CDF-1BAB-2976-03A3-4137FA647341}"/>
              </a:ext>
            </a:extLst>
          </p:cNvPr>
          <p:cNvSpPr>
            <a:spLocks noGrp="1"/>
          </p:cNvSpPr>
          <p:nvPr>
            <p:ph type="title"/>
          </p:nvPr>
        </p:nvSpPr>
        <p:spPr/>
        <p:txBody>
          <a:bodyPr/>
          <a:lstStyle/>
          <a:p>
            <a:r>
              <a:rPr lang="en-US" dirty="0"/>
              <a:t>Transparency </a:t>
            </a:r>
          </a:p>
        </p:txBody>
      </p:sp>
      <p:sp>
        <p:nvSpPr>
          <p:cNvPr id="3" name="Content Placeholder 2">
            <a:extLst>
              <a:ext uri="{FF2B5EF4-FFF2-40B4-BE49-F238E27FC236}">
                <a16:creationId xmlns:a16="http://schemas.microsoft.com/office/drawing/2014/main" id="{F923B434-7C30-5FC7-3675-592593F5D85C}"/>
              </a:ext>
            </a:extLst>
          </p:cNvPr>
          <p:cNvSpPr>
            <a:spLocks noGrp="1"/>
          </p:cNvSpPr>
          <p:nvPr>
            <p:ph idx="1"/>
          </p:nvPr>
        </p:nvSpPr>
        <p:spPr/>
        <p:txBody>
          <a:bodyPr/>
          <a:lstStyle/>
          <a:p>
            <a:r>
              <a:rPr lang="en-US" dirty="0"/>
              <a:t>Transparency in AI systems refers to how much access and visibility do stakeholders have into the data, design, development process, and functioning of an AI system.</a:t>
            </a:r>
          </a:p>
          <a:p>
            <a:r>
              <a:rPr lang="en-US" dirty="0"/>
              <a:t>What data was used to train the model?</a:t>
            </a:r>
          </a:p>
          <a:p>
            <a:r>
              <a:rPr lang="en-US" dirty="0"/>
              <a:t>Who built the system and under what guidelines?</a:t>
            </a:r>
          </a:p>
          <a:p>
            <a:r>
              <a:rPr lang="en-US" dirty="0"/>
              <a:t>Is the code or the algorithm used open for scrutiny?</a:t>
            </a:r>
          </a:p>
          <a:p>
            <a:r>
              <a:rPr lang="en-US" dirty="0"/>
              <a:t>Are the users aware they’re interacting with AI?</a:t>
            </a:r>
          </a:p>
        </p:txBody>
      </p:sp>
    </p:spTree>
    <p:extLst>
      <p:ext uri="{BB962C8B-B14F-4D97-AF65-F5344CB8AC3E}">
        <p14:creationId xmlns:p14="http://schemas.microsoft.com/office/powerpoint/2010/main" val="894564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86B3D-C64B-C0B0-C22F-E8871BAAA6D0}"/>
              </a:ext>
            </a:extLst>
          </p:cNvPr>
          <p:cNvSpPr>
            <a:spLocks noGrp="1"/>
          </p:cNvSpPr>
          <p:nvPr>
            <p:ph type="title"/>
          </p:nvPr>
        </p:nvSpPr>
        <p:spPr/>
        <p:txBody>
          <a:bodyPr/>
          <a:lstStyle/>
          <a:p>
            <a:r>
              <a:rPr lang="en-US" dirty="0"/>
              <a:t>The “Black Box” Problem </a:t>
            </a:r>
          </a:p>
        </p:txBody>
      </p:sp>
      <p:sp>
        <p:nvSpPr>
          <p:cNvPr id="3" name="Content Placeholder 2">
            <a:extLst>
              <a:ext uri="{FF2B5EF4-FFF2-40B4-BE49-F238E27FC236}">
                <a16:creationId xmlns:a16="http://schemas.microsoft.com/office/drawing/2014/main" id="{FDA1692E-079E-AFB1-3A38-604AC505AF3F}"/>
              </a:ext>
            </a:extLst>
          </p:cNvPr>
          <p:cNvSpPr>
            <a:spLocks noGrp="1"/>
          </p:cNvSpPr>
          <p:nvPr>
            <p:ph idx="1"/>
          </p:nvPr>
        </p:nvSpPr>
        <p:spPr/>
        <p:txBody>
          <a:bodyPr/>
          <a:lstStyle/>
          <a:p>
            <a:r>
              <a:rPr lang="en-US" dirty="0"/>
              <a:t>Some AI models, especially deep learning systems, are so complex that their internal logic becomes inaccessible, even to their creators. This is the result of:</a:t>
            </a:r>
          </a:p>
          <a:p>
            <a:r>
              <a:rPr lang="en-US" b="1" dirty="0"/>
              <a:t>Complex models: </a:t>
            </a:r>
            <a:r>
              <a:rPr lang="en-US" dirty="0"/>
              <a:t>Deep Learning models can have millions or billions of parameters, and the model may detect patterns that are not interpretable by humans</a:t>
            </a:r>
          </a:p>
          <a:p>
            <a:r>
              <a:rPr lang="en-US" b="1" dirty="0"/>
              <a:t>Lack of documentation: </a:t>
            </a:r>
            <a:r>
              <a:rPr lang="en-US" dirty="0"/>
              <a:t>In commercial systems, the internal working are often propriety and not accessible to the public</a:t>
            </a:r>
          </a:p>
          <a:p>
            <a:r>
              <a:rPr lang="en-US" b="1" dirty="0"/>
              <a:t>Emergent </a:t>
            </a:r>
            <a:r>
              <a:rPr lang="en-US" b="1" dirty="0" err="1"/>
              <a:t>behaviour</a:t>
            </a:r>
            <a:r>
              <a:rPr lang="en-US" b="1" dirty="0"/>
              <a:t>: </a:t>
            </a:r>
            <a:r>
              <a:rPr lang="en-US" dirty="0"/>
              <a:t>AI systems may develop unexpected strategies or correlations the developers never anticipated </a:t>
            </a:r>
          </a:p>
          <a:p>
            <a:endParaRPr lang="en-US" dirty="0"/>
          </a:p>
        </p:txBody>
      </p:sp>
    </p:spTree>
    <p:extLst>
      <p:ext uri="{BB962C8B-B14F-4D97-AF65-F5344CB8AC3E}">
        <p14:creationId xmlns:p14="http://schemas.microsoft.com/office/powerpoint/2010/main" val="13414662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27BDC9-FB18-487D-844E-9A6B39F8C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3D0CA6-4CEF-BFF8-04AE-847FBB8B4EE8}"/>
              </a:ext>
            </a:extLst>
          </p:cNvPr>
          <p:cNvSpPr>
            <a:spLocks noGrp="1"/>
          </p:cNvSpPr>
          <p:nvPr>
            <p:ph type="title"/>
          </p:nvPr>
        </p:nvSpPr>
        <p:spPr>
          <a:xfrm>
            <a:off x="1088136" y="2235210"/>
            <a:ext cx="3807714" cy="3352789"/>
          </a:xfrm>
        </p:spPr>
        <p:txBody>
          <a:bodyPr anchor="t">
            <a:normAutofit/>
          </a:bodyPr>
          <a:lstStyle/>
          <a:p>
            <a:r>
              <a:rPr lang="en-US" sz="4000"/>
              <a:t>Solutions to the Black Box Problem</a:t>
            </a:r>
          </a:p>
        </p:txBody>
      </p:sp>
      <p:cxnSp>
        <p:nvCxnSpPr>
          <p:cNvPr id="11" name="Straight Connector 10">
            <a:extLst>
              <a:ext uri="{FF2B5EF4-FFF2-40B4-BE49-F238E27FC236}">
                <a16:creationId xmlns:a16="http://schemas.microsoft.com/office/drawing/2014/main" id="{25BE18DF-459C-485A-834C-292AA6BB10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95" y="233762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5A09C7D7-29E3-839D-D2F7-05E466A0884C}"/>
              </a:ext>
            </a:extLst>
          </p:cNvPr>
          <p:cNvGraphicFramePr>
            <a:graphicFrameLocks noGrp="1"/>
          </p:cNvGraphicFramePr>
          <p:nvPr>
            <p:ph idx="1"/>
            <p:extLst>
              <p:ext uri="{D42A27DB-BD31-4B8C-83A1-F6EECF244321}">
                <p14:modId xmlns:p14="http://schemas.microsoft.com/office/powerpoint/2010/main" val="2638046424"/>
              </p:ext>
            </p:extLst>
          </p:nvPr>
        </p:nvGraphicFramePr>
        <p:xfrm>
          <a:off x="5524500" y="571500"/>
          <a:ext cx="6096000" cy="5714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4467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72715-B7BB-A305-603E-B3ED016C969A}"/>
              </a:ext>
            </a:extLst>
          </p:cNvPr>
          <p:cNvSpPr>
            <a:spLocks noGrp="1"/>
          </p:cNvSpPr>
          <p:nvPr>
            <p:ph type="title"/>
          </p:nvPr>
        </p:nvSpPr>
        <p:spPr/>
        <p:txBody>
          <a:bodyPr/>
          <a:lstStyle/>
          <a:p>
            <a:r>
              <a:rPr lang="en-US" dirty="0"/>
              <a:t>Explainability</a:t>
            </a:r>
          </a:p>
        </p:txBody>
      </p:sp>
      <p:sp>
        <p:nvSpPr>
          <p:cNvPr id="3" name="Content Placeholder 2">
            <a:extLst>
              <a:ext uri="{FF2B5EF4-FFF2-40B4-BE49-F238E27FC236}">
                <a16:creationId xmlns:a16="http://schemas.microsoft.com/office/drawing/2014/main" id="{4953306D-1CA5-FB90-C9ED-1A58D3022593}"/>
              </a:ext>
            </a:extLst>
          </p:cNvPr>
          <p:cNvSpPr>
            <a:spLocks noGrp="1"/>
          </p:cNvSpPr>
          <p:nvPr>
            <p:ph idx="1"/>
          </p:nvPr>
        </p:nvSpPr>
        <p:spPr>
          <a:xfrm>
            <a:off x="1088136" y="1932923"/>
            <a:ext cx="9922764" cy="3838722"/>
          </a:xfrm>
        </p:spPr>
        <p:txBody>
          <a:bodyPr/>
          <a:lstStyle/>
          <a:p>
            <a:r>
              <a:rPr lang="en-US" dirty="0"/>
              <a:t>This pillar goes hand-in-hand with transparency.</a:t>
            </a:r>
          </a:p>
          <a:p>
            <a:r>
              <a:rPr lang="en-US" dirty="0"/>
              <a:t>Explainability refers to the ability to make an AI system’s </a:t>
            </a:r>
            <a:r>
              <a:rPr lang="en-US" dirty="0" err="1"/>
              <a:t>behaviour</a:t>
            </a:r>
            <a:r>
              <a:rPr lang="en-US" dirty="0"/>
              <a:t> and decision-making understandable to humans. </a:t>
            </a:r>
          </a:p>
        </p:txBody>
      </p:sp>
      <p:pic>
        <p:nvPicPr>
          <p:cNvPr id="5" name="Picture 4">
            <a:extLst>
              <a:ext uri="{FF2B5EF4-FFF2-40B4-BE49-F238E27FC236}">
                <a16:creationId xmlns:a16="http://schemas.microsoft.com/office/drawing/2014/main" id="{C03C392D-390E-86B0-06C6-B2536CB94D5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293395" y="3429000"/>
            <a:ext cx="4001673" cy="2434216"/>
          </a:xfrm>
          <a:prstGeom prst="rect">
            <a:avLst/>
          </a:prstGeom>
        </p:spPr>
      </p:pic>
      <p:pic>
        <p:nvPicPr>
          <p:cNvPr id="9" name="Picture 8">
            <a:extLst>
              <a:ext uri="{FF2B5EF4-FFF2-40B4-BE49-F238E27FC236}">
                <a16:creationId xmlns:a16="http://schemas.microsoft.com/office/drawing/2014/main" id="{FF0BCB55-3ACD-8F40-D435-79AF6EAB16E1}"/>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850221" y="3422984"/>
            <a:ext cx="3253643" cy="2440232"/>
          </a:xfrm>
          <a:prstGeom prst="rect">
            <a:avLst/>
          </a:prstGeom>
        </p:spPr>
      </p:pic>
      <p:sp>
        <p:nvSpPr>
          <p:cNvPr id="10" name="TextBox 9">
            <a:extLst>
              <a:ext uri="{FF2B5EF4-FFF2-40B4-BE49-F238E27FC236}">
                <a16:creationId xmlns:a16="http://schemas.microsoft.com/office/drawing/2014/main" id="{C23F50F3-5598-0B80-AC4D-91CE333D70B2}"/>
              </a:ext>
            </a:extLst>
          </p:cNvPr>
          <p:cNvSpPr txBox="1"/>
          <p:nvPr/>
        </p:nvSpPr>
        <p:spPr>
          <a:xfrm>
            <a:off x="755623" y="5892842"/>
            <a:ext cx="5293895" cy="923330"/>
          </a:xfrm>
          <a:prstGeom prst="rect">
            <a:avLst/>
          </a:prstGeom>
          <a:noFill/>
        </p:spPr>
        <p:txBody>
          <a:bodyPr wrap="square" rtlCol="0">
            <a:spAutoFit/>
          </a:bodyPr>
          <a:lstStyle/>
          <a:p>
            <a:r>
              <a:rPr lang="en-US" dirty="0"/>
              <a:t>Transparency is showing you what is under the hood, but you may not necessarily understand how it works </a:t>
            </a:r>
          </a:p>
        </p:txBody>
      </p:sp>
      <p:sp>
        <p:nvSpPr>
          <p:cNvPr id="11" name="TextBox 10">
            <a:extLst>
              <a:ext uri="{FF2B5EF4-FFF2-40B4-BE49-F238E27FC236}">
                <a16:creationId xmlns:a16="http://schemas.microsoft.com/office/drawing/2014/main" id="{1F97C172-8899-BC45-9DB9-CF46E0C93F48}"/>
              </a:ext>
            </a:extLst>
          </p:cNvPr>
          <p:cNvSpPr txBox="1"/>
          <p:nvPr/>
        </p:nvSpPr>
        <p:spPr>
          <a:xfrm>
            <a:off x="6830094" y="5886826"/>
            <a:ext cx="5293895" cy="923330"/>
          </a:xfrm>
          <a:prstGeom prst="rect">
            <a:avLst/>
          </a:prstGeom>
          <a:noFill/>
        </p:spPr>
        <p:txBody>
          <a:bodyPr wrap="square" rtlCol="0">
            <a:spAutoFit/>
          </a:bodyPr>
          <a:lstStyle/>
          <a:p>
            <a:r>
              <a:rPr lang="en-US" dirty="0"/>
              <a:t>Explainability is like a car dashboard, where the driver understands what’s going on in the car (speed, temperature, sensors, </a:t>
            </a:r>
            <a:r>
              <a:rPr lang="en-US" dirty="0" err="1"/>
              <a:t>etc</a:t>
            </a:r>
            <a:r>
              <a:rPr lang="en-US" dirty="0"/>
              <a:t>)</a:t>
            </a:r>
          </a:p>
        </p:txBody>
      </p:sp>
    </p:spTree>
    <p:extLst>
      <p:ext uri="{BB962C8B-B14F-4D97-AF65-F5344CB8AC3E}">
        <p14:creationId xmlns:p14="http://schemas.microsoft.com/office/powerpoint/2010/main" val="971081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27BDC9-FB18-487D-844E-9A6B39F8C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2167A2-5A20-DE19-FDCC-0D14FCF4D9BE}"/>
              </a:ext>
            </a:extLst>
          </p:cNvPr>
          <p:cNvSpPr>
            <a:spLocks noGrp="1"/>
          </p:cNvSpPr>
          <p:nvPr>
            <p:ph type="title"/>
          </p:nvPr>
        </p:nvSpPr>
        <p:spPr>
          <a:xfrm>
            <a:off x="1088136" y="2235210"/>
            <a:ext cx="3807714" cy="3352789"/>
          </a:xfrm>
        </p:spPr>
        <p:txBody>
          <a:bodyPr anchor="t">
            <a:normAutofit/>
          </a:bodyPr>
          <a:lstStyle/>
          <a:p>
            <a:r>
              <a:rPr lang="en-US" sz="4000"/>
              <a:t>Techniques for Explainable AI (XAI)</a:t>
            </a:r>
          </a:p>
        </p:txBody>
      </p:sp>
      <p:cxnSp>
        <p:nvCxnSpPr>
          <p:cNvPr id="11" name="Straight Connector 10">
            <a:extLst>
              <a:ext uri="{FF2B5EF4-FFF2-40B4-BE49-F238E27FC236}">
                <a16:creationId xmlns:a16="http://schemas.microsoft.com/office/drawing/2014/main" id="{25BE18DF-459C-485A-834C-292AA6BB10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95" y="233762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948CB43-7762-E279-33E4-266D63E41826}"/>
              </a:ext>
            </a:extLst>
          </p:cNvPr>
          <p:cNvGraphicFramePr>
            <a:graphicFrameLocks noGrp="1"/>
          </p:cNvGraphicFramePr>
          <p:nvPr>
            <p:ph idx="1"/>
            <p:extLst>
              <p:ext uri="{D42A27DB-BD31-4B8C-83A1-F6EECF244321}">
                <p14:modId xmlns:p14="http://schemas.microsoft.com/office/powerpoint/2010/main" val="1705544300"/>
              </p:ext>
            </p:extLst>
          </p:nvPr>
        </p:nvGraphicFramePr>
        <p:xfrm>
          <a:off x="5524500" y="571500"/>
          <a:ext cx="6096000" cy="5714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4464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CC3F2-02F7-3ADE-45C1-8E0EC420EDD5}"/>
              </a:ext>
            </a:extLst>
          </p:cNvPr>
          <p:cNvSpPr>
            <a:spLocks noGrp="1"/>
          </p:cNvSpPr>
          <p:nvPr>
            <p:ph type="title"/>
          </p:nvPr>
        </p:nvSpPr>
        <p:spPr/>
        <p:txBody>
          <a:bodyPr/>
          <a:lstStyle/>
          <a:p>
            <a:r>
              <a:rPr lang="en-US" dirty="0"/>
              <a:t>Techniques of Explainable AI (XAI)</a:t>
            </a:r>
          </a:p>
        </p:txBody>
      </p:sp>
      <p:sp>
        <p:nvSpPr>
          <p:cNvPr id="3" name="Content Placeholder 2">
            <a:extLst>
              <a:ext uri="{FF2B5EF4-FFF2-40B4-BE49-F238E27FC236}">
                <a16:creationId xmlns:a16="http://schemas.microsoft.com/office/drawing/2014/main" id="{DB993ABA-0773-B9A9-F222-B24ECFACF784}"/>
              </a:ext>
            </a:extLst>
          </p:cNvPr>
          <p:cNvSpPr>
            <a:spLocks noGrp="1"/>
          </p:cNvSpPr>
          <p:nvPr>
            <p:ph idx="1"/>
          </p:nvPr>
        </p:nvSpPr>
        <p:spPr/>
        <p:txBody>
          <a:bodyPr/>
          <a:lstStyle/>
          <a:p>
            <a:r>
              <a:rPr lang="en-US" b="1" dirty="0"/>
              <a:t>Local Interpretable Model-agnostic Explanations (LIME): </a:t>
            </a:r>
            <a:r>
              <a:rPr lang="en-US" dirty="0"/>
              <a:t>A post-hoc explanation – meaning they explain a decision after it’s been made, without needing to alter the model.</a:t>
            </a:r>
          </a:p>
          <a:p>
            <a:r>
              <a:rPr lang="en-US" b="1" dirty="0"/>
              <a:t>Method:</a:t>
            </a:r>
          </a:p>
          <a:p>
            <a:pPr marL="342900" indent="-342900">
              <a:buFont typeface="+mj-lt"/>
              <a:buAutoNum type="arabicPeriod"/>
            </a:pPr>
            <a:r>
              <a:rPr lang="en-US" dirty="0"/>
              <a:t>Take a single decision that needs explanation (e.g., why a model classified a customer as high-risk?)</a:t>
            </a:r>
          </a:p>
          <a:p>
            <a:pPr marL="342900" indent="-342900">
              <a:buFont typeface="+mj-lt"/>
              <a:buAutoNum type="arabicPeriod"/>
            </a:pPr>
            <a:r>
              <a:rPr lang="en-US" dirty="0"/>
              <a:t>Slightly change the features to create similar inputs and get the model’s predictions</a:t>
            </a:r>
          </a:p>
          <a:p>
            <a:pPr marL="342900" indent="-342900">
              <a:buFont typeface="+mj-lt"/>
              <a:buAutoNum type="arabicPeriod"/>
            </a:pPr>
            <a:r>
              <a:rPr lang="en-US" dirty="0"/>
              <a:t>Fit the results in a simple model (like linear regression) to these local predictions </a:t>
            </a:r>
          </a:p>
          <a:p>
            <a:pPr marL="342900" indent="-342900">
              <a:buFont typeface="+mj-lt"/>
              <a:buAutoNum type="arabicPeriod"/>
            </a:pPr>
            <a:r>
              <a:rPr lang="en-US" dirty="0"/>
              <a:t>Show which features had the most influence on that specific decision.</a:t>
            </a:r>
          </a:p>
        </p:txBody>
      </p:sp>
    </p:spTree>
    <p:extLst>
      <p:ext uri="{BB962C8B-B14F-4D97-AF65-F5344CB8AC3E}">
        <p14:creationId xmlns:p14="http://schemas.microsoft.com/office/powerpoint/2010/main" val="2762276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FAE02-E1BF-6DD1-5B8B-71A02DE78D84}"/>
              </a:ext>
            </a:extLst>
          </p:cNvPr>
          <p:cNvSpPr>
            <a:spLocks noGrp="1"/>
          </p:cNvSpPr>
          <p:nvPr>
            <p:ph type="title"/>
          </p:nvPr>
        </p:nvSpPr>
        <p:spPr/>
        <p:txBody>
          <a:bodyPr/>
          <a:lstStyle/>
          <a:p>
            <a:r>
              <a:rPr lang="en-US" dirty="0"/>
              <a:t>LIME Strengths and Limitations</a:t>
            </a:r>
          </a:p>
        </p:txBody>
      </p:sp>
      <p:graphicFrame>
        <p:nvGraphicFramePr>
          <p:cNvPr id="4" name="Content Placeholder 3">
            <a:extLst>
              <a:ext uri="{FF2B5EF4-FFF2-40B4-BE49-F238E27FC236}">
                <a16:creationId xmlns:a16="http://schemas.microsoft.com/office/drawing/2014/main" id="{3A94323A-4C3B-A6D8-4F68-0553F47C8DAD}"/>
              </a:ext>
            </a:extLst>
          </p:cNvPr>
          <p:cNvGraphicFramePr>
            <a:graphicFrameLocks noGrp="1"/>
          </p:cNvGraphicFramePr>
          <p:nvPr>
            <p:ph idx="1"/>
            <p:extLst>
              <p:ext uri="{D42A27DB-BD31-4B8C-83A1-F6EECF244321}">
                <p14:modId xmlns:p14="http://schemas.microsoft.com/office/powerpoint/2010/main" val="1447417674"/>
              </p:ext>
            </p:extLst>
          </p:nvPr>
        </p:nvGraphicFramePr>
        <p:xfrm>
          <a:off x="1087438" y="2447925"/>
          <a:ext cx="9923462" cy="2291080"/>
        </p:xfrm>
        <a:graphic>
          <a:graphicData uri="http://schemas.openxmlformats.org/drawingml/2006/table">
            <a:tbl>
              <a:tblPr firstRow="1" bandRow="1">
                <a:tableStyleId>{5C22544A-7EE6-4342-B048-85BDC9FD1C3A}</a:tableStyleId>
              </a:tblPr>
              <a:tblGrid>
                <a:gridCol w="4961731">
                  <a:extLst>
                    <a:ext uri="{9D8B030D-6E8A-4147-A177-3AD203B41FA5}">
                      <a16:colId xmlns:a16="http://schemas.microsoft.com/office/drawing/2014/main" val="2060631826"/>
                    </a:ext>
                  </a:extLst>
                </a:gridCol>
                <a:gridCol w="4961731">
                  <a:extLst>
                    <a:ext uri="{9D8B030D-6E8A-4147-A177-3AD203B41FA5}">
                      <a16:colId xmlns:a16="http://schemas.microsoft.com/office/drawing/2014/main" val="1937735839"/>
                    </a:ext>
                  </a:extLst>
                </a:gridCol>
              </a:tblGrid>
              <a:tr h="370840">
                <a:tc>
                  <a:txBody>
                    <a:bodyPr/>
                    <a:lstStyle/>
                    <a:p>
                      <a:pPr algn="l"/>
                      <a:r>
                        <a:rPr lang="en-US" dirty="0"/>
                        <a:t>Strengths</a:t>
                      </a:r>
                    </a:p>
                  </a:txBody>
                  <a:tcPr anchor="ctr"/>
                </a:tc>
                <a:tc>
                  <a:txBody>
                    <a:bodyPr/>
                    <a:lstStyle/>
                    <a:p>
                      <a:pPr algn="l"/>
                      <a:r>
                        <a:rPr lang="en-US" dirty="0"/>
                        <a:t>Limitations</a:t>
                      </a:r>
                    </a:p>
                  </a:txBody>
                  <a:tcPr anchor="ctr"/>
                </a:tc>
                <a:extLst>
                  <a:ext uri="{0D108BD9-81ED-4DB2-BD59-A6C34878D82A}">
                    <a16:rowId xmlns:a16="http://schemas.microsoft.com/office/drawing/2014/main" val="506816791"/>
                  </a:ext>
                </a:extLst>
              </a:tr>
              <a:tr h="370840">
                <a:tc>
                  <a:txBody>
                    <a:bodyPr/>
                    <a:lstStyle/>
                    <a:p>
                      <a:pPr algn="l"/>
                      <a:r>
                        <a:rPr lang="en-US" dirty="0"/>
                        <a:t>Works with any black-box model</a:t>
                      </a:r>
                    </a:p>
                  </a:txBody>
                  <a:tcPr anchor="ctr"/>
                </a:tc>
                <a:tc>
                  <a:txBody>
                    <a:bodyPr/>
                    <a:lstStyle/>
                    <a:p>
                      <a:pPr algn="l"/>
                      <a:r>
                        <a:rPr lang="en-US" dirty="0"/>
                        <a:t>Only explains one instance (prediction) at a time</a:t>
                      </a:r>
                    </a:p>
                  </a:txBody>
                  <a:tcPr anchor="ctr"/>
                </a:tc>
                <a:extLst>
                  <a:ext uri="{0D108BD9-81ED-4DB2-BD59-A6C34878D82A}">
                    <a16:rowId xmlns:a16="http://schemas.microsoft.com/office/drawing/2014/main" val="3162883805"/>
                  </a:ext>
                </a:extLst>
              </a:tr>
              <a:tr h="370840">
                <a:tc>
                  <a:txBody>
                    <a:bodyPr/>
                    <a:lstStyle/>
                    <a:p>
                      <a:pPr algn="l"/>
                      <a:r>
                        <a:rPr lang="en-US" dirty="0"/>
                        <a:t>Easy to use and model-agnostic</a:t>
                      </a:r>
                    </a:p>
                  </a:txBody>
                  <a:tcPr anchor="ctr"/>
                </a:tc>
                <a:tc>
                  <a:txBody>
                    <a:bodyPr/>
                    <a:lstStyle/>
                    <a:p>
                      <a:pPr algn="l"/>
                      <a:r>
                        <a:rPr lang="en-US" dirty="0"/>
                        <a:t>Unstable at times – different runs can give slightly different explanations</a:t>
                      </a:r>
                    </a:p>
                  </a:txBody>
                  <a:tcPr anchor="ctr"/>
                </a:tc>
                <a:extLst>
                  <a:ext uri="{0D108BD9-81ED-4DB2-BD59-A6C34878D82A}">
                    <a16:rowId xmlns:a16="http://schemas.microsoft.com/office/drawing/2014/main" val="70389052"/>
                  </a:ext>
                </a:extLst>
              </a:tr>
              <a:tr h="370840">
                <a:tc>
                  <a:txBody>
                    <a:bodyPr/>
                    <a:lstStyle/>
                    <a:p>
                      <a:pPr algn="l"/>
                      <a:r>
                        <a:rPr lang="en-US" dirty="0"/>
                        <a:t>Good for local interpretability</a:t>
                      </a:r>
                    </a:p>
                  </a:txBody>
                  <a:tcPr anchor="ctr"/>
                </a:tc>
                <a:tc>
                  <a:txBody>
                    <a:bodyPr/>
                    <a:lstStyle/>
                    <a:p>
                      <a:pPr algn="l"/>
                      <a:r>
                        <a:rPr lang="en-US" dirty="0"/>
                        <a:t>Doesn’t always capture the global model </a:t>
                      </a:r>
                      <a:r>
                        <a:rPr lang="en-US" dirty="0" err="1"/>
                        <a:t>behaviour</a:t>
                      </a:r>
                      <a:endParaRPr lang="en-US" dirty="0"/>
                    </a:p>
                  </a:txBody>
                  <a:tcPr anchor="ctr"/>
                </a:tc>
                <a:extLst>
                  <a:ext uri="{0D108BD9-81ED-4DB2-BD59-A6C34878D82A}">
                    <a16:rowId xmlns:a16="http://schemas.microsoft.com/office/drawing/2014/main" val="3816951439"/>
                  </a:ext>
                </a:extLst>
              </a:tr>
            </a:tbl>
          </a:graphicData>
        </a:graphic>
      </p:graphicFrame>
    </p:spTree>
    <p:extLst>
      <p:ext uri="{BB962C8B-B14F-4D97-AF65-F5344CB8AC3E}">
        <p14:creationId xmlns:p14="http://schemas.microsoft.com/office/powerpoint/2010/main" val="32978223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8E51C-5BCC-4626-21E9-C879B993D98E}"/>
              </a:ext>
            </a:extLst>
          </p:cNvPr>
          <p:cNvSpPr>
            <a:spLocks noGrp="1"/>
          </p:cNvSpPr>
          <p:nvPr>
            <p:ph type="title"/>
          </p:nvPr>
        </p:nvSpPr>
        <p:spPr/>
        <p:txBody>
          <a:bodyPr/>
          <a:lstStyle/>
          <a:p>
            <a:r>
              <a:rPr lang="en-US" dirty="0"/>
              <a:t>Techniques of Explainable AI (XAI)</a:t>
            </a:r>
          </a:p>
        </p:txBody>
      </p:sp>
      <p:sp>
        <p:nvSpPr>
          <p:cNvPr id="3" name="Content Placeholder 2">
            <a:extLst>
              <a:ext uri="{FF2B5EF4-FFF2-40B4-BE49-F238E27FC236}">
                <a16:creationId xmlns:a16="http://schemas.microsoft.com/office/drawing/2014/main" id="{2CF549CE-0E47-2938-9A7C-55BBF9B2FEB1}"/>
              </a:ext>
            </a:extLst>
          </p:cNvPr>
          <p:cNvSpPr>
            <a:spLocks noGrp="1"/>
          </p:cNvSpPr>
          <p:nvPr>
            <p:ph idx="1"/>
          </p:nvPr>
        </p:nvSpPr>
        <p:spPr/>
        <p:txBody>
          <a:bodyPr/>
          <a:lstStyle/>
          <a:p>
            <a:r>
              <a:rPr lang="en-US" b="1" dirty="0"/>
              <a:t>Shapley Additive Explanations (SHAP): </a:t>
            </a:r>
            <a:r>
              <a:rPr lang="en-US" dirty="0"/>
              <a:t>Based on Game theory and Shapley values, which fairly distribute “credit among features for a particular outcome</a:t>
            </a:r>
          </a:p>
          <a:p>
            <a:r>
              <a:rPr lang="en-US" b="1" dirty="0"/>
              <a:t>Method:</a:t>
            </a:r>
          </a:p>
          <a:p>
            <a:pPr marL="342900" indent="-342900">
              <a:buFont typeface="+mj-lt"/>
              <a:buAutoNum type="arabicPeriod"/>
            </a:pPr>
            <a:r>
              <a:rPr lang="en-US" dirty="0"/>
              <a:t>Treat each input feature like a “player” in a game contributing to the model’s input</a:t>
            </a:r>
          </a:p>
          <a:p>
            <a:pPr marL="342900" indent="-342900">
              <a:buFont typeface="+mj-lt"/>
              <a:buAutoNum type="arabicPeriod"/>
            </a:pPr>
            <a:r>
              <a:rPr lang="en-US" dirty="0"/>
              <a:t>Calculate how much each feature contributes to the final prediction- by considering all possible combinations of features</a:t>
            </a:r>
          </a:p>
          <a:p>
            <a:pPr marL="342900" indent="-342900">
              <a:buFont typeface="+mj-lt"/>
              <a:buAutoNum type="arabicPeriod"/>
            </a:pPr>
            <a:r>
              <a:rPr lang="en-US" dirty="0"/>
              <a:t>Produce global and local explanations</a:t>
            </a:r>
          </a:p>
        </p:txBody>
      </p:sp>
    </p:spTree>
    <p:extLst>
      <p:ext uri="{BB962C8B-B14F-4D97-AF65-F5344CB8AC3E}">
        <p14:creationId xmlns:p14="http://schemas.microsoft.com/office/powerpoint/2010/main" val="20566312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A973A-26EB-A515-759E-4AE3C8D55EC8}"/>
              </a:ext>
            </a:extLst>
          </p:cNvPr>
          <p:cNvSpPr>
            <a:spLocks noGrp="1"/>
          </p:cNvSpPr>
          <p:nvPr>
            <p:ph type="title"/>
          </p:nvPr>
        </p:nvSpPr>
        <p:spPr/>
        <p:txBody>
          <a:bodyPr/>
          <a:lstStyle/>
          <a:p>
            <a:r>
              <a:rPr lang="en-US" dirty="0"/>
              <a:t>SHAP Strengths and Limitations</a:t>
            </a:r>
          </a:p>
        </p:txBody>
      </p:sp>
      <p:graphicFrame>
        <p:nvGraphicFramePr>
          <p:cNvPr id="4" name="Content Placeholder 3">
            <a:extLst>
              <a:ext uri="{FF2B5EF4-FFF2-40B4-BE49-F238E27FC236}">
                <a16:creationId xmlns:a16="http://schemas.microsoft.com/office/drawing/2014/main" id="{179997FD-7B08-F7C0-5784-214441520322}"/>
              </a:ext>
            </a:extLst>
          </p:cNvPr>
          <p:cNvGraphicFramePr>
            <a:graphicFrameLocks noGrp="1"/>
          </p:cNvGraphicFramePr>
          <p:nvPr>
            <p:ph idx="1"/>
            <p:extLst>
              <p:ext uri="{D42A27DB-BD31-4B8C-83A1-F6EECF244321}">
                <p14:modId xmlns:p14="http://schemas.microsoft.com/office/powerpoint/2010/main" val="3751004916"/>
              </p:ext>
            </p:extLst>
          </p:nvPr>
        </p:nvGraphicFramePr>
        <p:xfrm>
          <a:off x="1087438" y="2447925"/>
          <a:ext cx="9923462" cy="2392680"/>
        </p:xfrm>
        <a:graphic>
          <a:graphicData uri="http://schemas.openxmlformats.org/drawingml/2006/table">
            <a:tbl>
              <a:tblPr firstRow="1" bandRow="1">
                <a:tableStyleId>{5C22544A-7EE6-4342-B048-85BDC9FD1C3A}</a:tableStyleId>
              </a:tblPr>
              <a:tblGrid>
                <a:gridCol w="4961731">
                  <a:extLst>
                    <a:ext uri="{9D8B030D-6E8A-4147-A177-3AD203B41FA5}">
                      <a16:colId xmlns:a16="http://schemas.microsoft.com/office/drawing/2014/main" val="3608194649"/>
                    </a:ext>
                  </a:extLst>
                </a:gridCol>
                <a:gridCol w="4961731">
                  <a:extLst>
                    <a:ext uri="{9D8B030D-6E8A-4147-A177-3AD203B41FA5}">
                      <a16:colId xmlns:a16="http://schemas.microsoft.com/office/drawing/2014/main" val="3673814961"/>
                    </a:ext>
                  </a:extLst>
                </a:gridCol>
              </a:tblGrid>
              <a:tr h="370840">
                <a:tc>
                  <a:txBody>
                    <a:bodyPr/>
                    <a:lstStyle/>
                    <a:p>
                      <a:r>
                        <a:rPr lang="en-US" dirty="0"/>
                        <a:t>Strengths</a:t>
                      </a:r>
                    </a:p>
                  </a:txBody>
                  <a:tcPr/>
                </a:tc>
                <a:tc>
                  <a:txBody>
                    <a:bodyPr/>
                    <a:lstStyle/>
                    <a:p>
                      <a:r>
                        <a:rPr lang="en-US" dirty="0"/>
                        <a:t>Limitations</a:t>
                      </a:r>
                    </a:p>
                  </a:txBody>
                  <a:tcPr/>
                </a:tc>
                <a:extLst>
                  <a:ext uri="{0D108BD9-81ED-4DB2-BD59-A6C34878D82A}">
                    <a16:rowId xmlns:a16="http://schemas.microsoft.com/office/drawing/2014/main" val="244094665"/>
                  </a:ext>
                </a:extLst>
              </a:tr>
              <a:tr h="370840">
                <a:tc>
                  <a:txBody>
                    <a:bodyPr/>
                    <a:lstStyle/>
                    <a:p>
                      <a:r>
                        <a:rPr lang="en-US" dirty="0"/>
                        <a:t>Theoretically sound (solid math)</a:t>
                      </a:r>
                    </a:p>
                  </a:txBody>
                  <a:tcPr/>
                </a:tc>
                <a:tc>
                  <a:txBody>
                    <a:bodyPr/>
                    <a:lstStyle/>
                    <a:p>
                      <a:r>
                        <a:rPr lang="en-US" dirty="0"/>
                        <a:t>Computationally expensive, especially for large datasets</a:t>
                      </a:r>
                    </a:p>
                  </a:txBody>
                  <a:tcPr/>
                </a:tc>
                <a:extLst>
                  <a:ext uri="{0D108BD9-81ED-4DB2-BD59-A6C34878D82A}">
                    <a16:rowId xmlns:a16="http://schemas.microsoft.com/office/drawing/2014/main" val="1808274088"/>
                  </a:ext>
                </a:extLst>
              </a:tr>
              <a:tr h="370840">
                <a:tc>
                  <a:txBody>
                    <a:bodyPr/>
                    <a:lstStyle/>
                    <a:p>
                      <a:r>
                        <a:rPr lang="en-US" dirty="0"/>
                        <a:t>Provides consistent and fair attributions</a:t>
                      </a:r>
                    </a:p>
                  </a:txBody>
                  <a:tcPr/>
                </a:tc>
                <a:tc>
                  <a:txBody>
                    <a:bodyPr/>
                    <a:lstStyle/>
                    <a:p>
                      <a:r>
                        <a:rPr lang="en-US" dirty="0"/>
                        <a:t>Can be complex for non-technical audiences</a:t>
                      </a:r>
                    </a:p>
                  </a:txBody>
                  <a:tcPr/>
                </a:tc>
                <a:extLst>
                  <a:ext uri="{0D108BD9-81ED-4DB2-BD59-A6C34878D82A}">
                    <a16:rowId xmlns:a16="http://schemas.microsoft.com/office/drawing/2014/main" val="3325113247"/>
                  </a:ext>
                </a:extLst>
              </a:tr>
              <a:tr h="370840">
                <a:tc>
                  <a:txBody>
                    <a:bodyPr/>
                    <a:lstStyle/>
                    <a:p>
                      <a:r>
                        <a:rPr lang="en-US" dirty="0"/>
                        <a:t>Explains both local and global </a:t>
                      </a:r>
                      <a:r>
                        <a:rPr lang="en-US" dirty="0" err="1"/>
                        <a:t>behaviour</a:t>
                      </a:r>
                      <a:endParaRPr lang="en-US" dirty="0"/>
                    </a:p>
                  </a:txBody>
                  <a:tcPr/>
                </a:tc>
                <a:tc>
                  <a:txBody>
                    <a:bodyPr/>
                    <a:lstStyle/>
                    <a:p>
                      <a:endParaRPr lang="en-US" dirty="0"/>
                    </a:p>
                  </a:txBody>
                  <a:tcPr/>
                </a:tc>
                <a:extLst>
                  <a:ext uri="{0D108BD9-81ED-4DB2-BD59-A6C34878D82A}">
                    <a16:rowId xmlns:a16="http://schemas.microsoft.com/office/drawing/2014/main" val="844437944"/>
                  </a:ext>
                </a:extLst>
              </a:tr>
              <a:tr h="370840">
                <a:tc>
                  <a:txBody>
                    <a:bodyPr/>
                    <a:lstStyle/>
                    <a:p>
                      <a:r>
                        <a:rPr lang="en-US" dirty="0"/>
                        <a:t>Offers visualizations that are useful and intuitive</a:t>
                      </a:r>
                    </a:p>
                  </a:txBody>
                  <a:tcPr/>
                </a:tc>
                <a:tc>
                  <a:txBody>
                    <a:bodyPr/>
                    <a:lstStyle/>
                    <a:p>
                      <a:endParaRPr lang="en-US" dirty="0"/>
                    </a:p>
                  </a:txBody>
                  <a:tcPr/>
                </a:tc>
                <a:extLst>
                  <a:ext uri="{0D108BD9-81ED-4DB2-BD59-A6C34878D82A}">
                    <a16:rowId xmlns:a16="http://schemas.microsoft.com/office/drawing/2014/main" val="358280897"/>
                  </a:ext>
                </a:extLst>
              </a:tr>
            </a:tbl>
          </a:graphicData>
        </a:graphic>
      </p:graphicFrame>
    </p:spTree>
    <p:extLst>
      <p:ext uri="{BB962C8B-B14F-4D97-AF65-F5344CB8AC3E}">
        <p14:creationId xmlns:p14="http://schemas.microsoft.com/office/powerpoint/2010/main" val="26932119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88D14-B997-A42C-2B74-58F39E32B6FA}"/>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1E05A677-9E23-9E5C-AAE3-465B6D3096CE}"/>
              </a:ext>
            </a:extLst>
          </p:cNvPr>
          <p:cNvSpPr>
            <a:spLocks noGrp="1"/>
          </p:cNvSpPr>
          <p:nvPr>
            <p:ph idx="1"/>
          </p:nvPr>
        </p:nvSpPr>
        <p:spPr/>
        <p:txBody>
          <a:bodyPr/>
          <a:lstStyle/>
          <a:p>
            <a:r>
              <a:rPr lang="en-US" dirty="0"/>
              <a:t>AI systems now perform perception, reasoning, learning, and language tasks traditionally done by humans.</a:t>
            </a:r>
          </a:p>
          <a:p>
            <a:r>
              <a:rPr lang="en-US" dirty="0"/>
              <a:t>Ethical AI requires compliance with </a:t>
            </a:r>
            <a:r>
              <a:rPr lang="en-US" dirty="0" err="1"/>
              <a:t>Floridi’s</a:t>
            </a:r>
            <a:r>
              <a:rPr lang="en-US" dirty="0"/>
              <a:t> Five Pillars: beneficence, nonmaleficence, human autonomy &amp; control, justice, and explicability.</a:t>
            </a:r>
          </a:p>
          <a:p>
            <a:r>
              <a:rPr lang="en-US" dirty="0"/>
              <a:t>Loss of human control leads to risks such as automation bias, manipulation, lack of meaningful choice, and autonomous lethal systems.</a:t>
            </a:r>
          </a:p>
          <a:p>
            <a:r>
              <a:rPr lang="en-US" dirty="0"/>
              <a:t>AI can reproduce and amplify social and racial biases (e.g., COMPAS case).</a:t>
            </a:r>
          </a:p>
          <a:p>
            <a:r>
              <a:rPr lang="en-US" dirty="0"/>
              <a:t>Transparency and explainability (XAI) are essential to address the black-box problem.</a:t>
            </a:r>
          </a:p>
        </p:txBody>
      </p:sp>
    </p:spTree>
    <p:extLst>
      <p:ext uri="{BB962C8B-B14F-4D97-AF65-F5344CB8AC3E}">
        <p14:creationId xmlns:p14="http://schemas.microsoft.com/office/powerpoint/2010/main" val="3602812346"/>
      </p:ext>
    </p:extLst>
  </p:cSld>
  <p:clrMapOvr>
    <a:masterClrMapping/>
  </p:clrMapOvr>
</p:sld>
</file>

<file path=ppt/theme/theme1.xml><?xml version="1.0" encoding="utf-8"?>
<a:theme xmlns:a="http://schemas.openxmlformats.org/drawingml/2006/main" name="BjornVTI">
  <a:themeElements>
    <a:clrScheme name="AnalogousFromDarkSeedLeftStep">
      <a:dk1>
        <a:srgbClr val="000000"/>
      </a:dk1>
      <a:lt1>
        <a:srgbClr val="FFFFFF"/>
      </a:lt1>
      <a:dk2>
        <a:srgbClr val="251D38"/>
      </a:dk2>
      <a:lt2>
        <a:srgbClr val="E2E8E2"/>
      </a:lt2>
      <a:accent1>
        <a:srgbClr val="DE31D1"/>
      </a:accent1>
      <a:accent2>
        <a:srgbClr val="9120CD"/>
      </a:accent2>
      <a:accent3>
        <a:srgbClr val="5B31DE"/>
      </a:accent3>
      <a:accent4>
        <a:srgbClr val="203ECD"/>
      </a:accent4>
      <a:accent5>
        <a:srgbClr val="3198DE"/>
      </a:accent5>
      <a:accent6>
        <a:srgbClr val="1CB4B3"/>
      </a:accent6>
      <a:hlink>
        <a:srgbClr val="3F75BF"/>
      </a:hlink>
      <a:folHlink>
        <a:srgbClr val="7F7F7F"/>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71885</TotalTime>
  <Words>2217</Words>
  <Application>Microsoft Office PowerPoint</Application>
  <PresentationFormat>Widescreen</PresentationFormat>
  <Paragraphs>199</Paragraphs>
  <Slides>37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Aptos</vt:lpstr>
      <vt:lpstr>Arial</vt:lpstr>
      <vt:lpstr>Neue Haas Grotesk Text Pro</vt:lpstr>
      <vt:lpstr>BjornVTI</vt:lpstr>
      <vt:lpstr>Chapter 7: AI Ethics and Risks</vt:lpstr>
      <vt:lpstr>DISCUSSION 7.1 SHOULD AI WRITE OUR LAWS?</vt:lpstr>
      <vt:lpstr>Artificial Intelligence (AI)</vt:lpstr>
      <vt:lpstr>Artificial Intelligence (AI)</vt:lpstr>
      <vt:lpstr>Types of AI</vt:lpstr>
      <vt:lpstr>Components of AI</vt:lpstr>
      <vt:lpstr>Machine Learning</vt:lpstr>
      <vt:lpstr>Deep Learning</vt:lpstr>
      <vt:lpstr>Computer Vision</vt:lpstr>
      <vt:lpstr>Natural Language Processing (NLP)</vt:lpstr>
      <vt:lpstr>Large Language Models (LLM)</vt:lpstr>
      <vt:lpstr>Generative Pre-trained Transformer (GPT)</vt:lpstr>
      <vt:lpstr>Floridi’s Five Pillars of Ethical AI</vt:lpstr>
      <vt:lpstr>Beneficence</vt:lpstr>
      <vt:lpstr>Beneficence</vt:lpstr>
      <vt:lpstr>Nonmaleficence (Do No Harm)</vt:lpstr>
      <vt:lpstr>Human Autonomy and Control</vt:lpstr>
      <vt:lpstr>Levels of Human Control</vt:lpstr>
      <vt:lpstr>Risks caused by loss of autonomy or control </vt:lpstr>
      <vt:lpstr>Risks caused by loss of autonomy or control </vt:lpstr>
      <vt:lpstr>Justice</vt:lpstr>
      <vt:lpstr>Unfair AI: The COMPAS algorithm </vt:lpstr>
      <vt:lpstr>PowerPoint Presentation</vt:lpstr>
      <vt:lpstr>Unfair AI: The COMPAS Algorithm</vt:lpstr>
      <vt:lpstr>Types of Biases in AI systems</vt:lpstr>
      <vt:lpstr>Promoting Fairness in AI Design</vt:lpstr>
      <vt:lpstr>Explicability</vt:lpstr>
      <vt:lpstr>Transparency </vt:lpstr>
      <vt:lpstr>The “Black Box” Problem </vt:lpstr>
      <vt:lpstr>Solutions to the Black Box Problem</vt:lpstr>
      <vt:lpstr>Explainability</vt:lpstr>
      <vt:lpstr>Techniques for Explainable AI (XAI)</vt:lpstr>
      <vt:lpstr>Techniques of Explainable AI (XAI)</vt:lpstr>
      <vt:lpstr>LIME Strengths and Limitations</vt:lpstr>
      <vt:lpstr>Techniques of Explainable AI (XAI)</vt:lpstr>
      <vt:lpstr>SHAP Strengths and Limitations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YAQOOB SALMAN MOHAMED ALSLAIS</dc:creator>
  <cp:lastModifiedBy>Dr. YAQOOB SALMAN MOHAMED ALSLAIS</cp:lastModifiedBy>
  <cp:revision>13</cp:revision>
  <dcterms:created xsi:type="dcterms:W3CDTF">2024-08-29T08:11:27Z</dcterms:created>
  <dcterms:modified xsi:type="dcterms:W3CDTF">2026-02-02T10:42:56Z</dcterms:modified>
</cp:coreProperties>
</file>