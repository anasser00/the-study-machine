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30"/>
  </p:notesMasterIdLst>
  <p:sldIdLst>
    <p:sldId id="256" r:id="rId2"/>
    <p:sldId id="329" r:id="rId3"/>
    <p:sldId id="331" r:id="rId4"/>
    <p:sldId id="332" r:id="rId5"/>
    <p:sldId id="341" r:id="rId6"/>
    <p:sldId id="330" r:id="rId7"/>
    <p:sldId id="333" r:id="rId8"/>
    <p:sldId id="334" r:id="rId9"/>
    <p:sldId id="337" r:id="rId10"/>
    <p:sldId id="335" r:id="rId11"/>
    <p:sldId id="336" r:id="rId12"/>
    <p:sldId id="339" r:id="rId13"/>
    <p:sldId id="338" r:id="rId14"/>
    <p:sldId id="343" r:id="rId15"/>
    <p:sldId id="344" r:id="rId16"/>
    <p:sldId id="345" r:id="rId17"/>
    <p:sldId id="346" r:id="rId18"/>
    <p:sldId id="347" r:id="rId19"/>
    <p:sldId id="348" r:id="rId20"/>
    <p:sldId id="349" r:id="rId21"/>
    <p:sldId id="350" r:id="rId22"/>
    <p:sldId id="351" r:id="rId23"/>
    <p:sldId id="352" r:id="rId24"/>
    <p:sldId id="353" r:id="rId25"/>
    <p:sldId id="354" r:id="rId26"/>
    <p:sldId id="340" r:id="rId27"/>
    <p:sldId id="342" r:id="rId28"/>
    <p:sldId id="35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9444B0-0BFC-47B9-A4D0-48234B13FD25}" v="1" dt="2026-02-02T10:28:40.9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3856" autoAdjust="0"/>
  </p:normalViewPr>
  <p:slideViewPr>
    <p:cSldViewPr snapToGrid="0">
      <p:cViewPr varScale="1">
        <p:scale>
          <a:sx n="61" d="100"/>
          <a:sy n="61" d="100"/>
        </p:scale>
        <p:origin x="1522" y="43"/>
      </p:cViewPr>
      <p:guideLst/>
    </p:cSldViewPr>
  </p:slideViewPr>
  <p:outlineViewPr>
    <p:cViewPr>
      <p:scale>
        <a:sx n="33" d="100"/>
        <a:sy n="33" d="100"/>
      </p:scale>
      <p:origin x="0" y="-1211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YAQOOB SALMAN MOHAMED ALSLAIS" userId="3b843498-0d2f-436b-9cfb-0641998d3142" providerId="ADAL" clId="{14E12B48-7A42-4907-9A13-F7839ACECA24}"/>
    <pc:docChg chg="custSel addSld delSld modSld">
      <pc:chgData name="Dr. YAQOOB SALMAN MOHAMED ALSLAIS" userId="3b843498-0d2f-436b-9cfb-0641998d3142" providerId="ADAL" clId="{14E12B48-7A42-4907-9A13-F7839ACECA24}" dt="2026-02-02T10:29:02.217" v="145" actId="1076"/>
      <pc:docMkLst>
        <pc:docMk/>
      </pc:docMkLst>
      <pc:sldChg chg="modSp new del mod">
        <pc:chgData name="Dr. YAQOOB SALMAN MOHAMED ALSLAIS" userId="3b843498-0d2f-436b-9cfb-0641998d3142" providerId="ADAL" clId="{14E12B48-7A42-4907-9A13-F7839ACECA24}" dt="2026-02-02T10:28:24.651" v="135" actId="47"/>
        <pc:sldMkLst>
          <pc:docMk/>
          <pc:sldMk cId="1672729784" sldId="355"/>
        </pc:sldMkLst>
      </pc:sldChg>
      <pc:sldChg chg="modSp new mod">
        <pc:chgData name="Dr. YAQOOB SALMAN MOHAMED ALSLAIS" userId="3b843498-0d2f-436b-9cfb-0641998d3142" providerId="ADAL" clId="{14E12B48-7A42-4907-9A13-F7839ACECA24}" dt="2026-02-02T10:29:02.217" v="145" actId="1076"/>
        <pc:sldMkLst>
          <pc:docMk/>
          <pc:sldMk cId="3610079329" sldId="355"/>
        </pc:sldMkLst>
        <pc:spChg chg="mod">
          <ac:chgData name="Dr. YAQOOB SALMAN MOHAMED ALSLAIS" userId="3b843498-0d2f-436b-9cfb-0641998d3142" providerId="ADAL" clId="{14E12B48-7A42-4907-9A13-F7839ACECA24}" dt="2026-02-02T10:29:02.217" v="145" actId="1076"/>
          <ac:spMkLst>
            <pc:docMk/>
            <pc:sldMk cId="3610079329" sldId="355"/>
            <ac:spMk id="2" creationId="{484D2D75-588E-0B9A-9F80-817F11E52DC5}"/>
          </ac:spMkLst>
        </pc:spChg>
        <pc:spChg chg="mod">
          <ac:chgData name="Dr. YAQOOB SALMAN MOHAMED ALSLAIS" userId="3b843498-0d2f-436b-9cfb-0641998d3142" providerId="ADAL" clId="{14E12B48-7A42-4907-9A13-F7839ACECA24}" dt="2026-02-02T10:28:40.981" v="137"/>
          <ac:spMkLst>
            <pc:docMk/>
            <pc:sldMk cId="3610079329" sldId="355"/>
            <ac:spMk id="3" creationId="{5525FFE8-559A-715B-3935-3E2E73620D8D}"/>
          </ac:spMkLst>
        </pc:spChg>
      </pc:sldChg>
      <pc:sldChg chg="modSp add del mod">
        <pc:chgData name="Dr. YAQOOB SALMAN MOHAMED ALSLAIS" userId="3b843498-0d2f-436b-9cfb-0641998d3142" providerId="ADAL" clId="{14E12B48-7A42-4907-9A13-F7839ACECA24}" dt="2026-02-02T10:28:24.651" v="135" actId="47"/>
        <pc:sldMkLst>
          <pc:docMk/>
          <pc:sldMk cId="3122141023" sldId="356"/>
        </pc:sldMkLst>
      </pc:sldChg>
      <pc:sldChg chg="modSp add del mod">
        <pc:chgData name="Dr. YAQOOB SALMAN MOHAMED ALSLAIS" userId="3b843498-0d2f-436b-9cfb-0641998d3142" providerId="ADAL" clId="{14E12B48-7A42-4907-9A13-F7839ACECA24}" dt="2026-02-02T10:28:24.651" v="135" actId="47"/>
        <pc:sldMkLst>
          <pc:docMk/>
          <pc:sldMk cId="2243834558" sldId="357"/>
        </pc:sldMkLst>
      </pc:sldChg>
      <pc:sldChg chg="modSp new del mod">
        <pc:chgData name="Dr. YAQOOB SALMAN MOHAMED ALSLAIS" userId="3b843498-0d2f-436b-9cfb-0641998d3142" providerId="ADAL" clId="{14E12B48-7A42-4907-9A13-F7839ACECA24}" dt="2026-02-02T10:28:24.651" v="135" actId="47"/>
        <pc:sldMkLst>
          <pc:docMk/>
          <pc:sldMk cId="1136891533" sldId="358"/>
        </pc:sldMkLst>
      </pc:sldChg>
      <pc:sldChg chg="modSp add del mod">
        <pc:chgData name="Dr. YAQOOB SALMAN MOHAMED ALSLAIS" userId="3b843498-0d2f-436b-9cfb-0641998d3142" providerId="ADAL" clId="{14E12B48-7A42-4907-9A13-F7839ACECA24}" dt="2026-02-02T10:28:24.651" v="135" actId="47"/>
        <pc:sldMkLst>
          <pc:docMk/>
          <pc:sldMk cId="704013751" sldId="359"/>
        </pc:sldMkLst>
      </pc:sldChg>
      <pc:sldChg chg="modSp add del mod">
        <pc:chgData name="Dr. YAQOOB SALMAN MOHAMED ALSLAIS" userId="3b843498-0d2f-436b-9cfb-0641998d3142" providerId="ADAL" clId="{14E12B48-7A42-4907-9A13-F7839ACECA24}" dt="2026-02-02T10:28:24.651" v="135" actId="47"/>
        <pc:sldMkLst>
          <pc:docMk/>
          <pc:sldMk cId="1518831427" sldId="360"/>
        </pc:sldMkLst>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20BC2E3-7034-42D1-A0B8-A45C765B092A}" type="doc">
      <dgm:prSet loTypeId="urn:microsoft.com/office/officeart/2005/8/layout/process1" loCatId="process" qsTypeId="urn:microsoft.com/office/officeart/2005/8/quickstyle/simple1" qsCatId="simple" csTypeId="urn:microsoft.com/office/officeart/2005/8/colors/colorful1" csCatId="colorful" phldr="1"/>
      <dgm:spPr/>
    </dgm:pt>
    <dgm:pt modelId="{E96BAFF6-7AE6-48F0-A031-5BFC7802FB95}">
      <dgm:prSet phldrT="[Text]"/>
      <dgm:spPr/>
      <dgm:t>
        <a:bodyPr/>
        <a:lstStyle/>
        <a:p>
          <a:r>
            <a:rPr lang="en-US" b="1" dirty="0"/>
            <a:t>1890 </a:t>
          </a:r>
        </a:p>
        <a:p>
          <a:r>
            <a:rPr lang="en-US" b="1" dirty="0"/>
            <a:t>The Right to be left alone</a:t>
          </a:r>
        </a:p>
      </dgm:t>
    </dgm:pt>
    <dgm:pt modelId="{7764B019-DCE8-4BA2-BA83-8259851A428F}" type="parTrans" cxnId="{D7D05B76-D4C7-4B74-ABF0-9DFD628328DE}">
      <dgm:prSet/>
      <dgm:spPr/>
      <dgm:t>
        <a:bodyPr/>
        <a:lstStyle/>
        <a:p>
          <a:endParaRPr lang="en-US" b="1"/>
        </a:p>
      </dgm:t>
    </dgm:pt>
    <dgm:pt modelId="{035C5DFD-0523-4C06-8E28-815C3CCB0FB2}" type="sibTrans" cxnId="{D7D05B76-D4C7-4B74-ABF0-9DFD628328DE}">
      <dgm:prSet/>
      <dgm:spPr/>
      <dgm:t>
        <a:bodyPr/>
        <a:lstStyle/>
        <a:p>
          <a:endParaRPr lang="en-US" b="1"/>
        </a:p>
      </dgm:t>
    </dgm:pt>
    <dgm:pt modelId="{A47BE3B2-69D9-463E-9C7C-39B8788B811B}">
      <dgm:prSet phldrT="[Text]"/>
      <dgm:spPr/>
      <dgm:t>
        <a:bodyPr/>
        <a:lstStyle/>
        <a:p>
          <a:r>
            <a:rPr lang="en-US" b="1" dirty="0"/>
            <a:t>1950 </a:t>
          </a:r>
          <a:br>
            <a:rPr lang="en-US" b="1" dirty="0"/>
          </a:br>
          <a:r>
            <a:rPr lang="en-US" b="1" dirty="0"/>
            <a:t>Universal Declaration of Human Rights</a:t>
          </a:r>
        </a:p>
      </dgm:t>
    </dgm:pt>
    <dgm:pt modelId="{1C24010C-DBD9-4CA4-B88C-0F211C48BB84}" type="parTrans" cxnId="{E9C61FD8-718B-4C0E-9912-FFAFE2E36653}">
      <dgm:prSet/>
      <dgm:spPr/>
      <dgm:t>
        <a:bodyPr/>
        <a:lstStyle/>
        <a:p>
          <a:endParaRPr lang="en-US" b="1"/>
        </a:p>
      </dgm:t>
    </dgm:pt>
    <dgm:pt modelId="{FAE91071-DAF7-4A01-9EE5-9373921D3D91}" type="sibTrans" cxnId="{E9C61FD8-718B-4C0E-9912-FFAFE2E36653}">
      <dgm:prSet/>
      <dgm:spPr/>
      <dgm:t>
        <a:bodyPr/>
        <a:lstStyle/>
        <a:p>
          <a:endParaRPr lang="en-US" b="1"/>
        </a:p>
      </dgm:t>
    </dgm:pt>
    <dgm:pt modelId="{D2C15394-CC79-4882-B189-67C4DD79E140}">
      <dgm:prSet phldrT="[Text]"/>
      <dgm:spPr/>
      <dgm:t>
        <a:bodyPr/>
        <a:lstStyle/>
        <a:p>
          <a:r>
            <a:rPr lang="en-US" b="1" dirty="0"/>
            <a:t>1984 UK Data Protection Act</a:t>
          </a:r>
        </a:p>
      </dgm:t>
    </dgm:pt>
    <dgm:pt modelId="{006596AB-0BCA-4396-B7D0-72FD7DEBFA2D}" type="parTrans" cxnId="{4A30BF43-BB6D-45CD-AA15-5EA5B5556826}">
      <dgm:prSet/>
      <dgm:spPr/>
      <dgm:t>
        <a:bodyPr/>
        <a:lstStyle/>
        <a:p>
          <a:endParaRPr lang="en-US" b="1"/>
        </a:p>
      </dgm:t>
    </dgm:pt>
    <dgm:pt modelId="{9ABF4480-5CE2-4ADF-AE33-373B0E7BEA07}" type="sibTrans" cxnId="{4A30BF43-BB6D-45CD-AA15-5EA5B5556826}">
      <dgm:prSet/>
      <dgm:spPr/>
      <dgm:t>
        <a:bodyPr/>
        <a:lstStyle/>
        <a:p>
          <a:endParaRPr lang="en-US" b="1"/>
        </a:p>
      </dgm:t>
    </dgm:pt>
    <dgm:pt modelId="{FBF5A2A2-B760-4B6B-8F7B-B54EB01C3AB5}">
      <dgm:prSet phldrT="[Text]"/>
      <dgm:spPr/>
      <dgm:t>
        <a:bodyPr/>
        <a:lstStyle/>
        <a:p>
          <a:r>
            <a:rPr lang="en-US" b="1" dirty="0"/>
            <a:t>1974 </a:t>
          </a:r>
          <a:br>
            <a:rPr lang="en-US" b="1" dirty="0"/>
          </a:br>
          <a:r>
            <a:rPr lang="en-US" b="1" dirty="0"/>
            <a:t>Fair Information Practice and US Federal Privacy Act</a:t>
          </a:r>
        </a:p>
      </dgm:t>
    </dgm:pt>
    <dgm:pt modelId="{819339D4-5190-4E8F-9489-60456A83D09D}" type="parTrans" cxnId="{D39631BC-27FF-44BA-8FBD-D14B94AE4404}">
      <dgm:prSet/>
      <dgm:spPr/>
      <dgm:t>
        <a:bodyPr/>
        <a:lstStyle/>
        <a:p>
          <a:endParaRPr lang="en-US" b="1"/>
        </a:p>
      </dgm:t>
    </dgm:pt>
    <dgm:pt modelId="{700DDAD3-F742-4D1A-B5BF-14B1EEE9EB71}" type="sibTrans" cxnId="{D39631BC-27FF-44BA-8FBD-D14B94AE4404}">
      <dgm:prSet/>
      <dgm:spPr/>
      <dgm:t>
        <a:bodyPr/>
        <a:lstStyle/>
        <a:p>
          <a:endParaRPr lang="en-US" b="1"/>
        </a:p>
      </dgm:t>
    </dgm:pt>
    <dgm:pt modelId="{EECD3A44-088E-4D8A-B70D-DF5E64AC79E1}">
      <dgm:prSet phldrT="[Text]"/>
      <dgm:spPr/>
      <dgm:t>
        <a:bodyPr/>
        <a:lstStyle/>
        <a:p>
          <a:r>
            <a:rPr lang="en-US" b="1" dirty="0"/>
            <a:t>2003 Japanese Act on the Protection of Personal Information (APPI)</a:t>
          </a:r>
        </a:p>
      </dgm:t>
    </dgm:pt>
    <dgm:pt modelId="{9B1C3465-67F0-4FFD-A834-6EA779F79EC9}" type="parTrans" cxnId="{03852DD3-93DD-4ABA-A7CD-B395F0B35F12}">
      <dgm:prSet/>
      <dgm:spPr/>
      <dgm:t>
        <a:bodyPr/>
        <a:lstStyle/>
        <a:p>
          <a:endParaRPr lang="en-US" b="1"/>
        </a:p>
      </dgm:t>
    </dgm:pt>
    <dgm:pt modelId="{FBE1CAEF-4E43-45FB-BD52-E306084040C1}" type="sibTrans" cxnId="{03852DD3-93DD-4ABA-A7CD-B395F0B35F12}">
      <dgm:prSet/>
      <dgm:spPr/>
      <dgm:t>
        <a:bodyPr/>
        <a:lstStyle/>
        <a:p>
          <a:endParaRPr lang="en-US" b="1"/>
        </a:p>
      </dgm:t>
    </dgm:pt>
    <dgm:pt modelId="{E610B59C-DA7B-49EA-8A78-096229D89FFA}">
      <dgm:prSet phldrT="[Text]"/>
      <dgm:spPr/>
      <dgm:t>
        <a:bodyPr/>
        <a:lstStyle/>
        <a:p>
          <a:r>
            <a:rPr lang="en-US" b="1" dirty="0"/>
            <a:t>2014</a:t>
          </a:r>
          <a:br>
            <a:rPr lang="en-US" b="1" dirty="0"/>
          </a:br>
          <a:r>
            <a:rPr lang="en-US" b="1" dirty="0"/>
            <a:t>EU Court of Justice “Right to be forgotten” decision</a:t>
          </a:r>
        </a:p>
      </dgm:t>
    </dgm:pt>
    <dgm:pt modelId="{62ED37CF-2BA0-421F-AFB2-4C6CF63B771C}" type="parTrans" cxnId="{5900DBFA-C3C2-4711-9821-918CB0F7BC2B}">
      <dgm:prSet/>
      <dgm:spPr/>
      <dgm:t>
        <a:bodyPr/>
        <a:lstStyle/>
        <a:p>
          <a:endParaRPr lang="en-US" b="1"/>
        </a:p>
      </dgm:t>
    </dgm:pt>
    <dgm:pt modelId="{33816260-FC62-4EED-BE30-C67DBDA4D1AD}" type="sibTrans" cxnId="{5900DBFA-C3C2-4711-9821-918CB0F7BC2B}">
      <dgm:prSet/>
      <dgm:spPr/>
      <dgm:t>
        <a:bodyPr/>
        <a:lstStyle/>
        <a:p>
          <a:endParaRPr lang="en-US" b="1"/>
        </a:p>
      </dgm:t>
    </dgm:pt>
    <dgm:pt modelId="{EF323F95-36E4-41FF-964B-E69235A7845F}">
      <dgm:prSet phldrT="[Text]"/>
      <dgm:spPr/>
      <dgm:t>
        <a:bodyPr/>
        <a:lstStyle/>
        <a:p>
          <a:r>
            <a:rPr lang="en-US" b="1" dirty="0"/>
            <a:t>2017 EU GDPR</a:t>
          </a:r>
        </a:p>
      </dgm:t>
    </dgm:pt>
    <dgm:pt modelId="{EA9620E1-D7C8-4A68-8FD4-0AC7075F0683}" type="parTrans" cxnId="{A7104796-DB67-48F7-8F77-0A914BAA080E}">
      <dgm:prSet/>
      <dgm:spPr/>
      <dgm:t>
        <a:bodyPr/>
        <a:lstStyle/>
        <a:p>
          <a:endParaRPr lang="en-US" b="1"/>
        </a:p>
      </dgm:t>
    </dgm:pt>
    <dgm:pt modelId="{800E9A0B-753C-4956-A400-58B8488919F5}" type="sibTrans" cxnId="{A7104796-DB67-48F7-8F77-0A914BAA080E}">
      <dgm:prSet/>
      <dgm:spPr/>
      <dgm:t>
        <a:bodyPr/>
        <a:lstStyle/>
        <a:p>
          <a:endParaRPr lang="en-US" b="1"/>
        </a:p>
      </dgm:t>
    </dgm:pt>
    <dgm:pt modelId="{94BA157A-BD25-4B57-BC9F-6B8554A21912}" type="pres">
      <dgm:prSet presAssocID="{320BC2E3-7034-42D1-A0B8-A45C765B092A}" presName="Name0" presStyleCnt="0">
        <dgm:presLayoutVars>
          <dgm:dir/>
          <dgm:resizeHandles val="exact"/>
        </dgm:presLayoutVars>
      </dgm:prSet>
      <dgm:spPr/>
    </dgm:pt>
    <dgm:pt modelId="{C5F7D0A9-A765-4C91-BF52-568DA97D5DC8}" type="pres">
      <dgm:prSet presAssocID="{E96BAFF6-7AE6-48F0-A031-5BFC7802FB95}" presName="node" presStyleLbl="node1" presStyleIdx="0" presStyleCnt="7">
        <dgm:presLayoutVars>
          <dgm:bulletEnabled val="1"/>
        </dgm:presLayoutVars>
      </dgm:prSet>
      <dgm:spPr/>
    </dgm:pt>
    <dgm:pt modelId="{569FBDE1-19CB-452B-90C9-F73C505D6F9E}" type="pres">
      <dgm:prSet presAssocID="{035C5DFD-0523-4C06-8E28-815C3CCB0FB2}" presName="sibTrans" presStyleLbl="sibTrans2D1" presStyleIdx="0" presStyleCnt="6"/>
      <dgm:spPr/>
    </dgm:pt>
    <dgm:pt modelId="{33E9D7C3-467C-46A0-8045-461BC7720B79}" type="pres">
      <dgm:prSet presAssocID="{035C5DFD-0523-4C06-8E28-815C3CCB0FB2}" presName="connectorText" presStyleLbl="sibTrans2D1" presStyleIdx="0" presStyleCnt="6"/>
      <dgm:spPr/>
    </dgm:pt>
    <dgm:pt modelId="{D32879F6-F862-46CB-B7F4-D39EE0659ED7}" type="pres">
      <dgm:prSet presAssocID="{A47BE3B2-69D9-463E-9C7C-39B8788B811B}" presName="node" presStyleLbl="node1" presStyleIdx="1" presStyleCnt="7">
        <dgm:presLayoutVars>
          <dgm:bulletEnabled val="1"/>
        </dgm:presLayoutVars>
      </dgm:prSet>
      <dgm:spPr/>
    </dgm:pt>
    <dgm:pt modelId="{0AEA8AB5-FCE1-4AC5-ADD1-FD410803BAD8}" type="pres">
      <dgm:prSet presAssocID="{FAE91071-DAF7-4A01-9EE5-9373921D3D91}" presName="sibTrans" presStyleLbl="sibTrans2D1" presStyleIdx="1" presStyleCnt="6"/>
      <dgm:spPr/>
    </dgm:pt>
    <dgm:pt modelId="{C14EDCC4-7A9D-4BF4-AE1C-C10F5C1792CD}" type="pres">
      <dgm:prSet presAssocID="{FAE91071-DAF7-4A01-9EE5-9373921D3D91}" presName="connectorText" presStyleLbl="sibTrans2D1" presStyleIdx="1" presStyleCnt="6"/>
      <dgm:spPr/>
    </dgm:pt>
    <dgm:pt modelId="{B2110E59-8498-4FA8-89E8-0E95D12B7743}" type="pres">
      <dgm:prSet presAssocID="{FBF5A2A2-B760-4B6B-8F7B-B54EB01C3AB5}" presName="node" presStyleLbl="node1" presStyleIdx="2" presStyleCnt="7">
        <dgm:presLayoutVars>
          <dgm:bulletEnabled val="1"/>
        </dgm:presLayoutVars>
      </dgm:prSet>
      <dgm:spPr/>
    </dgm:pt>
    <dgm:pt modelId="{18CE6AA3-1D1B-4C38-B2E5-1D434B43F9E3}" type="pres">
      <dgm:prSet presAssocID="{700DDAD3-F742-4D1A-B5BF-14B1EEE9EB71}" presName="sibTrans" presStyleLbl="sibTrans2D1" presStyleIdx="2" presStyleCnt="6"/>
      <dgm:spPr/>
    </dgm:pt>
    <dgm:pt modelId="{27CF6AFE-C66C-4353-ADD9-6E177BDCD4B7}" type="pres">
      <dgm:prSet presAssocID="{700DDAD3-F742-4D1A-B5BF-14B1EEE9EB71}" presName="connectorText" presStyleLbl="sibTrans2D1" presStyleIdx="2" presStyleCnt="6"/>
      <dgm:spPr/>
    </dgm:pt>
    <dgm:pt modelId="{C0C36623-5D18-48D6-A42D-FE4301F0EAE5}" type="pres">
      <dgm:prSet presAssocID="{D2C15394-CC79-4882-B189-67C4DD79E140}" presName="node" presStyleLbl="node1" presStyleIdx="3" presStyleCnt="7">
        <dgm:presLayoutVars>
          <dgm:bulletEnabled val="1"/>
        </dgm:presLayoutVars>
      </dgm:prSet>
      <dgm:spPr/>
    </dgm:pt>
    <dgm:pt modelId="{5A52FD1D-0463-4CE6-8BB0-6B0AA94C5409}" type="pres">
      <dgm:prSet presAssocID="{9ABF4480-5CE2-4ADF-AE33-373B0E7BEA07}" presName="sibTrans" presStyleLbl="sibTrans2D1" presStyleIdx="3" presStyleCnt="6"/>
      <dgm:spPr/>
    </dgm:pt>
    <dgm:pt modelId="{0E5A60D4-711B-45E7-B184-A0F9F1FCC36B}" type="pres">
      <dgm:prSet presAssocID="{9ABF4480-5CE2-4ADF-AE33-373B0E7BEA07}" presName="connectorText" presStyleLbl="sibTrans2D1" presStyleIdx="3" presStyleCnt="6"/>
      <dgm:spPr/>
    </dgm:pt>
    <dgm:pt modelId="{935728C9-8D4E-4465-BA4C-CEDA68825246}" type="pres">
      <dgm:prSet presAssocID="{EECD3A44-088E-4D8A-B70D-DF5E64AC79E1}" presName="node" presStyleLbl="node1" presStyleIdx="4" presStyleCnt="7">
        <dgm:presLayoutVars>
          <dgm:bulletEnabled val="1"/>
        </dgm:presLayoutVars>
      </dgm:prSet>
      <dgm:spPr/>
    </dgm:pt>
    <dgm:pt modelId="{D9125517-9BC8-439F-8E49-E10FD1EDF8DD}" type="pres">
      <dgm:prSet presAssocID="{FBE1CAEF-4E43-45FB-BD52-E306084040C1}" presName="sibTrans" presStyleLbl="sibTrans2D1" presStyleIdx="4" presStyleCnt="6"/>
      <dgm:spPr/>
    </dgm:pt>
    <dgm:pt modelId="{228E7C76-4E05-44EA-AAB5-8E6FDEC0AC50}" type="pres">
      <dgm:prSet presAssocID="{FBE1CAEF-4E43-45FB-BD52-E306084040C1}" presName="connectorText" presStyleLbl="sibTrans2D1" presStyleIdx="4" presStyleCnt="6"/>
      <dgm:spPr/>
    </dgm:pt>
    <dgm:pt modelId="{A7719CCF-C608-4FAC-8950-641DCC9C0654}" type="pres">
      <dgm:prSet presAssocID="{E610B59C-DA7B-49EA-8A78-096229D89FFA}" presName="node" presStyleLbl="node1" presStyleIdx="5" presStyleCnt="7">
        <dgm:presLayoutVars>
          <dgm:bulletEnabled val="1"/>
        </dgm:presLayoutVars>
      </dgm:prSet>
      <dgm:spPr/>
    </dgm:pt>
    <dgm:pt modelId="{E298E5D7-9046-4A36-ABD0-1928BA114E33}" type="pres">
      <dgm:prSet presAssocID="{33816260-FC62-4EED-BE30-C67DBDA4D1AD}" presName="sibTrans" presStyleLbl="sibTrans2D1" presStyleIdx="5" presStyleCnt="6"/>
      <dgm:spPr/>
    </dgm:pt>
    <dgm:pt modelId="{94CF394B-98A4-475E-9A07-7CE7F63C34D6}" type="pres">
      <dgm:prSet presAssocID="{33816260-FC62-4EED-BE30-C67DBDA4D1AD}" presName="connectorText" presStyleLbl="sibTrans2D1" presStyleIdx="5" presStyleCnt="6"/>
      <dgm:spPr/>
    </dgm:pt>
    <dgm:pt modelId="{1EB00530-8226-45E3-B52D-AE8C616EF466}" type="pres">
      <dgm:prSet presAssocID="{EF323F95-36E4-41FF-964B-E69235A7845F}" presName="node" presStyleLbl="node1" presStyleIdx="6" presStyleCnt="7">
        <dgm:presLayoutVars>
          <dgm:bulletEnabled val="1"/>
        </dgm:presLayoutVars>
      </dgm:prSet>
      <dgm:spPr/>
    </dgm:pt>
  </dgm:ptLst>
  <dgm:cxnLst>
    <dgm:cxn modelId="{DDC62F0B-CE53-4F49-AE55-E0EEDBCAC328}" type="presOf" srcId="{9ABF4480-5CE2-4ADF-AE33-373B0E7BEA07}" destId="{5A52FD1D-0463-4CE6-8BB0-6B0AA94C5409}" srcOrd="0" destOrd="0" presId="urn:microsoft.com/office/officeart/2005/8/layout/process1"/>
    <dgm:cxn modelId="{EDF3700F-CEB2-491C-9762-19C951913027}" type="presOf" srcId="{320BC2E3-7034-42D1-A0B8-A45C765B092A}" destId="{94BA157A-BD25-4B57-BC9F-6B8554A21912}" srcOrd="0" destOrd="0" presId="urn:microsoft.com/office/officeart/2005/8/layout/process1"/>
    <dgm:cxn modelId="{2822382A-748C-4257-B4C8-B433A16B8158}" type="presOf" srcId="{FAE91071-DAF7-4A01-9EE5-9373921D3D91}" destId="{0AEA8AB5-FCE1-4AC5-ADD1-FD410803BAD8}" srcOrd="0" destOrd="0" presId="urn:microsoft.com/office/officeart/2005/8/layout/process1"/>
    <dgm:cxn modelId="{EB22155D-ADB8-4D5D-824D-7887B56ED837}" type="presOf" srcId="{E610B59C-DA7B-49EA-8A78-096229D89FFA}" destId="{A7719CCF-C608-4FAC-8950-641DCC9C0654}" srcOrd="0" destOrd="0" presId="urn:microsoft.com/office/officeart/2005/8/layout/process1"/>
    <dgm:cxn modelId="{B7AD0060-5ADA-4C49-92C7-D6B997884C7C}" type="presOf" srcId="{A47BE3B2-69D9-463E-9C7C-39B8788B811B}" destId="{D32879F6-F862-46CB-B7F4-D39EE0659ED7}" srcOrd="0" destOrd="0" presId="urn:microsoft.com/office/officeart/2005/8/layout/process1"/>
    <dgm:cxn modelId="{4A30BF43-BB6D-45CD-AA15-5EA5B5556826}" srcId="{320BC2E3-7034-42D1-A0B8-A45C765B092A}" destId="{D2C15394-CC79-4882-B189-67C4DD79E140}" srcOrd="3" destOrd="0" parTransId="{006596AB-0BCA-4396-B7D0-72FD7DEBFA2D}" sibTransId="{9ABF4480-5CE2-4ADF-AE33-373B0E7BEA07}"/>
    <dgm:cxn modelId="{FB511344-BBF2-4525-9E8D-368732A7B001}" type="presOf" srcId="{EF323F95-36E4-41FF-964B-E69235A7845F}" destId="{1EB00530-8226-45E3-B52D-AE8C616EF466}" srcOrd="0" destOrd="0" presId="urn:microsoft.com/office/officeart/2005/8/layout/process1"/>
    <dgm:cxn modelId="{F2A34069-E3F0-480D-965E-04531F058C9D}" type="presOf" srcId="{D2C15394-CC79-4882-B189-67C4DD79E140}" destId="{C0C36623-5D18-48D6-A42D-FE4301F0EAE5}" srcOrd="0" destOrd="0" presId="urn:microsoft.com/office/officeart/2005/8/layout/process1"/>
    <dgm:cxn modelId="{4DA74E69-FFEA-4890-A223-6BDB3144527A}" type="presOf" srcId="{E96BAFF6-7AE6-48F0-A031-5BFC7802FB95}" destId="{C5F7D0A9-A765-4C91-BF52-568DA97D5DC8}" srcOrd="0" destOrd="0" presId="urn:microsoft.com/office/officeart/2005/8/layout/process1"/>
    <dgm:cxn modelId="{0BD64B4C-088A-40F4-BA8C-C3DEB9BD644F}" type="presOf" srcId="{035C5DFD-0523-4C06-8E28-815C3CCB0FB2}" destId="{33E9D7C3-467C-46A0-8045-461BC7720B79}" srcOrd="1" destOrd="0" presId="urn:microsoft.com/office/officeart/2005/8/layout/process1"/>
    <dgm:cxn modelId="{F8A9C050-0F1A-4496-B53F-81A9BEF2FC1F}" type="presOf" srcId="{FBF5A2A2-B760-4B6B-8F7B-B54EB01C3AB5}" destId="{B2110E59-8498-4FA8-89E8-0E95D12B7743}" srcOrd="0" destOrd="0" presId="urn:microsoft.com/office/officeart/2005/8/layout/process1"/>
    <dgm:cxn modelId="{D7D05B76-D4C7-4B74-ABF0-9DFD628328DE}" srcId="{320BC2E3-7034-42D1-A0B8-A45C765B092A}" destId="{E96BAFF6-7AE6-48F0-A031-5BFC7802FB95}" srcOrd="0" destOrd="0" parTransId="{7764B019-DCE8-4BA2-BA83-8259851A428F}" sibTransId="{035C5DFD-0523-4C06-8E28-815C3CCB0FB2}"/>
    <dgm:cxn modelId="{C047705A-CBBB-4693-A046-EF3D04D06918}" type="presOf" srcId="{FBE1CAEF-4E43-45FB-BD52-E306084040C1}" destId="{228E7C76-4E05-44EA-AAB5-8E6FDEC0AC50}" srcOrd="1" destOrd="0" presId="urn:microsoft.com/office/officeart/2005/8/layout/process1"/>
    <dgm:cxn modelId="{E6C8B481-7512-442D-9641-ED8AE7F52877}" type="presOf" srcId="{700DDAD3-F742-4D1A-B5BF-14B1EEE9EB71}" destId="{18CE6AA3-1D1B-4C38-B2E5-1D434B43F9E3}" srcOrd="0" destOrd="0" presId="urn:microsoft.com/office/officeart/2005/8/layout/process1"/>
    <dgm:cxn modelId="{9AEB868D-145B-433E-8CC9-7FA0E7C5E73C}" type="presOf" srcId="{FAE91071-DAF7-4A01-9EE5-9373921D3D91}" destId="{C14EDCC4-7A9D-4BF4-AE1C-C10F5C1792CD}" srcOrd="1" destOrd="0" presId="urn:microsoft.com/office/officeart/2005/8/layout/process1"/>
    <dgm:cxn modelId="{8A210E94-12A9-41F8-A327-E4BDC415F99A}" type="presOf" srcId="{33816260-FC62-4EED-BE30-C67DBDA4D1AD}" destId="{94CF394B-98A4-475E-9A07-7CE7F63C34D6}" srcOrd="1" destOrd="0" presId="urn:microsoft.com/office/officeart/2005/8/layout/process1"/>
    <dgm:cxn modelId="{A7104796-DB67-48F7-8F77-0A914BAA080E}" srcId="{320BC2E3-7034-42D1-A0B8-A45C765B092A}" destId="{EF323F95-36E4-41FF-964B-E69235A7845F}" srcOrd="6" destOrd="0" parTransId="{EA9620E1-D7C8-4A68-8FD4-0AC7075F0683}" sibTransId="{800E9A0B-753C-4956-A400-58B8488919F5}"/>
    <dgm:cxn modelId="{8CEE8999-C54D-45C9-A5B2-87F919D4E933}" type="presOf" srcId="{33816260-FC62-4EED-BE30-C67DBDA4D1AD}" destId="{E298E5D7-9046-4A36-ABD0-1928BA114E33}" srcOrd="0" destOrd="0" presId="urn:microsoft.com/office/officeart/2005/8/layout/process1"/>
    <dgm:cxn modelId="{1FDB61AA-7B1F-489E-9959-5FC54B0B6596}" type="presOf" srcId="{9ABF4480-5CE2-4ADF-AE33-373B0E7BEA07}" destId="{0E5A60D4-711B-45E7-B184-A0F9F1FCC36B}" srcOrd="1" destOrd="0" presId="urn:microsoft.com/office/officeart/2005/8/layout/process1"/>
    <dgm:cxn modelId="{D39631BC-27FF-44BA-8FBD-D14B94AE4404}" srcId="{320BC2E3-7034-42D1-A0B8-A45C765B092A}" destId="{FBF5A2A2-B760-4B6B-8F7B-B54EB01C3AB5}" srcOrd="2" destOrd="0" parTransId="{819339D4-5190-4E8F-9489-60456A83D09D}" sibTransId="{700DDAD3-F742-4D1A-B5BF-14B1EEE9EB71}"/>
    <dgm:cxn modelId="{69DCACC7-A0D8-43FE-8CDA-A5352DD2187B}" type="presOf" srcId="{700DDAD3-F742-4D1A-B5BF-14B1EEE9EB71}" destId="{27CF6AFE-C66C-4353-ADD9-6E177BDCD4B7}" srcOrd="1" destOrd="0" presId="urn:microsoft.com/office/officeart/2005/8/layout/process1"/>
    <dgm:cxn modelId="{0D30E0C9-1292-46DE-A6F2-232A97FAF060}" type="presOf" srcId="{EECD3A44-088E-4D8A-B70D-DF5E64AC79E1}" destId="{935728C9-8D4E-4465-BA4C-CEDA68825246}" srcOrd="0" destOrd="0" presId="urn:microsoft.com/office/officeart/2005/8/layout/process1"/>
    <dgm:cxn modelId="{03852DD3-93DD-4ABA-A7CD-B395F0B35F12}" srcId="{320BC2E3-7034-42D1-A0B8-A45C765B092A}" destId="{EECD3A44-088E-4D8A-B70D-DF5E64AC79E1}" srcOrd="4" destOrd="0" parTransId="{9B1C3465-67F0-4FFD-A834-6EA779F79EC9}" sibTransId="{FBE1CAEF-4E43-45FB-BD52-E306084040C1}"/>
    <dgm:cxn modelId="{E9C61FD8-718B-4C0E-9912-FFAFE2E36653}" srcId="{320BC2E3-7034-42D1-A0B8-A45C765B092A}" destId="{A47BE3B2-69D9-463E-9C7C-39B8788B811B}" srcOrd="1" destOrd="0" parTransId="{1C24010C-DBD9-4CA4-B88C-0F211C48BB84}" sibTransId="{FAE91071-DAF7-4A01-9EE5-9373921D3D91}"/>
    <dgm:cxn modelId="{F76DA7F5-CC8D-486A-9A04-9D05B41794B8}" type="presOf" srcId="{FBE1CAEF-4E43-45FB-BD52-E306084040C1}" destId="{D9125517-9BC8-439F-8E49-E10FD1EDF8DD}" srcOrd="0" destOrd="0" presId="urn:microsoft.com/office/officeart/2005/8/layout/process1"/>
    <dgm:cxn modelId="{5900DBFA-C3C2-4711-9821-918CB0F7BC2B}" srcId="{320BC2E3-7034-42D1-A0B8-A45C765B092A}" destId="{E610B59C-DA7B-49EA-8A78-096229D89FFA}" srcOrd="5" destOrd="0" parTransId="{62ED37CF-2BA0-421F-AFB2-4C6CF63B771C}" sibTransId="{33816260-FC62-4EED-BE30-C67DBDA4D1AD}"/>
    <dgm:cxn modelId="{3D8129FD-A38C-439C-99B9-0953C777296D}" type="presOf" srcId="{035C5DFD-0523-4C06-8E28-815C3CCB0FB2}" destId="{569FBDE1-19CB-452B-90C9-F73C505D6F9E}" srcOrd="0" destOrd="0" presId="urn:microsoft.com/office/officeart/2005/8/layout/process1"/>
    <dgm:cxn modelId="{BD975821-1A4C-46F9-B0E4-D1910E03AB45}" type="presParOf" srcId="{94BA157A-BD25-4B57-BC9F-6B8554A21912}" destId="{C5F7D0A9-A765-4C91-BF52-568DA97D5DC8}" srcOrd="0" destOrd="0" presId="urn:microsoft.com/office/officeart/2005/8/layout/process1"/>
    <dgm:cxn modelId="{E7F3364F-0628-4150-9073-E7C36B863715}" type="presParOf" srcId="{94BA157A-BD25-4B57-BC9F-6B8554A21912}" destId="{569FBDE1-19CB-452B-90C9-F73C505D6F9E}" srcOrd="1" destOrd="0" presId="urn:microsoft.com/office/officeart/2005/8/layout/process1"/>
    <dgm:cxn modelId="{E133B5FD-6F40-42A0-A462-FA8E10104AB6}" type="presParOf" srcId="{569FBDE1-19CB-452B-90C9-F73C505D6F9E}" destId="{33E9D7C3-467C-46A0-8045-461BC7720B79}" srcOrd="0" destOrd="0" presId="urn:microsoft.com/office/officeart/2005/8/layout/process1"/>
    <dgm:cxn modelId="{DF7ECB8F-E5C5-472E-9B56-769FDB115454}" type="presParOf" srcId="{94BA157A-BD25-4B57-BC9F-6B8554A21912}" destId="{D32879F6-F862-46CB-B7F4-D39EE0659ED7}" srcOrd="2" destOrd="0" presId="urn:microsoft.com/office/officeart/2005/8/layout/process1"/>
    <dgm:cxn modelId="{853731B2-669B-4813-8556-FE5CE53409BC}" type="presParOf" srcId="{94BA157A-BD25-4B57-BC9F-6B8554A21912}" destId="{0AEA8AB5-FCE1-4AC5-ADD1-FD410803BAD8}" srcOrd="3" destOrd="0" presId="urn:microsoft.com/office/officeart/2005/8/layout/process1"/>
    <dgm:cxn modelId="{F3895744-931A-4CC1-8D8E-FDD1F40704CF}" type="presParOf" srcId="{0AEA8AB5-FCE1-4AC5-ADD1-FD410803BAD8}" destId="{C14EDCC4-7A9D-4BF4-AE1C-C10F5C1792CD}" srcOrd="0" destOrd="0" presId="urn:microsoft.com/office/officeart/2005/8/layout/process1"/>
    <dgm:cxn modelId="{D8DDAB17-4120-49CD-BE55-335145DBC6DB}" type="presParOf" srcId="{94BA157A-BD25-4B57-BC9F-6B8554A21912}" destId="{B2110E59-8498-4FA8-89E8-0E95D12B7743}" srcOrd="4" destOrd="0" presId="urn:microsoft.com/office/officeart/2005/8/layout/process1"/>
    <dgm:cxn modelId="{4466A223-D9A4-4A8B-A913-238FAB342F72}" type="presParOf" srcId="{94BA157A-BD25-4B57-BC9F-6B8554A21912}" destId="{18CE6AA3-1D1B-4C38-B2E5-1D434B43F9E3}" srcOrd="5" destOrd="0" presId="urn:microsoft.com/office/officeart/2005/8/layout/process1"/>
    <dgm:cxn modelId="{EB33B680-0D2F-4292-A646-1AFE12D30453}" type="presParOf" srcId="{18CE6AA3-1D1B-4C38-B2E5-1D434B43F9E3}" destId="{27CF6AFE-C66C-4353-ADD9-6E177BDCD4B7}" srcOrd="0" destOrd="0" presId="urn:microsoft.com/office/officeart/2005/8/layout/process1"/>
    <dgm:cxn modelId="{649B6759-D4F1-49DA-BED3-B3C46C1C71BB}" type="presParOf" srcId="{94BA157A-BD25-4B57-BC9F-6B8554A21912}" destId="{C0C36623-5D18-48D6-A42D-FE4301F0EAE5}" srcOrd="6" destOrd="0" presId="urn:microsoft.com/office/officeart/2005/8/layout/process1"/>
    <dgm:cxn modelId="{5A664B51-1C28-4341-8D2D-BFE1A87090F3}" type="presParOf" srcId="{94BA157A-BD25-4B57-BC9F-6B8554A21912}" destId="{5A52FD1D-0463-4CE6-8BB0-6B0AA94C5409}" srcOrd="7" destOrd="0" presId="urn:microsoft.com/office/officeart/2005/8/layout/process1"/>
    <dgm:cxn modelId="{16B4D032-2247-47D1-B157-66FA113AF758}" type="presParOf" srcId="{5A52FD1D-0463-4CE6-8BB0-6B0AA94C5409}" destId="{0E5A60D4-711B-45E7-B184-A0F9F1FCC36B}" srcOrd="0" destOrd="0" presId="urn:microsoft.com/office/officeart/2005/8/layout/process1"/>
    <dgm:cxn modelId="{0A782593-F241-4510-BA20-A87691040345}" type="presParOf" srcId="{94BA157A-BD25-4B57-BC9F-6B8554A21912}" destId="{935728C9-8D4E-4465-BA4C-CEDA68825246}" srcOrd="8" destOrd="0" presId="urn:microsoft.com/office/officeart/2005/8/layout/process1"/>
    <dgm:cxn modelId="{D0CF6F05-3553-45E5-AE24-072068F55273}" type="presParOf" srcId="{94BA157A-BD25-4B57-BC9F-6B8554A21912}" destId="{D9125517-9BC8-439F-8E49-E10FD1EDF8DD}" srcOrd="9" destOrd="0" presId="urn:microsoft.com/office/officeart/2005/8/layout/process1"/>
    <dgm:cxn modelId="{7A5A61FC-75B8-4F1C-8683-58A1AF2F6008}" type="presParOf" srcId="{D9125517-9BC8-439F-8E49-E10FD1EDF8DD}" destId="{228E7C76-4E05-44EA-AAB5-8E6FDEC0AC50}" srcOrd="0" destOrd="0" presId="urn:microsoft.com/office/officeart/2005/8/layout/process1"/>
    <dgm:cxn modelId="{7266F4B3-C7AA-41A6-B45F-DF535C14E5F3}" type="presParOf" srcId="{94BA157A-BD25-4B57-BC9F-6B8554A21912}" destId="{A7719CCF-C608-4FAC-8950-641DCC9C0654}" srcOrd="10" destOrd="0" presId="urn:microsoft.com/office/officeart/2005/8/layout/process1"/>
    <dgm:cxn modelId="{1F14F19B-F17D-40DC-8CDD-7E20F5C87E04}" type="presParOf" srcId="{94BA157A-BD25-4B57-BC9F-6B8554A21912}" destId="{E298E5D7-9046-4A36-ABD0-1928BA114E33}" srcOrd="11" destOrd="0" presId="urn:microsoft.com/office/officeart/2005/8/layout/process1"/>
    <dgm:cxn modelId="{10216F6F-8FDC-4D8A-A370-AC0D1A199DE7}" type="presParOf" srcId="{E298E5D7-9046-4A36-ABD0-1928BA114E33}" destId="{94CF394B-98A4-475E-9A07-7CE7F63C34D6}" srcOrd="0" destOrd="0" presId="urn:microsoft.com/office/officeart/2005/8/layout/process1"/>
    <dgm:cxn modelId="{DD464383-060E-4C46-BD60-F254A80EA879}" type="presParOf" srcId="{94BA157A-BD25-4B57-BC9F-6B8554A21912}" destId="{1EB00530-8226-45E3-B52D-AE8C616EF466}" srcOrd="1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3492454-F7A3-4D40-9D4F-514218DB601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B7245BF-A499-46E3-88BD-3F5400822645}">
      <dgm:prSet/>
      <dgm:spPr/>
      <dgm:t>
        <a:bodyPr/>
        <a:lstStyle/>
        <a:p>
          <a:r>
            <a:rPr lang="en-US" dirty="0"/>
            <a:t>The taxonomy of privacy is a structured framework designed to categorize and define various types of privacy-related problems and harms. </a:t>
          </a:r>
        </a:p>
      </dgm:t>
    </dgm:pt>
    <dgm:pt modelId="{39E2EBD1-A80F-4C51-BB01-B76641F6F667}" type="parTrans" cxnId="{1F7E0017-F522-48C8-B97E-228E725E6FF6}">
      <dgm:prSet/>
      <dgm:spPr/>
      <dgm:t>
        <a:bodyPr/>
        <a:lstStyle/>
        <a:p>
          <a:endParaRPr lang="en-US"/>
        </a:p>
      </dgm:t>
    </dgm:pt>
    <dgm:pt modelId="{9135FB73-5252-47CC-9D84-0C17ED58732E}" type="sibTrans" cxnId="{1F7E0017-F522-48C8-B97E-228E725E6FF6}">
      <dgm:prSet/>
      <dgm:spPr/>
      <dgm:t>
        <a:bodyPr/>
        <a:lstStyle/>
        <a:p>
          <a:endParaRPr lang="en-US"/>
        </a:p>
      </dgm:t>
    </dgm:pt>
    <dgm:pt modelId="{14C539AD-E1CC-4312-8CF8-4660F8560CB9}">
      <dgm:prSet/>
      <dgm:spPr/>
      <dgm:t>
        <a:bodyPr/>
        <a:lstStyle/>
        <a:p>
          <a:r>
            <a:rPr lang="en-US" dirty="0"/>
            <a:t>Developed by Daniel Solove, it identifies specific activities and practices that violate privacy, rather than treating privacy as a single, vague concept. </a:t>
          </a:r>
        </a:p>
      </dgm:t>
    </dgm:pt>
    <dgm:pt modelId="{F1F4C8D9-AD2C-4A3A-AB6B-EAF5ED4CAD74}" type="parTrans" cxnId="{CFD7FCC4-8504-488E-BD8D-3C84E2576351}">
      <dgm:prSet/>
      <dgm:spPr/>
      <dgm:t>
        <a:bodyPr/>
        <a:lstStyle/>
        <a:p>
          <a:endParaRPr lang="en-US"/>
        </a:p>
      </dgm:t>
    </dgm:pt>
    <dgm:pt modelId="{0AA4D6D1-02DC-4695-8326-BD61FA7DC63D}" type="sibTrans" cxnId="{CFD7FCC4-8504-488E-BD8D-3C84E2576351}">
      <dgm:prSet/>
      <dgm:spPr/>
      <dgm:t>
        <a:bodyPr/>
        <a:lstStyle/>
        <a:p>
          <a:endParaRPr lang="en-US"/>
        </a:p>
      </dgm:t>
    </dgm:pt>
    <dgm:pt modelId="{1BAEB735-FD48-45F6-AF88-8A8CF5B4FC9C}">
      <dgm:prSet/>
      <dgm:spPr/>
      <dgm:t>
        <a:bodyPr/>
        <a:lstStyle/>
        <a:p>
          <a:r>
            <a:rPr lang="en-US" dirty="0"/>
            <a:t>The taxonomy divides privacy violations into four main categories: information collection, information processing, information dissemination, and invasion.</a:t>
          </a:r>
        </a:p>
      </dgm:t>
    </dgm:pt>
    <dgm:pt modelId="{D9307E58-C915-4F6F-9064-ACF3089A3E45}" type="parTrans" cxnId="{D2DE3546-6E0A-4E74-853C-8F6CC2A3E9C9}">
      <dgm:prSet/>
      <dgm:spPr/>
      <dgm:t>
        <a:bodyPr/>
        <a:lstStyle/>
        <a:p>
          <a:endParaRPr lang="en-US"/>
        </a:p>
      </dgm:t>
    </dgm:pt>
    <dgm:pt modelId="{1969D7B3-ACCD-4FFF-89E3-78D8C3592408}" type="sibTrans" cxnId="{D2DE3546-6E0A-4E74-853C-8F6CC2A3E9C9}">
      <dgm:prSet/>
      <dgm:spPr/>
      <dgm:t>
        <a:bodyPr/>
        <a:lstStyle/>
        <a:p>
          <a:endParaRPr lang="en-US"/>
        </a:p>
      </dgm:t>
    </dgm:pt>
    <dgm:pt modelId="{930D5A1A-34C1-484C-BD1C-92F75037A5B4}" type="pres">
      <dgm:prSet presAssocID="{E3492454-F7A3-4D40-9D4F-514218DB6011}" presName="root" presStyleCnt="0">
        <dgm:presLayoutVars>
          <dgm:dir/>
          <dgm:resizeHandles val="exact"/>
        </dgm:presLayoutVars>
      </dgm:prSet>
      <dgm:spPr/>
    </dgm:pt>
    <dgm:pt modelId="{BD62FB52-B969-4361-978A-467021C0B271}" type="pres">
      <dgm:prSet presAssocID="{0B7245BF-A499-46E3-88BD-3F5400822645}" presName="compNode" presStyleCnt="0"/>
      <dgm:spPr/>
    </dgm:pt>
    <dgm:pt modelId="{71FF18DB-AF40-4C79-8A3D-098121BD0CC8}" type="pres">
      <dgm:prSet presAssocID="{0B7245BF-A499-46E3-88BD-3F5400822645}" presName="bgRect" presStyleLbl="bgShp" presStyleIdx="0" presStyleCnt="3"/>
      <dgm:spPr/>
    </dgm:pt>
    <dgm:pt modelId="{8D2D3EC2-AE57-4CB0-AB24-B312C8DC61D1}" type="pres">
      <dgm:prSet presAssocID="{0B7245BF-A499-46E3-88BD-3F540082264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6DC33D0F-EBBC-4E8E-B8F4-0E673E6208AD}" type="pres">
      <dgm:prSet presAssocID="{0B7245BF-A499-46E3-88BD-3F5400822645}" presName="spaceRect" presStyleCnt="0"/>
      <dgm:spPr/>
    </dgm:pt>
    <dgm:pt modelId="{16378011-0DD9-4E14-B8C9-EADE1F29DF5E}" type="pres">
      <dgm:prSet presAssocID="{0B7245BF-A499-46E3-88BD-3F5400822645}" presName="parTx" presStyleLbl="revTx" presStyleIdx="0" presStyleCnt="3">
        <dgm:presLayoutVars>
          <dgm:chMax val="0"/>
          <dgm:chPref val="0"/>
        </dgm:presLayoutVars>
      </dgm:prSet>
      <dgm:spPr/>
    </dgm:pt>
    <dgm:pt modelId="{14606339-737C-4913-BEC3-27CF31BAEB65}" type="pres">
      <dgm:prSet presAssocID="{9135FB73-5252-47CC-9D84-0C17ED58732E}" presName="sibTrans" presStyleCnt="0"/>
      <dgm:spPr/>
    </dgm:pt>
    <dgm:pt modelId="{7857FACF-C187-4551-8865-82FA36B4D977}" type="pres">
      <dgm:prSet presAssocID="{14C539AD-E1CC-4312-8CF8-4660F8560CB9}" presName="compNode" presStyleCnt="0"/>
      <dgm:spPr/>
    </dgm:pt>
    <dgm:pt modelId="{80138388-020C-43FE-B8F7-DF3CD063B97B}" type="pres">
      <dgm:prSet presAssocID="{14C539AD-E1CC-4312-8CF8-4660F8560CB9}" presName="bgRect" presStyleLbl="bgShp" presStyleIdx="1" presStyleCnt="3"/>
      <dgm:spPr/>
    </dgm:pt>
    <dgm:pt modelId="{7060363B-FB68-4CAA-9C75-C0A38A4B7CFF}" type="pres">
      <dgm:prSet presAssocID="{14C539AD-E1CC-4312-8CF8-4660F8560CB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Judge"/>
        </a:ext>
      </dgm:extLst>
    </dgm:pt>
    <dgm:pt modelId="{3230A7B5-8531-4B93-B6C9-045E1DDAB9A9}" type="pres">
      <dgm:prSet presAssocID="{14C539AD-E1CC-4312-8CF8-4660F8560CB9}" presName="spaceRect" presStyleCnt="0"/>
      <dgm:spPr/>
    </dgm:pt>
    <dgm:pt modelId="{B192B851-66F4-42C9-B720-CC972CC76112}" type="pres">
      <dgm:prSet presAssocID="{14C539AD-E1CC-4312-8CF8-4660F8560CB9}" presName="parTx" presStyleLbl="revTx" presStyleIdx="1" presStyleCnt="3">
        <dgm:presLayoutVars>
          <dgm:chMax val="0"/>
          <dgm:chPref val="0"/>
        </dgm:presLayoutVars>
      </dgm:prSet>
      <dgm:spPr/>
    </dgm:pt>
    <dgm:pt modelId="{7305A871-01A2-4A7B-A714-A1BFD401C9B5}" type="pres">
      <dgm:prSet presAssocID="{0AA4D6D1-02DC-4695-8326-BD61FA7DC63D}" presName="sibTrans" presStyleCnt="0"/>
      <dgm:spPr/>
    </dgm:pt>
    <dgm:pt modelId="{29091B52-DC43-4198-AE2F-5ED1491BAC23}" type="pres">
      <dgm:prSet presAssocID="{1BAEB735-FD48-45F6-AF88-8A8CF5B4FC9C}" presName="compNode" presStyleCnt="0"/>
      <dgm:spPr/>
    </dgm:pt>
    <dgm:pt modelId="{C15CFFB7-A813-4869-9504-849D6415B1ED}" type="pres">
      <dgm:prSet presAssocID="{1BAEB735-FD48-45F6-AF88-8A8CF5B4FC9C}" presName="bgRect" presStyleLbl="bgShp" presStyleIdx="2" presStyleCnt="3"/>
      <dgm:spPr/>
    </dgm:pt>
    <dgm:pt modelId="{0A05A10E-73FA-4AA1-8A11-7A55B0C823BE}" type="pres">
      <dgm:prSet presAssocID="{1BAEB735-FD48-45F6-AF88-8A8CF5B4FC9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chart"/>
        </a:ext>
      </dgm:extLst>
    </dgm:pt>
    <dgm:pt modelId="{56178AF4-1EB9-4F9A-A02D-1F1B506BCB22}" type="pres">
      <dgm:prSet presAssocID="{1BAEB735-FD48-45F6-AF88-8A8CF5B4FC9C}" presName="spaceRect" presStyleCnt="0"/>
      <dgm:spPr/>
    </dgm:pt>
    <dgm:pt modelId="{C64EB890-78E9-4C43-9664-16DCC40C06CF}" type="pres">
      <dgm:prSet presAssocID="{1BAEB735-FD48-45F6-AF88-8A8CF5B4FC9C}" presName="parTx" presStyleLbl="revTx" presStyleIdx="2" presStyleCnt="3">
        <dgm:presLayoutVars>
          <dgm:chMax val="0"/>
          <dgm:chPref val="0"/>
        </dgm:presLayoutVars>
      </dgm:prSet>
      <dgm:spPr/>
    </dgm:pt>
  </dgm:ptLst>
  <dgm:cxnLst>
    <dgm:cxn modelId="{1F7E0017-F522-48C8-B97E-228E725E6FF6}" srcId="{E3492454-F7A3-4D40-9D4F-514218DB6011}" destId="{0B7245BF-A499-46E3-88BD-3F5400822645}" srcOrd="0" destOrd="0" parTransId="{39E2EBD1-A80F-4C51-BB01-B76641F6F667}" sibTransId="{9135FB73-5252-47CC-9D84-0C17ED58732E}"/>
    <dgm:cxn modelId="{D2DE3546-6E0A-4E74-853C-8F6CC2A3E9C9}" srcId="{E3492454-F7A3-4D40-9D4F-514218DB6011}" destId="{1BAEB735-FD48-45F6-AF88-8A8CF5B4FC9C}" srcOrd="2" destOrd="0" parTransId="{D9307E58-C915-4F6F-9064-ACF3089A3E45}" sibTransId="{1969D7B3-ACCD-4FFF-89E3-78D8C3592408}"/>
    <dgm:cxn modelId="{2B7BFF50-397C-49E5-BF08-FF1EBC6CADE5}" type="presOf" srcId="{14C539AD-E1CC-4312-8CF8-4660F8560CB9}" destId="{B192B851-66F4-42C9-B720-CC972CC76112}" srcOrd="0" destOrd="0" presId="urn:microsoft.com/office/officeart/2018/2/layout/IconVerticalSolidList"/>
    <dgm:cxn modelId="{D42B777B-DD79-4B6D-928F-E764F9147AF1}" type="presOf" srcId="{1BAEB735-FD48-45F6-AF88-8A8CF5B4FC9C}" destId="{C64EB890-78E9-4C43-9664-16DCC40C06CF}" srcOrd="0" destOrd="0" presId="urn:microsoft.com/office/officeart/2018/2/layout/IconVerticalSolidList"/>
    <dgm:cxn modelId="{CFD7FCC4-8504-488E-BD8D-3C84E2576351}" srcId="{E3492454-F7A3-4D40-9D4F-514218DB6011}" destId="{14C539AD-E1CC-4312-8CF8-4660F8560CB9}" srcOrd="1" destOrd="0" parTransId="{F1F4C8D9-AD2C-4A3A-AB6B-EAF5ED4CAD74}" sibTransId="{0AA4D6D1-02DC-4695-8326-BD61FA7DC63D}"/>
    <dgm:cxn modelId="{2F2EA6CF-1401-49ED-859F-E3E6F953C62D}" type="presOf" srcId="{0B7245BF-A499-46E3-88BD-3F5400822645}" destId="{16378011-0DD9-4E14-B8C9-EADE1F29DF5E}" srcOrd="0" destOrd="0" presId="urn:microsoft.com/office/officeart/2018/2/layout/IconVerticalSolidList"/>
    <dgm:cxn modelId="{1090B9E6-68E5-449A-AD15-B47A8C10D69D}" type="presOf" srcId="{E3492454-F7A3-4D40-9D4F-514218DB6011}" destId="{930D5A1A-34C1-484C-BD1C-92F75037A5B4}" srcOrd="0" destOrd="0" presId="urn:microsoft.com/office/officeart/2018/2/layout/IconVerticalSolidList"/>
    <dgm:cxn modelId="{B27CA4C3-E538-4D83-B07B-F6FB35B635C9}" type="presParOf" srcId="{930D5A1A-34C1-484C-BD1C-92F75037A5B4}" destId="{BD62FB52-B969-4361-978A-467021C0B271}" srcOrd="0" destOrd="0" presId="urn:microsoft.com/office/officeart/2018/2/layout/IconVerticalSolidList"/>
    <dgm:cxn modelId="{5066A629-EED2-4D19-AD8D-E4D70F339340}" type="presParOf" srcId="{BD62FB52-B969-4361-978A-467021C0B271}" destId="{71FF18DB-AF40-4C79-8A3D-098121BD0CC8}" srcOrd="0" destOrd="0" presId="urn:microsoft.com/office/officeart/2018/2/layout/IconVerticalSolidList"/>
    <dgm:cxn modelId="{90A3743A-5F5E-40CC-A7D1-B5A9F6E7299F}" type="presParOf" srcId="{BD62FB52-B969-4361-978A-467021C0B271}" destId="{8D2D3EC2-AE57-4CB0-AB24-B312C8DC61D1}" srcOrd="1" destOrd="0" presId="urn:microsoft.com/office/officeart/2018/2/layout/IconVerticalSolidList"/>
    <dgm:cxn modelId="{4B8A6FC8-1645-42D5-BAAA-1F708005964A}" type="presParOf" srcId="{BD62FB52-B969-4361-978A-467021C0B271}" destId="{6DC33D0F-EBBC-4E8E-B8F4-0E673E6208AD}" srcOrd="2" destOrd="0" presId="urn:microsoft.com/office/officeart/2018/2/layout/IconVerticalSolidList"/>
    <dgm:cxn modelId="{B83DBF60-745F-48FF-B75D-BFCA9C066171}" type="presParOf" srcId="{BD62FB52-B969-4361-978A-467021C0B271}" destId="{16378011-0DD9-4E14-B8C9-EADE1F29DF5E}" srcOrd="3" destOrd="0" presId="urn:microsoft.com/office/officeart/2018/2/layout/IconVerticalSolidList"/>
    <dgm:cxn modelId="{70116C1A-4BEF-4F7C-BFC9-F32FAE268A2B}" type="presParOf" srcId="{930D5A1A-34C1-484C-BD1C-92F75037A5B4}" destId="{14606339-737C-4913-BEC3-27CF31BAEB65}" srcOrd="1" destOrd="0" presId="urn:microsoft.com/office/officeart/2018/2/layout/IconVerticalSolidList"/>
    <dgm:cxn modelId="{6A536CA3-0635-46AE-A50E-27A892F06C2A}" type="presParOf" srcId="{930D5A1A-34C1-484C-BD1C-92F75037A5B4}" destId="{7857FACF-C187-4551-8865-82FA36B4D977}" srcOrd="2" destOrd="0" presId="urn:microsoft.com/office/officeart/2018/2/layout/IconVerticalSolidList"/>
    <dgm:cxn modelId="{8CEA8B31-8E0F-4815-9C17-9D31A52FCB1B}" type="presParOf" srcId="{7857FACF-C187-4551-8865-82FA36B4D977}" destId="{80138388-020C-43FE-B8F7-DF3CD063B97B}" srcOrd="0" destOrd="0" presId="urn:microsoft.com/office/officeart/2018/2/layout/IconVerticalSolidList"/>
    <dgm:cxn modelId="{90A2E890-3341-4C72-9187-05DB9D0D0745}" type="presParOf" srcId="{7857FACF-C187-4551-8865-82FA36B4D977}" destId="{7060363B-FB68-4CAA-9C75-C0A38A4B7CFF}" srcOrd="1" destOrd="0" presId="urn:microsoft.com/office/officeart/2018/2/layout/IconVerticalSolidList"/>
    <dgm:cxn modelId="{CA0DC54A-C763-426D-B2A5-33B0DCA70BA0}" type="presParOf" srcId="{7857FACF-C187-4551-8865-82FA36B4D977}" destId="{3230A7B5-8531-4B93-B6C9-045E1DDAB9A9}" srcOrd="2" destOrd="0" presId="urn:microsoft.com/office/officeart/2018/2/layout/IconVerticalSolidList"/>
    <dgm:cxn modelId="{3669B991-BAD5-4F35-BE5D-D05503FD9206}" type="presParOf" srcId="{7857FACF-C187-4551-8865-82FA36B4D977}" destId="{B192B851-66F4-42C9-B720-CC972CC76112}" srcOrd="3" destOrd="0" presId="urn:microsoft.com/office/officeart/2018/2/layout/IconVerticalSolidList"/>
    <dgm:cxn modelId="{54515355-7DA0-4DAC-B3DE-0C838CF6FF0F}" type="presParOf" srcId="{930D5A1A-34C1-484C-BD1C-92F75037A5B4}" destId="{7305A871-01A2-4A7B-A714-A1BFD401C9B5}" srcOrd="3" destOrd="0" presId="urn:microsoft.com/office/officeart/2018/2/layout/IconVerticalSolidList"/>
    <dgm:cxn modelId="{84B0336D-1B65-4E62-B700-DDC1268EBC36}" type="presParOf" srcId="{930D5A1A-34C1-484C-BD1C-92F75037A5B4}" destId="{29091B52-DC43-4198-AE2F-5ED1491BAC23}" srcOrd="4" destOrd="0" presId="urn:microsoft.com/office/officeart/2018/2/layout/IconVerticalSolidList"/>
    <dgm:cxn modelId="{3A6A4200-F8DD-4C55-9C90-7134D63F74D8}" type="presParOf" srcId="{29091B52-DC43-4198-AE2F-5ED1491BAC23}" destId="{C15CFFB7-A813-4869-9504-849D6415B1ED}" srcOrd="0" destOrd="0" presId="urn:microsoft.com/office/officeart/2018/2/layout/IconVerticalSolidList"/>
    <dgm:cxn modelId="{B3132C0C-BC51-4D6E-8F92-5FBB54F86184}" type="presParOf" srcId="{29091B52-DC43-4198-AE2F-5ED1491BAC23}" destId="{0A05A10E-73FA-4AA1-8A11-7A55B0C823BE}" srcOrd="1" destOrd="0" presId="urn:microsoft.com/office/officeart/2018/2/layout/IconVerticalSolidList"/>
    <dgm:cxn modelId="{65797631-DFBC-4E13-841E-C760ED0F75E6}" type="presParOf" srcId="{29091B52-DC43-4198-AE2F-5ED1491BAC23}" destId="{56178AF4-1EB9-4F9A-A02D-1F1B506BCB22}" srcOrd="2" destOrd="0" presId="urn:microsoft.com/office/officeart/2018/2/layout/IconVerticalSolidList"/>
    <dgm:cxn modelId="{00623FF8-CEBB-4711-AC12-076192829846}" type="presParOf" srcId="{29091B52-DC43-4198-AE2F-5ED1491BAC23}" destId="{C64EB890-78E9-4C43-9664-16DCC40C06C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91F632E-1009-4321-BF04-8F7526C4DE56}" type="doc">
      <dgm:prSet loTypeId="urn:microsoft.com/office/officeart/2005/8/layout/default" loCatId="list" qsTypeId="urn:microsoft.com/office/officeart/2005/8/quickstyle/3d1" qsCatId="3D" csTypeId="urn:microsoft.com/office/officeart/2005/8/colors/colorful1" csCatId="colorful" phldr="1"/>
      <dgm:spPr/>
      <dgm:t>
        <a:bodyPr/>
        <a:lstStyle/>
        <a:p>
          <a:endParaRPr lang="en-US"/>
        </a:p>
      </dgm:t>
    </dgm:pt>
    <dgm:pt modelId="{54BC12BA-E1FE-49A6-9B7D-A38369C392F4}">
      <dgm:prSet phldrT="[Text]"/>
      <dgm:spPr/>
      <dgm:t>
        <a:bodyPr/>
        <a:lstStyle/>
        <a:p>
          <a:r>
            <a:rPr lang="en-US" dirty="0"/>
            <a:t>Agent Anonymity</a:t>
          </a:r>
        </a:p>
      </dgm:t>
    </dgm:pt>
    <dgm:pt modelId="{C3CFE2FA-9BAE-4F91-9885-78706181F3CD}" type="parTrans" cxnId="{03F3AF3A-90AB-4AEE-8CCF-90566A3A0CEA}">
      <dgm:prSet/>
      <dgm:spPr/>
      <dgm:t>
        <a:bodyPr/>
        <a:lstStyle/>
        <a:p>
          <a:endParaRPr lang="en-US"/>
        </a:p>
      </dgm:t>
    </dgm:pt>
    <dgm:pt modelId="{A08CE752-63A0-4912-ADEF-0A712EAEEFE5}" type="sibTrans" cxnId="{03F3AF3A-90AB-4AEE-8CCF-90566A3A0CEA}">
      <dgm:prSet/>
      <dgm:spPr/>
      <dgm:t>
        <a:bodyPr/>
        <a:lstStyle/>
        <a:p>
          <a:endParaRPr lang="en-US"/>
        </a:p>
      </dgm:t>
    </dgm:pt>
    <dgm:pt modelId="{621DA052-C63C-4BFC-9DBB-D81011420AED}">
      <dgm:prSet phldrT="[Text]"/>
      <dgm:spPr/>
      <dgm:t>
        <a:bodyPr/>
        <a:lstStyle/>
        <a:p>
          <a:r>
            <a:rPr lang="en-US" dirty="0"/>
            <a:t>Recipient Anonymity</a:t>
          </a:r>
        </a:p>
      </dgm:t>
    </dgm:pt>
    <dgm:pt modelId="{FD628C06-B1A7-4DB7-885A-A1076F022B0A}" type="parTrans" cxnId="{06DB6C90-5F45-4790-A1B4-A405FCC8A64B}">
      <dgm:prSet/>
      <dgm:spPr/>
      <dgm:t>
        <a:bodyPr/>
        <a:lstStyle/>
        <a:p>
          <a:endParaRPr lang="en-US"/>
        </a:p>
      </dgm:t>
    </dgm:pt>
    <dgm:pt modelId="{6AF13193-64B2-455B-89AD-E7AA86B67103}" type="sibTrans" cxnId="{06DB6C90-5F45-4790-A1B4-A405FCC8A64B}">
      <dgm:prSet/>
      <dgm:spPr/>
      <dgm:t>
        <a:bodyPr/>
        <a:lstStyle/>
        <a:p>
          <a:endParaRPr lang="en-US"/>
        </a:p>
      </dgm:t>
    </dgm:pt>
    <dgm:pt modelId="{4A8F217A-756F-49A9-ABB4-9AE920404E3C}">
      <dgm:prSet phldrT="[Text]"/>
      <dgm:spPr/>
      <dgm:t>
        <a:bodyPr/>
        <a:lstStyle/>
        <a:p>
          <a:r>
            <a:rPr lang="en-US" dirty="0"/>
            <a:t>Process Anonymity</a:t>
          </a:r>
        </a:p>
      </dgm:t>
    </dgm:pt>
    <dgm:pt modelId="{CC2BFAEB-431A-4150-B90F-DBB60B53247D}" type="parTrans" cxnId="{256C51B0-8233-4E2F-B558-2B6BE987AF4E}">
      <dgm:prSet/>
      <dgm:spPr/>
      <dgm:t>
        <a:bodyPr/>
        <a:lstStyle/>
        <a:p>
          <a:endParaRPr lang="en-US"/>
        </a:p>
      </dgm:t>
    </dgm:pt>
    <dgm:pt modelId="{AF98FF2A-EFB5-41D0-9559-7436C2FF1CB2}" type="sibTrans" cxnId="{256C51B0-8233-4E2F-B558-2B6BE987AF4E}">
      <dgm:prSet/>
      <dgm:spPr/>
      <dgm:t>
        <a:bodyPr/>
        <a:lstStyle/>
        <a:p>
          <a:endParaRPr lang="en-US"/>
        </a:p>
      </dgm:t>
    </dgm:pt>
    <dgm:pt modelId="{27B54C04-9B82-4280-A09C-A44CE6F32124}" type="pres">
      <dgm:prSet presAssocID="{691F632E-1009-4321-BF04-8F7526C4DE56}" presName="diagram" presStyleCnt="0">
        <dgm:presLayoutVars>
          <dgm:dir/>
          <dgm:resizeHandles val="exact"/>
        </dgm:presLayoutVars>
      </dgm:prSet>
      <dgm:spPr/>
    </dgm:pt>
    <dgm:pt modelId="{E50D71CF-B8F5-424F-84E3-DEA4823B8FBB}" type="pres">
      <dgm:prSet presAssocID="{54BC12BA-E1FE-49A6-9B7D-A38369C392F4}" presName="node" presStyleLbl="node1" presStyleIdx="0" presStyleCnt="3">
        <dgm:presLayoutVars>
          <dgm:bulletEnabled val="1"/>
        </dgm:presLayoutVars>
      </dgm:prSet>
      <dgm:spPr/>
    </dgm:pt>
    <dgm:pt modelId="{B248C367-BD01-4E22-8D90-65C0F9800EF6}" type="pres">
      <dgm:prSet presAssocID="{A08CE752-63A0-4912-ADEF-0A712EAEEFE5}" presName="sibTrans" presStyleCnt="0"/>
      <dgm:spPr/>
    </dgm:pt>
    <dgm:pt modelId="{A418A057-C906-495D-98B7-7B0047054432}" type="pres">
      <dgm:prSet presAssocID="{621DA052-C63C-4BFC-9DBB-D81011420AED}" presName="node" presStyleLbl="node1" presStyleIdx="1" presStyleCnt="3">
        <dgm:presLayoutVars>
          <dgm:bulletEnabled val="1"/>
        </dgm:presLayoutVars>
      </dgm:prSet>
      <dgm:spPr/>
    </dgm:pt>
    <dgm:pt modelId="{A5D40D23-315F-485D-AB5A-4BF2A212C0C2}" type="pres">
      <dgm:prSet presAssocID="{6AF13193-64B2-455B-89AD-E7AA86B67103}" presName="sibTrans" presStyleCnt="0"/>
      <dgm:spPr/>
    </dgm:pt>
    <dgm:pt modelId="{B7F854CE-496C-494A-AD6A-7EE5222796BA}" type="pres">
      <dgm:prSet presAssocID="{4A8F217A-756F-49A9-ABB4-9AE920404E3C}" presName="node" presStyleLbl="node1" presStyleIdx="2" presStyleCnt="3">
        <dgm:presLayoutVars>
          <dgm:bulletEnabled val="1"/>
        </dgm:presLayoutVars>
      </dgm:prSet>
      <dgm:spPr/>
    </dgm:pt>
  </dgm:ptLst>
  <dgm:cxnLst>
    <dgm:cxn modelId="{766AA622-EE3F-4A00-ACDF-D8478ACA9F3D}" type="presOf" srcId="{621DA052-C63C-4BFC-9DBB-D81011420AED}" destId="{A418A057-C906-495D-98B7-7B0047054432}" srcOrd="0" destOrd="0" presId="urn:microsoft.com/office/officeart/2005/8/layout/default"/>
    <dgm:cxn modelId="{03F3AF3A-90AB-4AEE-8CCF-90566A3A0CEA}" srcId="{691F632E-1009-4321-BF04-8F7526C4DE56}" destId="{54BC12BA-E1FE-49A6-9B7D-A38369C392F4}" srcOrd="0" destOrd="0" parTransId="{C3CFE2FA-9BAE-4F91-9885-78706181F3CD}" sibTransId="{A08CE752-63A0-4912-ADEF-0A712EAEEFE5}"/>
    <dgm:cxn modelId="{06DB6C90-5F45-4790-A1B4-A405FCC8A64B}" srcId="{691F632E-1009-4321-BF04-8F7526C4DE56}" destId="{621DA052-C63C-4BFC-9DBB-D81011420AED}" srcOrd="1" destOrd="0" parTransId="{FD628C06-B1A7-4DB7-885A-A1076F022B0A}" sibTransId="{6AF13193-64B2-455B-89AD-E7AA86B67103}"/>
    <dgm:cxn modelId="{6487E693-6ECF-41CF-B6ED-E893925E33A1}" type="presOf" srcId="{54BC12BA-E1FE-49A6-9B7D-A38369C392F4}" destId="{E50D71CF-B8F5-424F-84E3-DEA4823B8FBB}" srcOrd="0" destOrd="0" presId="urn:microsoft.com/office/officeart/2005/8/layout/default"/>
    <dgm:cxn modelId="{256C51B0-8233-4E2F-B558-2B6BE987AF4E}" srcId="{691F632E-1009-4321-BF04-8F7526C4DE56}" destId="{4A8F217A-756F-49A9-ABB4-9AE920404E3C}" srcOrd="2" destOrd="0" parTransId="{CC2BFAEB-431A-4150-B90F-DBB60B53247D}" sibTransId="{AF98FF2A-EFB5-41D0-9559-7436C2FF1CB2}"/>
    <dgm:cxn modelId="{65FE66C2-E77E-4254-8502-84126C59A6C8}" type="presOf" srcId="{4A8F217A-756F-49A9-ABB4-9AE920404E3C}" destId="{B7F854CE-496C-494A-AD6A-7EE5222796BA}" srcOrd="0" destOrd="0" presId="urn:microsoft.com/office/officeart/2005/8/layout/default"/>
    <dgm:cxn modelId="{CA9E1CCF-B190-444E-982A-12DEE22F6BAB}" type="presOf" srcId="{691F632E-1009-4321-BF04-8F7526C4DE56}" destId="{27B54C04-9B82-4280-A09C-A44CE6F32124}" srcOrd="0" destOrd="0" presId="urn:microsoft.com/office/officeart/2005/8/layout/default"/>
    <dgm:cxn modelId="{3A3787D4-5121-49A6-A0D6-137FC1300A10}" type="presParOf" srcId="{27B54C04-9B82-4280-A09C-A44CE6F32124}" destId="{E50D71CF-B8F5-424F-84E3-DEA4823B8FBB}" srcOrd="0" destOrd="0" presId="urn:microsoft.com/office/officeart/2005/8/layout/default"/>
    <dgm:cxn modelId="{3A3B0E6A-B8EE-4F1A-926A-483F327260B4}" type="presParOf" srcId="{27B54C04-9B82-4280-A09C-A44CE6F32124}" destId="{B248C367-BD01-4E22-8D90-65C0F9800EF6}" srcOrd="1" destOrd="0" presId="urn:microsoft.com/office/officeart/2005/8/layout/default"/>
    <dgm:cxn modelId="{E11A04EB-F628-4302-AD20-9F3B7ABCEBA1}" type="presParOf" srcId="{27B54C04-9B82-4280-A09C-A44CE6F32124}" destId="{A418A057-C906-495D-98B7-7B0047054432}" srcOrd="2" destOrd="0" presId="urn:microsoft.com/office/officeart/2005/8/layout/default"/>
    <dgm:cxn modelId="{5C3CC0A8-55CA-4AF9-BA03-36C87078E962}" type="presParOf" srcId="{27B54C04-9B82-4280-A09C-A44CE6F32124}" destId="{A5D40D23-315F-485D-AB5A-4BF2A212C0C2}" srcOrd="3" destOrd="0" presId="urn:microsoft.com/office/officeart/2005/8/layout/default"/>
    <dgm:cxn modelId="{980DE832-7596-4EF5-BB56-CA3AC8F88333}" type="presParOf" srcId="{27B54C04-9B82-4280-A09C-A44CE6F32124}" destId="{B7F854CE-496C-494A-AD6A-7EE5222796BA}"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F7D0A9-A765-4C91-BF52-568DA97D5DC8}">
      <dsp:nvSpPr>
        <dsp:cNvPr id="0" name=""/>
        <dsp:cNvSpPr/>
      </dsp:nvSpPr>
      <dsp:spPr>
        <a:xfrm>
          <a:off x="3307" y="1503687"/>
          <a:ext cx="1252710" cy="1606667"/>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1890 </a:t>
          </a:r>
        </a:p>
        <a:p>
          <a:pPr marL="0" lvl="0" indent="0" algn="ctr" defTabSz="622300">
            <a:lnSpc>
              <a:spcPct val="90000"/>
            </a:lnSpc>
            <a:spcBef>
              <a:spcPct val="0"/>
            </a:spcBef>
            <a:spcAft>
              <a:spcPct val="35000"/>
            </a:spcAft>
            <a:buNone/>
          </a:pPr>
          <a:r>
            <a:rPr lang="en-US" sz="1400" b="1" kern="1200" dirty="0"/>
            <a:t>The Right to be left alone</a:t>
          </a:r>
        </a:p>
      </dsp:txBody>
      <dsp:txXfrm>
        <a:off x="39998" y="1540378"/>
        <a:ext cx="1179328" cy="1533285"/>
      </dsp:txXfrm>
    </dsp:sp>
    <dsp:sp modelId="{569FBDE1-19CB-452B-90C9-F73C505D6F9E}">
      <dsp:nvSpPr>
        <dsp:cNvPr id="0" name=""/>
        <dsp:cNvSpPr/>
      </dsp:nvSpPr>
      <dsp:spPr>
        <a:xfrm>
          <a:off x="1381289" y="2151684"/>
          <a:ext cx="265574" cy="310672"/>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b="1" kern="1200"/>
        </a:p>
      </dsp:txBody>
      <dsp:txXfrm>
        <a:off x="1381289" y="2213818"/>
        <a:ext cx="185902" cy="186404"/>
      </dsp:txXfrm>
    </dsp:sp>
    <dsp:sp modelId="{D32879F6-F862-46CB-B7F4-D39EE0659ED7}">
      <dsp:nvSpPr>
        <dsp:cNvPr id="0" name=""/>
        <dsp:cNvSpPr/>
      </dsp:nvSpPr>
      <dsp:spPr>
        <a:xfrm>
          <a:off x="1757102" y="1503687"/>
          <a:ext cx="1252710" cy="160666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1950 </a:t>
          </a:r>
          <a:br>
            <a:rPr lang="en-US" sz="1400" b="1" kern="1200" dirty="0"/>
          </a:br>
          <a:r>
            <a:rPr lang="en-US" sz="1400" b="1" kern="1200" dirty="0"/>
            <a:t>Universal Declaration of Human Rights</a:t>
          </a:r>
        </a:p>
      </dsp:txBody>
      <dsp:txXfrm>
        <a:off x="1793793" y="1540378"/>
        <a:ext cx="1179328" cy="1533285"/>
      </dsp:txXfrm>
    </dsp:sp>
    <dsp:sp modelId="{0AEA8AB5-FCE1-4AC5-ADD1-FD410803BAD8}">
      <dsp:nvSpPr>
        <dsp:cNvPr id="0" name=""/>
        <dsp:cNvSpPr/>
      </dsp:nvSpPr>
      <dsp:spPr>
        <a:xfrm>
          <a:off x="3135084" y="2151684"/>
          <a:ext cx="265574" cy="310672"/>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b="1" kern="1200"/>
        </a:p>
      </dsp:txBody>
      <dsp:txXfrm>
        <a:off x="3135084" y="2213818"/>
        <a:ext cx="185902" cy="186404"/>
      </dsp:txXfrm>
    </dsp:sp>
    <dsp:sp modelId="{B2110E59-8498-4FA8-89E8-0E95D12B7743}">
      <dsp:nvSpPr>
        <dsp:cNvPr id="0" name=""/>
        <dsp:cNvSpPr/>
      </dsp:nvSpPr>
      <dsp:spPr>
        <a:xfrm>
          <a:off x="3510897" y="1503687"/>
          <a:ext cx="1252710" cy="1606667"/>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1974 </a:t>
          </a:r>
          <a:br>
            <a:rPr lang="en-US" sz="1400" b="1" kern="1200" dirty="0"/>
          </a:br>
          <a:r>
            <a:rPr lang="en-US" sz="1400" b="1" kern="1200" dirty="0"/>
            <a:t>Fair Information Practice and US Federal Privacy Act</a:t>
          </a:r>
        </a:p>
      </dsp:txBody>
      <dsp:txXfrm>
        <a:off x="3547588" y="1540378"/>
        <a:ext cx="1179328" cy="1533285"/>
      </dsp:txXfrm>
    </dsp:sp>
    <dsp:sp modelId="{18CE6AA3-1D1B-4C38-B2E5-1D434B43F9E3}">
      <dsp:nvSpPr>
        <dsp:cNvPr id="0" name=""/>
        <dsp:cNvSpPr/>
      </dsp:nvSpPr>
      <dsp:spPr>
        <a:xfrm>
          <a:off x="4888879" y="2151684"/>
          <a:ext cx="265574" cy="310672"/>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b="1" kern="1200"/>
        </a:p>
      </dsp:txBody>
      <dsp:txXfrm>
        <a:off x="4888879" y="2213818"/>
        <a:ext cx="185902" cy="186404"/>
      </dsp:txXfrm>
    </dsp:sp>
    <dsp:sp modelId="{C0C36623-5D18-48D6-A42D-FE4301F0EAE5}">
      <dsp:nvSpPr>
        <dsp:cNvPr id="0" name=""/>
        <dsp:cNvSpPr/>
      </dsp:nvSpPr>
      <dsp:spPr>
        <a:xfrm>
          <a:off x="5264692" y="1503687"/>
          <a:ext cx="1252710" cy="160666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1984 UK Data Protection Act</a:t>
          </a:r>
        </a:p>
      </dsp:txBody>
      <dsp:txXfrm>
        <a:off x="5301383" y="1540378"/>
        <a:ext cx="1179328" cy="1533285"/>
      </dsp:txXfrm>
    </dsp:sp>
    <dsp:sp modelId="{5A52FD1D-0463-4CE6-8BB0-6B0AA94C5409}">
      <dsp:nvSpPr>
        <dsp:cNvPr id="0" name=""/>
        <dsp:cNvSpPr/>
      </dsp:nvSpPr>
      <dsp:spPr>
        <a:xfrm>
          <a:off x="6642674" y="2151684"/>
          <a:ext cx="265574" cy="310672"/>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b="1" kern="1200"/>
        </a:p>
      </dsp:txBody>
      <dsp:txXfrm>
        <a:off x="6642674" y="2213818"/>
        <a:ext cx="185902" cy="186404"/>
      </dsp:txXfrm>
    </dsp:sp>
    <dsp:sp modelId="{935728C9-8D4E-4465-BA4C-CEDA68825246}">
      <dsp:nvSpPr>
        <dsp:cNvPr id="0" name=""/>
        <dsp:cNvSpPr/>
      </dsp:nvSpPr>
      <dsp:spPr>
        <a:xfrm>
          <a:off x="7018487" y="1503687"/>
          <a:ext cx="1252710" cy="1606667"/>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2003 Japanese Act on the Protection of Personal Information (APPI)</a:t>
          </a:r>
        </a:p>
      </dsp:txBody>
      <dsp:txXfrm>
        <a:off x="7055178" y="1540378"/>
        <a:ext cx="1179328" cy="1533285"/>
      </dsp:txXfrm>
    </dsp:sp>
    <dsp:sp modelId="{D9125517-9BC8-439F-8E49-E10FD1EDF8DD}">
      <dsp:nvSpPr>
        <dsp:cNvPr id="0" name=""/>
        <dsp:cNvSpPr/>
      </dsp:nvSpPr>
      <dsp:spPr>
        <a:xfrm>
          <a:off x="8396469" y="2151684"/>
          <a:ext cx="265574" cy="310672"/>
        </a:xfrm>
        <a:prstGeom prst="rightArrow">
          <a:avLst>
            <a:gd name="adj1" fmla="val 60000"/>
            <a:gd name="adj2" fmla="val 5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b="1" kern="1200"/>
        </a:p>
      </dsp:txBody>
      <dsp:txXfrm>
        <a:off x="8396469" y="2213818"/>
        <a:ext cx="185902" cy="186404"/>
      </dsp:txXfrm>
    </dsp:sp>
    <dsp:sp modelId="{A7719CCF-C608-4FAC-8950-641DCC9C0654}">
      <dsp:nvSpPr>
        <dsp:cNvPr id="0" name=""/>
        <dsp:cNvSpPr/>
      </dsp:nvSpPr>
      <dsp:spPr>
        <a:xfrm>
          <a:off x="8772282" y="1503687"/>
          <a:ext cx="1252710" cy="1606667"/>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2014</a:t>
          </a:r>
          <a:br>
            <a:rPr lang="en-US" sz="1400" b="1" kern="1200" dirty="0"/>
          </a:br>
          <a:r>
            <a:rPr lang="en-US" sz="1400" b="1" kern="1200" dirty="0"/>
            <a:t>EU Court of Justice “Right to be forgotten” decision</a:t>
          </a:r>
        </a:p>
      </dsp:txBody>
      <dsp:txXfrm>
        <a:off x="8808973" y="1540378"/>
        <a:ext cx="1179328" cy="1533285"/>
      </dsp:txXfrm>
    </dsp:sp>
    <dsp:sp modelId="{E298E5D7-9046-4A36-ABD0-1928BA114E33}">
      <dsp:nvSpPr>
        <dsp:cNvPr id="0" name=""/>
        <dsp:cNvSpPr/>
      </dsp:nvSpPr>
      <dsp:spPr>
        <a:xfrm>
          <a:off x="10150264" y="2151684"/>
          <a:ext cx="265574" cy="310672"/>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b="1" kern="1200"/>
        </a:p>
      </dsp:txBody>
      <dsp:txXfrm>
        <a:off x="10150264" y="2213818"/>
        <a:ext cx="185902" cy="186404"/>
      </dsp:txXfrm>
    </dsp:sp>
    <dsp:sp modelId="{1EB00530-8226-45E3-B52D-AE8C616EF466}">
      <dsp:nvSpPr>
        <dsp:cNvPr id="0" name=""/>
        <dsp:cNvSpPr/>
      </dsp:nvSpPr>
      <dsp:spPr>
        <a:xfrm>
          <a:off x="10526077" y="1503687"/>
          <a:ext cx="1252710" cy="160666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2017 EU GDPR</a:t>
          </a:r>
        </a:p>
      </dsp:txBody>
      <dsp:txXfrm>
        <a:off x="10562768" y="1540378"/>
        <a:ext cx="1179328" cy="15332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FF18DB-AF40-4C79-8A3D-098121BD0CC8}">
      <dsp:nvSpPr>
        <dsp:cNvPr id="0" name=""/>
        <dsp:cNvSpPr/>
      </dsp:nvSpPr>
      <dsp:spPr>
        <a:xfrm>
          <a:off x="0" y="697"/>
          <a:ext cx="6096000" cy="163245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2D3EC2-AE57-4CB0-AB24-B312C8DC61D1}">
      <dsp:nvSpPr>
        <dsp:cNvPr id="0" name=""/>
        <dsp:cNvSpPr/>
      </dsp:nvSpPr>
      <dsp:spPr>
        <a:xfrm>
          <a:off x="493818" y="368000"/>
          <a:ext cx="897852" cy="8978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6378011-0DD9-4E14-B8C9-EADE1F29DF5E}">
      <dsp:nvSpPr>
        <dsp:cNvPr id="0" name=""/>
        <dsp:cNvSpPr/>
      </dsp:nvSpPr>
      <dsp:spPr>
        <a:xfrm>
          <a:off x="1885489" y="697"/>
          <a:ext cx="4210510" cy="1632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2768" tIns="172768" rIns="172768" bIns="172768" numCol="1" spcCol="1270" anchor="ctr" anchorCtr="0">
          <a:noAutofit/>
        </a:bodyPr>
        <a:lstStyle/>
        <a:p>
          <a:pPr marL="0" lvl="0" indent="0" algn="l" defTabSz="800100">
            <a:lnSpc>
              <a:spcPct val="90000"/>
            </a:lnSpc>
            <a:spcBef>
              <a:spcPct val="0"/>
            </a:spcBef>
            <a:spcAft>
              <a:spcPct val="35000"/>
            </a:spcAft>
            <a:buNone/>
          </a:pPr>
          <a:r>
            <a:rPr lang="en-US" sz="1800" kern="1200" dirty="0"/>
            <a:t>The taxonomy of privacy is a structured framework designed to categorize and define various types of privacy-related problems and harms. </a:t>
          </a:r>
        </a:p>
      </dsp:txBody>
      <dsp:txXfrm>
        <a:off x="1885489" y="697"/>
        <a:ext cx="4210510" cy="1632458"/>
      </dsp:txXfrm>
    </dsp:sp>
    <dsp:sp modelId="{80138388-020C-43FE-B8F7-DF3CD063B97B}">
      <dsp:nvSpPr>
        <dsp:cNvPr id="0" name=""/>
        <dsp:cNvSpPr/>
      </dsp:nvSpPr>
      <dsp:spPr>
        <a:xfrm>
          <a:off x="0" y="2041270"/>
          <a:ext cx="6096000" cy="163245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60363B-FB68-4CAA-9C75-C0A38A4B7CFF}">
      <dsp:nvSpPr>
        <dsp:cNvPr id="0" name=""/>
        <dsp:cNvSpPr/>
      </dsp:nvSpPr>
      <dsp:spPr>
        <a:xfrm>
          <a:off x="493818" y="2408573"/>
          <a:ext cx="897852" cy="8978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92B851-66F4-42C9-B720-CC972CC76112}">
      <dsp:nvSpPr>
        <dsp:cNvPr id="0" name=""/>
        <dsp:cNvSpPr/>
      </dsp:nvSpPr>
      <dsp:spPr>
        <a:xfrm>
          <a:off x="1885489" y="2041270"/>
          <a:ext cx="4210510" cy="1632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2768" tIns="172768" rIns="172768" bIns="172768" numCol="1" spcCol="1270" anchor="ctr" anchorCtr="0">
          <a:noAutofit/>
        </a:bodyPr>
        <a:lstStyle/>
        <a:p>
          <a:pPr marL="0" lvl="0" indent="0" algn="l" defTabSz="800100">
            <a:lnSpc>
              <a:spcPct val="90000"/>
            </a:lnSpc>
            <a:spcBef>
              <a:spcPct val="0"/>
            </a:spcBef>
            <a:spcAft>
              <a:spcPct val="35000"/>
            </a:spcAft>
            <a:buNone/>
          </a:pPr>
          <a:r>
            <a:rPr lang="en-US" sz="1800" kern="1200" dirty="0"/>
            <a:t>Developed by Daniel Solove, it identifies specific activities and practices that violate privacy, rather than treating privacy as a single, vague concept. </a:t>
          </a:r>
        </a:p>
      </dsp:txBody>
      <dsp:txXfrm>
        <a:off x="1885489" y="2041270"/>
        <a:ext cx="4210510" cy="1632458"/>
      </dsp:txXfrm>
    </dsp:sp>
    <dsp:sp modelId="{C15CFFB7-A813-4869-9504-849D6415B1ED}">
      <dsp:nvSpPr>
        <dsp:cNvPr id="0" name=""/>
        <dsp:cNvSpPr/>
      </dsp:nvSpPr>
      <dsp:spPr>
        <a:xfrm>
          <a:off x="0" y="4081843"/>
          <a:ext cx="6096000" cy="163245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05A10E-73FA-4AA1-8A11-7A55B0C823BE}">
      <dsp:nvSpPr>
        <dsp:cNvPr id="0" name=""/>
        <dsp:cNvSpPr/>
      </dsp:nvSpPr>
      <dsp:spPr>
        <a:xfrm>
          <a:off x="493818" y="4449146"/>
          <a:ext cx="897852" cy="8978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4EB890-78E9-4C43-9664-16DCC40C06CF}">
      <dsp:nvSpPr>
        <dsp:cNvPr id="0" name=""/>
        <dsp:cNvSpPr/>
      </dsp:nvSpPr>
      <dsp:spPr>
        <a:xfrm>
          <a:off x="1885489" y="4081843"/>
          <a:ext cx="4210510" cy="1632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2768" tIns="172768" rIns="172768" bIns="172768" numCol="1" spcCol="1270" anchor="ctr" anchorCtr="0">
          <a:noAutofit/>
        </a:bodyPr>
        <a:lstStyle/>
        <a:p>
          <a:pPr marL="0" lvl="0" indent="0" algn="l" defTabSz="800100">
            <a:lnSpc>
              <a:spcPct val="90000"/>
            </a:lnSpc>
            <a:spcBef>
              <a:spcPct val="0"/>
            </a:spcBef>
            <a:spcAft>
              <a:spcPct val="35000"/>
            </a:spcAft>
            <a:buNone/>
          </a:pPr>
          <a:r>
            <a:rPr lang="en-US" sz="1800" kern="1200" dirty="0"/>
            <a:t>The taxonomy divides privacy violations into four main categories: information collection, information processing, information dissemination, and invasion.</a:t>
          </a:r>
        </a:p>
      </dsp:txBody>
      <dsp:txXfrm>
        <a:off x="1885489" y="4081843"/>
        <a:ext cx="4210510" cy="163245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0D71CF-B8F5-424F-84E3-DEA4823B8FBB}">
      <dsp:nvSpPr>
        <dsp:cNvPr id="0" name=""/>
        <dsp:cNvSpPr/>
      </dsp:nvSpPr>
      <dsp:spPr>
        <a:xfrm>
          <a:off x="0" y="502113"/>
          <a:ext cx="2841842" cy="1705105"/>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t>Agent Anonymity</a:t>
          </a:r>
        </a:p>
      </dsp:txBody>
      <dsp:txXfrm>
        <a:off x="0" y="502113"/>
        <a:ext cx="2841842" cy="1705105"/>
      </dsp:txXfrm>
    </dsp:sp>
    <dsp:sp modelId="{A418A057-C906-495D-98B7-7B0047054432}">
      <dsp:nvSpPr>
        <dsp:cNvPr id="0" name=""/>
        <dsp:cNvSpPr/>
      </dsp:nvSpPr>
      <dsp:spPr>
        <a:xfrm>
          <a:off x="3126026" y="502113"/>
          <a:ext cx="2841842" cy="170510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t>Recipient Anonymity</a:t>
          </a:r>
        </a:p>
      </dsp:txBody>
      <dsp:txXfrm>
        <a:off x="3126026" y="502113"/>
        <a:ext cx="2841842" cy="1705105"/>
      </dsp:txXfrm>
    </dsp:sp>
    <dsp:sp modelId="{B7F854CE-496C-494A-AD6A-7EE5222796BA}">
      <dsp:nvSpPr>
        <dsp:cNvPr id="0" name=""/>
        <dsp:cNvSpPr/>
      </dsp:nvSpPr>
      <dsp:spPr>
        <a:xfrm>
          <a:off x="6252053" y="502113"/>
          <a:ext cx="2841842" cy="1705105"/>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t>Process Anonymity</a:t>
          </a:r>
        </a:p>
      </dsp:txBody>
      <dsp:txXfrm>
        <a:off x="6252053" y="502113"/>
        <a:ext cx="2841842" cy="1705105"/>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72E32C-32DB-4552-AAEB-2DCC35C9D5B4}" type="datetimeFigureOut">
              <a:rPr lang="en-US" smtClean="0"/>
              <a:t>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B57CB5-9293-4180-A4E6-97F6D0FE5715}" type="slidenum">
              <a:rPr lang="en-US" smtClean="0"/>
              <a:t>‹#›</a:t>
            </a:fld>
            <a:endParaRPr lang="en-US"/>
          </a:p>
        </p:txBody>
      </p:sp>
    </p:spTree>
    <p:extLst>
      <p:ext uri="{BB962C8B-B14F-4D97-AF65-F5344CB8AC3E}">
        <p14:creationId xmlns:p14="http://schemas.microsoft.com/office/powerpoint/2010/main" val="2517724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4B57CB5-9293-4180-A4E6-97F6D0FE5715}" type="slidenum">
              <a:rPr lang="en-US" smtClean="0"/>
              <a:t>1</a:t>
            </a:fld>
            <a:endParaRPr lang="en-US"/>
          </a:p>
        </p:txBody>
      </p:sp>
    </p:spTree>
    <p:extLst>
      <p:ext uri="{BB962C8B-B14F-4D97-AF65-F5344CB8AC3E}">
        <p14:creationId xmlns:p14="http://schemas.microsoft.com/office/powerpoint/2010/main" val="872094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Ask about who could be the “artist”? Their characteristics, name, age, location,</a:t>
            </a:r>
          </a:p>
          <a:p>
            <a:endParaRPr lang="en-US" dirty="0"/>
          </a:p>
        </p:txBody>
      </p:sp>
      <p:sp>
        <p:nvSpPr>
          <p:cNvPr id="4" name="Slide Number Placeholder 3"/>
          <p:cNvSpPr>
            <a:spLocks noGrp="1"/>
          </p:cNvSpPr>
          <p:nvPr>
            <p:ph type="sldNum" sz="quarter" idx="5"/>
          </p:nvPr>
        </p:nvSpPr>
        <p:spPr/>
        <p:txBody>
          <a:bodyPr/>
          <a:lstStyle/>
          <a:p>
            <a:fld id="{34B57CB5-9293-4180-A4E6-97F6D0FE5715}" type="slidenum">
              <a:rPr lang="en-US" smtClean="0"/>
              <a:t>14</a:t>
            </a:fld>
            <a:endParaRPr lang="en-US"/>
          </a:p>
        </p:txBody>
      </p:sp>
    </p:spTree>
    <p:extLst>
      <p:ext uri="{BB962C8B-B14F-4D97-AF65-F5344CB8AC3E}">
        <p14:creationId xmlns:p14="http://schemas.microsoft.com/office/powerpoint/2010/main" val="1647132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4B57CB5-9293-4180-A4E6-97F6D0FE5715}" type="slidenum">
              <a:rPr lang="en-US" smtClean="0"/>
              <a:t>26</a:t>
            </a:fld>
            <a:endParaRPr lang="en-US"/>
          </a:p>
        </p:txBody>
      </p:sp>
    </p:spTree>
    <p:extLst>
      <p:ext uri="{BB962C8B-B14F-4D97-AF65-F5344CB8AC3E}">
        <p14:creationId xmlns:p14="http://schemas.microsoft.com/office/powerpoint/2010/main" val="31909738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83D70-91AA-429A-BD57-1CB6792B30EE}"/>
              </a:ext>
            </a:extLst>
          </p:cNvPr>
          <p:cNvSpPr>
            <a:spLocks noGrp="1"/>
          </p:cNvSpPr>
          <p:nvPr>
            <p:ph type="ctrTitle"/>
          </p:nvPr>
        </p:nvSpPr>
        <p:spPr>
          <a:xfrm>
            <a:off x="1088136" y="1078030"/>
            <a:ext cx="9288096" cy="2956718"/>
          </a:xfrm>
        </p:spPr>
        <p:txBody>
          <a:bodyPr anchor="t">
            <a:noAutofit/>
          </a:bodyPr>
          <a:lstStyle>
            <a:lvl1pPr algn="l">
              <a:defRPr sz="6600" cap="all" baseline="0"/>
            </a:lvl1pPr>
          </a:lstStyle>
          <a:p>
            <a:r>
              <a:rPr lang="en-US" dirty="0"/>
              <a:t>Click to edit Master title style</a:t>
            </a:r>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4455621"/>
            <a:ext cx="9288096" cy="1435331"/>
          </a:xfrm>
        </p:spPr>
        <p:txBody>
          <a:bodyPr>
            <a:normAutofit/>
          </a:bodyPr>
          <a:lstStyle>
            <a:lvl1pPr marL="0" indent="0" algn="l">
              <a:lnSpc>
                <a:spcPct val="12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8518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2239029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8007D-9B1D-4E2C-B38F-29C6820996DF}"/>
              </a:ext>
            </a:extLst>
          </p:cNvPr>
          <p:cNvSpPr>
            <a:spLocks noGrp="1"/>
          </p:cNvSpPr>
          <p:nvPr>
            <p:ph type="title"/>
          </p:nvPr>
        </p:nvSpPr>
        <p:spPr>
          <a:xfrm>
            <a:off x="1090940" y="1099127"/>
            <a:ext cx="9272260" cy="3472874"/>
          </a:xfrm>
        </p:spPr>
        <p:txBody>
          <a:bodyPr anchor="t">
            <a:normAutofit/>
          </a:bodyPr>
          <a:lstStyle>
            <a:lvl1pPr>
              <a:defRPr sz="40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960C51B-B525-4032-9D08-2978D7367BFF}"/>
              </a:ext>
            </a:extLst>
          </p:cNvPr>
          <p:cNvSpPr>
            <a:spLocks noGrp="1"/>
          </p:cNvSpPr>
          <p:nvPr>
            <p:ph type="body" idx="1"/>
          </p:nvPr>
        </p:nvSpPr>
        <p:spPr>
          <a:xfrm>
            <a:off x="1090939" y="4572000"/>
            <a:ext cx="9272262" cy="1320801"/>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8945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088136"/>
            <a:ext cx="9890066" cy="129422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2058817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084333"/>
            <a:ext cx="9949455" cy="838856"/>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769736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p:txBody>
          <a:bodyPr/>
          <a:lstStyle>
            <a:lvl1pPr>
              <a:defRPr cap="all" baseline="0"/>
            </a:lvl1pPr>
          </a:lstStyle>
          <a:p>
            <a:r>
              <a:rPr lang="en-US" dirty="0"/>
              <a:t>Click to edit Master title style</a:t>
            </a:r>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281620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48B02B-A32A-4383-BBC7-0C383390A96F}"/>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3" name="Footer Placeholder 2">
            <a:extLst>
              <a:ext uri="{FF2B5EF4-FFF2-40B4-BE49-F238E27FC236}">
                <a16:creationId xmlns:a16="http://schemas.microsoft.com/office/drawing/2014/main" id="{FCFF7E77-47E0-4F9E-9148-8D0C59C0CFC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8005A2-ECF0-4759-A17B-FDECE80683F4}"/>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2850009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1DD4B-5676-477E-8C52-4C1CF160FCDE}"/>
              </a:ext>
            </a:extLst>
          </p:cNvPr>
          <p:cNvSpPr>
            <a:spLocks noGrp="1"/>
          </p:cNvSpPr>
          <p:nvPr>
            <p:ph type="title"/>
          </p:nvPr>
        </p:nvSpPr>
        <p:spPr>
          <a:xfrm>
            <a:off x="1090940" y="1094448"/>
            <a:ext cx="3785860" cy="1554362"/>
          </a:xfrm>
        </p:spPr>
        <p:txBody>
          <a:bodyPr anchor="t">
            <a:normAutofit/>
          </a:bodyPr>
          <a:lstStyle>
            <a:lvl1pPr>
              <a:defRPr sz="2800" cap="all" baseline="0"/>
            </a:lvl1pPr>
          </a:lstStyle>
          <a:p>
            <a:r>
              <a:rPr lang="en-US" dirty="0"/>
              <a:t>Click to edit Master title style</a:t>
            </a:r>
          </a:p>
        </p:txBody>
      </p:sp>
      <p:sp>
        <p:nvSpPr>
          <p:cNvPr id="3" name="Content Placeholder 2">
            <a:extLst>
              <a:ext uri="{FF2B5EF4-FFF2-40B4-BE49-F238E27FC236}">
                <a16:creationId xmlns:a16="http://schemas.microsoft.com/office/drawing/2014/main" id="{4B5A3E63-EB15-4D82-BF2B-36BB030C430D}"/>
              </a:ext>
            </a:extLst>
          </p:cNvPr>
          <p:cNvSpPr>
            <a:spLocks noGrp="1"/>
          </p:cNvSpPr>
          <p:nvPr>
            <p:ph idx="1"/>
          </p:nvPr>
        </p:nvSpPr>
        <p:spPr>
          <a:xfrm>
            <a:off x="5524500" y="922689"/>
            <a:ext cx="548600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CBE994E-BAB7-43DC-A0E4-C779CF2A33D5}"/>
              </a:ext>
            </a:extLst>
          </p:cNvPr>
          <p:cNvSpPr>
            <a:spLocks noGrp="1"/>
          </p:cNvSpPr>
          <p:nvPr>
            <p:ph type="body" sz="half" idx="2"/>
          </p:nvPr>
        </p:nvSpPr>
        <p:spPr>
          <a:xfrm>
            <a:off x="1090940" y="2701254"/>
            <a:ext cx="3785860" cy="316773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DEFAAA-1B70-42AA-ADCC-F49B58132654}"/>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6" name="Footer Placeholder 5">
            <a:extLst>
              <a:ext uri="{FF2B5EF4-FFF2-40B4-BE49-F238E27FC236}">
                <a16:creationId xmlns:a16="http://schemas.microsoft.com/office/drawing/2014/main" id="{E4C7B6CC-1C13-4F34-AC86-CCD442C8C3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F1B638-9061-41AD-AF47-73A4AF8B781A}"/>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4191708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F3C43-1676-4A29-83F9-D788ED2E71E9}"/>
              </a:ext>
            </a:extLst>
          </p:cNvPr>
          <p:cNvSpPr>
            <a:spLocks noGrp="1"/>
          </p:cNvSpPr>
          <p:nvPr>
            <p:ph type="title"/>
          </p:nvPr>
        </p:nvSpPr>
        <p:spPr>
          <a:xfrm>
            <a:off x="1090940" y="1097280"/>
            <a:ext cx="3785860" cy="1559740"/>
          </a:xfrm>
        </p:spPr>
        <p:txBody>
          <a:bodyPr anchor="t">
            <a:normAutofit/>
          </a:bodyPr>
          <a:lstStyle>
            <a:lvl1pPr>
              <a:defRPr sz="2800" cap="all" baseline="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5214A903-97C7-4349-B8CE-1BBED1942E3B}"/>
              </a:ext>
            </a:extLst>
          </p:cNvPr>
          <p:cNvSpPr>
            <a:spLocks noGrp="1"/>
          </p:cNvSpPr>
          <p:nvPr>
            <p:ph type="pic" idx="1"/>
          </p:nvPr>
        </p:nvSpPr>
        <p:spPr>
          <a:xfrm>
            <a:off x="5524500" y="1143000"/>
            <a:ext cx="5486400" cy="457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BF0A9F58-4AEB-4286-98F7-3C77AA913BE8}"/>
              </a:ext>
            </a:extLst>
          </p:cNvPr>
          <p:cNvSpPr>
            <a:spLocks noGrp="1"/>
          </p:cNvSpPr>
          <p:nvPr>
            <p:ph type="body" sz="half" idx="2"/>
          </p:nvPr>
        </p:nvSpPr>
        <p:spPr>
          <a:xfrm>
            <a:off x="1090940" y="2697480"/>
            <a:ext cx="3785860" cy="30934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F55A58-F085-4500-AF61-045B12C8F41E}"/>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6" name="Footer Placeholder 5">
            <a:extLst>
              <a:ext uri="{FF2B5EF4-FFF2-40B4-BE49-F238E27FC236}">
                <a16:creationId xmlns:a16="http://schemas.microsoft.com/office/drawing/2014/main" id="{E9936470-561D-49AE-AC84-B79D483FDA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EF2BE2-DF21-4683-9D5F-849A525FD5C4}"/>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189044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C900-05BC-4021-B69F-2DAF974B7EF6}"/>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3F26E227-253A-44A0-9404-1CFD8CE419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086637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2CF945-D70F-49C1-8CE5-5758C1166014}"/>
              </a:ext>
            </a:extLst>
          </p:cNvPr>
          <p:cNvSpPr>
            <a:spLocks noGrp="1"/>
          </p:cNvSpPr>
          <p:nvPr>
            <p:ph type="title" orient="vert"/>
          </p:nvPr>
        </p:nvSpPr>
        <p:spPr>
          <a:xfrm>
            <a:off x="9182100" y="1091381"/>
            <a:ext cx="2171700" cy="4953369"/>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C2FDB721-04AA-4330-8045-3F2D9BB4BC66}"/>
              </a:ext>
            </a:extLst>
          </p:cNvPr>
          <p:cNvSpPr>
            <a:spLocks noGrp="1"/>
          </p:cNvSpPr>
          <p:nvPr>
            <p:ph type="body" orient="vert" idx="1"/>
          </p:nvPr>
        </p:nvSpPr>
        <p:spPr>
          <a:xfrm>
            <a:off x="838200" y="1091381"/>
            <a:ext cx="8265340" cy="495336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F418C15-991C-4C71-8DCD-DB3B3888831F}"/>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5" name="Footer Placeholder 4">
            <a:extLst>
              <a:ext uri="{FF2B5EF4-FFF2-40B4-BE49-F238E27FC236}">
                <a16:creationId xmlns:a16="http://schemas.microsoft.com/office/drawing/2014/main" id="{F7728CC3-5830-4EFA-B28E-1648904DE1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DA91B6-E419-4483-9B66-3C758788BC48}"/>
              </a:ext>
            </a:extLst>
          </p:cNvPr>
          <p:cNvSpPr>
            <a:spLocks noGrp="1"/>
          </p:cNvSpPr>
          <p:nvPr>
            <p:ph type="sldNum" sz="quarter" idx="12"/>
          </p:nvPr>
        </p:nvSpPr>
        <p:spPr/>
        <p:txBody>
          <a:bodyPr/>
          <a:lstStyle/>
          <a:p>
            <a:fld id="{719D7796-F675-488F-AC46-C88938C80352}" type="slidenum">
              <a:rPr lang="en-US" smtClean="0"/>
              <a:t>‹#›</a:t>
            </a:fld>
            <a:endParaRPr lang="en-US"/>
          </a:p>
        </p:txBody>
      </p:sp>
      <p:cxnSp>
        <p:nvCxnSpPr>
          <p:cNvPr id="7" name="Straight Connector 6">
            <a:extLst>
              <a:ext uri="{FF2B5EF4-FFF2-40B4-BE49-F238E27FC236}">
                <a16:creationId xmlns:a16="http://schemas.microsoft.com/office/drawing/2014/main" id="{DE447C6A-78C3-4687-9A71-A05DBF6700DE}"/>
              </a:ext>
            </a:extLst>
          </p:cNvPr>
          <p:cNvCxnSpPr>
            <a:cxnSpLocks/>
          </p:cNvCxnSpPr>
          <p:nvPr/>
        </p:nvCxnSpPr>
        <p:spPr>
          <a:xfrm>
            <a:off x="11387805"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5355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129422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447778"/>
            <a:ext cx="9922764" cy="383872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7315200" y="6389688"/>
            <a:ext cx="3695302" cy="365125"/>
          </a:xfrm>
          <a:prstGeom prst="rect">
            <a:avLst/>
          </a:prstGeom>
        </p:spPr>
        <p:txBody>
          <a:bodyPr vert="horz" lIns="91440" tIns="45720" rIns="91440" bIns="45720" rtlCol="0" anchor="ctr"/>
          <a:lstStyle>
            <a:lvl1pPr algn="l">
              <a:defRPr sz="900">
                <a:solidFill>
                  <a:schemeClr val="tx1"/>
                </a:solidFill>
              </a:defRPr>
            </a:lvl1pPr>
          </a:lstStyle>
          <a:p>
            <a:fld id="{A1E45834-53BD-4C8F-B791-CD5378F4150E}" type="datetimeFigureOut">
              <a:rPr lang="en-US" smtClean="0"/>
              <a:t>2/2/2026</a:t>
            </a:fld>
            <a:endParaRPr lang="en-US"/>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90940" y="6389688"/>
            <a:ext cx="4433560" cy="365125"/>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983190" y="6389688"/>
            <a:ext cx="940296" cy="365125"/>
          </a:xfrm>
          <a:prstGeom prst="rect">
            <a:avLst/>
          </a:prstGeom>
        </p:spPr>
        <p:txBody>
          <a:bodyPr vert="horz" lIns="91440" tIns="45720" rIns="91440" bIns="45720" rtlCol="0" anchor="ctr"/>
          <a:lstStyle>
            <a:lvl1pPr algn="r">
              <a:defRPr sz="900">
                <a:solidFill>
                  <a:schemeClr val="tx1"/>
                </a:solidFill>
              </a:defRPr>
            </a:lvl1pPr>
          </a:lstStyle>
          <a:p>
            <a:fld id="{719D7796-F675-488F-AC46-C88938C80352}" type="slidenum">
              <a:rPr lang="en-US" smtClean="0"/>
              <a:t>‹#›</a:t>
            </a:fld>
            <a:endParaRPr lang="en-US"/>
          </a:p>
        </p:txBody>
      </p:sp>
      <p:cxnSp>
        <p:nvCxnSpPr>
          <p:cNvPr id="28" name="Straight Connector 27">
            <a:extLst>
              <a:ext uri="{FF2B5EF4-FFF2-40B4-BE49-F238E27FC236}">
                <a16:creationId xmlns:a16="http://schemas.microsoft.com/office/drawing/2014/main" id="{D8689CE0-64D2-447C-9C1F-872D111D8AC3}"/>
              </a:ext>
            </a:extLst>
          </p:cNvPr>
          <p:cNvCxnSpPr>
            <a:cxnSpLocks/>
          </p:cNvCxnSpPr>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7441899"/>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txStyles>
    <p:titleStyle>
      <a:lvl1pPr algn="l" defTabSz="914400" rtl="0" eaLnBrk="1" latinLnBrk="0" hangingPunct="1">
        <a:lnSpc>
          <a:spcPct val="85000"/>
        </a:lnSpc>
        <a:spcBef>
          <a:spcPct val="0"/>
        </a:spcBef>
        <a:buNone/>
        <a:defRPr sz="4400" b="1" kern="1200" cap="none" baseline="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Neue Haas Grotesk Text Pro" panose="020B0504020202020204" pitchFamily="34" charset="0"/>
        <a:buChar char="-"/>
        <a:defRPr sz="1800" kern="1200">
          <a:solidFill>
            <a:schemeClr val="tx1"/>
          </a:solidFill>
          <a:latin typeface="+mn-lt"/>
          <a:ea typeface="+mn-ea"/>
          <a:cs typeface="+mn-cs"/>
        </a:defRPr>
      </a:lvl1pPr>
      <a:lvl2pPr marL="502920" indent="-228600" algn="l" defTabSz="914400" rtl="0" eaLnBrk="1" latinLnBrk="0" hangingPunct="1">
        <a:lnSpc>
          <a:spcPct val="130000"/>
        </a:lnSpc>
        <a:spcBef>
          <a:spcPts val="500"/>
        </a:spcBef>
        <a:buFont typeface="Neue Haas Grotesk Text Pro" panose="020B05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30000"/>
        </a:lnSpc>
        <a:spcBef>
          <a:spcPts val="50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11C99DC-C3C5-4EBE-91DD-345109C3D6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0DF5DF-70C8-1CEA-D39E-C34728BD6BDD}"/>
              </a:ext>
            </a:extLst>
          </p:cNvPr>
          <p:cNvSpPr>
            <a:spLocks noGrp="1"/>
          </p:cNvSpPr>
          <p:nvPr>
            <p:ph type="ctrTitle"/>
          </p:nvPr>
        </p:nvSpPr>
        <p:spPr>
          <a:xfrm>
            <a:off x="1080789" y="2457319"/>
            <a:ext cx="5015211" cy="3495365"/>
          </a:xfrm>
        </p:spPr>
        <p:txBody>
          <a:bodyPr anchor="b">
            <a:normAutofit/>
          </a:bodyPr>
          <a:lstStyle/>
          <a:p>
            <a:r>
              <a:rPr lang="en-US" sz="3600" dirty="0"/>
              <a:t>Chapter 4: Privacy, Anonymity, and Data Protection</a:t>
            </a:r>
          </a:p>
        </p:txBody>
      </p:sp>
      <p:sp>
        <p:nvSpPr>
          <p:cNvPr id="3" name="Subtitle 2">
            <a:extLst>
              <a:ext uri="{FF2B5EF4-FFF2-40B4-BE49-F238E27FC236}">
                <a16:creationId xmlns:a16="http://schemas.microsoft.com/office/drawing/2014/main" id="{CECE0DD2-D7D9-8145-6C15-D59E2A99FC7D}"/>
              </a:ext>
            </a:extLst>
          </p:cNvPr>
          <p:cNvSpPr>
            <a:spLocks noGrp="1"/>
          </p:cNvSpPr>
          <p:nvPr>
            <p:ph type="subTitle" idx="1"/>
          </p:nvPr>
        </p:nvSpPr>
        <p:spPr>
          <a:xfrm>
            <a:off x="1094716" y="1022130"/>
            <a:ext cx="5001284" cy="1268361"/>
          </a:xfrm>
        </p:spPr>
        <p:txBody>
          <a:bodyPr anchor="t">
            <a:normAutofit/>
          </a:bodyPr>
          <a:lstStyle/>
          <a:p>
            <a:endParaRPr lang="en-US"/>
          </a:p>
        </p:txBody>
      </p:sp>
      <p:cxnSp>
        <p:nvCxnSpPr>
          <p:cNvPr id="11" name="Straight Connector 10">
            <a:extLst>
              <a:ext uri="{FF2B5EF4-FFF2-40B4-BE49-F238E27FC236}">
                <a16:creationId xmlns:a16="http://schemas.microsoft.com/office/drawing/2014/main" id="{B0AA360F-DECB-4836-8FB6-22C4BC3FB0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84" y="1186792"/>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A purple and white sky&#10;&#10;Description automatically generated">
            <a:extLst>
              <a:ext uri="{FF2B5EF4-FFF2-40B4-BE49-F238E27FC236}">
                <a16:creationId xmlns:a16="http://schemas.microsoft.com/office/drawing/2014/main" id="{E633B07B-028F-BDD4-8CF6-7210973F3E09}"/>
              </a:ext>
            </a:extLst>
          </p:cNvPr>
          <p:cNvPicPr>
            <a:picLocks noChangeAspect="1"/>
          </p:cNvPicPr>
          <p:nvPr/>
        </p:nvPicPr>
        <p:blipFill>
          <a:blip r:embed="rId3"/>
          <a:srcRect l="5687" r="14313"/>
          <a:stretch/>
        </p:blipFill>
        <p:spPr>
          <a:xfrm>
            <a:off x="6705594" y="1"/>
            <a:ext cx="5486407" cy="6857999"/>
          </a:xfrm>
          <a:prstGeom prst="rect">
            <a:avLst/>
          </a:prstGeom>
        </p:spPr>
      </p:pic>
    </p:spTree>
    <p:extLst>
      <p:ext uri="{BB962C8B-B14F-4D97-AF65-F5344CB8AC3E}">
        <p14:creationId xmlns:p14="http://schemas.microsoft.com/office/powerpoint/2010/main" val="2305668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41D7B59F-C43F-435D-A754-00854140FD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descr="A digital map">
            <a:extLst>
              <a:ext uri="{FF2B5EF4-FFF2-40B4-BE49-F238E27FC236}">
                <a16:creationId xmlns:a16="http://schemas.microsoft.com/office/drawing/2014/main" id="{645C705A-2BC3-1A41-A28C-0D7AE125315C}"/>
              </a:ext>
            </a:extLst>
          </p:cNvPr>
          <p:cNvPicPr>
            <a:picLocks noChangeAspect="1"/>
          </p:cNvPicPr>
          <p:nvPr/>
        </p:nvPicPr>
        <p:blipFill>
          <a:blip r:embed="rId2">
            <a:alphaModFix/>
          </a:blip>
          <a:srcRect b="15730"/>
          <a:stretch/>
        </p:blipFill>
        <p:spPr>
          <a:xfrm>
            <a:off x="20" y="10"/>
            <a:ext cx="12191979" cy="6857990"/>
          </a:xfrm>
          <a:prstGeom prst="rect">
            <a:avLst/>
          </a:prstGeom>
        </p:spPr>
      </p:pic>
      <p:sp>
        <p:nvSpPr>
          <p:cNvPr id="21" name="Rectangle 20">
            <a:extLst>
              <a:ext uri="{FF2B5EF4-FFF2-40B4-BE49-F238E27FC236}">
                <a16:creationId xmlns:a16="http://schemas.microsoft.com/office/drawing/2014/main" id="{7EEAEB7F-657B-DEB0-ADDC-03CAE43EF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525254"/>
          </a:xfrm>
          <a:prstGeom prst="rect">
            <a:avLst/>
          </a:prstGeom>
          <a:gradFill>
            <a:gsLst>
              <a:gs pos="0">
                <a:srgbClr val="000000">
                  <a:alpha val="50000"/>
                </a:srgbClr>
              </a:gs>
              <a:gs pos="100000">
                <a:srgbClr val="000000">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77F2CB18-CACE-7917-5D97-6F50BAB57BD1}"/>
              </a:ext>
            </a:extLst>
          </p:cNvPr>
          <p:cNvSpPr>
            <a:spLocks noGrp="1"/>
          </p:cNvSpPr>
          <p:nvPr>
            <p:ph type="ctrTitle"/>
          </p:nvPr>
        </p:nvSpPr>
        <p:spPr>
          <a:xfrm>
            <a:off x="1052146" y="1082439"/>
            <a:ext cx="9958754" cy="2966487"/>
          </a:xfrm>
        </p:spPr>
        <p:txBody>
          <a:bodyPr anchor="t">
            <a:normAutofit/>
          </a:bodyPr>
          <a:lstStyle/>
          <a:p>
            <a:r>
              <a:rPr lang="en-US" sz="6000" dirty="0">
                <a:solidFill>
                  <a:srgbClr val="FFFFFF"/>
                </a:solidFill>
              </a:rPr>
              <a:t>Discussion 4.1: is there true privacy in the digital world?</a:t>
            </a:r>
          </a:p>
        </p:txBody>
      </p:sp>
      <p:sp>
        <p:nvSpPr>
          <p:cNvPr id="22" name="Rectangle 21">
            <a:extLst>
              <a:ext uri="{FF2B5EF4-FFF2-40B4-BE49-F238E27FC236}">
                <a16:creationId xmlns:a16="http://schemas.microsoft.com/office/drawing/2014/main" id="{FC542542-348B-FB37-590A-1A0C034F4E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851917"/>
            <a:ext cx="12192000" cy="2006082"/>
          </a:xfrm>
          <a:prstGeom prst="rect">
            <a:avLst/>
          </a:prstGeom>
          <a:gradFill>
            <a:gsLst>
              <a:gs pos="0">
                <a:srgbClr val="000000">
                  <a:alpha val="42000"/>
                </a:srgbClr>
              </a:gs>
              <a:gs pos="100000">
                <a:srgbClr val="000000">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4">
            <a:extLst>
              <a:ext uri="{FF2B5EF4-FFF2-40B4-BE49-F238E27FC236}">
                <a16:creationId xmlns:a16="http://schemas.microsoft.com/office/drawing/2014/main" id="{1634C4E5-134F-48A4-A100-AD54E9052254}"/>
              </a:ext>
            </a:extLst>
          </p:cNvPr>
          <p:cNvSpPr>
            <a:spLocks noGrp="1"/>
          </p:cNvSpPr>
          <p:nvPr>
            <p:ph type="subTitle" idx="1"/>
          </p:nvPr>
        </p:nvSpPr>
        <p:spPr>
          <a:xfrm>
            <a:off x="1099476" y="4567834"/>
            <a:ext cx="9258183" cy="1270304"/>
          </a:xfrm>
        </p:spPr>
        <p:txBody>
          <a:bodyPr anchor="b">
            <a:normAutofit/>
          </a:bodyPr>
          <a:lstStyle/>
          <a:p>
            <a:endParaRPr lang="en-US">
              <a:solidFill>
                <a:srgbClr val="FFFFFF"/>
              </a:solidFill>
            </a:endParaRPr>
          </a:p>
        </p:txBody>
      </p:sp>
      <p:cxnSp>
        <p:nvCxnSpPr>
          <p:cNvPr id="23" name="Straight Connector 22">
            <a:extLst>
              <a:ext uri="{FF2B5EF4-FFF2-40B4-BE49-F238E27FC236}">
                <a16:creationId xmlns:a16="http://schemas.microsoft.com/office/drawing/2014/main" id="{B0AA360F-DECB-4836-8FB6-22C4BC3FB0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14"/>
            <a:ext cx="804195" cy="0"/>
          </a:xfrm>
          <a:prstGeom prst="line">
            <a:avLst/>
          </a:prstGeom>
          <a:ln w="85725">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3493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8EC57E-E46B-E025-78F0-9E11D76783EB}"/>
              </a:ext>
            </a:extLst>
          </p:cNvPr>
          <p:cNvSpPr>
            <a:spLocks noGrp="1"/>
          </p:cNvSpPr>
          <p:nvPr>
            <p:ph type="title"/>
          </p:nvPr>
        </p:nvSpPr>
        <p:spPr>
          <a:xfrm>
            <a:off x="1091203" y="1069848"/>
            <a:ext cx="6308775" cy="948138"/>
          </a:xfrm>
        </p:spPr>
        <p:txBody>
          <a:bodyPr>
            <a:normAutofit/>
          </a:bodyPr>
          <a:lstStyle/>
          <a:p>
            <a:r>
              <a:rPr lang="en-US" sz="4700" dirty="0"/>
              <a:t>Privacy</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8FBD6CF-0A30-88CA-564A-CA57E1884165}"/>
              </a:ext>
            </a:extLst>
          </p:cNvPr>
          <p:cNvSpPr>
            <a:spLocks noGrp="1"/>
          </p:cNvSpPr>
          <p:nvPr>
            <p:ph idx="1"/>
          </p:nvPr>
        </p:nvSpPr>
        <p:spPr>
          <a:xfrm>
            <a:off x="1097280" y="3180522"/>
            <a:ext cx="6223996" cy="3105978"/>
          </a:xfrm>
        </p:spPr>
        <p:txBody>
          <a:bodyPr>
            <a:normAutofit/>
          </a:bodyPr>
          <a:lstStyle/>
          <a:p>
            <a:r>
              <a:rPr lang="en-US" dirty="0"/>
              <a:t>Privacy is an evolving concept. </a:t>
            </a:r>
          </a:p>
          <a:p>
            <a:r>
              <a:rPr lang="en-US" dirty="0"/>
              <a:t>The matters that have been considered public and private have evolved because of changing attitudes, institutions, living conditions, and technology.</a:t>
            </a:r>
          </a:p>
          <a:p>
            <a:r>
              <a:rPr lang="en-US" dirty="0"/>
              <a:t>What we consider private today is shaped by culture and time and differs across societies.</a:t>
            </a:r>
          </a:p>
        </p:txBody>
      </p:sp>
      <p:pic>
        <p:nvPicPr>
          <p:cNvPr id="5" name="Picture 4" descr="A 3D pattern of ring shapes connected by lines">
            <a:extLst>
              <a:ext uri="{FF2B5EF4-FFF2-40B4-BE49-F238E27FC236}">
                <a16:creationId xmlns:a16="http://schemas.microsoft.com/office/drawing/2014/main" id="{D4F88523-CAD7-1D73-00DC-CBC6CE48616A}"/>
              </a:ext>
            </a:extLst>
          </p:cNvPr>
          <p:cNvPicPr>
            <a:picLocks noChangeAspect="1"/>
          </p:cNvPicPr>
          <p:nvPr/>
        </p:nvPicPr>
        <p:blipFill>
          <a:blip r:embed="rId2"/>
          <a:srcRect l="18639" r="51361"/>
          <a:stretch/>
        </p:blipFill>
        <p:spPr>
          <a:xfrm>
            <a:off x="8534400" y="10"/>
            <a:ext cx="3657601" cy="6857990"/>
          </a:xfrm>
          <a:prstGeom prst="rect">
            <a:avLst/>
          </a:prstGeom>
        </p:spPr>
      </p:pic>
    </p:spTree>
    <p:extLst>
      <p:ext uri="{BB962C8B-B14F-4D97-AF65-F5344CB8AC3E}">
        <p14:creationId xmlns:p14="http://schemas.microsoft.com/office/powerpoint/2010/main" val="1433310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8D5A0-0924-5EB2-0C61-0F2A5D188F0E}"/>
              </a:ext>
            </a:extLst>
          </p:cNvPr>
          <p:cNvSpPr>
            <a:spLocks noGrp="1"/>
          </p:cNvSpPr>
          <p:nvPr>
            <p:ph type="title"/>
          </p:nvPr>
        </p:nvSpPr>
        <p:spPr/>
        <p:txBody>
          <a:bodyPr/>
          <a:lstStyle/>
          <a:p>
            <a:r>
              <a:rPr lang="en-US" dirty="0"/>
              <a:t>Evolution of Privacy</a:t>
            </a:r>
          </a:p>
        </p:txBody>
      </p:sp>
      <p:graphicFrame>
        <p:nvGraphicFramePr>
          <p:cNvPr id="4" name="Content Placeholder 3">
            <a:extLst>
              <a:ext uri="{FF2B5EF4-FFF2-40B4-BE49-F238E27FC236}">
                <a16:creationId xmlns:a16="http://schemas.microsoft.com/office/drawing/2014/main" id="{73107775-20F1-CCA9-B7AE-AEB656AF9C73}"/>
              </a:ext>
            </a:extLst>
          </p:cNvPr>
          <p:cNvGraphicFramePr>
            <a:graphicFrameLocks noGrp="1"/>
          </p:cNvGraphicFramePr>
          <p:nvPr>
            <p:ph idx="1"/>
            <p:extLst>
              <p:ext uri="{D42A27DB-BD31-4B8C-83A1-F6EECF244321}">
                <p14:modId xmlns:p14="http://schemas.microsoft.com/office/powerpoint/2010/main" val="3423283229"/>
              </p:ext>
            </p:extLst>
          </p:nvPr>
        </p:nvGraphicFramePr>
        <p:xfrm>
          <a:off x="199697" y="1986455"/>
          <a:ext cx="11782096" cy="46140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34120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27BDC9-FB18-487D-844E-9A6B39F8C1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99490F-B146-CFEF-1CF6-172EE8C4510D}"/>
              </a:ext>
            </a:extLst>
          </p:cNvPr>
          <p:cNvSpPr>
            <a:spLocks noGrp="1"/>
          </p:cNvSpPr>
          <p:nvPr>
            <p:ph type="title"/>
          </p:nvPr>
        </p:nvSpPr>
        <p:spPr>
          <a:xfrm>
            <a:off x="1088136" y="2235210"/>
            <a:ext cx="3807714" cy="3352789"/>
          </a:xfrm>
        </p:spPr>
        <p:txBody>
          <a:bodyPr anchor="t">
            <a:normAutofit/>
          </a:bodyPr>
          <a:lstStyle/>
          <a:p>
            <a:r>
              <a:rPr lang="en-US" sz="4000"/>
              <a:t>Solove’s Taxonomy of Privacy</a:t>
            </a:r>
          </a:p>
        </p:txBody>
      </p:sp>
      <p:cxnSp>
        <p:nvCxnSpPr>
          <p:cNvPr id="11" name="Straight Connector 10">
            <a:extLst>
              <a:ext uri="{FF2B5EF4-FFF2-40B4-BE49-F238E27FC236}">
                <a16:creationId xmlns:a16="http://schemas.microsoft.com/office/drawing/2014/main" id="{25BE18DF-459C-485A-834C-292AA6BB10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495" y="2337622"/>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D21899E7-D1C0-A6E2-8085-8EAD81532AF9}"/>
              </a:ext>
            </a:extLst>
          </p:cNvPr>
          <p:cNvGraphicFramePr>
            <a:graphicFrameLocks noGrp="1"/>
          </p:cNvGraphicFramePr>
          <p:nvPr>
            <p:ph idx="1"/>
            <p:extLst>
              <p:ext uri="{D42A27DB-BD31-4B8C-83A1-F6EECF244321}">
                <p14:modId xmlns:p14="http://schemas.microsoft.com/office/powerpoint/2010/main" val="1676093502"/>
              </p:ext>
            </p:extLst>
          </p:nvPr>
        </p:nvGraphicFramePr>
        <p:xfrm>
          <a:off x="5524500" y="571500"/>
          <a:ext cx="6096000" cy="5714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18733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04B55-55FE-7F8B-5E24-17C85D2A92FF}"/>
              </a:ext>
            </a:extLst>
          </p:cNvPr>
          <p:cNvSpPr>
            <a:spLocks noGrp="1"/>
          </p:cNvSpPr>
          <p:nvPr>
            <p:ph type="title"/>
          </p:nvPr>
        </p:nvSpPr>
        <p:spPr/>
        <p:txBody>
          <a:bodyPr/>
          <a:lstStyle/>
          <a:p>
            <a:r>
              <a:rPr lang="en-US" dirty="0"/>
              <a:t>Solove’s Taxonomy of Privacy</a:t>
            </a:r>
          </a:p>
        </p:txBody>
      </p:sp>
      <p:pic>
        <p:nvPicPr>
          <p:cNvPr id="1026" name="Picture 2" descr="Enterprivacy's Privacy Risk Calculator">
            <a:extLst>
              <a:ext uri="{FF2B5EF4-FFF2-40B4-BE49-F238E27FC236}">
                <a16:creationId xmlns:a16="http://schemas.microsoft.com/office/drawing/2014/main" id="{A8C5771D-EBB9-9E9F-9C98-4CDFEC7E921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98822" y="1784149"/>
            <a:ext cx="6014050" cy="4502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5632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F2E4D8-9B0D-5778-BEE1-2B448EBEF9AE}"/>
              </a:ext>
            </a:extLst>
          </p:cNvPr>
          <p:cNvSpPr>
            <a:spLocks noGrp="1"/>
          </p:cNvSpPr>
          <p:nvPr>
            <p:ph type="title"/>
          </p:nvPr>
        </p:nvSpPr>
        <p:spPr>
          <a:xfrm>
            <a:off x="1091203" y="1069848"/>
            <a:ext cx="6308775" cy="2049620"/>
          </a:xfrm>
        </p:spPr>
        <p:txBody>
          <a:bodyPr>
            <a:normAutofit/>
          </a:bodyPr>
          <a:lstStyle/>
          <a:p>
            <a:r>
              <a:rPr lang="en-US" sz="6000" dirty="0"/>
              <a:t>Information Collection</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3859A87-2F60-0AE5-C8AC-608AB911D8A9}"/>
              </a:ext>
            </a:extLst>
          </p:cNvPr>
          <p:cNvSpPr>
            <a:spLocks noGrp="1"/>
          </p:cNvSpPr>
          <p:nvPr>
            <p:ph idx="1"/>
          </p:nvPr>
        </p:nvSpPr>
        <p:spPr>
          <a:xfrm>
            <a:off x="1097280" y="3180522"/>
            <a:ext cx="6223996" cy="3105978"/>
          </a:xfrm>
        </p:spPr>
        <p:txBody>
          <a:bodyPr>
            <a:normAutofit fontScale="85000" lnSpcReduction="10000"/>
          </a:bodyPr>
          <a:lstStyle/>
          <a:p>
            <a:r>
              <a:rPr lang="en-US" b="1" dirty="0"/>
              <a:t>Surveillance: </a:t>
            </a:r>
            <a:r>
              <a:rPr lang="en-US" dirty="0"/>
              <a:t>Watching, listening to, or recording an individual’s activities, leading to discomfort, inhibition, and loss of freedom.</a:t>
            </a:r>
          </a:p>
          <a:p>
            <a:r>
              <a:rPr lang="en-US" i="1" dirty="0"/>
              <a:t>Example: A company uses hidden cameras in a workplace to monitor employees without their knowledge.</a:t>
            </a:r>
          </a:p>
          <a:p>
            <a:r>
              <a:rPr lang="en-US" b="1" dirty="0"/>
              <a:t>Interrogation: </a:t>
            </a:r>
            <a:r>
              <a:rPr lang="en-US" dirty="0"/>
              <a:t>Pressuring individuals to divulge information, which may be invasive or coercive.</a:t>
            </a:r>
          </a:p>
          <a:p>
            <a:r>
              <a:rPr lang="en-US" i="1" dirty="0"/>
              <a:t>Example: A health insurance provider pressures applicants to disclose sensitive medical history irrelevant to their policy.</a:t>
            </a:r>
          </a:p>
        </p:txBody>
      </p:sp>
      <p:pic>
        <p:nvPicPr>
          <p:cNvPr id="5" name="Picture 4" descr="Question mark boxes">
            <a:extLst>
              <a:ext uri="{FF2B5EF4-FFF2-40B4-BE49-F238E27FC236}">
                <a16:creationId xmlns:a16="http://schemas.microsoft.com/office/drawing/2014/main" id="{57EA3934-30C9-80F2-DEA9-39C3041B7875}"/>
              </a:ext>
            </a:extLst>
          </p:cNvPr>
          <p:cNvPicPr>
            <a:picLocks noChangeAspect="1"/>
          </p:cNvPicPr>
          <p:nvPr/>
        </p:nvPicPr>
        <p:blipFill>
          <a:blip r:embed="rId2"/>
          <a:srcRect l="37940" r="32060"/>
          <a:stretch/>
        </p:blipFill>
        <p:spPr>
          <a:xfrm>
            <a:off x="8534400" y="10"/>
            <a:ext cx="3657601" cy="6857990"/>
          </a:xfrm>
          <a:prstGeom prst="rect">
            <a:avLst/>
          </a:prstGeom>
        </p:spPr>
      </p:pic>
    </p:spTree>
    <p:extLst>
      <p:ext uri="{BB962C8B-B14F-4D97-AF65-F5344CB8AC3E}">
        <p14:creationId xmlns:p14="http://schemas.microsoft.com/office/powerpoint/2010/main" val="3746340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13FB42-CF01-FA9E-C1F1-9D9746F8BDE8}"/>
              </a:ext>
            </a:extLst>
          </p:cNvPr>
          <p:cNvSpPr>
            <a:spLocks noGrp="1"/>
          </p:cNvSpPr>
          <p:nvPr>
            <p:ph type="title"/>
          </p:nvPr>
        </p:nvSpPr>
        <p:spPr>
          <a:xfrm>
            <a:off x="1091203" y="1069848"/>
            <a:ext cx="6308775" cy="2049620"/>
          </a:xfrm>
        </p:spPr>
        <p:txBody>
          <a:bodyPr>
            <a:normAutofit/>
          </a:bodyPr>
          <a:lstStyle/>
          <a:p>
            <a:r>
              <a:rPr lang="en-US" sz="6000" dirty="0"/>
              <a:t>Information Processing</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CCBEF18-1F2A-02AA-450F-226948E534B3}"/>
              </a:ext>
            </a:extLst>
          </p:cNvPr>
          <p:cNvSpPr>
            <a:spLocks noGrp="1"/>
          </p:cNvSpPr>
          <p:nvPr>
            <p:ph idx="1"/>
          </p:nvPr>
        </p:nvSpPr>
        <p:spPr>
          <a:xfrm>
            <a:off x="1097280" y="3180522"/>
            <a:ext cx="6223996" cy="3105978"/>
          </a:xfrm>
        </p:spPr>
        <p:txBody>
          <a:bodyPr>
            <a:normAutofit/>
          </a:bodyPr>
          <a:lstStyle/>
          <a:p>
            <a:pPr>
              <a:lnSpc>
                <a:spcPct val="120000"/>
              </a:lnSpc>
            </a:pPr>
            <a:r>
              <a:rPr lang="en-US" sz="1400" b="1" dirty="0"/>
              <a:t>Aggregation: </a:t>
            </a:r>
            <a:r>
              <a:rPr lang="en-US" sz="1400" dirty="0"/>
              <a:t>Combining various data points about a person to create a comprehensive profile, often used without consent.</a:t>
            </a:r>
          </a:p>
          <a:p>
            <a:pPr>
              <a:lnSpc>
                <a:spcPct val="120000"/>
              </a:lnSpc>
            </a:pPr>
            <a:r>
              <a:rPr lang="en-US" sz="1400" i="1" dirty="0"/>
              <a:t>Example: A marketing firm combines data from social media, online purchases, and location tracking to create detailed consumer profiles.</a:t>
            </a:r>
          </a:p>
          <a:p>
            <a:pPr>
              <a:lnSpc>
                <a:spcPct val="120000"/>
              </a:lnSpc>
            </a:pPr>
            <a:r>
              <a:rPr lang="en-US" sz="1400" b="1" dirty="0"/>
              <a:t>Identification: </a:t>
            </a:r>
            <a:r>
              <a:rPr lang="en-US" sz="1400" dirty="0"/>
              <a:t>Linking collected data to specific individuals, leading to potential misuse.</a:t>
            </a:r>
          </a:p>
          <a:p>
            <a:pPr>
              <a:lnSpc>
                <a:spcPct val="120000"/>
              </a:lnSpc>
            </a:pPr>
            <a:r>
              <a:rPr lang="en-US" sz="1400" i="1" dirty="0"/>
              <a:t>Example: An anonymous user’s data is linked to their identity through IP address tracking, exposing their online activities.</a:t>
            </a:r>
          </a:p>
        </p:txBody>
      </p:sp>
      <p:pic>
        <p:nvPicPr>
          <p:cNvPr id="5" name="Picture 4" descr="An abstract design with lines and financial symbols">
            <a:extLst>
              <a:ext uri="{FF2B5EF4-FFF2-40B4-BE49-F238E27FC236}">
                <a16:creationId xmlns:a16="http://schemas.microsoft.com/office/drawing/2014/main" id="{6E8CABA3-33CA-B1BB-5F92-0EA8414BCDB0}"/>
              </a:ext>
            </a:extLst>
          </p:cNvPr>
          <p:cNvPicPr>
            <a:picLocks noChangeAspect="1"/>
          </p:cNvPicPr>
          <p:nvPr/>
        </p:nvPicPr>
        <p:blipFill>
          <a:blip r:embed="rId2"/>
          <a:srcRect l="31821" r="32713"/>
          <a:stretch/>
        </p:blipFill>
        <p:spPr>
          <a:xfrm>
            <a:off x="8534400" y="10"/>
            <a:ext cx="3657601" cy="6857990"/>
          </a:xfrm>
          <a:prstGeom prst="rect">
            <a:avLst/>
          </a:prstGeom>
        </p:spPr>
      </p:pic>
    </p:spTree>
    <p:extLst>
      <p:ext uri="{BB962C8B-B14F-4D97-AF65-F5344CB8AC3E}">
        <p14:creationId xmlns:p14="http://schemas.microsoft.com/office/powerpoint/2010/main" val="2621086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13FB42-CF01-FA9E-C1F1-9D9746F8BDE8}"/>
              </a:ext>
            </a:extLst>
          </p:cNvPr>
          <p:cNvSpPr>
            <a:spLocks noGrp="1"/>
          </p:cNvSpPr>
          <p:nvPr>
            <p:ph type="title"/>
          </p:nvPr>
        </p:nvSpPr>
        <p:spPr>
          <a:xfrm>
            <a:off x="1091203" y="1069848"/>
            <a:ext cx="6308775" cy="2049620"/>
          </a:xfrm>
        </p:spPr>
        <p:txBody>
          <a:bodyPr>
            <a:normAutofit/>
          </a:bodyPr>
          <a:lstStyle/>
          <a:p>
            <a:r>
              <a:rPr lang="en-US" sz="6000" dirty="0"/>
              <a:t>Information Processing</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CCBEF18-1F2A-02AA-450F-226948E534B3}"/>
              </a:ext>
            </a:extLst>
          </p:cNvPr>
          <p:cNvSpPr>
            <a:spLocks noGrp="1"/>
          </p:cNvSpPr>
          <p:nvPr>
            <p:ph idx="1"/>
          </p:nvPr>
        </p:nvSpPr>
        <p:spPr>
          <a:xfrm>
            <a:off x="725214" y="2890347"/>
            <a:ext cx="7451834" cy="3741679"/>
          </a:xfrm>
        </p:spPr>
        <p:txBody>
          <a:bodyPr>
            <a:normAutofit/>
          </a:bodyPr>
          <a:lstStyle/>
          <a:p>
            <a:pPr>
              <a:lnSpc>
                <a:spcPct val="120000"/>
              </a:lnSpc>
            </a:pPr>
            <a:r>
              <a:rPr lang="en-US" sz="1400" b="1" dirty="0"/>
              <a:t>Insecurity: </a:t>
            </a:r>
            <a:r>
              <a:rPr lang="en-US" sz="1400" dirty="0"/>
              <a:t>Failing to safeguard data, leading to unauthorized access or leaks.</a:t>
            </a:r>
          </a:p>
          <a:p>
            <a:pPr>
              <a:lnSpc>
                <a:spcPct val="120000"/>
              </a:lnSpc>
            </a:pPr>
            <a:r>
              <a:rPr lang="en-US" sz="1400" i="1" dirty="0"/>
              <a:t>Example:  A database containing sensitive customer information is left unencrypted and is accessed during a data breach.</a:t>
            </a:r>
          </a:p>
          <a:p>
            <a:pPr>
              <a:lnSpc>
                <a:spcPct val="120000"/>
              </a:lnSpc>
            </a:pPr>
            <a:r>
              <a:rPr lang="en-US" sz="1400" b="1" dirty="0"/>
              <a:t>Secondary Use: </a:t>
            </a:r>
            <a:r>
              <a:rPr lang="en-US" sz="1400" dirty="0"/>
              <a:t>Using collected data for purposes other than originally intended without the individual's consent.</a:t>
            </a:r>
          </a:p>
          <a:p>
            <a:pPr>
              <a:lnSpc>
                <a:spcPct val="120000"/>
              </a:lnSpc>
            </a:pPr>
            <a:r>
              <a:rPr lang="en-US" sz="1400" i="1" dirty="0"/>
              <a:t>Example: A fitness app collects data for health tracking but sells it to advertisers without users’ consent.</a:t>
            </a:r>
          </a:p>
          <a:p>
            <a:pPr>
              <a:lnSpc>
                <a:spcPct val="120000"/>
              </a:lnSpc>
            </a:pPr>
            <a:r>
              <a:rPr lang="en-US" sz="1400" b="1" dirty="0"/>
              <a:t>Exclusion: </a:t>
            </a:r>
            <a:r>
              <a:rPr lang="en-US" sz="1400" dirty="0"/>
              <a:t>Preventing individuals from accessing or controlling the data collected about them.</a:t>
            </a:r>
          </a:p>
          <a:p>
            <a:pPr>
              <a:lnSpc>
                <a:spcPct val="120000"/>
              </a:lnSpc>
            </a:pPr>
            <a:r>
              <a:rPr lang="en-US" sz="1400" i="1" dirty="0"/>
              <a:t>Example: A credit agency refuses to provide a person access to their credit report or explain how their credit score was calculated.</a:t>
            </a:r>
          </a:p>
        </p:txBody>
      </p:sp>
      <p:pic>
        <p:nvPicPr>
          <p:cNvPr id="5" name="Picture 4" descr="An abstract design with lines and financial symbols">
            <a:extLst>
              <a:ext uri="{FF2B5EF4-FFF2-40B4-BE49-F238E27FC236}">
                <a16:creationId xmlns:a16="http://schemas.microsoft.com/office/drawing/2014/main" id="{6E8CABA3-33CA-B1BB-5F92-0EA8414BCDB0}"/>
              </a:ext>
            </a:extLst>
          </p:cNvPr>
          <p:cNvPicPr>
            <a:picLocks noChangeAspect="1"/>
          </p:cNvPicPr>
          <p:nvPr/>
        </p:nvPicPr>
        <p:blipFill>
          <a:blip r:embed="rId2"/>
          <a:srcRect l="31821" r="32713"/>
          <a:stretch/>
        </p:blipFill>
        <p:spPr>
          <a:xfrm>
            <a:off x="8534400" y="10"/>
            <a:ext cx="3657601" cy="6857990"/>
          </a:xfrm>
          <a:prstGeom prst="rect">
            <a:avLst/>
          </a:prstGeom>
        </p:spPr>
      </p:pic>
    </p:spTree>
    <p:extLst>
      <p:ext uri="{BB962C8B-B14F-4D97-AF65-F5344CB8AC3E}">
        <p14:creationId xmlns:p14="http://schemas.microsoft.com/office/powerpoint/2010/main" val="246112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9F67BE-CCCE-AC5F-3C34-C2D26A6CA0AF}"/>
              </a:ext>
            </a:extLst>
          </p:cNvPr>
          <p:cNvSpPr>
            <a:spLocks noGrp="1"/>
          </p:cNvSpPr>
          <p:nvPr>
            <p:ph type="title"/>
          </p:nvPr>
        </p:nvSpPr>
        <p:spPr>
          <a:xfrm>
            <a:off x="1091203" y="1069848"/>
            <a:ext cx="6308775" cy="2049620"/>
          </a:xfrm>
        </p:spPr>
        <p:txBody>
          <a:bodyPr>
            <a:normAutofit/>
          </a:bodyPr>
          <a:lstStyle/>
          <a:p>
            <a:r>
              <a:rPr lang="en-US" sz="6000" dirty="0"/>
              <a:t>Information Dissemination</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5115C01-C4CA-31C4-46C7-940A6E86A31D}"/>
              </a:ext>
            </a:extLst>
          </p:cNvPr>
          <p:cNvSpPr>
            <a:spLocks noGrp="1"/>
          </p:cNvSpPr>
          <p:nvPr>
            <p:ph idx="1"/>
          </p:nvPr>
        </p:nvSpPr>
        <p:spPr>
          <a:xfrm>
            <a:off x="804195" y="3180522"/>
            <a:ext cx="6517081" cy="3462016"/>
          </a:xfrm>
        </p:spPr>
        <p:txBody>
          <a:bodyPr>
            <a:normAutofit lnSpcReduction="10000"/>
          </a:bodyPr>
          <a:lstStyle/>
          <a:p>
            <a:pPr>
              <a:lnSpc>
                <a:spcPct val="120000"/>
              </a:lnSpc>
            </a:pPr>
            <a:r>
              <a:rPr lang="en-US" sz="1400" b="1" dirty="0"/>
              <a:t>Breach of Confidentiality: </a:t>
            </a:r>
            <a:r>
              <a:rPr lang="en-US" sz="1400" dirty="0"/>
              <a:t>Breaking promises to keep personal information private.</a:t>
            </a:r>
          </a:p>
          <a:p>
            <a:pPr>
              <a:lnSpc>
                <a:spcPct val="120000"/>
              </a:lnSpc>
            </a:pPr>
            <a:r>
              <a:rPr lang="en-US" sz="1400" i="1" dirty="0"/>
              <a:t>Example: A therapist shares a patient’s confidential details with a third party without consent.</a:t>
            </a:r>
          </a:p>
          <a:p>
            <a:pPr>
              <a:lnSpc>
                <a:spcPct val="120000"/>
              </a:lnSpc>
            </a:pPr>
            <a:r>
              <a:rPr lang="en-US" sz="1400" b="1" dirty="0"/>
              <a:t>Disclosure: </a:t>
            </a:r>
            <a:r>
              <a:rPr lang="en-US" sz="1400" dirty="0"/>
              <a:t>Sharing truthful but potentially damaging personal information.</a:t>
            </a:r>
          </a:p>
          <a:p>
            <a:pPr>
              <a:lnSpc>
                <a:spcPct val="120000"/>
              </a:lnSpc>
            </a:pPr>
            <a:r>
              <a:rPr lang="en-US" sz="1400" i="1" dirty="0"/>
              <a:t>Example: A news outlet publishes the name of a private individual involved in a public scandal.</a:t>
            </a:r>
          </a:p>
          <a:p>
            <a:pPr>
              <a:lnSpc>
                <a:spcPct val="120000"/>
              </a:lnSpc>
            </a:pPr>
            <a:r>
              <a:rPr lang="en-US" sz="1400" b="1" dirty="0"/>
              <a:t>Exposure: </a:t>
            </a:r>
            <a:r>
              <a:rPr lang="en-US" sz="1400" dirty="0"/>
              <a:t>Revealing highly private aspects like family issues, bodily dysfunctions, or grief.</a:t>
            </a:r>
          </a:p>
          <a:p>
            <a:pPr>
              <a:lnSpc>
                <a:spcPct val="120000"/>
              </a:lnSpc>
            </a:pPr>
            <a:r>
              <a:rPr lang="en-US" sz="1400" i="1" dirty="0"/>
              <a:t>Example: A hacker leaks private photos of a celebrity online.</a:t>
            </a:r>
          </a:p>
        </p:txBody>
      </p:sp>
      <p:pic>
        <p:nvPicPr>
          <p:cNvPr id="5" name="Picture 4" descr="Padlock on computer motherboard">
            <a:extLst>
              <a:ext uri="{FF2B5EF4-FFF2-40B4-BE49-F238E27FC236}">
                <a16:creationId xmlns:a16="http://schemas.microsoft.com/office/drawing/2014/main" id="{DE31C9DE-32A3-2705-C01B-6AA1D195D525}"/>
              </a:ext>
            </a:extLst>
          </p:cNvPr>
          <p:cNvPicPr>
            <a:picLocks noChangeAspect="1"/>
          </p:cNvPicPr>
          <p:nvPr/>
        </p:nvPicPr>
        <p:blipFill>
          <a:blip r:embed="rId2"/>
          <a:srcRect l="20523" r="43877" b="-1"/>
          <a:stretch/>
        </p:blipFill>
        <p:spPr>
          <a:xfrm>
            <a:off x="8534400" y="10"/>
            <a:ext cx="3657601" cy="6857990"/>
          </a:xfrm>
          <a:prstGeom prst="rect">
            <a:avLst/>
          </a:prstGeom>
        </p:spPr>
      </p:pic>
    </p:spTree>
    <p:extLst>
      <p:ext uri="{BB962C8B-B14F-4D97-AF65-F5344CB8AC3E}">
        <p14:creationId xmlns:p14="http://schemas.microsoft.com/office/powerpoint/2010/main" val="3485231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9F67BE-CCCE-AC5F-3C34-C2D26A6CA0AF}"/>
              </a:ext>
            </a:extLst>
          </p:cNvPr>
          <p:cNvSpPr>
            <a:spLocks noGrp="1"/>
          </p:cNvSpPr>
          <p:nvPr>
            <p:ph type="title"/>
          </p:nvPr>
        </p:nvSpPr>
        <p:spPr>
          <a:xfrm>
            <a:off x="1091203" y="1069848"/>
            <a:ext cx="6308775" cy="2049620"/>
          </a:xfrm>
        </p:spPr>
        <p:txBody>
          <a:bodyPr>
            <a:normAutofit/>
          </a:bodyPr>
          <a:lstStyle/>
          <a:p>
            <a:r>
              <a:rPr lang="en-US" sz="6000" dirty="0"/>
              <a:t>Information Dissemination</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5115C01-C4CA-31C4-46C7-940A6E86A31D}"/>
              </a:ext>
            </a:extLst>
          </p:cNvPr>
          <p:cNvSpPr>
            <a:spLocks noGrp="1"/>
          </p:cNvSpPr>
          <p:nvPr>
            <p:ph idx="1"/>
          </p:nvPr>
        </p:nvSpPr>
        <p:spPr>
          <a:xfrm>
            <a:off x="804195" y="3180522"/>
            <a:ext cx="6517081" cy="3462016"/>
          </a:xfrm>
        </p:spPr>
        <p:txBody>
          <a:bodyPr>
            <a:normAutofit/>
          </a:bodyPr>
          <a:lstStyle/>
          <a:p>
            <a:pPr>
              <a:lnSpc>
                <a:spcPct val="120000"/>
              </a:lnSpc>
            </a:pPr>
            <a:r>
              <a:rPr lang="en-US" sz="1400" b="1" dirty="0"/>
              <a:t>Increased Accessibility: </a:t>
            </a:r>
            <a:r>
              <a:rPr lang="en-US" sz="1400" dirty="0"/>
              <a:t>Amplifying access to personal data, making it more vulnerable to misuse.</a:t>
            </a:r>
          </a:p>
          <a:p>
            <a:pPr>
              <a:lnSpc>
                <a:spcPct val="120000"/>
              </a:lnSpc>
            </a:pPr>
            <a:r>
              <a:rPr lang="en-US" sz="1400" i="1" dirty="0"/>
              <a:t>Example: A public database makes sensitive court records easier to access, exposing individuals to stigma or harassment.</a:t>
            </a:r>
          </a:p>
          <a:p>
            <a:pPr>
              <a:lnSpc>
                <a:spcPct val="120000"/>
              </a:lnSpc>
            </a:pPr>
            <a:r>
              <a:rPr lang="en-US" sz="1400" b="1" dirty="0"/>
              <a:t>Blackmail: </a:t>
            </a:r>
            <a:r>
              <a:rPr lang="en-US" sz="1400" dirty="0"/>
              <a:t>Threatening to disclose personal information unless demands are met.</a:t>
            </a:r>
          </a:p>
          <a:p>
            <a:pPr>
              <a:lnSpc>
                <a:spcPct val="120000"/>
              </a:lnSpc>
            </a:pPr>
            <a:r>
              <a:rPr lang="en-US" sz="1400" i="1" dirty="0"/>
              <a:t>Example: An individual threatens to release compromising information about someone unless they pay money.</a:t>
            </a:r>
          </a:p>
        </p:txBody>
      </p:sp>
      <p:pic>
        <p:nvPicPr>
          <p:cNvPr id="5" name="Picture 4" descr="Padlock on computer motherboard">
            <a:extLst>
              <a:ext uri="{FF2B5EF4-FFF2-40B4-BE49-F238E27FC236}">
                <a16:creationId xmlns:a16="http://schemas.microsoft.com/office/drawing/2014/main" id="{DE31C9DE-32A3-2705-C01B-6AA1D195D525}"/>
              </a:ext>
            </a:extLst>
          </p:cNvPr>
          <p:cNvPicPr>
            <a:picLocks noChangeAspect="1"/>
          </p:cNvPicPr>
          <p:nvPr/>
        </p:nvPicPr>
        <p:blipFill>
          <a:blip r:embed="rId2"/>
          <a:srcRect l="20523" r="43877" b="-1"/>
          <a:stretch/>
        </p:blipFill>
        <p:spPr>
          <a:xfrm>
            <a:off x="8534400" y="10"/>
            <a:ext cx="3657601" cy="6857990"/>
          </a:xfrm>
          <a:prstGeom prst="rect">
            <a:avLst/>
          </a:prstGeom>
        </p:spPr>
      </p:pic>
    </p:spTree>
    <p:extLst>
      <p:ext uri="{BB962C8B-B14F-4D97-AF65-F5344CB8AC3E}">
        <p14:creationId xmlns:p14="http://schemas.microsoft.com/office/powerpoint/2010/main" val="85065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9F67BE-CCCE-AC5F-3C34-C2D26A6CA0AF}"/>
              </a:ext>
            </a:extLst>
          </p:cNvPr>
          <p:cNvSpPr>
            <a:spLocks noGrp="1"/>
          </p:cNvSpPr>
          <p:nvPr>
            <p:ph type="title"/>
          </p:nvPr>
        </p:nvSpPr>
        <p:spPr>
          <a:xfrm>
            <a:off x="1091203" y="1069848"/>
            <a:ext cx="6308775" cy="2049620"/>
          </a:xfrm>
        </p:spPr>
        <p:txBody>
          <a:bodyPr>
            <a:normAutofit/>
          </a:bodyPr>
          <a:lstStyle/>
          <a:p>
            <a:r>
              <a:rPr lang="en-US" sz="6000" dirty="0"/>
              <a:t>Information Dissemination</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5115C01-C4CA-31C4-46C7-940A6E86A31D}"/>
              </a:ext>
            </a:extLst>
          </p:cNvPr>
          <p:cNvSpPr>
            <a:spLocks noGrp="1"/>
          </p:cNvSpPr>
          <p:nvPr>
            <p:ph idx="1"/>
          </p:nvPr>
        </p:nvSpPr>
        <p:spPr>
          <a:xfrm>
            <a:off x="804195" y="3180522"/>
            <a:ext cx="6517081" cy="3462016"/>
          </a:xfrm>
        </p:spPr>
        <p:txBody>
          <a:bodyPr>
            <a:normAutofit/>
          </a:bodyPr>
          <a:lstStyle/>
          <a:p>
            <a:pPr>
              <a:lnSpc>
                <a:spcPct val="120000"/>
              </a:lnSpc>
            </a:pPr>
            <a:r>
              <a:rPr lang="en-US" sz="1400" b="1" dirty="0"/>
              <a:t>Appropriation: </a:t>
            </a:r>
            <a:r>
              <a:rPr lang="en-US" sz="1400" dirty="0"/>
              <a:t>Using someone's identity or personal data for another's benefit.</a:t>
            </a:r>
          </a:p>
          <a:p>
            <a:pPr>
              <a:lnSpc>
                <a:spcPct val="120000"/>
              </a:lnSpc>
            </a:pPr>
            <a:r>
              <a:rPr lang="en-US" sz="1400" i="1" dirty="0"/>
              <a:t>Example: A company uses a person’s likeness in advertisements without obtaining their permission.</a:t>
            </a:r>
          </a:p>
          <a:p>
            <a:pPr>
              <a:lnSpc>
                <a:spcPct val="120000"/>
              </a:lnSpc>
            </a:pPr>
            <a:r>
              <a:rPr lang="en-US" sz="1400" b="1" dirty="0"/>
              <a:t>Distortion: </a:t>
            </a:r>
            <a:r>
              <a:rPr lang="en-US" sz="1400" dirty="0"/>
              <a:t>Disseminating false or misleading information about individuals.</a:t>
            </a:r>
          </a:p>
          <a:p>
            <a:pPr>
              <a:lnSpc>
                <a:spcPct val="120000"/>
              </a:lnSpc>
            </a:pPr>
            <a:r>
              <a:rPr lang="en-US" sz="1400" i="1" dirty="0"/>
              <a:t>Example: False information about a person’s behavior is spread on social media, damaging their reputation.</a:t>
            </a:r>
          </a:p>
        </p:txBody>
      </p:sp>
      <p:pic>
        <p:nvPicPr>
          <p:cNvPr id="5" name="Picture 4" descr="Padlock on computer motherboard">
            <a:extLst>
              <a:ext uri="{FF2B5EF4-FFF2-40B4-BE49-F238E27FC236}">
                <a16:creationId xmlns:a16="http://schemas.microsoft.com/office/drawing/2014/main" id="{DE31C9DE-32A3-2705-C01B-6AA1D195D525}"/>
              </a:ext>
            </a:extLst>
          </p:cNvPr>
          <p:cNvPicPr>
            <a:picLocks noChangeAspect="1"/>
          </p:cNvPicPr>
          <p:nvPr/>
        </p:nvPicPr>
        <p:blipFill>
          <a:blip r:embed="rId2"/>
          <a:srcRect l="20523" r="43877" b="-1"/>
          <a:stretch/>
        </p:blipFill>
        <p:spPr>
          <a:xfrm>
            <a:off x="8534400" y="10"/>
            <a:ext cx="3657601" cy="6857990"/>
          </a:xfrm>
          <a:prstGeom prst="rect">
            <a:avLst/>
          </a:prstGeom>
        </p:spPr>
      </p:pic>
    </p:spTree>
    <p:extLst>
      <p:ext uri="{BB962C8B-B14F-4D97-AF65-F5344CB8AC3E}">
        <p14:creationId xmlns:p14="http://schemas.microsoft.com/office/powerpoint/2010/main" val="2142599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39003E-90F5-CFA4-119E-32C8172F5D04}"/>
              </a:ext>
            </a:extLst>
          </p:cNvPr>
          <p:cNvSpPr>
            <a:spLocks noGrp="1"/>
          </p:cNvSpPr>
          <p:nvPr>
            <p:ph type="title"/>
          </p:nvPr>
        </p:nvSpPr>
        <p:spPr>
          <a:xfrm>
            <a:off x="1091203" y="1069848"/>
            <a:ext cx="6308775" cy="2049620"/>
          </a:xfrm>
        </p:spPr>
        <p:txBody>
          <a:bodyPr>
            <a:normAutofit/>
          </a:bodyPr>
          <a:lstStyle/>
          <a:p>
            <a:r>
              <a:rPr lang="en-US" sz="6000" dirty="0"/>
              <a:t>Invasion</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065B17A-424E-D6D0-5A64-9EE9C687972D}"/>
              </a:ext>
            </a:extLst>
          </p:cNvPr>
          <p:cNvSpPr>
            <a:spLocks noGrp="1"/>
          </p:cNvSpPr>
          <p:nvPr>
            <p:ph idx="1"/>
          </p:nvPr>
        </p:nvSpPr>
        <p:spPr>
          <a:xfrm>
            <a:off x="1097280" y="3180522"/>
            <a:ext cx="6223996" cy="3105978"/>
          </a:xfrm>
        </p:spPr>
        <p:txBody>
          <a:bodyPr>
            <a:normAutofit fontScale="92500" lnSpcReduction="10000"/>
          </a:bodyPr>
          <a:lstStyle/>
          <a:p>
            <a:r>
              <a:rPr lang="en-US" b="1" dirty="0"/>
              <a:t>Intrusion: </a:t>
            </a:r>
            <a:r>
              <a:rPr lang="en-US" dirty="0"/>
              <a:t>Disrupting an individual's solitude or seclusion.</a:t>
            </a:r>
          </a:p>
          <a:p>
            <a:r>
              <a:rPr lang="en-US" i="1" dirty="0"/>
              <a:t>Example: A landlord installs cameras inside a tenant’s apartment without permission.</a:t>
            </a:r>
          </a:p>
          <a:p>
            <a:r>
              <a:rPr lang="en-US" b="1" dirty="0"/>
              <a:t>Decisional Interference: </a:t>
            </a:r>
            <a:r>
              <a:rPr lang="en-US" dirty="0"/>
              <a:t>Government or organizational intrusion into personal decisions.</a:t>
            </a:r>
          </a:p>
          <a:p>
            <a:r>
              <a:rPr lang="en-US" i="1" dirty="0"/>
              <a:t>Example: A government bans certain personal medical procedures, interfering with individuals’ decisions about their health.</a:t>
            </a:r>
          </a:p>
        </p:txBody>
      </p:sp>
      <p:pic>
        <p:nvPicPr>
          <p:cNvPr id="5" name="Picture 4" descr="Red toy person in front of two lines of white figures">
            <a:extLst>
              <a:ext uri="{FF2B5EF4-FFF2-40B4-BE49-F238E27FC236}">
                <a16:creationId xmlns:a16="http://schemas.microsoft.com/office/drawing/2014/main" id="{A7EDE7B2-22F6-3850-8495-05458B3C6E1E}"/>
              </a:ext>
            </a:extLst>
          </p:cNvPr>
          <p:cNvPicPr>
            <a:picLocks noChangeAspect="1"/>
          </p:cNvPicPr>
          <p:nvPr/>
        </p:nvPicPr>
        <p:blipFill>
          <a:blip r:embed="rId2"/>
          <a:srcRect l="34394" r="30539"/>
          <a:stretch/>
        </p:blipFill>
        <p:spPr>
          <a:xfrm>
            <a:off x="8534400" y="10"/>
            <a:ext cx="3657601" cy="6857990"/>
          </a:xfrm>
          <a:prstGeom prst="rect">
            <a:avLst/>
          </a:prstGeom>
        </p:spPr>
      </p:pic>
    </p:spTree>
    <p:extLst>
      <p:ext uri="{BB962C8B-B14F-4D97-AF65-F5344CB8AC3E}">
        <p14:creationId xmlns:p14="http://schemas.microsoft.com/office/powerpoint/2010/main" val="1393009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A3B168A7-66FE-4359-9866-CBB841A729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F698C3-FBD9-7D2F-CD42-DAE14422B613}"/>
              </a:ext>
            </a:extLst>
          </p:cNvPr>
          <p:cNvSpPr>
            <a:spLocks noGrp="1"/>
          </p:cNvSpPr>
          <p:nvPr>
            <p:ph type="title"/>
          </p:nvPr>
        </p:nvSpPr>
        <p:spPr>
          <a:xfrm>
            <a:off x="1091204" y="1091868"/>
            <a:ext cx="3785596" cy="2042160"/>
          </a:xfrm>
        </p:spPr>
        <p:txBody>
          <a:bodyPr vert="horz" lIns="91440" tIns="45720" rIns="91440" bIns="45720" rtlCol="0">
            <a:normAutofit/>
          </a:bodyPr>
          <a:lstStyle/>
          <a:p>
            <a:r>
              <a:rPr lang="en-US" sz="4000" cap="all"/>
              <a:t>Anonymity</a:t>
            </a:r>
          </a:p>
        </p:txBody>
      </p:sp>
      <p:cxnSp>
        <p:nvCxnSpPr>
          <p:cNvPr id="21" name="Straight Connector 2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344"/>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4A0D208-9024-3871-38C2-7CF936F10A4A}"/>
              </a:ext>
            </a:extLst>
          </p:cNvPr>
          <p:cNvSpPr>
            <a:spLocks noGrp="1"/>
          </p:cNvSpPr>
          <p:nvPr>
            <p:ph idx="1"/>
          </p:nvPr>
        </p:nvSpPr>
        <p:spPr>
          <a:xfrm>
            <a:off x="1097280" y="3204755"/>
            <a:ext cx="3675826" cy="2957506"/>
          </a:xfrm>
        </p:spPr>
        <p:txBody>
          <a:bodyPr vert="horz" lIns="91440" tIns="45720" rIns="91440" bIns="45720" rtlCol="0">
            <a:normAutofit/>
          </a:bodyPr>
          <a:lstStyle/>
          <a:p>
            <a:pPr marL="0" indent="0">
              <a:buNone/>
            </a:pPr>
            <a:endParaRPr lang="en-US"/>
          </a:p>
        </p:txBody>
      </p:sp>
      <p:pic>
        <p:nvPicPr>
          <p:cNvPr id="5" name="Picture 4" descr="A white wall with black writing on it&#10;&#10;Description automatically generated">
            <a:extLst>
              <a:ext uri="{FF2B5EF4-FFF2-40B4-BE49-F238E27FC236}">
                <a16:creationId xmlns:a16="http://schemas.microsoft.com/office/drawing/2014/main" id="{D774DFD6-792E-D79F-56D7-CFD6D66B2B58}"/>
              </a:ext>
            </a:extLst>
          </p:cNvPr>
          <p:cNvPicPr>
            <a:picLocks noChangeAspect="1"/>
          </p:cNvPicPr>
          <p:nvPr/>
        </p:nvPicPr>
        <p:blipFill>
          <a:blip r:embed="rId3">
            <a:extLst>
              <a:ext uri="{28A0092B-C50C-407E-A947-70E740481C1C}">
                <a14:useLocalDpi xmlns:a14="http://schemas.microsoft.com/office/drawing/2010/main" val="0"/>
              </a:ext>
            </a:extLst>
          </a:blip>
          <a:srcRect b="22857"/>
          <a:stretch/>
        </p:blipFill>
        <p:spPr>
          <a:xfrm>
            <a:off x="5524500" y="10"/>
            <a:ext cx="6667501" cy="6857990"/>
          </a:xfrm>
          <a:prstGeom prst="rect">
            <a:avLst/>
          </a:prstGeom>
        </p:spPr>
      </p:pic>
    </p:spTree>
    <p:extLst>
      <p:ext uri="{BB962C8B-B14F-4D97-AF65-F5344CB8AC3E}">
        <p14:creationId xmlns:p14="http://schemas.microsoft.com/office/powerpoint/2010/main" val="3513329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F1223A-B519-97B1-0490-5733581AB792}"/>
              </a:ext>
            </a:extLst>
          </p:cNvPr>
          <p:cNvSpPr>
            <a:spLocks noGrp="1"/>
          </p:cNvSpPr>
          <p:nvPr>
            <p:ph type="title"/>
          </p:nvPr>
        </p:nvSpPr>
        <p:spPr>
          <a:xfrm>
            <a:off x="1091203" y="1069848"/>
            <a:ext cx="6308775" cy="2049620"/>
          </a:xfrm>
        </p:spPr>
        <p:txBody>
          <a:bodyPr>
            <a:normAutofit/>
          </a:bodyPr>
          <a:lstStyle/>
          <a:p>
            <a:r>
              <a:rPr lang="en-US" sz="6000"/>
              <a:t>Anonymity</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675088C-D3AA-FCF6-D47B-0B703045898D}"/>
              </a:ext>
            </a:extLst>
          </p:cNvPr>
          <p:cNvSpPr>
            <a:spLocks noGrp="1"/>
          </p:cNvSpPr>
          <p:nvPr>
            <p:ph idx="1"/>
          </p:nvPr>
        </p:nvSpPr>
        <p:spPr>
          <a:xfrm>
            <a:off x="1097280" y="3180522"/>
            <a:ext cx="6223996" cy="3105978"/>
          </a:xfrm>
        </p:spPr>
        <p:txBody>
          <a:bodyPr>
            <a:normAutofit/>
          </a:bodyPr>
          <a:lstStyle/>
          <a:p>
            <a:r>
              <a:rPr lang="en-US" dirty="0"/>
              <a:t>According to Kathleen Wallace, anonymity is the </a:t>
            </a:r>
            <a:r>
              <a:rPr lang="en-US" dirty="0" err="1"/>
              <a:t>noncoordinability</a:t>
            </a:r>
            <a:r>
              <a:rPr lang="en-US" dirty="0"/>
              <a:t> of traits in a given respect.</a:t>
            </a:r>
          </a:p>
          <a:p>
            <a:r>
              <a:rPr lang="en-US" dirty="0"/>
              <a:t>This means that a person is considered anonymous when others cannot connect a known trait (an action, characteristic, or identifier) to other identifiable traits of the individual, such as:</a:t>
            </a:r>
          </a:p>
          <a:p>
            <a:pPr lvl="1"/>
            <a:r>
              <a:rPr lang="en-US" dirty="0"/>
              <a:t>Name, age, address, IP address, etc. </a:t>
            </a:r>
          </a:p>
        </p:txBody>
      </p:sp>
      <p:pic>
        <p:nvPicPr>
          <p:cNvPr id="5" name="Picture 4" descr="Tiger peering through dense forest">
            <a:extLst>
              <a:ext uri="{FF2B5EF4-FFF2-40B4-BE49-F238E27FC236}">
                <a16:creationId xmlns:a16="http://schemas.microsoft.com/office/drawing/2014/main" id="{2D528043-5D4D-2EF7-5B35-5807CF4C9C47}"/>
              </a:ext>
            </a:extLst>
          </p:cNvPr>
          <p:cNvPicPr>
            <a:picLocks noChangeAspect="1"/>
          </p:cNvPicPr>
          <p:nvPr/>
        </p:nvPicPr>
        <p:blipFill>
          <a:blip r:embed="rId2"/>
          <a:srcRect l="33395" r="31004" b="-1"/>
          <a:stretch/>
        </p:blipFill>
        <p:spPr>
          <a:xfrm>
            <a:off x="8534400" y="10"/>
            <a:ext cx="3657601" cy="6857990"/>
          </a:xfrm>
          <a:prstGeom prst="rect">
            <a:avLst/>
          </a:prstGeom>
        </p:spPr>
      </p:pic>
    </p:spTree>
    <p:extLst>
      <p:ext uri="{BB962C8B-B14F-4D97-AF65-F5344CB8AC3E}">
        <p14:creationId xmlns:p14="http://schemas.microsoft.com/office/powerpoint/2010/main" val="4140195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40B9AC-B3F9-D01E-553F-BD09AEBCD8D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29709B3-E913-C064-D34C-FD66E495D1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BCF838-91E2-65AA-C50B-3F5FA87EC46B}"/>
              </a:ext>
            </a:extLst>
          </p:cNvPr>
          <p:cNvSpPr>
            <a:spLocks noGrp="1"/>
          </p:cNvSpPr>
          <p:nvPr>
            <p:ph type="title"/>
          </p:nvPr>
        </p:nvSpPr>
        <p:spPr>
          <a:xfrm>
            <a:off x="1091203" y="1069848"/>
            <a:ext cx="6308775" cy="2049620"/>
          </a:xfrm>
        </p:spPr>
        <p:txBody>
          <a:bodyPr>
            <a:normAutofit/>
          </a:bodyPr>
          <a:lstStyle/>
          <a:p>
            <a:r>
              <a:rPr lang="en-US" sz="6000"/>
              <a:t>Anonymity</a:t>
            </a:r>
          </a:p>
        </p:txBody>
      </p:sp>
      <p:cxnSp>
        <p:nvCxnSpPr>
          <p:cNvPr id="11" name="Straight Connector 10">
            <a:extLst>
              <a:ext uri="{FF2B5EF4-FFF2-40B4-BE49-F238E27FC236}">
                <a16:creationId xmlns:a16="http://schemas.microsoft.com/office/drawing/2014/main" id="{EE6DAC7B-415A-86AA-A6B7-D51CFDE708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1A31050-79F5-5209-149F-FF8813FB0AB7}"/>
              </a:ext>
            </a:extLst>
          </p:cNvPr>
          <p:cNvSpPr>
            <a:spLocks noGrp="1"/>
          </p:cNvSpPr>
          <p:nvPr>
            <p:ph idx="1"/>
          </p:nvPr>
        </p:nvSpPr>
        <p:spPr>
          <a:xfrm>
            <a:off x="1097280" y="3180522"/>
            <a:ext cx="6223996" cy="3105978"/>
          </a:xfrm>
        </p:spPr>
        <p:txBody>
          <a:bodyPr>
            <a:normAutofit/>
          </a:bodyPr>
          <a:lstStyle/>
          <a:p>
            <a:r>
              <a:rPr lang="en-US" dirty="0"/>
              <a:t>Anonymity is not merely about being unknown; it is about severing or shielding the connections between traits that would enable identification.</a:t>
            </a:r>
          </a:p>
          <a:p>
            <a:r>
              <a:rPr lang="en-US" i="1" dirty="0"/>
              <a:t>Example: Wearing a disguise, using a voice changer, using a VPN</a:t>
            </a:r>
          </a:p>
        </p:txBody>
      </p:sp>
      <p:pic>
        <p:nvPicPr>
          <p:cNvPr id="5" name="Picture 4" descr="Tiger peering through dense forest">
            <a:extLst>
              <a:ext uri="{FF2B5EF4-FFF2-40B4-BE49-F238E27FC236}">
                <a16:creationId xmlns:a16="http://schemas.microsoft.com/office/drawing/2014/main" id="{618194EA-5EF5-54E6-C9B2-3D694CD06FFC}"/>
              </a:ext>
            </a:extLst>
          </p:cNvPr>
          <p:cNvPicPr>
            <a:picLocks noChangeAspect="1"/>
          </p:cNvPicPr>
          <p:nvPr/>
        </p:nvPicPr>
        <p:blipFill>
          <a:blip r:embed="rId2"/>
          <a:srcRect l="33395" r="31004" b="-1"/>
          <a:stretch/>
        </p:blipFill>
        <p:spPr>
          <a:xfrm>
            <a:off x="8534400" y="10"/>
            <a:ext cx="3657601" cy="6857990"/>
          </a:xfrm>
          <a:prstGeom prst="rect">
            <a:avLst/>
          </a:prstGeom>
        </p:spPr>
      </p:pic>
    </p:spTree>
    <p:extLst>
      <p:ext uri="{BB962C8B-B14F-4D97-AF65-F5344CB8AC3E}">
        <p14:creationId xmlns:p14="http://schemas.microsoft.com/office/powerpoint/2010/main" val="482712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E5553-FC24-400A-9C41-09BAE3D5FC96}"/>
              </a:ext>
            </a:extLst>
          </p:cNvPr>
          <p:cNvSpPr>
            <a:spLocks noGrp="1"/>
          </p:cNvSpPr>
          <p:nvPr>
            <p:ph type="title"/>
          </p:nvPr>
        </p:nvSpPr>
        <p:spPr/>
        <p:txBody>
          <a:bodyPr/>
          <a:lstStyle/>
          <a:p>
            <a:r>
              <a:rPr lang="en-US" dirty="0"/>
              <a:t>Types of Anonymity</a:t>
            </a:r>
          </a:p>
        </p:txBody>
      </p:sp>
      <p:sp>
        <p:nvSpPr>
          <p:cNvPr id="3" name="Content Placeholder 2">
            <a:extLst>
              <a:ext uri="{FF2B5EF4-FFF2-40B4-BE49-F238E27FC236}">
                <a16:creationId xmlns:a16="http://schemas.microsoft.com/office/drawing/2014/main" id="{7848E3CD-E845-8C45-AA0F-5E110976A0A9}"/>
              </a:ext>
            </a:extLst>
          </p:cNvPr>
          <p:cNvSpPr>
            <a:spLocks noGrp="1"/>
          </p:cNvSpPr>
          <p:nvPr>
            <p:ph idx="1"/>
          </p:nvPr>
        </p:nvSpPr>
        <p:spPr/>
        <p:txBody>
          <a:bodyPr/>
          <a:lstStyle/>
          <a:p>
            <a:r>
              <a:rPr lang="en-US" dirty="0"/>
              <a:t>Wallace identifies three primary types of anonymity based on their purposes and the contexts in which they arise:</a:t>
            </a:r>
          </a:p>
          <a:p>
            <a:endParaRPr lang="en-US" dirty="0"/>
          </a:p>
        </p:txBody>
      </p:sp>
      <p:graphicFrame>
        <p:nvGraphicFramePr>
          <p:cNvPr id="4" name="Diagram 3">
            <a:extLst>
              <a:ext uri="{FF2B5EF4-FFF2-40B4-BE49-F238E27FC236}">
                <a16:creationId xmlns:a16="http://schemas.microsoft.com/office/drawing/2014/main" id="{60E5F032-B3D4-7148-B296-7FAEDB2237CF}"/>
              </a:ext>
            </a:extLst>
          </p:cNvPr>
          <p:cNvGraphicFramePr/>
          <p:nvPr>
            <p:extLst>
              <p:ext uri="{D42A27DB-BD31-4B8C-83A1-F6EECF244321}">
                <p14:modId xmlns:p14="http://schemas.microsoft.com/office/powerpoint/2010/main" val="3810529891"/>
              </p:ext>
            </p:extLst>
          </p:nvPr>
        </p:nvGraphicFramePr>
        <p:xfrm>
          <a:off x="1327758" y="3191005"/>
          <a:ext cx="9093896" cy="27093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952665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98281-7701-3AD0-5D83-49302926E70B}"/>
              </a:ext>
            </a:extLst>
          </p:cNvPr>
          <p:cNvSpPr>
            <a:spLocks noGrp="1"/>
          </p:cNvSpPr>
          <p:nvPr>
            <p:ph type="title"/>
          </p:nvPr>
        </p:nvSpPr>
        <p:spPr/>
        <p:txBody>
          <a:bodyPr/>
          <a:lstStyle/>
          <a:p>
            <a:r>
              <a:rPr lang="en-US"/>
              <a:t>Agent Anonymity</a:t>
            </a:r>
            <a:endParaRPr lang="en-US" dirty="0"/>
          </a:p>
        </p:txBody>
      </p:sp>
      <p:sp>
        <p:nvSpPr>
          <p:cNvPr id="3" name="Content Placeholder 2">
            <a:extLst>
              <a:ext uri="{FF2B5EF4-FFF2-40B4-BE49-F238E27FC236}">
                <a16:creationId xmlns:a16="http://schemas.microsoft.com/office/drawing/2014/main" id="{644554D4-526E-0868-5458-7A2CC3D348BC}"/>
              </a:ext>
            </a:extLst>
          </p:cNvPr>
          <p:cNvSpPr>
            <a:spLocks noGrp="1"/>
          </p:cNvSpPr>
          <p:nvPr>
            <p:ph idx="1"/>
          </p:nvPr>
        </p:nvSpPr>
        <p:spPr>
          <a:xfrm>
            <a:off x="1088136" y="2447778"/>
            <a:ext cx="9922764" cy="4103334"/>
          </a:xfrm>
        </p:spPr>
        <p:txBody>
          <a:bodyPr>
            <a:normAutofit fontScale="92500" lnSpcReduction="10000"/>
          </a:bodyPr>
          <a:lstStyle/>
          <a:p>
            <a:pPr>
              <a:buFont typeface="Neue Haas Grotesk Text Pro" panose="020B0504020202020204" pitchFamily="34" charset="0"/>
              <a:buChar char="–"/>
            </a:pPr>
            <a:r>
              <a:rPr lang="en-US" dirty="0"/>
              <a:t>Agent anonymity refers to anonymity that enables or furthers actions by the anonymous person. In this case, anonymity allows the individual to act without their identity being known or associated with the action.</a:t>
            </a:r>
          </a:p>
          <a:p>
            <a:pPr>
              <a:buFont typeface="Neue Haas Grotesk Text Pro" panose="020B0504020202020204" pitchFamily="34" charset="0"/>
              <a:buChar char="–"/>
            </a:pPr>
            <a:r>
              <a:rPr lang="en-US" b="1" dirty="0"/>
              <a:t>Examples</a:t>
            </a:r>
            <a:r>
              <a:rPr lang="en-US" dirty="0"/>
              <a:t>:</a:t>
            </a:r>
          </a:p>
          <a:p>
            <a:pPr marL="742950" lvl="1" indent="-285750">
              <a:buFont typeface="Neue Haas Grotesk Text Pro" panose="020B0504020202020204" pitchFamily="34" charset="0"/>
              <a:buChar char="–"/>
            </a:pPr>
            <a:r>
              <a:rPr lang="en-US" b="1" dirty="0"/>
              <a:t>Anonymous authorship</a:t>
            </a:r>
            <a:r>
              <a:rPr lang="en-US" dirty="0"/>
              <a:t>: Writers may publish work without attribution to freely express ideas without fear of personal or professional consequences. Historical examples include George Eliot, who used a pseudonym to avoid the gender bias of the time.</a:t>
            </a:r>
          </a:p>
          <a:p>
            <a:pPr marL="742950" lvl="1" indent="-285750">
              <a:buFont typeface="Neue Haas Grotesk Text Pro" panose="020B0504020202020204" pitchFamily="34" charset="0"/>
              <a:buChar char="–"/>
            </a:pPr>
            <a:r>
              <a:rPr lang="en-US" b="1" dirty="0"/>
              <a:t>Anonymous donors</a:t>
            </a:r>
            <a:r>
              <a:rPr lang="en-US" dirty="0"/>
              <a:t>: Individuals may choose to donate to charities or causes without public recognition, preserving their privacy or avoiding unwanted attention.</a:t>
            </a:r>
          </a:p>
          <a:p>
            <a:pPr marL="742950" lvl="1" indent="-285750">
              <a:buFont typeface="Neue Haas Grotesk Text Pro" panose="020B0504020202020204" pitchFamily="34" charset="0"/>
              <a:buChar char="–"/>
            </a:pPr>
            <a:r>
              <a:rPr lang="en-US" b="1" dirty="0"/>
              <a:t>Criminal actions</a:t>
            </a:r>
            <a:r>
              <a:rPr lang="en-US" dirty="0"/>
              <a:t>: In a more negative light, the anonymity of figures like the Unabomber enabled illegal activities by shielding their identity from law enforcement.</a:t>
            </a:r>
          </a:p>
          <a:p>
            <a:endParaRPr lang="en-US" dirty="0"/>
          </a:p>
        </p:txBody>
      </p:sp>
    </p:spTree>
    <p:extLst>
      <p:ext uri="{BB962C8B-B14F-4D97-AF65-F5344CB8AC3E}">
        <p14:creationId xmlns:p14="http://schemas.microsoft.com/office/powerpoint/2010/main" val="4318322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DA30A-12EC-B1F5-4088-A8E712C8C978}"/>
              </a:ext>
            </a:extLst>
          </p:cNvPr>
          <p:cNvSpPr>
            <a:spLocks noGrp="1"/>
          </p:cNvSpPr>
          <p:nvPr>
            <p:ph type="title"/>
          </p:nvPr>
        </p:nvSpPr>
        <p:spPr/>
        <p:txBody>
          <a:bodyPr/>
          <a:lstStyle/>
          <a:p>
            <a:r>
              <a:rPr lang="en-US" dirty="0"/>
              <a:t>Recipient Anonymity</a:t>
            </a:r>
          </a:p>
        </p:txBody>
      </p:sp>
      <p:sp>
        <p:nvSpPr>
          <p:cNvPr id="3" name="Content Placeholder 2">
            <a:extLst>
              <a:ext uri="{FF2B5EF4-FFF2-40B4-BE49-F238E27FC236}">
                <a16:creationId xmlns:a16="http://schemas.microsoft.com/office/drawing/2014/main" id="{7AAC6808-E7CC-5F43-4718-F394121458D7}"/>
              </a:ext>
            </a:extLst>
          </p:cNvPr>
          <p:cNvSpPr>
            <a:spLocks noGrp="1"/>
          </p:cNvSpPr>
          <p:nvPr>
            <p:ph idx="1"/>
          </p:nvPr>
        </p:nvSpPr>
        <p:spPr/>
        <p:txBody>
          <a:bodyPr>
            <a:normAutofit/>
          </a:bodyPr>
          <a:lstStyle/>
          <a:p>
            <a:pPr>
              <a:buFont typeface="Neue Haas Grotesk Text Pro" panose="020B0504020202020204" pitchFamily="34" charset="0"/>
              <a:buChar char="–"/>
            </a:pPr>
            <a:r>
              <a:rPr lang="en-US" dirty="0"/>
              <a:t>Recipient anonymity protects an individual from actions by others, such as discrimination, stigmatization, or harm. Here, the anonymity primarily benefits the person by shielding them from potential repercussions related to their identifiable traits.</a:t>
            </a:r>
          </a:p>
          <a:p>
            <a:pPr>
              <a:buFont typeface="Neue Haas Grotesk Text Pro" panose="020B0504020202020204" pitchFamily="34" charset="0"/>
              <a:buChar char="–"/>
            </a:pPr>
            <a:r>
              <a:rPr lang="en-US" b="1" dirty="0"/>
              <a:t>Example</a:t>
            </a:r>
            <a:endParaRPr lang="en-US" dirty="0"/>
          </a:p>
          <a:p>
            <a:pPr marL="742950" lvl="1" indent="-285750">
              <a:buFont typeface="Neue Haas Grotesk Text Pro" panose="020B0504020202020204" pitchFamily="34" charset="0"/>
              <a:buChar char="–"/>
            </a:pPr>
            <a:r>
              <a:rPr lang="en-US" b="1" dirty="0"/>
              <a:t>Whistleblowers</a:t>
            </a:r>
            <a:r>
              <a:rPr lang="en-US" dirty="0"/>
              <a:t>: Employees or insiders who expose unethical or illegal activities within organizations often rely on anonymity to protect themselves from retaliation, such as job loss or harassment.</a:t>
            </a:r>
          </a:p>
          <a:p>
            <a:endParaRPr lang="en-US" dirty="0"/>
          </a:p>
        </p:txBody>
      </p:sp>
    </p:spTree>
    <p:extLst>
      <p:ext uri="{BB962C8B-B14F-4D97-AF65-F5344CB8AC3E}">
        <p14:creationId xmlns:p14="http://schemas.microsoft.com/office/powerpoint/2010/main" val="21864323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5B28B-3AB2-9BB5-B3A3-58DB57377315}"/>
              </a:ext>
            </a:extLst>
          </p:cNvPr>
          <p:cNvSpPr>
            <a:spLocks noGrp="1"/>
          </p:cNvSpPr>
          <p:nvPr>
            <p:ph type="title"/>
          </p:nvPr>
        </p:nvSpPr>
        <p:spPr/>
        <p:txBody>
          <a:bodyPr/>
          <a:lstStyle/>
          <a:p>
            <a:r>
              <a:rPr lang="en-US" dirty="0"/>
              <a:t>Process Anonymity</a:t>
            </a:r>
          </a:p>
        </p:txBody>
      </p:sp>
      <p:sp>
        <p:nvSpPr>
          <p:cNvPr id="3" name="Content Placeholder 2">
            <a:extLst>
              <a:ext uri="{FF2B5EF4-FFF2-40B4-BE49-F238E27FC236}">
                <a16:creationId xmlns:a16="http://schemas.microsoft.com/office/drawing/2014/main" id="{5F715A55-7F97-3E70-2FA4-D4422E34829A}"/>
              </a:ext>
            </a:extLst>
          </p:cNvPr>
          <p:cNvSpPr>
            <a:spLocks noGrp="1"/>
          </p:cNvSpPr>
          <p:nvPr>
            <p:ph idx="1"/>
          </p:nvPr>
        </p:nvSpPr>
        <p:spPr/>
        <p:txBody>
          <a:bodyPr/>
          <a:lstStyle/>
          <a:p>
            <a:pPr>
              <a:buFont typeface="Neue Haas Grotesk Text Pro" panose="020B0504020202020204" pitchFamily="34" charset="0"/>
              <a:buChar char="–"/>
            </a:pPr>
            <a:r>
              <a:rPr lang="en-US" dirty="0"/>
              <a:t>Process anonymity ensures the fairness, impartiality, or integrity of a specific process. This type of anonymity is often designed to prevent bias or undue influence within systems or procedures.</a:t>
            </a:r>
          </a:p>
          <a:p>
            <a:pPr>
              <a:buFont typeface="Neue Haas Grotesk Text Pro" panose="020B0504020202020204" pitchFamily="34" charset="0"/>
              <a:buChar char="–"/>
            </a:pPr>
            <a:r>
              <a:rPr lang="en-US" b="1" dirty="0"/>
              <a:t>Examples</a:t>
            </a:r>
            <a:r>
              <a:rPr lang="en-US" dirty="0"/>
              <a:t>:</a:t>
            </a:r>
          </a:p>
          <a:p>
            <a:pPr marL="742950" lvl="1" indent="-285750">
              <a:buFont typeface="Neue Haas Grotesk Text Pro" panose="020B0504020202020204" pitchFamily="34" charset="0"/>
              <a:buChar char="–"/>
            </a:pPr>
            <a:r>
              <a:rPr lang="en-US" b="1" dirty="0"/>
              <a:t>Blind peer reviews</a:t>
            </a:r>
            <a:r>
              <a:rPr lang="en-US" dirty="0"/>
              <a:t>: Anonymity between authors and reviewers in academic publishing ensures unbiased evaluations based solely on the merit of the work.</a:t>
            </a:r>
          </a:p>
          <a:p>
            <a:pPr marL="742950" lvl="1" indent="-285750">
              <a:buFont typeface="Neue Haas Grotesk Text Pro" panose="020B0504020202020204" pitchFamily="34" charset="0"/>
              <a:buChar char="–"/>
            </a:pPr>
            <a:r>
              <a:rPr lang="en-US" b="1" dirty="0"/>
              <a:t>Anonymous juries</a:t>
            </a:r>
            <a:r>
              <a:rPr lang="en-US" dirty="0"/>
              <a:t>: Shielding the identities of jurors can protect them from external pressures or threats, promoting unbiased deliberations.</a:t>
            </a:r>
          </a:p>
          <a:p>
            <a:endParaRPr lang="en-US" dirty="0"/>
          </a:p>
        </p:txBody>
      </p:sp>
    </p:spTree>
    <p:extLst>
      <p:ext uri="{BB962C8B-B14F-4D97-AF65-F5344CB8AC3E}">
        <p14:creationId xmlns:p14="http://schemas.microsoft.com/office/powerpoint/2010/main" val="34555328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11EC97-7608-DEEF-63E6-FA6B3F090D9D}"/>
              </a:ext>
            </a:extLst>
          </p:cNvPr>
          <p:cNvSpPr>
            <a:spLocks noGrp="1"/>
          </p:cNvSpPr>
          <p:nvPr>
            <p:ph type="title"/>
          </p:nvPr>
        </p:nvSpPr>
        <p:spPr>
          <a:xfrm>
            <a:off x="1091203" y="1069848"/>
            <a:ext cx="6308775" cy="2049620"/>
          </a:xfrm>
        </p:spPr>
        <p:txBody>
          <a:bodyPr>
            <a:normAutofit/>
          </a:bodyPr>
          <a:lstStyle/>
          <a:p>
            <a:r>
              <a:rPr lang="en-US" sz="6000"/>
              <a:t>Data Protection</a:t>
            </a:r>
          </a:p>
        </p:txBody>
      </p:sp>
      <p:cxnSp>
        <p:nvCxnSpPr>
          <p:cNvPr id="5129" name="Straight Connector 5128">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6255BD5-9814-8FC4-AB67-F09A8E543526}"/>
              </a:ext>
            </a:extLst>
          </p:cNvPr>
          <p:cNvSpPr>
            <a:spLocks noGrp="1"/>
          </p:cNvSpPr>
          <p:nvPr>
            <p:ph idx="1"/>
          </p:nvPr>
        </p:nvSpPr>
        <p:spPr>
          <a:xfrm>
            <a:off x="1097280" y="3180522"/>
            <a:ext cx="6223996" cy="3105978"/>
          </a:xfrm>
        </p:spPr>
        <p:txBody>
          <a:bodyPr>
            <a:normAutofit/>
          </a:bodyPr>
          <a:lstStyle/>
          <a:p>
            <a:r>
              <a:rPr lang="en-US" sz="3200" i="1" dirty="0"/>
              <a:t>“You have zero privacy anyway. Get over it”</a:t>
            </a:r>
          </a:p>
          <a:p>
            <a:pPr lvl="8"/>
            <a:r>
              <a:rPr lang="en-US" dirty="0"/>
              <a:t>Scott McNealy, Former CEO of Sun Microsystems</a:t>
            </a:r>
          </a:p>
        </p:txBody>
      </p:sp>
      <p:pic>
        <p:nvPicPr>
          <p:cNvPr id="5122" name="Picture 2" descr="Scott McNealy - Wikipedia">
            <a:extLst>
              <a:ext uri="{FF2B5EF4-FFF2-40B4-BE49-F238E27FC236}">
                <a16:creationId xmlns:a16="http://schemas.microsoft.com/office/drawing/2014/main" id="{14820569-F7C8-F909-0CDC-F77B6AA765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0771" r="11895" b="-1"/>
          <a:stretch/>
        </p:blipFill>
        <p:spPr bwMode="auto">
          <a:xfrm>
            <a:off x="8534400" y="10"/>
            <a:ext cx="3657601"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41605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FC6DCF-8350-FEC9-388C-AB3900312CE7}"/>
              </a:ext>
            </a:extLst>
          </p:cNvPr>
          <p:cNvSpPr>
            <a:spLocks noGrp="1"/>
          </p:cNvSpPr>
          <p:nvPr>
            <p:ph type="title"/>
          </p:nvPr>
        </p:nvSpPr>
        <p:spPr>
          <a:xfrm>
            <a:off x="1091203" y="1069848"/>
            <a:ext cx="6308775" cy="2049620"/>
          </a:xfrm>
        </p:spPr>
        <p:txBody>
          <a:bodyPr>
            <a:normAutofit/>
          </a:bodyPr>
          <a:lstStyle/>
          <a:p>
            <a:r>
              <a:rPr lang="en-US" sz="6000"/>
              <a:t>Data Protection</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6D5D495-401E-08A4-8DBE-2B9D21E8A8BC}"/>
              </a:ext>
            </a:extLst>
          </p:cNvPr>
          <p:cNvSpPr>
            <a:spLocks noGrp="1"/>
          </p:cNvSpPr>
          <p:nvPr>
            <p:ph idx="1"/>
          </p:nvPr>
        </p:nvSpPr>
        <p:spPr>
          <a:xfrm>
            <a:off x="1097280" y="3180522"/>
            <a:ext cx="6223996" cy="3105978"/>
          </a:xfrm>
        </p:spPr>
        <p:txBody>
          <a:bodyPr>
            <a:normAutofit/>
          </a:bodyPr>
          <a:lstStyle/>
          <a:p>
            <a:r>
              <a:rPr lang="en-US" dirty="0"/>
              <a:t>Data protection is defined as the framework of laws, policies, procedures, and technologies designed to safeguard personal data from:</a:t>
            </a:r>
          </a:p>
          <a:p>
            <a:pPr lvl="1"/>
            <a:r>
              <a:rPr lang="en-US" dirty="0"/>
              <a:t>Unauthorized access</a:t>
            </a:r>
          </a:p>
          <a:p>
            <a:pPr lvl="1"/>
            <a:r>
              <a:rPr lang="en-US" dirty="0"/>
              <a:t>Misuse</a:t>
            </a:r>
          </a:p>
          <a:p>
            <a:pPr lvl="1"/>
            <a:r>
              <a:rPr lang="en-US" dirty="0"/>
              <a:t>Breaches</a:t>
            </a:r>
          </a:p>
          <a:p>
            <a:pPr lvl="1"/>
            <a:r>
              <a:rPr lang="en-US" dirty="0"/>
              <a:t>Giving individuals control over their information</a:t>
            </a:r>
          </a:p>
          <a:p>
            <a:pPr lvl="1"/>
            <a:endParaRPr lang="en-US" dirty="0"/>
          </a:p>
        </p:txBody>
      </p:sp>
      <p:pic>
        <p:nvPicPr>
          <p:cNvPr id="5" name="Picture 4" descr="Transparent padlock">
            <a:extLst>
              <a:ext uri="{FF2B5EF4-FFF2-40B4-BE49-F238E27FC236}">
                <a16:creationId xmlns:a16="http://schemas.microsoft.com/office/drawing/2014/main" id="{216AB8B4-2A8C-B93D-C180-BD587EA6DFB9}"/>
              </a:ext>
            </a:extLst>
          </p:cNvPr>
          <p:cNvPicPr>
            <a:picLocks noChangeAspect="1"/>
          </p:cNvPicPr>
          <p:nvPr/>
        </p:nvPicPr>
        <p:blipFill>
          <a:blip r:embed="rId2"/>
          <a:srcRect l="19607" r="45460" b="2"/>
          <a:stretch/>
        </p:blipFill>
        <p:spPr>
          <a:xfrm>
            <a:off x="8534400" y="10"/>
            <a:ext cx="3657601" cy="6857990"/>
          </a:xfrm>
          <a:prstGeom prst="rect">
            <a:avLst/>
          </a:prstGeom>
        </p:spPr>
      </p:pic>
    </p:spTree>
    <p:extLst>
      <p:ext uri="{BB962C8B-B14F-4D97-AF65-F5344CB8AC3E}">
        <p14:creationId xmlns:p14="http://schemas.microsoft.com/office/powerpoint/2010/main" val="9357273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24B80A-A068-BE46-ACDD-8E1FFDCAE210}"/>
              </a:ext>
            </a:extLst>
          </p:cNvPr>
          <p:cNvSpPr>
            <a:spLocks noGrp="1"/>
          </p:cNvSpPr>
          <p:nvPr>
            <p:ph type="title"/>
          </p:nvPr>
        </p:nvSpPr>
        <p:spPr>
          <a:xfrm>
            <a:off x="1091203" y="1069848"/>
            <a:ext cx="6308775" cy="2049620"/>
          </a:xfrm>
        </p:spPr>
        <p:txBody>
          <a:bodyPr>
            <a:normAutofit/>
          </a:bodyPr>
          <a:lstStyle/>
          <a:p>
            <a:r>
              <a:rPr lang="en-US" sz="4700"/>
              <a:t>Data Protection as a Fundamental Right</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F679E3E-B86E-03F2-2A7C-CEE339A5468A}"/>
              </a:ext>
            </a:extLst>
          </p:cNvPr>
          <p:cNvSpPr>
            <a:spLocks noGrp="1"/>
          </p:cNvSpPr>
          <p:nvPr>
            <p:ph idx="1"/>
          </p:nvPr>
        </p:nvSpPr>
        <p:spPr>
          <a:xfrm>
            <a:off x="1097280" y="3180522"/>
            <a:ext cx="6223996" cy="3105978"/>
          </a:xfrm>
        </p:spPr>
        <p:txBody>
          <a:bodyPr>
            <a:normAutofit/>
          </a:bodyPr>
          <a:lstStyle/>
          <a:p>
            <a:r>
              <a:rPr lang="en-US" dirty="0"/>
              <a:t>The European Union’s Charter of Fundamental Rights’ Article 8 states: Everyone has the right to the protection of personal data concerning him or her.</a:t>
            </a:r>
          </a:p>
          <a:p>
            <a:r>
              <a:rPr lang="en-US" dirty="0"/>
              <a:t>This right laid the foundation of the creation of the EU’s General Data Protection Regulation (GDPR) and many similar regulations across the globe</a:t>
            </a:r>
          </a:p>
        </p:txBody>
      </p:sp>
      <p:pic>
        <p:nvPicPr>
          <p:cNvPr id="5" name="Picture 4" descr="3D black and red cube illustration">
            <a:extLst>
              <a:ext uri="{FF2B5EF4-FFF2-40B4-BE49-F238E27FC236}">
                <a16:creationId xmlns:a16="http://schemas.microsoft.com/office/drawing/2014/main" id="{96142B6C-8958-D1F6-D8DF-CD39873865E1}"/>
              </a:ext>
            </a:extLst>
          </p:cNvPr>
          <p:cNvPicPr>
            <a:picLocks noChangeAspect="1"/>
          </p:cNvPicPr>
          <p:nvPr/>
        </p:nvPicPr>
        <p:blipFill>
          <a:blip r:embed="rId2"/>
          <a:srcRect l="29705" r="38295"/>
          <a:stretch/>
        </p:blipFill>
        <p:spPr>
          <a:xfrm>
            <a:off x="8534400" y="10"/>
            <a:ext cx="3657601" cy="6857990"/>
          </a:xfrm>
          <a:prstGeom prst="rect">
            <a:avLst/>
          </a:prstGeom>
        </p:spPr>
      </p:pic>
    </p:spTree>
    <p:extLst>
      <p:ext uri="{BB962C8B-B14F-4D97-AF65-F5344CB8AC3E}">
        <p14:creationId xmlns:p14="http://schemas.microsoft.com/office/powerpoint/2010/main" val="1771845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9911E8-929B-9ADA-7FAC-58ADBF52B1DE}"/>
              </a:ext>
            </a:extLst>
          </p:cNvPr>
          <p:cNvSpPr>
            <a:spLocks noGrp="1"/>
          </p:cNvSpPr>
          <p:nvPr>
            <p:ph type="title"/>
          </p:nvPr>
        </p:nvSpPr>
        <p:spPr>
          <a:xfrm>
            <a:off x="1091203" y="1069848"/>
            <a:ext cx="6308775" cy="2049620"/>
          </a:xfrm>
        </p:spPr>
        <p:txBody>
          <a:bodyPr>
            <a:normAutofit fontScale="90000"/>
          </a:bodyPr>
          <a:lstStyle/>
          <a:p>
            <a:r>
              <a:rPr lang="en-US" sz="6000" dirty="0"/>
              <a:t>Data Protection Challenges: Policy</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76468AD-8A2A-BD17-EBD1-E9E4D5F0812E}"/>
              </a:ext>
            </a:extLst>
          </p:cNvPr>
          <p:cNvSpPr>
            <a:spLocks noGrp="1"/>
          </p:cNvSpPr>
          <p:nvPr>
            <p:ph idx="1"/>
          </p:nvPr>
        </p:nvSpPr>
        <p:spPr>
          <a:xfrm>
            <a:off x="1097280" y="3180522"/>
            <a:ext cx="6223996" cy="3105978"/>
          </a:xfrm>
        </p:spPr>
        <p:txBody>
          <a:bodyPr>
            <a:normAutofit/>
          </a:bodyPr>
          <a:lstStyle/>
          <a:p>
            <a:r>
              <a:rPr lang="en-US" dirty="0"/>
              <a:t>Post 9/11, data protection principles have been systematically weakened in the name of national security and market efficiency.</a:t>
            </a:r>
          </a:p>
          <a:p>
            <a:r>
              <a:rPr lang="en-US" dirty="0"/>
              <a:t>The Patriot Act in the United States enabled extensive surveillance and data collection through agencies such as the NSA.</a:t>
            </a:r>
          </a:p>
        </p:txBody>
      </p:sp>
      <p:pic>
        <p:nvPicPr>
          <p:cNvPr id="5" name="Picture 4">
            <a:extLst>
              <a:ext uri="{FF2B5EF4-FFF2-40B4-BE49-F238E27FC236}">
                <a16:creationId xmlns:a16="http://schemas.microsoft.com/office/drawing/2014/main" id="{C4917EA4-9814-799D-4B8F-3AC18A35222B}"/>
              </a:ext>
            </a:extLst>
          </p:cNvPr>
          <p:cNvPicPr>
            <a:picLocks noChangeAspect="1"/>
          </p:cNvPicPr>
          <p:nvPr/>
        </p:nvPicPr>
        <p:blipFill>
          <a:blip r:embed="rId2"/>
          <a:srcRect l="34827" r="35173"/>
          <a:stretch/>
        </p:blipFill>
        <p:spPr>
          <a:xfrm>
            <a:off x="8534400" y="10"/>
            <a:ext cx="3657601" cy="6857990"/>
          </a:xfrm>
          <a:prstGeom prst="rect">
            <a:avLst/>
          </a:prstGeom>
        </p:spPr>
      </p:pic>
    </p:spTree>
    <p:extLst>
      <p:ext uri="{BB962C8B-B14F-4D97-AF65-F5344CB8AC3E}">
        <p14:creationId xmlns:p14="http://schemas.microsoft.com/office/powerpoint/2010/main" val="34938145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FDF836-C289-C2A9-8339-2321B0367F8A}"/>
              </a:ext>
            </a:extLst>
          </p:cNvPr>
          <p:cNvSpPr>
            <a:spLocks noGrp="1"/>
          </p:cNvSpPr>
          <p:nvPr>
            <p:ph type="title"/>
          </p:nvPr>
        </p:nvSpPr>
        <p:spPr>
          <a:xfrm>
            <a:off x="1091203" y="1069848"/>
            <a:ext cx="6308775" cy="2049620"/>
          </a:xfrm>
        </p:spPr>
        <p:txBody>
          <a:bodyPr>
            <a:normAutofit/>
          </a:bodyPr>
          <a:lstStyle/>
          <a:p>
            <a:r>
              <a:rPr lang="en-US" sz="4700"/>
              <a:t>Data Protection Challenges: Technology</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46BDD1B-B110-F65D-6D2B-2C6DDF3A9830}"/>
              </a:ext>
            </a:extLst>
          </p:cNvPr>
          <p:cNvSpPr>
            <a:spLocks noGrp="1"/>
          </p:cNvSpPr>
          <p:nvPr>
            <p:ph idx="1"/>
          </p:nvPr>
        </p:nvSpPr>
        <p:spPr>
          <a:xfrm>
            <a:off x="1097280" y="3180522"/>
            <a:ext cx="6223996" cy="3105978"/>
          </a:xfrm>
        </p:spPr>
        <p:txBody>
          <a:bodyPr>
            <a:normAutofit fontScale="77500" lnSpcReduction="20000"/>
          </a:bodyPr>
          <a:lstStyle/>
          <a:p>
            <a:r>
              <a:rPr lang="en-US" dirty="0"/>
              <a:t>Rapid advancements in technology have created tools that can classify, profile, and control individuals, undermining core data protection principles such as:</a:t>
            </a:r>
          </a:p>
          <a:p>
            <a:r>
              <a:rPr lang="en-US" b="1" dirty="0"/>
              <a:t>Surveillance technologies: </a:t>
            </a:r>
            <a:r>
              <a:rPr lang="en-US" dirty="0"/>
              <a:t>Biometric recognition, AI-driven monitoring systems erode privacy and autonomy</a:t>
            </a:r>
          </a:p>
          <a:p>
            <a:r>
              <a:rPr lang="en-US" b="1" dirty="0"/>
              <a:t>Social Sorting: </a:t>
            </a:r>
            <a:r>
              <a:rPr lang="en-US" dirty="0"/>
              <a:t>Technologies are increasingly used to categorize people for commercial, political, or security purposes, potentially leading to discrimination.</a:t>
            </a:r>
          </a:p>
          <a:p>
            <a:r>
              <a:rPr lang="en-US" b="1" dirty="0"/>
              <a:t>Big Data Analytics: </a:t>
            </a:r>
            <a:r>
              <a:rPr lang="en-US" dirty="0"/>
              <a:t>Vast datasets allow organizations to infer sensitive details about individuals, even if the data appears anonymized</a:t>
            </a:r>
          </a:p>
        </p:txBody>
      </p:sp>
      <p:pic>
        <p:nvPicPr>
          <p:cNvPr id="5" name="Picture 4">
            <a:extLst>
              <a:ext uri="{FF2B5EF4-FFF2-40B4-BE49-F238E27FC236}">
                <a16:creationId xmlns:a16="http://schemas.microsoft.com/office/drawing/2014/main" id="{86E59F66-2E3E-0825-228A-7886F3BF0DE4}"/>
              </a:ext>
            </a:extLst>
          </p:cNvPr>
          <p:cNvPicPr>
            <a:picLocks noChangeAspect="1"/>
          </p:cNvPicPr>
          <p:nvPr/>
        </p:nvPicPr>
        <p:blipFill>
          <a:blip r:embed="rId2"/>
          <a:srcRect l="34827" r="35173"/>
          <a:stretch/>
        </p:blipFill>
        <p:spPr>
          <a:xfrm>
            <a:off x="8534400" y="10"/>
            <a:ext cx="3657601" cy="6857990"/>
          </a:xfrm>
          <a:prstGeom prst="rect">
            <a:avLst/>
          </a:prstGeom>
        </p:spPr>
      </p:pic>
    </p:spTree>
    <p:extLst>
      <p:ext uri="{BB962C8B-B14F-4D97-AF65-F5344CB8AC3E}">
        <p14:creationId xmlns:p14="http://schemas.microsoft.com/office/powerpoint/2010/main" val="42598128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B7887-4A5F-5F69-9459-B337549E3911}"/>
              </a:ext>
            </a:extLst>
          </p:cNvPr>
          <p:cNvSpPr>
            <a:spLocks noGrp="1"/>
          </p:cNvSpPr>
          <p:nvPr>
            <p:ph type="title"/>
          </p:nvPr>
        </p:nvSpPr>
        <p:spPr>
          <a:xfrm>
            <a:off x="1088136" y="163319"/>
            <a:ext cx="9922764" cy="1294228"/>
          </a:xfrm>
        </p:spPr>
        <p:txBody>
          <a:bodyPr/>
          <a:lstStyle/>
          <a:p>
            <a:r>
              <a:rPr lang="en-US" dirty="0"/>
              <a:t>Privacy, Anonymity, and Data Protection</a:t>
            </a:r>
          </a:p>
        </p:txBody>
      </p:sp>
      <p:graphicFrame>
        <p:nvGraphicFramePr>
          <p:cNvPr id="14" name="Content Placeholder 13">
            <a:extLst>
              <a:ext uri="{FF2B5EF4-FFF2-40B4-BE49-F238E27FC236}">
                <a16:creationId xmlns:a16="http://schemas.microsoft.com/office/drawing/2014/main" id="{CB4BE078-D3B2-B81B-56F5-6998EC313BEF}"/>
              </a:ext>
            </a:extLst>
          </p:cNvPr>
          <p:cNvGraphicFramePr>
            <a:graphicFrameLocks noGrp="1"/>
          </p:cNvGraphicFramePr>
          <p:nvPr>
            <p:ph idx="1"/>
            <p:extLst>
              <p:ext uri="{D42A27DB-BD31-4B8C-83A1-F6EECF244321}">
                <p14:modId xmlns:p14="http://schemas.microsoft.com/office/powerpoint/2010/main" val="3164708270"/>
              </p:ext>
            </p:extLst>
          </p:nvPr>
        </p:nvGraphicFramePr>
        <p:xfrm>
          <a:off x="343913" y="1674178"/>
          <a:ext cx="11411210" cy="5125720"/>
        </p:xfrm>
        <a:graphic>
          <a:graphicData uri="http://schemas.openxmlformats.org/drawingml/2006/table">
            <a:tbl>
              <a:tblPr firstRow="1" bandRow="1">
                <a:tableStyleId>{5C22544A-7EE6-4342-B048-85BDC9FD1C3A}</a:tableStyleId>
              </a:tblPr>
              <a:tblGrid>
                <a:gridCol w="2893811">
                  <a:extLst>
                    <a:ext uri="{9D8B030D-6E8A-4147-A177-3AD203B41FA5}">
                      <a16:colId xmlns:a16="http://schemas.microsoft.com/office/drawing/2014/main" val="857789105"/>
                    </a:ext>
                  </a:extLst>
                </a:gridCol>
                <a:gridCol w="2839133">
                  <a:extLst>
                    <a:ext uri="{9D8B030D-6E8A-4147-A177-3AD203B41FA5}">
                      <a16:colId xmlns:a16="http://schemas.microsoft.com/office/drawing/2014/main" val="2705122851"/>
                    </a:ext>
                  </a:extLst>
                </a:gridCol>
                <a:gridCol w="2839133">
                  <a:extLst>
                    <a:ext uri="{9D8B030D-6E8A-4147-A177-3AD203B41FA5}">
                      <a16:colId xmlns:a16="http://schemas.microsoft.com/office/drawing/2014/main" val="155304242"/>
                    </a:ext>
                  </a:extLst>
                </a:gridCol>
                <a:gridCol w="2839133">
                  <a:extLst>
                    <a:ext uri="{9D8B030D-6E8A-4147-A177-3AD203B41FA5}">
                      <a16:colId xmlns:a16="http://schemas.microsoft.com/office/drawing/2014/main" val="3833107837"/>
                    </a:ext>
                  </a:extLst>
                </a:gridCol>
              </a:tblGrid>
              <a:tr h="370840">
                <a:tc>
                  <a:txBody>
                    <a:bodyPr/>
                    <a:lstStyle/>
                    <a:p>
                      <a:r>
                        <a:rPr lang="en-US" b="1" dirty="0"/>
                        <a:t>Aspect</a:t>
                      </a:r>
                      <a:endParaRPr lang="en-US" dirty="0"/>
                    </a:p>
                  </a:txBody>
                  <a:tcPr anchor="ctr"/>
                </a:tc>
                <a:tc>
                  <a:txBody>
                    <a:bodyPr/>
                    <a:lstStyle/>
                    <a:p>
                      <a:r>
                        <a:rPr lang="en-US" b="1"/>
                        <a:t>Privacy</a:t>
                      </a:r>
                      <a:endParaRPr lang="en-US"/>
                    </a:p>
                  </a:txBody>
                  <a:tcPr anchor="ctr"/>
                </a:tc>
                <a:tc>
                  <a:txBody>
                    <a:bodyPr/>
                    <a:lstStyle/>
                    <a:p>
                      <a:r>
                        <a:rPr lang="en-US" b="1"/>
                        <a:t>Data Protection</a:t>
                      </a:r>
                      <a:endParaRPr lang="en-US"/>
                    </a:p>
                  </a:txBody>
                  <a:tcPr anchor="ctr"/>
                </a:tc>
                <a:tc>
                  <a:txBody>
                    <a:bodyPr/>
                    <a:lstStyle/>
                    <a:p>
                      <a:r>
                        <a:rPr lang="en-US" b="1" dirty="0"/>
                        <a:t>Anonymity</a:t>
                      </a:r>
                      <a:endParaRPr lang="en-US" dirty="0"/>
                    </a:p>
                  </a:txBody>
                  <a:tcPr anchor="ctr"/>
                </a:tc>
                <a:extLst>
                  <a:ext uri="{0D108BD9-81ED-4DB2-BD59-A6C34878D82A}">
                    <a16:rowId xmlns:a16="http://schemas.microsoft.com/office/drawing/2014/main" val="860657936"/>
                  </a:ext>
                </a:extLst>
              </a:tr>
              <a:tr h="370840">
                <a:tc>
                  <a:txBody>
                    <a:bodyPr/>
                    <a:lstStyle/>
                    <a:p>
                      <a:r>
                        <a:rPr lang="en-US" b="1" dirty="0"/>
                        <a:t>Definition</a:t>
                      </a:r>
                      <a:endParaRPr lang="en-US" dirty="0"/>
                    </a:p>
                  </a:txBody>
                  <a:tcPr anchor="ctr"/>
                </a:tc>
                <a:tc>
                  <a:txBody>
                    <a:bodyPr/>
                    <a:lstStyle/>
                    <a:p>
                      <a:r>
                        <a:rPr lang="en-US"/>
                        <a:t>The right to control access to one’s personal information and make decisions about its use.</a:t>
                      </a:r>
                    </a:p>
                  </a:txBody>
                  <a:tcPr anchor="ctr"/>
                </a:tc>
                <a:tc>
                  <a:txBody>
                    <a:bodyPr/>
                    <a:lstStyle/>
                    <a:p>
                      <a:r>
                        <a:rPr lang="en-US"/>
                        <a:t>The safeguarding of personal data from unauthorized access, misuse, or breaches.</a:t>
                      </a:r>
                    </a:p>
                  </a:txBody>
                  <a:tcPr anchor="ctr"/>
                </a:tc>
                <a:tc>
                  <a:txBody>
                    <a:bodyPr/>
                    <a:lstStyle/>
                    <a:p>
                      <a:r>
                        <a:rPr lang="en-US" dirty="0"/>
                        <a:t>The state of being unidentifiable or untraceable in a particular context.</a:t>
                      </a:r>
                    </a:p>
                  </a:txBody>
                  <a:tcPr anchor="ctr"/>
                </a:tc>
                <a:extLst>
                  <a:ext uri="{0D108BD9-81ED-4DB2-BD59-A6C34878D82A}">
                    <a16:rowId xmlns:a16="http://schemas.microsoft.com/office/drawing/2014/main" val="2390898145"/>
                  </a:ext>
                </a:extLst>
              </a:tr>
              <a:tr h="370840">
                <a:tc>
                  <a:txBody>
                    <a:bodyPr/>
                    <a:lstStyle/>
                    <a:p>
                      <a:r>
                        <a:rPr lang="en-US" b="1" dirty="0"/>
                        <a:t>Focus</a:t>
                      </a:r>
                      <a:endParaRPr lang="en-US" dirty="0"/>
                    </a:p>
                  </a:txBody>
                  <a:tcPr anchor="ctr"/>
                </a:tc>
                <a:tc>
                  <a:txBody>
                    <a:bodyPr/>
                    <a:lstStyle/>
                    <a:p>
                      <a:r>
                        <a:rPr lang="en-US" dirty="0"/>
                        <a:t>Protecting individual rights and autonomy over personal information.</a:t>
                      </a:r>
                    </a:p>
                  </a:txBody>
                  <a:tcPr anchor="ctr"/>
                </a:tc>
                <a:tc>
                  <a:txBody>
                    <a:bodyPr/>
                    <a:lstStyle/>
                    <a:p>
                      <a:r>
                        <a:rPr lang="en-US"/>
                        <a:t>Securing data to prevent breaches or unauthorized use.</a:t>
                      </a:r>
                    </a:p>
                  </a:txBody>
                  <a:tcPr anchor="ctr"/>
                </a:tc>
                <a:tc>
                  <a:txBody>
                    <a:bodyPr/>
                    <a:lstStyle/>
                    <a:p>
                      <a:r>
                        <a:rPr lang="en-US" dirty="0"/>
                        <a:t>Concealing the identity of an individual.</a:t>
                      </a:r>
                    </a:p>
                  </a:txBody>
                  <a:tcPr anchor="ctr"/>
                </a:tc>
                <a:extLst>
                  <a:ext uri="{0D108BD9-81ED-4DB2-BD59-A6C34878D82A}">
                    <a16:rowId xmlns:a16="http://schemas.microsoft.com/office/drawing/2014/main" val="3321858416"/>
                  </a:ext>
                </a:extLst>
              </a:tr>
              <a:tr h="370840">
                <a:tc>
                  <a:txBody>
                    <a:bodyPr/>
                    <a:lstStyle/>
                    <a:p>
                      <a:r>
                        <a:rPr lang="en-US" b="1" dirty="0"/>
                        <a:t>Scope</a:t>
                      </a:r>
                      <a:endParaRPr lang="en-US" dirty="0"/>
                    </a:p>
                  </a:txBody>
                  <a:tcPr anchor="ctr"/>
                </a:tc>
                <a:tc>
                  <a:txBody>
                    <a:bodyPr/>
                    <a:lstStyle/>
                    <a:p>
                      <a:r>
                        <a:rPr lang="en-US"/>
                        <a:t>Broad: Includes informational, physical, and communication privacy.</a:t>
                      </a:r>
                    </a:p>
                  </a:txBody>
                  <a:tcPr anchor="ctr"/>
                </a:tc>
                <a:tc>
                  <a:txBody>
                    <a:bodyPr/>
                    <a:lstStyle/>
                    <a:p>
                      <a:r>
                        <a:rPr lang="en-US"/>
                        <a:t>Narrower: Focused on securing personal data.</a:t>
                      </a:r>
                    </a:p>
                  </a:txBody>
                  <a:tcPr anchor="ctr"/>
                </a:tc>
                <a:tc>
                  <a:txBody>
                    <a:bodyPr/>
                    <a:lstStyle/>
                    <a:p>
                      <a:r>
                        <a:rPr lang="en-US" dirty="0"/>
                        <a:t>Specific: Focused on identity concealment.</a:t>
                      </a:r>
                    </a:p>
                  </a:txBody>
                  <a:tcPr anchor="ctr"/>
                </a:tc>
                <a:extLst>
                  <a:ext uri="{0D108BD9-81ED-4DB2-BD59-A6C34878D82A}">
                    <a16:rowId xmlns:a16="http://schemas.microsoft.com/office/drawing/2014/main" val="3403751863"/>
                  </a:ext>
                </a:extLst>
              </a:tr>
              <a:tr h="370840">
                <a:tc>
                  <a:txBody>
                    <a:bodyPr/>
                    <a:lstStyle/>
                    <a:p>
                      <a:r>
                        <a:rPr lang="en-US" b="1" dirty="0"/>
                        <a:t>Responsibility</a:t>
                      </a:r>
                      <a:endParaRPr lang="en-US" dirty="0"/>
                    </a:p>
                  </a:txBody>
                  <a:tcPr anchor="ctr"/>
                </a:tc>
                <a:tc>
                  <a:txBody>
                    <a:bodyPr/>
                    <a:lstStyle/>
                    <a:p>
                      <a:r>
                        <a:rPr lang="en-US"/>
                        <a:t>Shared between individuals and organizations handling personal data.</a:t>
                      </a:r>
                    </a:p>
                  </a:txBody>
                  <a:tcPr anchor="ctr"/>
                </a:tc>
                <a:tc>
                  <a:txBody>
                    <a:bodyPr/>
                    <a:lstStyle/>
                    <a:p>
                      <a:r>
                        <a:rPr lang="en-US"/>
                        <a:t>Primarily organizations and regulators that collect/process data.</a:t>
                      </a:r>
                    </a:p>
                  </a:txBody>
                  <a:tcPr anchor="ctr"/>
                </a:tc>
                <a:tc>
                  <a:txBody>
                    <a:bodyPr/>
                    <a:lstStyle/>
                    <a:p>
                      <a:r>
                        <a:rPr lang="en-US" dirty="0"/>
                        <a:t>Primarily the individual seeking anonymity.</a:t>
                      </a:r>
                    </a:p>
                  </a:txBody>
                  <a:tcPr anchor="ctr"/>
                </a:tc>
                <a:extLst>
                  <a:ext uri="{0D108BD9-81ED-4DB2-BD59-A6C34878D82A}">
                    <a16:rowId xmlns:a16="http://schemas.microsoft.com/office/drawing/2014/main" val="3561015724"/>
                  </a:ext>
                </a:extLst>
              </a:tr>
            </a:tbl>
          </a:graphicData>
        </a:graphic>
      </p:graphicFrame>
    </p:spTree>
    <p:extLst>
      <p:ext uri="{BB962C8B-B14F-4D97-AF65-F5344CB8AC3E}">
        <p14:creationId xmlns:p14="http://schemas.microsoft.com/office/powerpoint/2010/main" val="29616161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8A387-9C9C-6949-124E-2532284FBE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0C70D6-200B-7865-AB45-D2E1E4B04449}"/>
              </a:ext>
            </a:extLst>
          </p:cNvPr>
          <p:cNvSpPr>
            <a:spLocks noGrp="1"/>
          </p:cNvSpPr>
          <p:nvPr>
            <p:ph type="title"/>
          </p:nvPr>
        </p:nvSpPr>
        <p:spPr>
          <a:xfrm>
            <a:off x="1088136" y="163319"/>
            <a:ext cx="9922764" cy="1294228"/>
          </a:xfrm>
        </p:spPr>
        <p:txBody>
          <a:bodyPr/>
          <a:lstStyle/>
          <a:p>
            <a:r>
              <a:rPr lang="en-US" dirty="0"/>
              <a:t>Privacy, Anonymity, and Data Protection</a:t>
            </a:r>
          </a:p>
        </p:txBody>
      </p:sp>
      <p:graphicFrame>
        <p:nvGraphicFramePr>
          <p:cNvPr id="14" name="Content Placeholder 13">
            <a:extLst>
              <a:ext uri="{FF2B5EF4-FFF2-40B4-BE49-F238E27FC236}">
                <a16:creationId xmlns:a16="http://schemas.microsoft.com/office/drawing/2014/main" id="{B94D44CA-4B4D-E3A0-0562-0C4FE594F076}"/>
              </a:ext>
            </a:extLst>
          </p:cNvPr>
          <p:cNvGraphicFramePr>
            <a:graphicFrameLocks noGrp="1"/>
          </p:cNvGraphicFramePr>
          <p:nvPr>
            <p:ph idx="1"/>
            <p:extLst>
              <p:ext uri="{D42A27DB-BD31-4B8C-83A1-F6EECF244321}">
                <p14:modId xmlns:p14="http://schemas.microsoft.com/office/powerpoint/2010/main" val="4287174518"/>
              </p:ext>
            </p:extLst>
          </p:nvPr>
        </p:nvGraphicFramePr>
        <p:xfrm>
          <a:off x="313151" y="1674178"/>
          <a:ext cx="11441972" cy="4851400"/>
        </p:xfrm>
        <a:graphic>
          <a:graphicData uri="http://schemas.openxmlformats.org/drawingml/2006/table">
            <a:tbl>
              <a:tblPr firstRow="1" bandRow="1">
                <a:tableStyleId>{5C22544A-7EE6-4342-B048-85BDC9FD1C3A}</a:tableStyleId>
              </a:tblPr>
              <a:tblGrid>
                <a:gridCol w="2924573">
                  <a:extLst>
                    <a:ext uri="{9D8B030D-6E8A-4147-A177-3AD203B41FA5}">
                      <a16:colId xmlns:a16="http://schemas.microsoft.com/office/drawing/2014/main" val="857789105"/>
                    </a:ext>
                  </a:extLst>
                </a:gridCol>
                <a:gridCol w="2839133">
                  <a:extLst>
                    <a:ext uri="{9D8B030D-6E8A-4147-A177-3AD203B41FA5}">
                      <a16:colId xmlns:a16="http://schemas.microsoft.com/office/drawing/2014/main" val="2705122851"/>
                    </a:ext>
                  </a:extLst>
                </a:gridCol>
                <a:gridCol w="2839133">
                  <a:extLst>
                    <a:ext uri="{9D8B030D-6E8A-4147-A177-3AD203B41FA5}">
                      <a16:colId xmlns:a16="http://schemas.microsoft.com/office/drawing/2014/main" val="155304242"/>
                    </a:ext>
                  </a:extLst>
                </a:gridCol>
                <a:gridCol w="2839133">
                  <a:extLst>
                    <a:ext uri="{9D8B030D-6E8A-4147-A177-3AD203B41FA5}">
                      <a16:colId xmlns:a16="http://schemas.microsoft.com/office/drawing/2014/main" val="3833107837"/>
                    </a:ext>
                  </a:extLst>
                </a:gridCol>
              </a:tblGrid>
              <a:tr h="370840">
                <a:tc>
                  <a:txBody>
                    <a:bodyPr/>
                    <a:lstStyle/>
                    <a:p>
                      <a:r>
                        <a:rPr lang="en-US" b="1" dirty="0"/>
                        <a:t>Aspect</a:t>
                      </a:r>
                      <a:endParaRPr lang="en-US" dirty="0"/>
                    </a:p>
                  </a:txBody>
                  <a:tcPr anchor="ctr"/>
                </a:tc>
                <a:tc>
                  <a:txBody>
                    <a:bodyPr/>
                    <a:lstStyle/>
                    <a:p>
                      <a:r>
                        <a:rPr lang="en-US" b="1"/>
                        <a:t>Privacy</a:t>
                      </a:r>
                      <a:endParaRPr lang="en-US"/>
                    </a:p>
                  </a:txBody>
                  <a:tcPr anchor="ctr"/>
                </a:tc>
                <a:tc>
                  <a:txBody>
                    <a:bodyPr/>
                    <a:lstStyle/>
                    <a:p>
                      <a:r>
                        <a:rPr lang="en-US" b="1"/>
                        <a:t>Data Protection</a:t>
                      </a:r>
                      <a:endParaRPr lang="en-US"/>
                    </a:p>
                  </a:txBody>
                  <a:tcPr anchor="ctr"/>
                </a:tc>
                <a:tc>
                  <a:txBody>
                    <a:bodyPr/>
                    <a:lstStyle/>
                    <a:p>
                      <a:r>
                        <a:rPr lang="en-US" b="1" dirty="0"/>
                        <a:t>Anonymity</a:t>
                      </a:r>
                      <a:endParaRPr lang="en-US" dirty="0"/>
                    </a:p>
                  </a:txBody>
                  <a:tcPr anchor="ctr"/>
                </a:tc>
                <a:extLst>
                  <a:ext uri="{0D108BD9-81ED-4DB2-BD59-A6C34878D82A}">
                    <a16:rowId xmlns:a16="http://schemas.microsoft.com/office/drawing/2014/main" val="860657936"/>
                  </a:ext>
                </a:extLst>
              </a:tr>
              <a:tr h="370840">
                <a:tc>
                  <a:txBody>
                    <a:bodyPr/>
                    <a:lstStyle/>
                    <a:p>
                      <a:r>
                        <a:rPr lang="en-US" b="1"/>
                        <a:t>Key Concerns</a:t>
                      </a:r>
                      <a:endParaRPr lang="en-US"/>
                    </a:p>
                  </a:txBody>
                  <a:tcPr anchor="ctr"/>
                </a:tc>
                <a:tc>
                  <a:txBody>
                    <a:bodyPr/>
                    <a:lstStyle/>
                    <a:p>
                      <a:r>
                        <a:rPr lang="en-US" dirty="0"/>
                        <a:t>Consent, transparency, and how data is collected, shared, and used.</a:t>
                      </a:r>
                    </a:p>
                  </a:txBody>
                  <a:tcPr anchor="ctr"/>
                </a:tc>
                <a:tc>
                  <a:txBody>
                    <a:bodyPr/>
                    <a:lstStyle/>
                    <a:p>
                      <a:r>
                        <a:rPr lang="en-US"/>
                        <a:t>Preventing data breaches, unauthorized access, and ensuring compliance.</a:t>
                      </a:r>
                    </a:p>
                  </a:txBody>
                  <a:tcPr anchor="ctr"/>
                </a:tc>
                <a:tc>
                  <a:txBody>
                    <a:bodyPr/>
                    <a:lstStyle/>
                    <a:p>
                      <a:r>
                        <a:rPr lang="en-US" dirty="0"/>
                        <a:t>Ensuring no link exists between identity and actions or information.</a:t>
                      </a:r>
                    </a:p>
                  </a:txBody>
                  <a:tcPr anchor="ctr"/>
                </a:tc>
                <a:extLst>
                  <a:ext uri="{0D108BD9-81ED-4DB2-BD59-A6C34878D82A}">
                    <a16:rowId xmlns:a16="http://schemas.microsoft.com/office/drawing/2014/main" val="2390898145"/>
                  </a:ext>
                </a:extLst>
              </a:tr>
              <a:tr h="370840">
                <a:tc>
                  <a:txBody>
                    <a:bodyPr/>
                    <a:lstStyle/>
                    <a:p>
                      <a:r>
                        <a:rPr lang="en-US" b="1"/>
                        <a:t>Implementation</a:t>
                      </a:r>
                      <a:endParaRPr lang="en-US"/>
                    </a:p>
                  </a:txBody>
                  <a:tcPr anchor="ctr"/>
                </a:tc>
                <a:tc>
                  <a:txBody>
                    <a:bodyPr/>
                    <a:lstStyle/>
                    <a:p>
                      <a:r>
                        <a:rPr lang="en-US" dirty="0"/>
                        <a:t>Policies like privacy settings, informed consent, and ethical data handling.</a:t>
                      </a:r>
                    </a:p>
                  </a:txBody>
                  <a:tcPr anchor="ctr"/>
                </a:tc>
                <a:tc>
                  <a:txBody>
                    <a:bodyPr/>
                    <a:lstStyle/>
                    <a:p>
                      <a:r>
                        <a:rPr lang="en-US"/>
                        <a:t>Security measures like encryption, firewalls, and data access controls.</a:t>
                      </a:r>
                    </a:p>
                  </a:txBody>
                  <a:tcPr anchor="ctr"/>
                </a:tc>
                <a:tc>
                  <a:txBody>
                    <a:bodyPr/>
                    <a:lstStyle/>
                    <a:p>
                      <a:r>
                        <a:rPr lang="en-US" dirty="0"/>
                        <a:t>Tools like pseudonyms, VPNs, and Tor for masking identity.</a:t>
                      </a:r>
                    </a:p>
                  </a:txBody>
                  <a:tcPr anchor="ctr"/>
                </a:tc>
                <a:extLst>
                  <a:ext uri="{0D108BD9-81ED-4DB2-BD59-A6C34878D82A}">
                    <a16:rowId xmlns:a16="http://schemas.microsoft.com/office/drawing/2014/main" val="3321858416"/>
                  </a:ext>
                </a:extLst>
              </a:tr>
              <a:tr h="370840">
                <a:tc>
                  <a:txBody>
                    <a:bodyPr/>
                    <a:lstStyle/>
                    <a:p>
                      <a:r>
                        <a:rPr lang="en-US" b="1"/>
                        <a:t>Traceability</a:t>
                      </a:r>
                      <a:endParaRPr lang="en-US"/>
                    </a:p>
                  </a:txBody>
                  <a:tcPr anchor="ctr"/>
                </a:tc>
                <a:tc>
                  <a:txBody>
                    <a:bodyPr/>
                    <a:lstStyle/>
                    <a:p>
                      <a:r>
                        <a:rPr lang="en-US"/>
                        <a:t>Traceability may exist if individuals consent to share data selectively.</a:t>
                      </a:r>
                    </a:p>
                  </a:txBody>
                  <a:tcPr anchor="ctr"/>
                </a:tc>
                <a:tc>
                  <a:txBody>
                    <a:bodyPr/>
                    <a:lstStyle/>
                    <a:p>
                      <a:r>
                        <a:rPr lang="en-US"/>
                        <a:t>Traceability depends on security measures but is not the primary focus.</a:t>
                      </a:r>
                    </a:p>
                  </a:txBody>
                  <a:tcPr anchor="ctr"/>
                </a:tc>
                <a:tc>
                  <a:txBody>
                    <a:bodyPr/>
                    <a:lstStyle/>
                    <a:p>
                      <a:r>
                        <a:rPr lang="en-US" dirty="0"/>
                        <a:t>Traceability is minimized or eliminated.</a:t>
                      </a:r>
                    </a:p>
                  </a:txBody>
                  <a:tcPr anchor="ctr"/>
                </a:tc>
                <a:extLst>
                  <a:ext uri="{0D108BD9-81ED-4DB2-BD59-A6C34878D82A}">
                    <a16:rowId xmlns:a16="http://schemas.microsoft.com/office/drawing/2014/main" val="3403751863"/>
                  </a:ext>
                </a:extLst>
              </a:tr>
              <a:tr h="370840">
                <a:tc>
                  <a:txBody>
                    <a:bodyPr/>
                    <a:lstStyle/>
                    <a:p>
                      <a:r>
                        <a:rPr lang="en-US" b="1"/>
                        <a:t>Purpose</a:t>
                      </a:r>
                      <a:endParaRPr lang="en-US"/>
                    </a:p>
                  </a:txBody>
                  <a:tcPr anchor="ctr"/>
                </a:tc>
                <a:tc>
                  <a:txBody>
                    <a:bodyPr/>
                    <a:lstStyle/>
                    <a:p>
                      <a:r>
                        <a:rPr lang="en-US"/>
                        <a:t>Protect the individual's personal space and data boundaries.</a:t>
                      </a:r>
                    </a:p>
                  </a:txBody>
                  <a:tcPr anchor="ctr"/>
                </a:tc>
                <a:tc>
                  <a:txBody>
                    <a:bodyPr/>
                    <a:lstStyle/>
                    <a:p>
                      <a:r>
                        <a:rPr lang="en-US"/>
                        <a:t>Protect the integrity and confidentiality of data.</a:t>
                      </a:r>
                    </a:p>
                  </a:txBody>
                  <a:tcPr anchor="ctr"/>
                </a:tc>
                <a:tc>
                  <a:txBody>
                    <a:bodyPr/>
                    <a:lstStyle/>
                    <a:p>
                      <a:r>
                        <a:rPr lang="en-US" dirty="0"/>
                        <a:t>Protect the individual's identity in communications or activities.</a:t>
                      </a:r>
                    </a:p>
                  </a:txBody>
                  <a:tcPr anchor="ctr"/>
                </a:tc>
                <a:extLst>
                  <a:ext uri="{0D108BD9-81ED-4DB2-BD59-A6C34878D82A}">
                    <a16:rowId xmlns:a16="http://schemas.microsoft.com/office/drawing/2014/main" val="3561015724"/>
                  </a:ext>
                </a:extLst>
              </a:tr>
            </a:tbl>
          </a:graphicData>
        </a:graphic>
      </p:graphicFrame>
    </p:spTree>
    <p:extLst>
      <p:ext uri="{BB962C8B-B14F-4D97-AF65-F5344CB8AC3E}">
        <p14:creationId xmlns:p14="http://schemas.microsoft.com/office/powerpoint/2010/main" val="27875135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D2D75-588E-0B9A-9F80-817F11E52DC5}"/>
              </a:ext>
            </a:extLst>
          </p:cNvPr>
          <p:cNvSpPr>
            <a:spLocks noGrp="1"/>
          </p:cNvSpPr>
          <p:nvPr>
            <p:ph type="title"/>
          </p:nvPr>
        </p:nvSpPr>
        <p:spPr>
          <a:xfrm>
            <a:off x="1088136" y="1116453"/>
            <a:ext cx="9922764" cy="1294228"/>
          </a:xfrm>
        </p:spPr>
        <p:txBody>
          <a:bodyPr/>
          <a:lstStyle/>
          <a:p>
            <a:r>
              <a:rPr lang="en-US" dirty="0"/>
              <a:t>Summary</a:t>
            </a:r>
          </a:p>
        </p:txBody>
      </p:sp>
      <p:sp>
        <p:nvSpPr>
          <p:cNvPr id="3" name="Content Placeholder 2">
            <a:extLst>
              <a:ext uri="{FF2B5EF4-FFF2-40B4-BE49-F238E27FC236}">
                <a16:creationId xmlns:a16="http://schemas.microsoft.com/office/drawing/2014/main" id="{5525FFE8-559A-715B-3935-3E2E73620D8D}"/>
              </a:ext>
            </a:extLst>
          </p:cNvPr>
          <p:cNvSpPr>
            <a:spLocks noGrp="1"/>
          </p:cNvSpPr>
          <p:nvPr>
            <p:ph idx="1"/>
          </p:nvPr>
        </p:nvSpPr>
        <p:spPr/>
        <p:txBody>
          <a:bodyPr/>
          <a:lstStyle/>
          <a:p>
            <a:r>
              <a:rPr lang="en-US" dirty="0"/>
              <a:t>Privacy is </a:t>
            </a:r>
            <a:r>
              <a:rPr lang="en-US" b="1" dirty="0"/>
              <a:t>historically and culturally variable</a:t>
            </a:r>
            <a:r>
              <a:rPr lang="en-US" dirty="0"/>
              <a:t>.</a:t>
            </a:r>
          </a:p>
          <a:p>
            <a:r>
              <a:rPr lang="en-US" dirty="0"/>
              <a:t>Solove’s taxonomy shows how harm occurs through </a:t>
            </a:r>
            <a:r>
              <a:rPr lang="en-US" b="1" dirty="0"/>
              <a:t>collection, processing, dissemination, and invasion</a:t>
            </a:r>
            <a:r>
              <a:rPr lang="en-US" dirty="0"/>
              <a:t>.</a:t>
            </a:r>
          </a:p>
          <a:p>
            <a:r>
              <a:rPr lang="en-US" dirty="0"/>
              <a:t>Anonymity can enable </a:t>
            </a:r>
            <a:r>
              <a:rPr lang="en-US" b="1" dirty="0"/>
              <a:t>freedom, fairness, and protection</a:t>
            </a:r>
            <a:r>
              <a:rPr lang="en-US" dirty="0"/>
              <a:t>, but also abuse.</a:t>
            </a:r>
          </a:p>
          <a:p>
            <a:r>
              <a:rPr lang="en-US" dirty="0"/>
              <a:t>Data protection emerged as a response to surveillance and profiling.</a:t>
            </a:r>
          </a:p>
          <a:p>
            <a:r>
              <a:rPr lang="en-US" b="1" dirty="0"/>
              <a:t>Critical Reflection</a:t>
            </a:r>
            <a:endParaRPr lang="en-US" dirty="0"/>
          </a:p>
          <a:p>
            <a:r>
              <a:rPr lang="en-US" dirty="0"/>
              <a:t>Is true privacy possible in digital societies?</a:t>
            </a:r>
          </a:p>
          <a:p>
            <a:r>
              <a:rPr lang="en-US" dirty="0"/>
              <a:t>When does anonymity become ethically unjustifiable?</a:t>
            </a:r>
          </a:p>
          <a:p>
            <a:endParaRPr lang="en-US" dirty="0"/>
          </a:p>
        </p:txBody>
      </p:sp>
    </p:spTree>
    <p:extLst>
      <p:ext uri="{BB962C8B-B14F-4D97-AF65-F5344CB8AC3E}">
        <p14:creationId xmlns:p14="http://schemas.microsoft.com/office/powerpoint/2010/main" val="3610079329"/>
      </p:ext>
    </p:extLst>
  </p:cSld>
  <p:clrMapOvr>
    <a:masterClrMapping/>
  </p:clrMapOvr>
</p:sld>
</file>

<file path=ppt/theme/theme1.xml><?xml version="1.0" encoding="utf-8"?>
<a:theme xmlns:a="http://schemas.openxmlformats.org/drawingml/2006/main" name="BjornVTI">
  <a:themeElements>
    <a:clrScheme name="AnalogousFromDarkSeedLeftStep">
      <a:dk1>
        <a:srgbClr val="000000"/>
      </a:dk1>
      <a:lt1>
        <a:srgbClr val="FFFFFF"/>
      </a:lt1>
      <a:dk2>
        <a:srgbClr val="251D38"/>
      </a:dk2>
      <a:lt2>
        <a:srgbClr val="E2E8E2"/>
      </a:lt2>
      <a:accent1>
        <a:srgbClr val="DE31D1"/>
      </a:accent1>
      <a:accent2>
        <a:srgbClr val="9120CD"/>
      </a:accent2>
      <a:accent3>
        <a:srgbClr val="5B31DE"/>
      </a:accent3>
      <a:accent4>
        <a:srgbClr val="203ECD"/>
      </a:accent4>
      <a:accent5>
        <a:srgbClr val="3198DE"/>
      </a:accent5>
      <a:accent6>
        <a:srgbClr val="1CB4B3"/>
      </a:accent6>
      <a:hlink>
        <a:srgbClr val="3F75BF"/>
      </a:hlink>
      <a:folHlink>
        <a:srgbClr val="7F7F7F"/>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VTI" id="{D01443FD-65CF-4AEF-9B9D-4466C96F9785}" vid="{36EF4262-385E-40E6-B073-FB18FD98BF4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55421</TotalTime>
  <Words>1763</Words>
  <Application>Microsoft Office PowerPoint</Application>
  <PresentationFormat>Widescreen</PresentationFormat>
  <Paragraphs>161</Paragraphs>
  <Slides>28</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Aptos</vt:lpstr>
      <vt:lpstr>Arial</vt:lpstr>
      <vt:lpstr>Neue Haas Grotesk Text Pro</vt:lpstr>
      <vt:lpstr>BjornVTI</vt:lpstr>
      <vt:lpstr>Chapter 4: Privacy, Anonymity, and Data Protection</vt:lpstr>
      <vt:lpstr>Discussion 4.1: is there true privacy in the digital world?</vt:lpstr>
      <vt:lpstr>Privacy</vt:lpstr>
      <vt:lpstr>Evolution of Privacy</vt:lpstr>
      <vt:lpstr>Solove’s Taxonomy of Privacy</vt:lpstr>
      <vt:lpstr>Solove’s Taxonomy of Privacy</vt:lpstr>
      <vt:lpstr>Information Collection</vt:lpstr>
      <vt:lpstr>Information Processing</vt:lpstr>
      <vt:lpstr>Information Processing</vt:lpstr>
      <vt:lpstr>Information Dissemination</vt:lpstr>
      <vt:lpstr>Information Dissemination</vt:lpstr>
      <vt:lpstr>Information Dissemination</vt:lpstr>
      <vt:lpstr>Invasion</vt:lpstr>
      <vt:lpstr>Anonymity</vt:lpstr>
      <vt:lpstr>Anonymity</vt:lpstr>
      <vt:lpstr>Anonymity</vt:lpstr>
      <vt:lpstr>Types of Anonymity</vt:lpstr>
      <vt:lpstr>Agent Anonymity</vt:lpstr>
      <vt:lpstr>Recipient Anonymity</vt:lpstr>
      <vt:lpstr>Process Anonymity</vt:lpstr>
      <vt:lpstr>Data Protection</vt:lpstr>
      <vt:lpstr>Data Protection</vt:lpstr>
      <vt:lpstr>Data Protection as a Fundamental Right</vt:lpstr>
      <vt:lpstr>Data Protection Challenges: Policy</vt:lpstr>
      <vt:lpstr>Data Protection Challenges: Technology</vt:lpstr>
      <vt:lpstr>Privacy, Anonymity, and Data Protection</vt:lpstr>
      <vt:lpstr>Privacy, Anonymity, and Data Protection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Mr. YAQOOB SALMAN MOHAMED ALSLAIS</dc:creator>
  <cp:lastModifiedBy>Dr. YAQOOB SALMAN MOHAMED ALSLAIS</cp:lastModifiedBy>
  <cp:revision>12</cp:revision>
  <dcterms:created xsi:type="dcterms:W3CDTF">2024-08-29T08:11:27Z</dcterms:created>
  <dcterms:modified xsi:type="dcterms:W3CDTF">2026-02-02T10:29:06Z</dcterms:modified>
</cp:coreProperties>
</file>