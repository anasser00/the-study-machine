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Lst>
  <p:notesMasterIdLst>
    <p:notesMasterId r:id="rId32"/>
  </p:notesMasterIdLst>
  <p:sldIdLst>
    <p:sldId id="256" r:id="rId2"/>
    <p:sldId id="257" r:id="rId3"/>
    <p:sldId id="258" r:id="rId4"/>
    <p:sldId id="259" r:id="rId5"/>
    <p:sldId id="309" r:id="rId6"/>
    <p:sldId id="311" r:id="rId7"/>
    <p:sldId id="310" r:id="rId8"/>
    <p:sldId id="312" r:id="rId9"/>
    <p:sldId id="313" r:id="rId10"/>
    <p:sldId id="314" r:id="rId11"/>
    <p:sldId id="315" r:id="rId12"/>
    <p:sldId id="316" r:id="rId13"/>
    <p:sldId id="317" r:id="rId14"/>
    <p:sldId id="318" r:id="rId15"/>
    <p:sldId id="319" r:id="rId16"/>
    <p:sldId id="320" r:id="rId17"/>
    <p:sldId id="321" r:id="rId18"/>
    <p:sldId id="322" r:id="rId19"/>
    <p:sldId id="323" r:id="rId20"/>
    <p:sldId id="261" r:id="rId21"/>
    <p:sldId id="300" r:id="rId22"/>
    <p:sldId id="301" r:id="rId23"/>
    <p:sldId id="302" r:id="rId24"/>
    <p:sldId id="303" r:id="rId25"/>
    <p:sldId id="304" r:id="rId26"/>
    <p:sldId id="305" r:id="rId27"/>
    <p:sldId id="306" r:id="rId28"/>
    <p:sldId id="307" r:id="rId29"/>
    <p:sldId id="308" r:id="rId30"/>
    <p:sldId id="324"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97B12C-5EBF-4BA9-A156-0AD1F3122D84}" v="1" dt="2026-02-02T10:27:50.45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033" autoAdjust="0"/>
  </p:normalViewPr>
  <p:slideViewPr>
    <p:cSldViewPr snapToGrid="0">
      <p:cViewPr varScale="1">
        <p:scale>
          <a:sx n="82" d="100"/>
          <a:sy n="82" d="100"/>
        </p:scale>
        <p:origin x="720" y="72"/>
      </p:cViewPr>
      <p:guideLst/>
    </p:cSldViewPr>
  </p:slideViewPr>
  <p:outlineViewPr>
    <p:cViewPr>
      <p:scale>
        <a:sx n="33" d="100"/>
        <a:sy n="33" d="100"/>
      </p:scale>
      <p:origin x="0" y="-1211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YAQOOB SALMAN MOHAMED ALSLAIS" userId="3b843498-0d2f-436b-9cfb-0641998d3142" providerId="ADAL" clId="{14E12B48-7A42-4907-9A13-F7839ACECA24}"/>
    <pc:docChg chg="undo redo custSel addSld delSld modSld">
      <pc:chgData name="Dr. YAQOOB SALMAN MOHAMED ALSLAIS" userId="3b843498-0d2f-436b-9cfb-0641998d3142" providerId="ADAL" clId="{14E12B48-7A42-4907-9A13-F7839ACECA24}" dt="2026-02-04T10:02:09.713" v="330" actId="20577"/>
      <pc:docMkLst>
        <pc:docMk/>
      </pc:docMkLst>
      <pc:sldChg chg="modSp mod">
        <pc:chgData name="Dr. YAQOOB SALMAN MOHAMED ALSLAIS" userId="3b843498-0d2f-436b-9cfb-0641998d3142" providerId="ADAL" clId="{14E12B48-7A42-4907-9A13-F7839ACECA24}" dt="2026-02-04T10:02:09.713" v="330" actId="20577"/>
        <pc:sldMkLst>
          <pc:docMk/>
          <pc:sldMk cId="3793346689" sldId="315"/>
        </pc:sldMkLst>
        <pc:spChg chg="mod">
          <ac:chgData name="Dr. YAQOOB SALMAN MOHAMED ALSLAIS" userId="3b843498-0d2f-436b-9cfb-0641998d3142" providerId="ADAL" clId="{14E12B48-7A42-4907-9A13-F7839ACECA24}" dt="2026-02-04T10:02:09.713" v="330" actId="20577"/>
          <ac:spMkLst>
            <pc:docMk/>
            <pc:sldMk cId="3793346689" sldId="315"/>
            <ac:spMk id="3" creationId="{69C94540-BD2C-729A-6107-0392955322C3}"/>
          </ac:spMkLst>
        </pc:spChg>
      </pc:sldChg>
      <pc:sldChg chg="modSp new mod">
        <pc:chgData name="Dr. YAQOOB SALMAN MOHAMED ALSLAIS" userId="3b843498-0d2f-436b-9cfb-0641998d3142" providerId="ADAL" clId="{14E12B48-7A42-4907-9A13-F7839ACECA24}" dt="2026-02-02T10:27:53.002" v="239" actId="20577"/>
        <pc:sldMkLst>
          <pc:docMk/>
          <pc:sldMk cId="3473399250" sldId="324"/>
        </pc:sldMkLst>
        <pc:spChg chg="mod">
          <ac:chgData name="Dr. YAQOOB SALMAN MOHAMED ALSLAIS" userId="3b843498-0d2f-436b-9cfb-0641998d3142" providerId="ADAL" clId="{14E12B48-7A42-4907-9A13-F7839ACECA24}" dt="2026-02-02T10:27:53.002" v="239" actId="20577"/>
          <ac:spMkLst>
            <pc:docMk/>
            <pc:sldMk cId="3473399250" sldId="324"/>
            <ac:spMk id="2" creationId="{4E467499-BFCF-7651-5D9E-9DCD143A5BBB}"/>
          </ac:spMkLst>
        </pc:spChg>
        <pc:spChg chg="mod">
          <ac:chgData name="Dr. YAQOOB SALMAN MOHAMED ALSLAIS" userId="3b843498-0d2f-436b-9cfb-0641998d3142" providerId="ADAL" clId="{14E12B48-7A42-4907-9A13-F7839ACECA24}" dt="2026-02-02T10:27:50.452" v="232"/>
          <ac:spMkLst>
            <pc:docMk/>
            <pc:sldMk cId="3473399250" sldId="324"/>
            <ac:spMk id="3" creationId="{13CD5A09-0BCB-CB61-5617-93A661A14719}"/>
          </ac:spMkLst>
        </pc:spChg>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ata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9.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rawing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9.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8EEB99-A521-426C-8BA1-0120EFF41A29}"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D48644FC-2D85-4981-9306-F50F1B430F0C}">
      <dgm:prSet/>
      <dgm:spPr/>
      <dgm:t>
        <a:bodyPr/>
        <a:lstStyle/>
        <a:p>
          <a:r>
            <a:rPr lang="en-US" dirty="0"/>
            <a:t>Saha et al (2024) compiled a list of ten cryptocurrency-based financial crimes.</a:t>
          </a:r>
        </a:p>
      </dgm:t>
    </dgm:pt>
    <dgm:pt modelId="{478D78A4-7DAA-425F-89E2-53D4EDEE3571}" type="parTrans" cxnId="{0C0C45EF-BB1D-4CA3-82A8-B222E943EBA2}">
      <dgm:prSet/>
      <dgm:spPr/>
      <dgm:t>
        <a:bodyPr/>
        <a:lstStyle/>
        <a:p>
          <a:endParaRPr lang="en-US"/>
        </a:p>
      </dgm:t>
    </dgm:pt>
    <dgm:pt modelId="{D6A28BBF-F217-4636-AE30-AFFFBC609176}" type="sibTrans" cxnId="{0C0C45EF-BB1D-4CA3-82A8-B222E943EBA2}">
      <dgm:prSet/>
      <dgm:spPr/>
      <dgm:t>
        <a:bodyPr/>
        <a:lstStyle/>
        <a:p>
          <a:endParaRPr lang="en-US"/>
        </a:p>
      </dgm:t>
    </dgm:pt>
    <dgm:pt modelId="{3036C60F-4D3A-4A06-B8AD-F8D9D4D703E7}">
      <dgm:prSet/>
      <dgm:spPr/>
      <dgm:t>
        <a:bodyPr/>
        <a:lstStyle/>
        <a:p>
          <a:r>
            <a:rPr lang="en-US" dirty="0"/>
            <a:t>They believe that cryptocurrency’s anonymous transactions make it an attractive method for illegal activity</a:t>
          </a:r>
        </a:p>
      </dgm:t>
    </dgm:pt>
    <dgm:pt modelId="{4EE8B4A6-FC2F-405A-B01F-A2E3B5720B81}" type="parTrans" cxnId="{C31D39E1-F614-4856-8C1A-CA20347BDF70}">
      <dgm:prSet/>
      <dgm:spPr/>
      <dgm:t>
        <a:bodyPr/>
        <a:lstStyle/>
        <a:p>
          <a:endParaRPr lang="en-US"/>
        </a:p>
      </dgm:t>
    </dgm:pt>
    <dgm:pt modelId="{AE379332-0B11-49F7-ACAE-5C44D934238C}" type="sibTrans" cxnId="{C31D39E1-F614-4856-8C1A-CA20347BDF70}">
      <dgm:prSet/>
      <dgm:spPr/>
      <dgm:t>
        <a:bodyPr/>
        <a:lstStyle/>
        <a:p>
          <a:endParaRPr lang="en-US"/>
        </a:p>
      </dgm:t>
    </dgm:pt>
    <dgm:pt modelId="{BBFDE722-C83F-42D8-A3A6-6C70E0805414}" type="pres">
      <dgm:prSet presAssocID="{848EEB99-A521-426C-8BA1-0120EFF41A29}" presName="linear" presStyleCnt="0">
        <dgm:presLayoutVars>
          <dgm:animLvl val="lvl"/>
          <dgm:resizeHandles val="exact"/>
        </dgm:presLayoutVars>
      </dgm:prSet>
      <dgm:spPr/>
    </dgm:pt>
    <dgm:pt modelId="{961DFCFB-CF57-412B-B068-6985C85FD700}" type="pres">
      <dgm:prSet presAssocID="{D48644FC-2D85-4981-9306-F50F1B430F0C}" presName="parentText" presStyleLbl="node1" presStyleIdx="0" presStyleCnt="2">
        <dgm:presLayoutVars>
          <dgm:chMax val="0"/>
          <dgm:bulletEnabled val="1"/>
        </dgm:presLayoutVars>
      </dgm:prSet>
      <dgm:spPr/>
    </dgm:pt>
    <dgm:pt modelId="{D55ED674-3C75-4C7E-909C-25BA2733E803}" type="pres">
      <dgm:prSet presAssocID="{D6A28BBF-F217-4636-AE30-AFFFBC609176}" presName="spacer" presStyleCnt="0"/>
      <dgm:spPr/>
    </dgm:pt>
    <dgm:pt modelId="{6232C0BD-55BD-45C8-9168-5226CCB9B355}" type="pres">
      <dgm:prSet presAssocID="{3036C60F-4D3A-4A06-B8AD-F8D9D4D703E7}" presName="parentText" presStyleLbl="node1" presStyleIdx="1" presStyleCnt="2">
        <dgm:presLayoutVars>
          <dgm:chMax val="0"/>
          <dgm:bulletEnabled val="1"/>
        </dgm:presLayoutVars>
      </dgm:prSet>
      <dgm:spPr/>
    </dgm:pt>
  </dgm:ptLst>
  <dgm:cxnLst>
    <dgm:cxn modelId="{74B3D978-17C5-4FE3-89C5-85B4472FBDC3}" type="presOf" srcId="{848EEB99-A521-426C-8BA1-0120EFF41A29}" destId="{BBFDE722-C83F-42D8-A3A6-6C70E0805414}" srcOrd="0" destOrd="0" presId="urn:microsoft.com/office/officeart/2005/8/layout/vList2"/>
    <dgm:cxn modelId="{25D7C19A-8192-4255-8CFA-BF0034729DF0}" type="presOf" srcId="{3036C60F-4D3A-4A06-B8AD-F8D9D4D703E7}" destId="{6232C0BD-55BD-45C8-9168-5226CCB9B355}" srcOrd="0" destOrd="0" presId="urn:microsoft.com/office/officeart/2005/8/layout/vList2"/>
    <dgm:cxn modelId="{A94B6EA6-1CD7-487B-AEE5-0C03BA82E485}" type="presOf" srcId="{D48644FC-2D85-4981-9306-F50F1B430F0C}" destId="{961DFCFB-CF57-412B-B068-6985C85FD700}" srcOrd="0" destOrd="0" presId="urn:microsoft.com/office/officeart/2005/8/layout/vList2"/>
    <dgm:cxn modelId="{C31D39E1-F614-4856-8C1A-CA20347BDF70}" srcId="{848EEB99-A521-426C-8BA1-0120EFF41A29}" destId="{3036C60F-4D3A-4A06-B8AD-F8D9D4D703E7}" srcOrd="1" destOrd="0" parTransId="{4EE8B4A6-FC2F-405A-B01F-A2E3B5720B81}" sibTransId="{AE379332-0B11-49F7-ACAE-5C44D934238C}"/>
    <dgm:cxn modelId="{0C0C45EF-BB1D-4CA3-82A8-B222E943EBA2}" srcId="{848EEB99-A521-426C-8BA1-0120EFF41A29}" destId="{D48644FC-2D85-4981-9306-F50F1B430F0C}" srcOrd="0" destOrd="0" parTransId="{478D78A4-7DAA-425F-89E2-53D4EDEE3571}" sibTransId="{D6A28BBF-F217-4636-AE30-AFFFBC609176}"/>
    <dgm:cxn modelId="{74D3DC85-BC7C-459A-A9CD-A857FC893E4D}" type="presParOf" srcId="{BBFDE722-C83F-42D8-A3A6-6C70E0805414}" destId="{961DFCFB-CF57-412B-B068-6985C85FD700}" srcOrd="0" destOrd="0" presId="urn:microsoft.com/office/officeart/2005/8/layout/vList2"/>
    <dgm:cxn modelId="{F89BD4A6-3A98-4E70-8FAC-680E6DC9BD9D}" type="presParOf" srcId="{BBFDE722-C83F-42D8-A3A6-6C70E0805414}" destId="{D55ED674-3C75-4C7E-909C-25BA2733E803}" srcOrd="1" destOrd="0" presId="urn:microsoft.com/office/officeart/2005/8/layout/vList2"/>
    <dgm:cxn modelId="{1A193F48-BE0C-4AAD-8055-4782A567B983}" type="presParOf" srcId="{BBFDE722-C83F-42D8-A3A6-6C70E0805414}" destId="{6232C0BD-55BD-45C8-9168-5226CCB9B355}"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C488D28-D827-40C0-B91D-0DF92F58A03B}"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83764DC8-1A5C-4292-8444-924CF818B17D}">
      <dgm:prSet/>
      <dgm:spPr/>
      <dgm:t>
        <a:bodyPr/>
        <a:lstStyle/>
        <a:p>
          <a:pPr>
            <a:lnSpc>
              <a:spcPct val="100000"/>
            </a:lnSpc>
          </a:pPr>
          <a:r>
            <a:rPr lang="en-US" b="1" dirty="0"/>
            <a:t>Ransomware: </a:t>
          </a:r>
          <a:r>
            <a:rPr lang="en-US" dirty="0"/>
            <a:t>Ransomware is a kind of malware designed to attack an individual or organization’s system or computer to take control of that system and deny access to the owner. Hackers threaten to disclose private information or destroy valuable data until victims fulfill ransom demands, usually in digital currency</a:t>
          </a:r>
        </a:p>
      </dgm:t>
    </dgm:pt>
    <dgm:pt modelId="{5C74FE62-28DC-43A6-B267-8664FA3D726E}" type="parTrans" cxnId="{76D482F1-6106-4F4E-B0EF-BE96A59CB29F}">
      <dgm:prSet/>
      <dgm:spPr/>
      <dgm:t>
        <a:bodyPr/>
        <a:lstStyle/>
        <a:p>
          <a:endParaRPr lang="en-US"/>
        </a:p>
      </dgm:t>
    </dgm:pt>
    <dgm:pt modelId="{616B421D-948C-4FD4-926A-F31AE70A9E6F}" type="sibTrans" cxnId="{76D482F1-6106-4F4E-B0EF-BE96A59CB29F}">
      <dgm:prSet/>
      <dgm:spPr/>
      <dgm:t>
        <a:bodyPr/>
        <a:lstStyle/>
        <a:p>
          <a:endParaRPr lang="en-US"/>
        </a:p>
      </dgm:t>
    </dgm:pt>
    <dgm:pt modelId="{23A7045F-B1BB-4CF3-903C-856FDA4343C2}">
      <dgm:prSet/>
      <dgm:spPr/>
      <dgm:t>
        <a:bodyPr/>
        <a:lstStyle/>
        <a:p>
          <a:pPr>
            <a:lnSpc>
              <a:spcPct val="100000"/>
            </a:lnSpc>
          </a:pPr>
          <a:r>
            <a:rPr lang="en-US" b="1" dirty="0"/>
            <a:t>Phishing: </a:t>
          </a:r>
          <a:r>
            <a:rPr lang="en-US" dirty="0"/>
            <a:t>Scammers create fake websites, links, emails, or social media accounts that closely resemble the official version and, therefore, are difficult to differentiate. The fraudsters use various methods to distribute these false gateways. They use malware, social media marketing, and search engines to replace the original gateways.</a:t>
          </a:r>
        </a:p>
      </dgm:t>
    </dgm:pt>
    <dgm:pt modelId="{C92A768F-6F32-449A-BF22-172EDF48C726}" type="parTrans" cxnId="{D1ABEC5E-A26E-43BC-B0D0-D11B9EED31DB}">
      <dgm:prSet/>
      <dgm:spPr/>
      <dgm:t>
        <a:bodyPr/>
        <a:lstStyle/>
        <a:p>
          <a:endParaRPr lang="en-US"/>
        </a:p>
      </dgm:t>
    </dgm:pt>
    <dgm:pt modelId="{97032C0B-996C-4EE3-BCB3-2EFDD9FE5D85}" type="sibTrans" cxnId="{D1ABEC5E-A26E-43BC-B0D0-D11B9EED31DB}">
      <dgm:prSet/>
      <dgm:spPr/>
      <dgm:t>
        <a:bodyPr/>
        <a:lstStyle/>
        <a:p>
          <a:endParaRPr lang="en-US"/>
        </a:p>
      </dgm:t>
    </dgm:pt>
    <dgm:pt modelId="{C99AABAA-1D4D-4D0D-9332-8D565D6AE2FA}">
      <dgm:prSet/>
      <dgm:spPr/>
      <dgm:t>
        <a:bodyPr/>
        <a:lstStyle/>
        <a:p>
          <a:pPr>
            <a:lnSpc>
              <a:spcPct val="100000"/>
            </a:lnSpc>
          </a:pPr>
          <a:r>
            <a:rPr lang="en-US" dirty="0"/>
            <a:t>Phishing is common during ICOs. In 2017, when </a:t>
          </a:r>
          <a:r>
            <a:rPr lang="en-US" dirty="0" err="1"/>
            <a:t>CoinDash</a:t>
          </a:r>
          <a:r>
            <a:rPr lang="en-US" dirty="0"/>
            <a:t> started its public ICO phase, attackers changed official wallet addresses and collected 43,000 ETH in seven minutes until </a:t>
          </a:r>
          <a:r>
            <a:rPr lang="en-US" dirty="0" err="1"/>
            <a:t>CoinDash</a:t>
          </a:r>
          <a:r>
            <a:rPr lang="en-US" dirty="0"/>
            <a:t> shut down its website.</a:t>
          </a:r>
        </a:p>
      </dgm:t>
    </dgm:pt>
    <dgm:pt modelId="{11E8028F-78A4-40FC-8F66-C946DD256DF9}" type="parTrans" cxnId="{F3E04996-3D2A-4FB5-ADE5-3FA46E8E4657}">
      <dgm:prSet/>
      <dgm:spPr/>
      <dgm:t>
        <a:bodyPr/>
        <a:lstStyle/>
        <a:p>
          <a:endParaRPr lang="en-US"/>
        </a:p>
      </dgm:t>
    </dgm:pt>
    <dgm:pt modelId="{8F7AD1E2-88E2-418C-A2FA-ADA27AC8EB0F}" type="sibTrans" cxnId="{F3E04996-3D2A-4FB5-ADE5-3FA46E8E4657}">
      <dgm:prSet/>
      <dgm:spPr/>
      <dgm:t>
        <a:bodyPr/>
        <a:lstStyle/>
        <a:p>
          <a:endParaRPr lang="en-US"/>
        </a:p>
      </dgm:t>
    </dgm:pt>
    <dgm:pt modelId="{78F9622E-2B27-4633-916E-138C4685B8FB}" type="pres">
      <dgm:prSet presAssocID="{5C488D28-D827-40C0-B91D-0DF92F58A03B}" presName="root" presStyleCnt="0">
        <dgm:presLayoutVars>
          <dgm:dir/>
          <dgm:resizeHandles val="exact"/>
        </dgm:presLayoutVars>
      </dgm:prSet>
      <dgm:spPr/>
    </dgm:pt>
    <dgm:pt modelId="{0B733F68-79F8-4B7D-B346-39D7F52D93FD}" type="pres">
      <dgm:prSet presAssocID="{83764DC8-1A5C-4292-8444-924CF818B17D}" presName="compNode" presStyleCnt="0"/>
      <dgm:spPr/>
    </dgm:pt>
    <dgm:pt modelId="{835E3A59-F7B1-4A64-82A9-1978E3D59AC0}" type="pres">
      <dgm:prSet presAssocID="{83764DC8-1A5C-4292-8444-924CF818B17D}" presName="bgRect" presStyleLbl="bgShp" presStyleIdx="0" presStyleCnt="3"/>
      <dgm:spPr/>
    </dgm:pt>
    <dgm:pt modelId="{B194DB7F-271B-43F2-83F6-F30160EA97B2}" type="pres">
      <dgm:prSet presAssocID="{83764DC8-1A5C-4292-8444-924CF818B17D}"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Robber"/>
        </a:ext>
      </dgm:extLst>
    </dgm:pt>
    <dgm:pt modelId="{E798D65E-8887-4506-B537-9E5EFE8936A3}" type="pres">
      <dgm:prSet presAssocID="{83764DC8-1A5C-4292-8444-924CF818B17D}" presName="spaceRect" presStyleCnt="0"/>
      <dgm:spPr/>
    </dgm:pt>
    <dgm:pt modelId="{CBC62237-8981-4571-A388-A1831A0B64A7}" type="pres">
      <dgm:prSet presAssocID="{83764DC8-1A5C-4292-8444-924CF818B17D}" presName="parTx" presStyleLbl="revTx" presStyleIdx="0" presStyleCnt="3">
        <dgm:presLayoutVars>
          <dgm:chMax val="0"/>
          <dgm:chPref val="0"/>
        </dgm:presLayoutVars>
      </dgm:prSet>
      <dgm:spPr/>
    </dgm:pt>
    <dgm:pt modelId="{DB2EDFAC-8684-418D-B1BB-8AEDB91CD49E}" type="pres">
      <dgm:prSet presAssocID="{616B421D-948C-4FD4-926A-F31AE70A9E6F}" presName="sibTrans" presStyleCnt="0"/>
      <dgm:spPr/>
    </dgm:pt>
    <dgm:pt modelId="{38AD08AC-32DF-4522-A30C-DF9B8476C9E2}" type="pres">
      <dgm:prSet presAssocID="{23A7045F-B1BB-4CF3-903C-856FDA4343C2}" presName="compNode" presStyleCnt="0"/>
      <dgm:spPr/>
    </dgm:pt>
    <dgm:pt modelId="{FA83EE92-AD79-429B-83BC-4850349E2BB3}" type="pres">
      <dgm:prSet presAssocID="{23A7045F-B1BB-4CF3-903C-856FDA4343C2}" presName="bgRect" presStyleLbl="bgShp" presStyleIdx="1" presStyleCnt="3"/>
      <dgm:spPr/>
    </dgm:pt>
    <dgm:pt modelId="{21806FF3-65A8-4164-893A-5BE0EC402A30}" type="pres">
      <dgm:prSet presAssocID="{23A7045F-B1BB-4CF3-903C-856FDA4343C2}"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Envelope"/>
        </a:ext>
      </dgm:extLst>
    </dgm:pt>
    <dgm:pt modelId="{164EE55A-7E84-4624-8F03-449AB8E194D0}" type="pres">
      <dgm:prSet presAssocID="{23A7045F-B1BB-4CF3-903C-856FDA4343C2}" presName="spaceRect" presStyleCnt="0"/>
      <dgm:spPr/>
    </dgm:pt>
    <dgm:pt modelId="{F0E7B6AD-FF3E-4549-BE16-BF8434DD94B5}" type="pres">
      <dgm:prSet presAssocID="{23A7045F-B1BB-4CF3-903C-856FDA4343C2}" presName="parTx" presStyleLbl="revTx" presStyleIdx="1" presStyleCnt="3">
        <dgm:presLayoutVars>
          <dgm:chMax val="0"/>
          <dgm:chPref val="0"/>
        </dgm:presLayoutVars>
      </dgm:prSet>
      <dgm:spPr/>
    </dgm:pt>
    <dgm:pt modelId="{EB8D028C-5465-4761-B5FE-2EAD3AE0B16D}" type="pres">
      <dgm:prSet presAssocID="{97032C0B-996C-4EE3-BCB3-2EFDD9FE5D85}" presName="sibTrans" presStyleCnt="0"/>
      <dgm:spPr/>
    </dgm:pt>
    <dgm:pt modelId="{6B2ECE05-4E8A-4A45-9541-B1A0481F589A}" type="pres">
      <dgm:prSet presAssocID="{C99AABAA-1D4D-4D0D-9332-8D565D6AE2FA}" presName="compNode" presStyleCnt="0"/>
      <dgm:spPr/>
    </dgm:pt>
    <dgm:pt modelId="{E954C0BF-5B1A-4757-818C-0821CBFFF51E}" type="pres">
      <dgm:prSet presAssocID="{C99AABAA-1D4D-4D0D-9332-8D565D6AE2FA}" presName="bgRect" presStyleLbl="bgShp" presStyleIdx="2" presStyleCnt="3"/>
      <dgm:spPr/>
    </dgm:pt>
    <dgm:pt modelId="{8B02BBF6-F1D1-4CEA-B066-E2F540B81C55}" type="pres">
      <dgm:prSet presAssocID="{C99AABAA-1D4D-4D0D-9332-8D565D6AE2FA}"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Lock"/>
        </a:ext>
      </dgm:extLst>
    </dgm:pt>
    <dgm:pt modelId="{92E41892-B4AD-4B27-AC2F-2423388C6732}" type="pres">
      <dgm:prSet presAssocID="{C99AABAA-1D4D-4D0D-9332-8D565D6AE2FA}" presName="spaceRect" presStyleCnt="0"/>
      <dgm:spPr/>
    </dgm:pt>
    <dgm:pt modelId="{099483B5-E16A-4471-8CC1-BB52A95F02D9}" type="pres">
      <dgm:prSet presAssocID="{C99AABAA-1D4D-4D0D-9332-8D565D6AE2FA}" presName="parTx" presStyleLbl="revTx" presStyleIdx="2" presStyleCnt="3">
        <dgm:presLayoutVars>
          <dgm:chMax val="0"/>
          <dgm:chPref val="0"/>
        </dgm:presLayoutVars>
      </dgm:prSet>
      <dgm:spPr/>
    </dgm:pt>
  </dgm:ptLst>
  <dgm:cxnLst>
    <dgm:cxn modelId="{D1ABEC5E-A26E-43BC-B0D0-D11B9EED31DB}" srcId="{5C488D28-D827-40C0-B91D-0DF92F58A03B}" destId="{23A7045F-B1BB-4CF3-903C-856FDA4343C2}" srcOrd="1" destOrd="0" parTransId="{C92A768F-6F32-449A-BF22-172EDF48C726}" sibTransId="{97032C0B-996C-4EE3-BCB3-2EFDD9FE5D85}"/>
    <dgm:cxn modelId="{7CFCC44D-54C6-4FBA-81A8-79F3A0706296}" type="presOf" srcId="{C99AABAA-1D4D-4D0D-9332-8D565D6AE2FA}" destId="{099483B5-E16A-4471-8CC1-BB52A95F02D9}" srcOrd="0" destOrd="0" presId="urn:microsoft.com/office/officeart/2018/2/layout/IconVerticalSolidList"/>
    <dgm:cxn modelId="{1998617F-E0AC-4424-8624-BBE4AD3F9109}" type="presOf" srcId="{5C488D28-D827-40C0-B91D-0DF92F58A03B}" destId="{78F9622E-2B27-4633-916E-138C4685B8FB}" srcOrd="0" destOrd="0" presId="urn:microsoft.com/office/officeart/2018/2/layout/IconVerticalSolidList"/>
    <dgm:cxn modelId="{F3E04996-3D2A-4FB5-ADE5-3FA46E8E4657}" srcId="{5C488D28-D827-40C0-B91D-0DF92F58A03B}" destId="{C99AABAA-1D4D-4D0D-9332-8D565D6AE2FA}" srcOrd="2" destOrd="0" parTransId="{11E8028F-78A4-40FC-8F66-C946DD256DF9}" sibTransId="{8F7AD1E2-88E2-418C-A2FA-ADA27AC8EB0F}"/>
    <dgm:cxn modelId="{484A7BB2-7DD5-467F-8AAE-D3AA7BCFD5B5}" type="presOf" srcId="{23A7045F-B1BB-4CF3-903C-856FDA4343C2}" destId="{F0E7B6AD-FF3E-4549-BE16-BF8434DD94B5}" srcOrd="0" destOrd="0" presId="urn:microsoft.com/office/officeart/2018/2/layout/IconVerticalSolidList"/>
    <dgm:cxn modelId="{76D482F1-6106-4F4E-B0EF-BE96A59CB29F}" srcId="{5C488D28-D827-40C0-B91D-0DF92F58A03B}" destId="{83764DC8-1A5C-4292-8444-924CF818B17D}" srcOrd="0" destOrd="0" parTransId="{5C74FE62-28DC-43A6-B267-8664FA3D726E}" sibTransId="{616B421D-948C-4FD4-926A-F31AE70A9E6F}"/>
    <dgm:cxn modelId="{E291B9FB-AE5B-4016-80F3-16F94B70CCB5}" type="presOf" srcId="{83764DC8-1A5C-4292-8444-924CF818B17D}" destId="{CBC62237-8981-4571-A388-A1831A0B64A7}" srcOrd="0" destOrd="0" presId="urn:microsoft.com/office/officeart/2018/2/layout/IconVerticalSolidList"/>
    <dgm:cxn modelId="{6BCBED80-EE6D-470F-9EFE-17D5CF80FC4A}" type="presParOf" srcId="{78F9622E-2B27-4633-916E-138C4685B8FB}" destId="{0B733F68-79F8-4B7D-B346-39D7F52D93FD}" srcOrd="0" destOrd="0" presId="urn:microsoft.com/office/officeart/2018/2/layout/IconVerticalSolidList"/>
    <dgm:cxn modelId="{4E6180E6-91B1-48E0-8E19-0FA6A76CB787}" type="presParOf" srcId="{0B733F68-79F8-4B7D-B346-39D7F52D93FD}" destId="{835E3A59-F7B1-4A64-82A9-1978E3D59AC0}" srcOrd="0" destOrd="0" presId="urn:microsoft.com/office/officeart/2018/2/layout/IconVerticalSolidList"/>
    <dgm:cxn modelId="{E5341CAF-39CA-4AE9-BE92-AAD74F66F327}" type="presParOf" srcId="{0B733F68-79F8-4B7D-B346-39D7F52D93FD}" destId="{B194DB7F-271B-43F2-83F6-F30160EA97B2}" srcOrd="1" destOrd="0" presId="urn:microsoft.com/office/officeart/2018/2/layout/IconVerticalSolidList"/>
    <dgm:cxn modelId="{9C4172F7-B461-43D9-A356-1B39046D5363}" type="presParOf" srcId="{0B733F68-79F8-4B7D-B346-39D7F52D93FD}" destId="{E798D65E-8887-4506-B537-9E5EFE8936A3}" srcOrd="2" destOrd="0" presId="urn:microsoft.com/office/officeart/2018/2/layout/IconVerticalSolidList"/>
    <dgm:cxn modelId="{2F169762-F44A-44E6-8444-89CE9C24DF71}" type="presParOf" srcId="{0B733F68-79F8-4B7D-B346-39D7F52D93FD}" destId="{CBC62237-8981-4571-A388-A1831A0B64A7}" srcOrd="3" destOrd="0" presId="urn:microsoft.com/office/officeart/2018/2/layout/IconVerticalSolidList"/>
    <dgm:cxn modelId="{903AA173-E386-4526-9246-A210B101CBEE}" type="presParOf" srcId="{78F9622E-2B27-4633-916E-138C4685B8FB}" destId="{DB2EDFAC-8684-418D-B1BB-8AEDB91CD49E}" srcOrd="1" destOrd="0" presId="urn:microsoft.com/office/officeart/2018/2/layout/IconVerticalSolidList"/>
    <dgm:cxn modelId="{8AE3078A-AF0A-4B16-8390-8D23578D4D88}" type="presParOf" srcId="{78F9622E-2B27-4633-916E-138C4685B8FB}" destId="{38AD08AC-32DF-4522-A30C-DF9B8476C9E2}" srcOrd="2" destOrd="0" presId="urn:microsoft.com/office/officeart/2018/2/layout/IconVerticalSolidList"/>
    <dgm:cxn modelId="{17059540-3BC2-4C6F-BD84-A7B7B1EBEEBF}" type="presParOf" srcId="{38AD08AC-32DF-4522-A30C-DF9B8476C9E2}" destId="{FA83EE92-AD79-429B-83BC-4850349E2BB3}" srcOrd="0" destOrd="0" presId="urn:microsoft.com/office/officeart/2018/2/layout/IconVerticalSolidList"/>
    <dgm:cxn modelId="{4C890577-0F5A-4739-BFFE-C4EFCE8104D8}" type="presParOf" srcId="{38AD08AC-32DF-4522-A30C-DF9B8476C9E2}" destId="{21806FF3-65A8-4164-893A-5BE0EC402A30}" srcOrd="1" destOrd="0" presId="urn:microsoft.com/office/officeart/2018/2/layout/IconVerticalSolidList"/>
    <dgm:cxn modelId="{919BDE40-84FF-48B2-B9FE-D4826800ADB5}" type="presParOf" srcId="{38AD08AC-32DF-4522-A30C-DF9B8476C9E2}" destId="{164EE55A-7E84-4624-8F03-449AB8E194D0}" srcOrd="2" destOrd="0" presId="urn:microsoft.com/office/officeart/2018/2/layout/IconVerticalSolidList"/>
    <dgm:cxn modelId="{07D635EA-313A-498D-8C2C-E904DAE355E5}" type="presParOf" srcId="{38AD08AC-32DF-4522-A30C-DF9B8476C9E2}" destId="{F0E7B6AD-FF3E-4549-BE16-BF8434DD94B5}" srcOrd="3" destOrd="0" presId="urn:microsoft.com/office/officeart/2018/2/layout/IconVerticalSolidList"/>
    <dgm:cxn modelId="{9D1EEAEC-927F-41C9-8631-A0007CE6B340}" type="presParOf" srcId="{78F9622E-2B27-4633-916E-138C4685B8FB}" destId="{EB8D028C-5465-4761-B5FE-2EAD3AE0B16D}" srcOrd="3" destOrd="0" presId="urn:microsoft.com/office/officeart/2018/2/layout/IconVerticalSolidList"/>
    <dgm:cxn modelId="{9B3ACF70-96BF-4A4C-AB73-0D4A1325F0F9}" type="presParOf" srcId="{78F9622E-2B27-4633-916E-138C4685B8FB}" destId="{6B2ECE05-4E8A-4A45-9541-B1A0481F589A}" srcOrd="4" destOrd="0" presId="urn:microsoft.com/office/officeart/2018/2/layout/IconVerticalSolidList"/>
    <dgm:cxn modelId="{92CEC2A2-3B93-455D-A376-F6A272D2BF75}" type="presParOf" srcId="{6B2ECE05-4E8A-4A45-9541-B1A0481F589A}" destId="{E954C0BF-5B1A-4757-818C-0821CBFFF51E}" srcOrd="0" destOrd="0" presId="urn:microsoft.com/office/officeart/2018/2/layout/IconVerticalSolidList"/>
    <dgm:cxn modelId="{CEBAE68D-D643-40DB-8DDC-C1902B6B847D}" type="presParOf" srcId="{6B2ECE05-4E8A-4A45-9541-B1A0481F589A}" destId="{8B02BBF6-F1D1-4CEA-B066-E2F540B81C55}" srcOrd="1" destOrd="0" presId="urn:microsoft.com/office/officeart/2018/2/layout/IconVerticalSolidList"/>
    <dgm:cxn modelId="{97BF4667-6149-4761-93BC-5DE2B96A6167}" type="presParOf" srcId="{6B2ECE05-4E8A-4A45-9541-B1A0481F589A}" destId="{92E41892-B4AD-4B27-AC2F-2423388C6732}" srcOrd="2" destOrd="0" presId="urn:microsoft.com/office/officeart/2018/2/layout/IconVerticalSolidList"/>
    <dgm:cxn modelId="{FD2C3A64-7F84-40BE-BE6D-0B6AE43C531E}" type="presParOf" srcId="{6B2ECE05-4E8A-4A45-9541-B1A0481F589A}" destId="{099483B5-E16A-4471-8CC1-BB52A95F02D9}"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BC54793-F739-4A87-A1FC-8783A5E09EEB}" type="doc">
      <dgm:prSet loTypeId="urn:microsoft.com/office/officeart/2005/8/layout/process4" loCatId="process" qsTypeId="urn:microsoft.com/office/officeart/2005/8/quickstyle/simple1" qsCatId="simple" csTypeId="urn:microsoft.com/office/officeart/2005/8/colors/colorful2" csCatId="colorful" phldr="1"/>
      <dgm:spPr/>
      <dgm:t>
        <a:bodyPr/>
        <a:lstStyle/>
        <a:p>
          <a:endParaRPr lang="en-US"/>
        </a:p>
      </dgm:t>
    </dgm:pt>
    <dgm:pt modelId="{131B34C4-D8AF-475B-8F2D-8F27351085F0}">
      <dgm:prSet/>
      <dgm:spPr/>
      <dgm:t>
        <a:bodyPr/>
        <a:lstStyle/>
        <a:p>
          <a:r>
            <a:rPr lang="en-US" b="1"/>
            <a:t>Rational Choice Theory:</a:t>
          </a:r>
          <a:endParaRPr lang="en-US"/>
        </a:p>
      </dgm:t>
    </dgm:pt>
    <dgm:pt modelId="{02138A71-895A-4AFA-B94C-D17FB3B231E4}" type="parTrans" cxnId="{77CA33E4-42F2-41D4-A148-63AF2115DF33}">
      <dgm:prSet/>
      <dgm:spPr/>
      <dgm:t>
        <a:bodyPr/>
        <a:lstStyle/>
        <a:p>
          <a:endParaRPr lang="en-US"/>
        </a:p>
      </dgm:t>
    </dgm:pt>
    <dgm:pt modelId="{A6B47E07-05D2-4902-B16F-744CAF992128}" type="sibTrans" cxnId="{77CA33E4-42F2-41D4-A148-63AF2115DF33}">
      <dgm:prSet/>
      <dgm:spPr/>
      <dgm:t>
        <a:bodyPr/>
        <a:lstStyle/>
        <a:p>
          <a:endParaRPr lang="en-US"/>
        </a:p>
      </dgm:t>
    </dgm:pt>
    <dgm:pt modelId="{7E8088D1-0D43-451D-BD0D-12E50F21C6A8}">
      <dgm:prSet/>
      <dgm:spPr/>
      <dgm:t>
        <a:bodyPr/>
        <a:lstStyle/>
        <a:p>
          <a:r>
            <a:rPr lang="en-US" dirty="0"/>
            <a:t>The rational choice theory in criminology dictates that if a crime is profitable and has low risks, an individual could rationalize doing it. </a:t>
          </a:r>
        </a:p>
      </dgm:t>
    </dgm:pt>
    <dgm:pt modelId="{79AFC301-D7F3-4674-88F5-02F32C7D407D}" type="parTrans" cxnId="{AF611038-42E6-447E-937C-2320751265DF}">
      <dgm:prSet/>
      <dgm:spPr/>
      <dgm:t>
        <a:bodyPr/>
        <a:lstStyle/>
        <a:p>
          <a:endParaRPr lang="en-US"/>
        </a:p>
      </dgm:t>
    </dgm:pt>
    <dgm:pt modelId="{B5A96B7E-AFC3-47C3-A9C9-84AF11645C09}" type="sibTrans" cxnId="{AF611038-42E6-447E-937C-2320751265DF}">
      <dgm:prSet/>
      <dgm:spPr/>
      <dgm:t>
        <a:bodyPr/>
        <a:lstStyle/>
        <a:p>
          <a:endParaRPr lang="en-US"/>
        </a:p>
      </dgm:t>
    </dgm:pt>
    <dgm:pt modelId="{2244363D-BC85-4405-A536-52D70B1735D3}">
      <dgm:prSet/>
      <dgm:spPr/>
      <dgm:t>
        <a:bodyPr/>
        <a:lstStyle/>
        <a:p>
          <a:r>
            <a:rPr lang="en-US" dirty="0"/>
            <a:t>This theory is one of the older theories, as it originated in the 18th century through the works of Cesare Beccaria, but is still applicable to modern-day crimes. </a:t>
          </a:r>
        </a:p>
      </dgm:t>
    </dgm:pt>
    <dgm:pt modelId="{0961CAB4-FCA5-41A2-9AD4-310F09E13CBA}" type="parTrans" cxnId="{A3677DCC-4CDD-4EC4-B184-3F914CD00A6E}">
      <dgm:prSet/>
      <dgm:spPr/>
      <dgm:t>
        <a:bodyPr/>
        <a:lstStyle/>
        <a:p>
          <a:endParaRPr lang="en-US"/>
        </a:p>
      </dgm:t>
    </dgm:pt>
    <dgm:pt modelId="{D74B0BF3-CA24-4DC5-8EEB-FCA5E25905BB}" type="sibTrans" cxnId="{A3677DCC-4CDD-4EC4-B184-3F914CD00A6E}">
      <dgm:prSet/>
      <dgm:spPr/>
      <dgm:t>
        <a:bodyPr/>
        <a:lstStyle/>
        <a:p>
          <a:endParaRPr lang="en-US"/>
        </a:p>
      </dgm:t>
    </dgm:pt>
    <dgm:pt modelId="{AA69C697-232F-4C90-A11C-C5847F13AFB2}" type="pres">
      <dgm:prSet presAssocID="{9BC54793-F739-4A87-A1FC-8783A5E09EEB}" presName="Name0" presStyleCnt="0">
        <dgm:presLayoutVars>
          <dgm:dir/>
          <dgm:animLvl val="lvl"/>
          <dgm:resizeHandles val="exact"/>
        </dgm:presLayoutVars>
      </dgm:prSet>
      <dgm:spPr/>
    </dgm:pt>
    <dgm:pt modelId="{A739E4B8-D51B-4F43-937E-D34A8AB47C8D}" type="pres">
      <dgm:prSet presAssocID="{2244363D-BC85-4405-A536-52D70B1735D3}" presName="boxAndChildren" presStyleCnt="0"/>
      <dgm:spPr/>
    </dgm:pt>
    <dgm:pt modelId="{ED3E0BDC-778A-420F-BE2F-ADE4E6738785}" type="pres">
      <dgm:prSet presAssocID="{2244363D-BC85-4405-A536-52D70B1735D3}" presName="parentTextBox" presStyleLbl="node1" presStyleIdx="0" presStyleCnt="3"/>
      <dgm:spPr/>
    </dgm:pt>
    <dgm:pt modelId="{4E9CE1BD-92AA-42D2-8128-56C8840B85CF}" type="pres">
      <dgm:prSet presAssocID="{B5A96B7E-AFC3-47C3-A9C9-84AF11645C09}" presName="sp" presStyleCnt="0"/>
      <dgm:spPr/>
    </dgm:pt>
    <dgm:pt modelId="{A7914D1F-3810-4980-BFF4-4BAA22D0DA4C}" type="pres">
      <dgm:prSet presAssocID="{7E8088D1-0D43-451D-BD0D-12E50F21C6A8}" presName="arrowAndChildren" presStyleCnt="0"/>
      <dgm:spPr/>
    </dgm:pt>
    <dgm:pt modelId="{C43AD06B-B6AE-416B-BFB6-D23E54ED29BA}" type="pres">
      <dgm:prSet presAssocID="{7E8088D1-0D43-451D-BD0D-12E50F21C6A8}" presName="parentTextArrow" presStyleLbl="node1" presStyleIdx="1" presStyleCnt="3"/>
      <dgm:spPr/>
    </dgm:pt>
    <dgm:pt modelId="{E9C1A40C-810A-46A3-BAE5-10F94C92EB42}" type="pres">
      <dgm:prSet presAssocID="{A6B47E07-05D2-4902-B16F-744CAF992128}" presName="sp" presStyleCnt="0"/>
      <dgm:spPr/>
    </dgm:pt>
    <dgm:pt modelId="{3FD2EA7E-2144-4F3F-9DD2-8F34F9BF0410}" type="pres">
      <dgm:prSet presAssocID="{131B34C4-D8AF-475B-8F2D-8F27351085F0}" presName="arrowAndChildren" presStyleCnt="0"/>
      <dgm:spPr/>
    </dgm:pt>
    <dgm:pt modelId="{951D0AFF-666F-4211-B578-A1E60726C45C}" type="pres">
      <dgm:prSet presAssocID="{131B34C4-D8AF-475B-8F2D-8F27351085F0}" presName="parentTextArrow" presStyleLbl="node1" presStyleIdx="2" presStyleCnt="3"/>
      <dgm:spPr/>
    </dgm:pt>
  </dgm:ptLst>
  <dgm:cxnLst>
    <dgm:cxn modelId="{77549E0B-ADCE-4791-9A58-48DAD8CC5A2A}" type="presOf" srcId="{9BC54793-F739-4A87-A1FC-8783A5E09EEB}" destId="{AA69C697-232F-4C90-A11C-C5847F13AFB2}" srcOrd="0" destOrd="0" presId="urn:microsoft.com/office/officeart/2005/8/layout/process4"/>
    <dgm:cxn modelId="{2D639F29-8A05-40F8-AC77-EEB605F9D69B}" type="presOf" srcId="{131B34C4-D8AF-475B-8F2D-8F27351085F0}" destId="{951D0AFF-666F-4211-B578-A1E60726C45C}" srcOrd="0" destOrd="0" presId="urn:microsoft.com/office/officeart/2005/8/layout/process4"/>
    <dgm:cxn modelId="{AF611038-42E6-447E-937C-2320751265DF}" srcId="{9BC54793-F739-4A87-A1FC-8783A5E09EEB}" destId="{7E8088D1-0D43-451D-BD0D-12E50F21C6A8}" srcOrd="1" destOrd="0" parTransId="{79AFC301-D7F3-4674-88F5-02F32C7D407D}" sibTransId="{B5A96B7E-AFC3-47C3-A9C9-84AF11645C09}"/>
    <dgm:cxn modelId="{477BC94E-BBDE-41F9-AB0D-2088D4FA8E72}" type="presOf" srcId="{7E8088D1-0D43-451D-BD0D-12E50F21C6A8}" destId="{C43AD06B-B6AE-416B-BFB6-D23E54ED29BA}" srcOrd="0" destOrd="0" presId="urn:microsoft.com/office/officeart/2005/8/layout/process4"/>
    <dgm:cxn modelId="{A3677DCC-4CDD-4EC4-B184-3F914CD00A6E}" srcId="{9BC54793-F739-4A87-A1FC-8783A5E09EEB}" destId="{2244363D-BC85-4405-A536-52D70B1735D3}" srcOrd="2" destOrd="0" parTransId="{0961CAB4-FCA5-41A2-9AD4-310F09E13CBA}" sibTransId="{D74B0BF3-CA24-4DC5-8EEB-FCA5E25905BB}"/>
    <dgm:cxn modelId="{77CA33E4-42F2-41D4-A148-63AF2115DF33}" srcId="{9BC54793-F739-4A87-A1FC-8783A5E09EEB}" destId="{131B34C4-D8AF-475B-8F2D-8F27351085F0}" srcOrd="0" destOrd="0" parTransId="{02138A71-895A-4AFA-B94C-D17FB3B231E4}" sibTransId="{A6B47E07-05D2-4902-B16F-744CAF992128}"/>
    <dgm:cxn modelId="{3735D3FE-621D-4B07-9C31-CD2D1D6CC48B}" type="presOf" srcId="{2244363D-BC85-4405-A536-52D70B1735D3}" destId="{ED3E0BDC-778A-420F-BE2F-ADE4E6738785}" srcOrd="0" destOrd="0" presId="urn:microsoft.com/office/officeart/2005/8/layout/process4"/>
    <dgm:cxn modelId="{E4346A41-2CEF-48FF-BA8A-257146D35895}" type="presParOf" srcId="{AA69C697-232F-4C90-A11C-C5847F13AFB2}" destId="{A739E4B8-D51B-4F43-937E-D34A8AB47C8D}" srcOrd="0" destOrd="0" presId="urn:microsoft.com/office/officeart/2005/8/layout/process4"/>
    <dgm:cxn modelId="{1ABAADEA-2FC1-4F72-BFCC-7AA49F0B5CD0}" type="presParOf" srcId="{A739E4B8-D51B-4F43-937E-D34A8AB47C8D}" destId="{ED3E0BDC-778A-420F-BE2F-ADE4E6738785}" srcOrd="0" destOrd="0" presId="urn:microsoft.com/office/officeart/2005/8/layout/process4"/>
    <dgm:cxn modelId="{AEA5701E-25B5-4BE5-B3E9-A0C2E0E3E06F}" type="presParOf" srcId="{AA69C697-232F-4C90-A11C-C5847F13AFB2}" destId="{4E9CE1BD-92AA-42D2-8128-56C8840B85CF}" srcOrd="1" destOrd="0" presId="urn:microsoft.com/office/officeart/2005/8/layout/process4"/>
    <dgm:cxn modelId="{57FECF03-EB90-4C88-8C8D-8C6F56B2EA11}" type="presParOf" srcId="{AA69C697-232F-4C90-A11C-C5847F13AFB2}" destId="{A7914D1F-3810-4980-BFF4-4BAA22D0DA4C}" srcOrd="2" destOrd="0" presId="urn:microsoft.com/office/officeart/2005/8/layout/process4"/>
    <dgm:cxn modelId="{2FAB027F-3731-46DF-B6F7-2680E847AF5C}" type="presParOf" srcId="{A7914D1F-3810-4980-BFF4-4BAA22D0DA4C}" destId="{C43AD06B-B6AE-416B-BFB6-D23E54ED29BA}" srcOrd="0" destOrd="0" presId="urn:microsoft.com/office/officeart/2005/8/layout/process4"/>
    <dgm:cxn modelId="{9A29B9C2-F309-45C9-B50D-181D210E3DE1}" type="presParOf" srcId="{AA69C697-232F-4C90-A11C-C5847F13AFB2}" destId="{E9C1A40C-810A-46A3-BAE5-10F94C92EB42}" srcOrd="3" destOrd="0" presId="urn:microsoft.com/office/officeart/2005/8/layout/process4"/>
    <dgm:cxn modelId="{3A8F0381-56E1-4F8B-87E6-A88624057E03}" type="presParOf" srcId="{AA69C697-232F-4C90-A11C-C5847F13AFB2}" destId="{3FD2EA7E-2144-4F3F-9DD2-8F34F9BF0410}" srcOrd="4" destOrd="0" presId="urn:microsoft.com/office/officeart/2005/8/layout/process4"/>
    <dgm:cxn modelId="{F0D6A9FD-B3FB-4B36-9DB2-D533BBD214B5}" type="presParOf" srcId="{3FD2EA7E-2144-4F3F-9DD2-8F34F9BF0410}" destId="{951D0AFF-666F-4211-B578-A1E60726C45C}"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80770C4-F495-41EB-8765-E401CFF871DF}"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669D6B50-9440-4EBE-9E8B-B96C28F36EEC}">
      <dgm:prSet/>
      <dgm:spPr/>
      <dgm:t>
        <a:bodyPr/>
        <a:lstStyle/>
        <a:p>
          <a:pPr>
            <a:lnSpc>
              <a:spcPct val="100000"/>
            </a:lnSpc>
          </a:pPr>
          <a:r>
            <a:rPr lang="en-US"/>
            <a:t>Cybercrimes require no physical contact or confrontation with the involved parties, and an overall lack or lag of regulations around crypto trading has made it lucrative for individuals with criminal intent. </a:t>
          </a:r>
        </a:p>
      </dgm:t>
    </dgm:pt>
    <dgm:pt modelId="{61A76295-4172-45FB-B4F6-31FE22C313C9}" type="parTrans" cxnId="{D186B92F-1E5C-4E67-9603-B2C3CC4F6A19}">
      <dgm:prSet/>
      <dgm:spPr/>
      <dgm:t>
        <a:bodyPr/>
        <a:lstStyle/>
        <a:p>
          <a:endParaRPr lang="en-US"/>
        </a:p>
      </dgm:t>
    </dgm:pt>
    <dgm:pt modelId="{49F23886-D3E8-43C7-98F7-D9CE822B4E8A}" type="sibTrans" cxnId="{D186B92F-1E5C-4E67-9603-B2C3CC4F6A19}">
      <dgm:prSet/>
      <dgm:spPr/>
      <dgm:t>
        <a:bodyPr/>
        <a:lstStyle/>
        <a:p>
          <a:endParaRPr lang="en-US"/>
        </a:p>
      </dgm:t>
    </dgm:pt>
    <dgm:pt modelId="{0ECB9BBB-FC06-49EE-A0B9-35270ABAFC92}">
      <dgm:prSet/>
      <dgm:spPr/>
      <dgm:t>
        <a:bodyPr/>
        <a:lstStyle/>
        <a:p>
          <a:pPr>
            <a:lnSpc>
              <a:spcPct val="100000"/>
            </a:lnSpc>
          </a:pPr>
          <a:r>
            <a:rPr lang="en-US" dirty="0"/>
            <a:t>As long as the crime (fraud or Ponzi scheme, money laundering services) is profitable, it makes more rational sense to use cryptocurrency if the chance of being caught is lower since cryptocurrencies have robust anonymity features</a:t>
          </a:r>
        </a:p>
      </dgm:t>
    </dgm:pt>
    <dgm:pt modelId="{79FDFE82-9BE5-4261-A018-F7FC40092AB6}" type="parTrans" cxnId="{B43A2FC8-0D12-4D8D-947B-3A6595DE66BC}">
      <dgm:prSet/>
      <dgm:spPr/>
      <dgm:t>
        <a:bodyPr/>
        <a:lstStyle/>
        <a:p>
          <a:endParaRPr lang="en-US"/>
        </a:p>
      </dgm:t>
    </dgm:pt>
    <dgm:pt modelId="{F5FA030C-C3A2-47B0-A549-B5825C18D3A1}" type="sibTrans" cxnId="{B43A2FC8-0D12-4D8D-947B-3A6595DE66BC}">
      <dgm:prSet/>
      <dgm:spPr/>
      <dgm:t>
        <a:bodyPr/>
        <a:lstStyle/>
        <a:p>
          <a:endParaRPr lang="en-US"/>
        </a:p>
      </dgm:t>
    </dgm:pt>
    <dgm:pt modelId="{F105B84D-4526-43FA-A196-8D15F47141C8}">
      <dgm:prSet/>
      <dgm:spPr/>
      <dgm:t>
        <a:bodyPr/>
        <a:lstStyle/>
        <a:p>
          <a:pPr>
            <a:lnSpc>
              <a:spcPct val="100000"/>
            </a:lnSpc>
          </a:pPr>
          <a:r>
            <a:rPr lang="en-US" dirty="0"/>
            <a:t>Rational choice, in this case, relies on the perception of the investor, not grounded in objectivity. A cryptocurrency investor with high-risk tolerance and overconfidence is more likely to </a:t>
          </a:r>
          <a:r>
            <a:rPr lang="en-US" dirty="0" err="1"/>
            <a:t>rationalise</a:t>
          </a:r>
          <a:r>
            <a:rPr lang="en-US" dirty="0"/>
            <a:t> engaging in criminal activities with cryptocurrency to </a:t>
          </a:r>
          <a:r>
            <a:rPr lang="en-US" dirty="0" err="1"/>
            <a:t>maximise</a:t>
          </a:r>
          <a:r>
            <a:rPr lang="en-US" dirty="0"/>
            <a:t> their gains.</a:t>
          </a:r>
        </a:p>
      </dgm:t>
    </dgm:pt>
    <dgm:pt modelId="{6FBB0ABA-8E29-4979-81A3-4EC3D718FF2F}" type="parTrans" cxnId="{4AE11471-459E-40AC-B8CC-5DF982439EF5}">
      <dgm:prSet/>
      <dgm:spPr/>
      <dgm:t>
        <a:bodyPr/>
        <a:lstStyle/>
        <a:p>
          <a:endParaRPr lang="en-US"/>
        </a:p>
      </dgm:t>
    </dgm:pt>
    <dgm:pt modelId="{C380FF74-6731-4AA3-B9AF-E073FAE716FD}" type="sibTrans" cxnId="{4AE11471-459E-40AC-B8CC-5DF982439EF5}">
      <dgm:prSet/>
      <dgm:spPr/>
      <dgm:t>
        <a:bodyPr/>
        <a:lstStyle/>
        <a:p>
          <a:endParaRPr lang="en-US"/>
        </a:p>
      </dgm:t>
    </dgm:pt>
    <dgm:pt modelId="{FBB12C6C-625F-4295-9399-C847EA7B4210}" type="pres">
      <dgm:prSet presAssocID="{580770C4-F495-41EB-8765-E401CFF871DF}" presName="root" presStyleCnt="0">
        <dgm:presLayoutVars>
          <dgm:dir/>
          <dgm:resizeHandles val="exact"/>
        </dgm:presLayoutVars>
      </dgm:prSet>
      <dgm:spPr/>
    </dgm:pt>
    <dgm:pt modelId="{2ACB4A1C-F576-4661-B985-33AB3E23E5C8}" type="pres">
      <dgm:prSet presAssocID="{669D6B50-9440-4EBE-9E8B-B96C28F36EEC}" presName="compNode" presStyleCnt="0"/>
      <dgm:spPr/>
    </dgm:pt>
    <dgm:pt modelId="{1243C94A-BC25-4719-9BBB-9261E2CE8FB1}" type="pres">
      <dgm:prSet presAssocID="{669D6B50-9440-4EBE-9E8B-B96C28F36EEC}" presName="bgRect" presStyleLbl="bgShp" presStyleIdx="0" presStyleCnt="3"/>
      <dgm:spPr/>
    </dgm:pt>
    <dgm:pt modelId="{496C6FF3-C1C2-4874-8AE4-7E0E78F19B2B}" type="pres">
      <dgm:prSet presAssocID="{669D6B50-9440-4EBE-9E8B-B96C28F36EE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ank"/>
        </a:ext>
      </dgm:extLst>
    </dgm:pt>
    <dgm:pt modelId="{98D6F734-E70C-4E8B-9B63-68F566FDC072}" type="pres">
      <dgm:prSet presAssocID="{669D6B50-9440-4EBE-9E8B-B96C28F36EEC}" presName="spaceRect" presStyleCnt="0"/>
      <dgm:spPr/>
    </dgm:pt>
    <dgm:pt modelId="{7CB9EC7D-B7C2-42D5-A5B5-15F4A1630ADE}" type="pres">
      <dgm:prSet presAssocID="{669D6B50-9440-4EBE-9E8B-B96C28F36EEC}" presName="parTx" presStyleLbl="revTx" presStyleIdx="0" presStyleCnt="3">
        <dgm:presLayoutVars>
          <dgm:chMax val="0"/>
          <dgm:chPref val="0"/>
        </dgm:presLayoutVars>
      </dgm:prSet>
      <dgm:spPr/>
    </dgm:pt>
    <dgm:pt modelId="{527B960A-8537-43FE-A877-649A0861EAED}" type="pres">
      <dgm:prSet presAssocID="{49F23886-D3E8-43C7-98F7-D9CE822B4E8A}" presName="sibTrans" presStyleCnt="0"/>
      <dgm:spPr/>
    </dgm:pt>
    <dgm:pt modelId="{4C48B352-231A-4450-A7B8-BF3843F2199D}" type="pres">
      <dgm:prSet presAssocID="{0ECB9BBB-FC06-49EE-A0B9-35270ABAFC92}" presName="compNode" presStyleCnt="0"/>
      <dgm:spPr/>
    </dgm:pt>
    <dgm:pt modelId="{A594C9B7-89A3-459C-9739-84A2542D0582}" type="pres">
      <dgm:prSet presAssocID="{0ECB9BBB-FC06-49EE-A0B9-35270ABAFC92}" presName="bgRect" presStyleLbl="bgShp" presStyleIdx="1" presStyleCnt="3"/>
      <dgm:spPr/>
    </dgm:pt>
    <dgm:pt modelId="{E01D37BA-803D-4C80-8A04-0487904F191E}" type="pres">
      <dgm:prSet presAssocID="{0ECB9BBB-FC06-49EE-A0B9-35270ABAFC92}"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Robber"/>
        </a:ext>
      </dgm:extLst>
    </dgm:pt>
    <dgm:pt modelId="{C13DE2DE-3E33-4560-8E7A-47938D14A49B}" type="pres">
      <dgm:prSet presAssocID="{0ECB9BBB-FC06-49EE-A0B9-35270ABAFC92}" presName="spaceRect" presStyleCnt="0"/>
      <dgm:spPr/>
    </dgm:pt>
    <dgm:pt modelId="{BA52012A-24B3-4AAC-9C03-3971B9169232}" type="pres">
      <dgm:prSet presAssocID="{0ECB9BBB-FC06-49EE-A0B9-35270ABAFC92}" presName="parTx" presStyleLbl="revTx" presStyleIdx="1" presStyleCnt="3">
        <dgm:presLayoutVars>
          <dgm:chMax val="0"/>
          <dgm:chPref val="0"/>
        </dgm:presLayoutVars>
      </dgm:prSet>
      <dgm:spPr/>
    </dgm:pt>
    <dgm:pt modelId="{AD629092-F839-4BA4-B2DB-DB6B7BA6FAB6}" type="pres">
      <dgm:prSet presAssocID="{F5FA030C-C3A2-47B0-A549-B5825C18D3A1}" presName="sibTrans" presStyleCnt="0"/>
      <dgm:spPr/>
    </dgm:pt>
    <dgm:pt modelId="{6C0B3DB0-64C8-4B70-B198-BA8E3841EDA9}" type="pres">
      <dgm:prSet presAssocID="{F105B84D-4526-43FA-A196-8D15F47141C8}" presName="compNode" presStyleCnt="0"/>
      <dgm:spPr/>
    </dgm:pt>
    <dgm:pt modelId="{C749DE7C-D233-412B-A935-05EBEBBB9BB6}" type="pres">
      <dgm:prSet presAssocID="{F105B84D-4526-43FA-A196-8D15F47141C8}" presName="bgRect" presStyleLbl="bgShp" presStyleIdx="2" presStyleCnt="3"/>
      <dgm:spPr/>
    </dgm:pt>
    <dgm:pt modelId="{6E0D45AD-55EA-438D-8377-037F23E9DCF7}" type="pres">
      <dgm:prSet presAssocID="{F105B84D-4526-43FA-A196-8D15F47141C8}"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iamond"/>
        </a:ext>
      </dgm:extLst>
    </dgm:pt>
    <dgm:pt modelId="{74E04A7A-2BFB-4FB8-9D26-1E5C4B505F24}" type="pres">
      <dgm:prSet presAssocID="{F105B84D-4526-43FA-A196-8D15F47141C8}" presName="spaceRect" presStyleCnt="0"/>
      <dgm:spPr/>
    </dgm:pt>
    <dgm:pt modelId="{C921EE77-D132-4572-B1D8-C198540ABF40}" type="pres">
      <dgm:prSet presAssocID="{F105B84D-4526-43FA-A196-8D15F47141C8}" presName="parTx" presStyleLbl="revTx" presStyleIdx="2" presStyleCnt="3">
        <dgm:presLayoutVars>
          <dgm:chMax val="0"/>
          <dgm:chPref val="0"/>
        </dgm:presLayoutVars>
      </dgm:prSet>
      <dgm:spPr/>
    </dgm:pt>
  </dgm:ptLst>
  <dgm:cxnLst>
    <dgm:cxn modelId="{D186B92F-1E5C-4E67-9603-B2C3CC4F6A19}" srcId="{580770C4-F495-41EB-8765-E401CFF871DF}" destId="{669D6B50-9440-4EBE-9E8B-B96C28F36EEC}" srcOrd="0" destOrd="0" parTransId="{61A76295-4172-45FB-B4F6-31FE22C313C9}" sibTransId="{49F23886-D3E8-43C7-98F7-D9CE822B4E8A}"/>
    <dgm:cxn modelId="{97E53A48-AA6E-444B-8AED-6070E5556595}" type="presOf" srcId="{669D6B50-9440-4EBE-9E8B-B96C28F36EEC}" destId="{7CB9EC7D-B7C2-42D5-A5B5-15F4A1630ADE}" srcOrd="0" destOrd="0" presId="urn:microsoft.com/office/officeart/2018/2/layout/IconVerticalSolidList"/>
    <dgm:cxn modelId="{4AE11471-459E-40AC-B8CC-5DF982439EF5}" srcId="{580770C4-F495-41EB-8765-E401CFF871DF}" destId="{F105B84D-4526-43FA-A196-8D15F47141C8}" srcOrd="2" destOrd="0" parTransId="{6FBB0ABA-8E29-4979-81A3-4EC3D718FF2F}" sibTransId="{C380FF74-6731-4AA3-B9AF-E073FAE716FD}"/>
    <dgm:cxn modelId="{075C3F93-D1BC-4BD5-AC74-FCD4E5196B6C}" type="presOf" srcId="{F105B84D-4526-43FA-A196-8D15F47141C8}" destId="{C921EE77-D132-4572-B1D8-C198540ABF40}" srcOrd="0" destOrd="0" presId="urn:microsoft.com/office/officeart/2018/2/layout/IconVerticalSolidList"/>
    <dgm:cxn modelId="{D511EE98-85D3-43F2-B672-CB1013A9C429}" type="presOf" srcId="{580770C4-F495-41EB-8765-E401CFF871DF}" destId="{FBB12C6C-625F-4295-9399-C847EA7B4210}" srcOrd="0" destOrd="0" presId="urn:microsoft.com/office/officeart/2018/2/layout/IconVerticalSolidList"/>
    <dgm:cxn modelId="{053E199B-5801-4DBE-871A-671D2A2A06F0}" type="presOf" srcId="{0ECB9BBB-FC06-49EE-A0B9-35270ABAFC92}" destId="{BA52012A-24B3-4AAC-9C03-3971B9169232}" srcOrd="0" destOrd="0" presId="urn:microsoft.com/office/officeart/2018/2/layout/IconVerticalSolidList"/>
    <dgm:cxn modelId="{B43A2FC8-0D12-4D8D-947B-3A6595DE66BC}" srcId="{580770C4-F495-41EB-8765-E401CFF871DF}" destId="{0ECB9BBB-FC06-49EE-A0B9-35270ABAFC92}" srcOrd="1" destOrd="0" parTransId="{79FDFE82-9BE5-4261-A018-F7FC40092AB6}" sibTransId="{F5FA030C-C3A2-47B0-A549-B5825C18D3A1}"/>
    <dgm:cxn modelId="{9CE437AC-65AD-4638-B883-10F00B801D0F}" type="presParOf" srcId="{FBB12C6C-625F-4295-9399-C847EA7B4210}" destId="{2ACB4A1C-F576-4661-B985-33AB3E23E5C8}" srcOrd="0" destOrd="0" presId="urn:microsoft.com/office/officeart/2018/2/layout/IconVerticalSolidList"/>
    <dgm:cxn modelId="{5B327118-79E4-4632-8AD8-DAD99724E147}" type="presParOf" srcId="{2ACB4A1C-F576-4661-B985-33AB3E23E5C8}" destId="{1243C94A-BC25-4719-9BBB-9261E2CE8FB1}" srcOrd="0" destOrd="0" presId="urn:microsoft.com/office/officeart/2018/2/layout/IconVerticalSolidList"/>
    <dgm:cxn modelId="{9715B4DD-C207-49CB-98D9-E73D1ED8FB55}" type="presParOf" srcId="{2ACB4A1C-F576-4661-B985-33AB3E23E5C8}" destId="{496C6FF3-C1C2-4874-8AE4-7E0E78F19B2B}" srcOrd="1" destOrd="0" presId="urn:microsoft.com/office/officeart/2018/2/layout/IconVerticalSolidList"/>
    <dgm:cxn modelId="{7703661D-B5C3-4CB3-9A8A-0D8721DBAEC4}" type="presParOf" srcId="{2ACB4A1C-F576-4661-B985-33AB3E23E5C8}" destId="{98D6F734-E70C-4E8B-9B63-68F566FDC072}" srcOrd="2" destOrd="0" presId="urn:microsoft.com/office/officeart/2018/2/layout/IconVerticalSolidList"/>
    <dgm:cxn modelId="{D01B26BC-B00D-4E00-8ADA-74E44BBEBF5C}" type="presParOf" srcId="{2ACB4A1C-F576-4661-B985-33AB3E23E5C8}" destId="{7CB9EC7D-B7C2-42D5-A5B5-15F4A1630ADE}" srcOrd="3" destOrd="0" presId="urn:microsoft.com/office/officeart/2018/2/layout/IconVerticalSolidList"/>
    <dgm:cxn modelId="{46D35B0F-0BAE-4651-B29D-8D407D2742AA}" type="presParOf" srcId="{FBB12C6C-625F-4295-9399-C847EA7B4210}" destId="{527B960A-8537-43FE-A877-649A0861EAED}" srcOrd="1" destOrd="0" presId="urn:microsoft.com/office/officeart/2018/2/layout/IconVerticalSolidList"/>
    <dgm:cxn modelId="{7C9F618A-9080-46B8-892F-2105786D0291}" type="presParOf" srcId="{FBB12C6C-625F-4295-9399-C847EA7B4210}" destId="{4C48B352-231A-4450-A7B8-BF3843F2199D}" srcOrd="2" destOrd="0" presId="urn:microsoft.com/office/officeart/2018/2/layout/IconVerticalSolidList"/>
    <dgm:cxn modelId="{1A931362-404F-4106-887F-996C820C3A63}" type="presParOf" srcId="{4C48B352-231A-4450-A7B8-BF3843F2199D}" destId="{A594C9B7-89A3-459C-9739-84A2542D0582}" srcOrd="0" destOrd="0" presId="urn:microsoft.com/office/officeart/2018/2/layout/IconVerticalSolidList"/>
    <dgm:cxn modelId="{A6A58B5C-8E87-487A-94AA-E9212C35F212}" type="presParOf" srcId="{4C48B352-231A-4450-A7B8-BF3843F2199D}" destId="{E01D37BA-803D-4C80-8A04-0487904F191E}" srcOrd="1" destOrd="0" presId="urn:microsoft.com/office/officeart/2018/2/layout/IconVerticalSolidList"/>
    <dgm:cxn modelId="{654FAFD6-4F77-4F14-8735-C7688655F73F}" type="presParOf" srcId="{4C48B352-231A-4450-A7B8-BF3843F2199D}" destId="{C13DE2DE-3E33-4560-8E7A-47938D14A49B}" srcOrd="2" destOrd="0" presId="urn:microsoft.com/office/officeart/2018/2/layout/IconVerticalSolidList"/>
    <dgm:cxn modelId="{D95E0B19-6E5F-4B1B-949C-AF5BF2AB634E}" type="presParOf" srcId="{4C48B352-231A-4450-A7B8-BF3843F2199D}" destId="{BA52012A-24B3-4AAC-9C03-3971B9169232}" srcOrd="3" destOrd="0" presId="urn:microsoft.com/office/officeart/2018/2/layout/IconVerticalSolidList"/>
    <dgm:cxn modelId="{F4DE3137-E8A1-4BC6-8B8A-863D78BABF08}" type="presParOf" srcId="{FBB12C6C-625F-4295-9399-C847EA7B4210}" destId="{AD629092-F839-4BA4-B2DB-DB6B7BA6FAB6}" srcOrd="3" destOrd="0" presId="urn:microsoft.com/office/officeart/2018/2/layout/IconVerticalSolidList"/>
    <dgm:cxn modelId="{33C66960-81A9-4C23-B117-3C9478E673EA}" type="presParOf" srcId="{FBB12C6C-625F-4295-9399-C847EA7B4210}" destId="{6C0B3DB0-64C8-4B70-B198-BA8E3841EDA9}" srcOrd="4" destOrd="0" presId="urn:microsoft.com/office/officeart/2018/2/layout/IconVerticalSolidList"/>
    <dgm:cxn modelId="{2068F078-4209-4F75-9D37-EB0E036FD134}" type="presParOf" srcId="{6C0B3DB0-64C8-4B70-B198-BA8E3841EDA9}" destId="{C749DE7C-D233-412B-A935-05EBEBBB9BB6}" srcOrd="0" destOrd="0" presId="urn:microsoft.com/office/officeart/2018/2/layout/IconVerticalSolidList"/>
    <dgm:cxn modelId="{33C615C4-2D9E-4F56-98D5-A627E9676F24}" type="presParOf" srcId="{6C0B3DB0-64C8-4B70-B198-BA8E3841EDA9}" destId="{6E0D45AD-55EA-438D-8377-037F23E9DCF7}" srcOrd="1" destOrd="0" presId="urn:microsoft.com/office/officeart/2018/2/layout/IconVerticalSolidList"/>
    <dgm:cxn modelId="{99B31ED6-6D73-4C38-87A2-2ADA7E773255}" type="presParOf" srcId="{6C0B3DB0-64C8-4B70-B198-BA8E3841EDA9}" destId="{74E04A7A-2BFB-4FB8-9D26-1E5C4B505F24}" srcOrd="2" destOrd="0" presId="urn:microsoft.com/office/officeart/2018/2/layout/IconVerticalSolidList"/>
    <dgm:cxn modelId="{A68667D8-83BA-40BA-9456-1A34B727BEDA}" type="presParOf" srcId="{6C0B3DB0-64C8-4B70-B198-BA8E3841EDA9}" destId="{C921EE77-D132-4572-B1D8-C198540ABF4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56A792D-484B-4B59-B1C4-8D6D755E8DBB}" type="doc">
      <dgm:prSet loTypeId="urn:microsoft.com/office/officeart/2008/layout/LinedList" loCatId="list" qsTypeId="urn:microsoft.com/office/officeart/2005/8/quickstyle/simple1" qsCatId="simple" csTypeId="urn:microsoft.com/office/officeart/2005/8/colors/colorful1" csCatId="colorful"/>
      <dgm:spPr/>
      <dgm:t>
        <a:bodyPr/>
        <a:lstStyle/>
        <a:p>
          <a:endParaRPr lang="en-US"/>
        </a:p>
      </dgm:t>
    </dgm:pt>
    <dgm:pt modelId="{26FDDA1B-5AAD-475F-8563-A39788189695}">
      <dgm:prSet/>
      <dgm:spPr/>
      <dgm:t>
        <a:bodyPr/>
        <a:lstStyle/>
        <a:p>
          <a:r>
            <a:rPr lang="en-US"/>
            <a:t>The convenience theory of white-collar crimes put forward by Gottschalk explains that convenience in three dimensions works to enable white-collar crime:</a:t>
          </a:r>
        </a:p>
      </dgm:t>
    </dgm:pt>
    <dgm:pt modelId="{5C36B57D-D3A1-45F6-8C2E-DE172AB59914}" type="parTrans" cxnId="{9021B61C-A357-4D9C-AA33-499EC36C69C1}">
      <dgm:prSet/>
      <dgm:spPr/>
      <dgm:t>
        <a:bodyPr/>
        <a:lstStyle/>
        <a:p>
          <a:endParaRPr lang="en-US"/>
        </a:p>
      </dgm:t>
    </dgm:pt>
    <dgm:pt modelId="{88DAB933-E7D2-450E-AB17-A99C7E869A9E}" type="sibTrans" cxnId="{9021B61C-A357-4D9C-AA33-499EC36C69C1}">
      <dgm:prSet/>
      <dgm:spPr/>
      <dgm:t>
        <a:bodyPr/>
        <a:lstStyle/>
        <a:p>
          <a:endParaRPr lang="en-US"/>
        </a:p>
      </dgm:t>
    </dgm:pt>
    <dgm:pt modelId="{85777C51-A0EE-4375-9A3A-19E2A86A87CB}">
      <dgm:prSet/>
      <dgm:spPr/>
      <dgm:t>
        <a:bodyPr/>
        <a:lstStyle/>
        <a:p>
          <a:r>
            <a:rPr lang="en-US" b="1"/>
            <a:t>The economic dimension</a:t>
          </a:r>
          <a:r>
            <a:rPr lang="en-US"/>
            <a:t>: Which is the desire to profit financially from committing the crime </a:t>
          </a:r>
        </a:p>
      </dgm:t>
    </dgm:pt>
    <dgm:pt modelId="{5C116946-0675-454C-BA30-22D661DBDFBC}" type="parTrans" cxnId="{E4E1CBB1-D139-4E1A-B7F9-37332AEB7A42}">
      <dgm:prSet/>
      <dgm:spPr/>
      <dgm:t>
        <a:bodyPr/>
        <a:lstStyle/>
        <a:p>
          <a:endParaRPr lang="en-US"/>
        </a:p>
      </dgm:t>
    </dgm:pt>
    <dgm:pt modelId="{A59FB282-3DE8-4E0E-AD03-FB68BF9FACA0}" type="sibTrans" cxnId="{E4E1CBB1-D139-4E1A-B7F9-37332AEB7A42}">
      <dgm:prSet/>
      <dgm:spPr/>
      <dgm:t>
        <a:bodyPr/>
        <a:lstStyle/>
        <a:p>
          <a:endParaRPr lang="en-US"/>
        </a:p>
      </dgm:t>
    </dgm:pt>
    <dgm:pt modelId="{FBFFCDA7-3B5D-4474-A6BE-2940C66D4D89}">
      <dgm:prSet/>
      <dgm:spPr/>
      <dgm:t>
        <a:bodyPr/>
        <a:lstStyle/>
        <a:p>
          <a:r>
            <a:rPr lang="en-US" b="1"/>
            <a:t>The organizational dimension: </a:t>
          </a:r>
          <a:r>
            <a:rPr lang="en-US"/>
            <a:t>Where criminals have strategic positions in the organization or the hierarchy, gives them more access to resources and more control to commit these crimes. For example, pump and dump scams</a:t>
          </a:r>
        </a:p>
      </dgm:t>
    </dgm:pt>
    <dgm:pt modelId="{1144106D-DB79-4CBB-A892-14B0373F6397}" type="parTrans" cxnId="{AD835787-8BA6-48DC-934F-EACDA0A1B309}">
      <dgm:prSet/>
      <dgm:spPr/>
      <dgm:t>
        <a:bodyPr/>
        <a:lstStyle/>
        <a:p>
          <a:endParaRPr lang="en-US"/>
        </a:p>
      </dgm:t>
    </dgm:pt>
    <dgm:pt modelId="{1809A250-4106-48B0-8F25-301701BABA5E}" type="sibTrans" cxnId="{AD835787-8BA6-48DC-934F-EACDA0A1B309}">
      <dgm:prSet/>
      <dgm:spPr/>
      <dgm:t>
        <a:bodyPr/>
        <a:lstStyle/>
        <a:p>
          <a:endParaRPr lang="en-US"/>
        </a:p>
      </dgm:t>
    </dgm:pt>
    <dgm:pt modelId="{5CDE706E-E325-4755-A7FB-EA62A5F367CF}">
      <dgm:prSet/>
      <dgm:spPr/>
      <dgm:t>
        <a:bodyPr/>
        <a:lstStyle/>
        <a:p>
          <a:r>
            <a:rPr lang="en-US" b="1"/>
            <a:t>The behavioral dimension</a:t>
          </a:r>
          <a:r>
            <a:rPr lang="en-US"/>
            <a:t>: Criminals can easily justify their actions and rationalize crimes so that they are not guilty about committing them. </a:t>
          </a:r>
        </a:p>
      </dgm:t>
    </dgm:pt>
    <dgm:pt modelId="{31EB7229-D08D-4210-AB5C-63D02BFE2D9E}" type="parTrans" cxnId="{A8424F64-D776-4487-8341-3E4C103238D7}">
      <dgm:prSet/>
      <dgm:spPr/>
      <dgm:t>
        <a:bodyPr/>
        <a:lstStyle/>
        <a:p>
          <a:endParaRPr lang="en-US"/>
        </a:p>
      </dgm:t>
    </dgm:pt>
    <dgm:pt modelId="{03FC1774-1536-42C5-B91A-C6439FE67226}" type="sibTrans" cxnId="{A8424F64-D776-4487-8341-3E4C103238D7}">
      <dgm:prSet/>
      <dgm:spPr/>
      <dgm:t>
        <a:bodyPr/>
        <a:lstStyle/>
        <a:p>
          <a:endParaRPr lang="en-US"/>
        </a:p>
      </dgm:t>
    </dgm:pt>
    <dgm:pt modelId="{DC6447AA-1408-47A6-9B92-23B0A850274D}" type="pres">
      <dgm:prSet presAssocID="{E56A792D-484B-4B59-B1C4-8D6D755E8DBB}" presName="vert0" presStyleCnt="0">
        <dgm:presLayoutVars>
          <dgm:dir/>
          <dgm:animOne val="branch"/>
          <dgm:animLvl val="lvl"/>
        </dgm:presLayoutVars>
      </dgm:prSet>
      <dgm:spPr/>
    </dgm:pt>
    <dgm:pt modelId="{FCF10E5B-8CCF-4BB8-B001-E0105E444C43}" type="pres">
      <dgm:prSet presAssocID="{26FDDA1B-5AAD-475F-8563-A39788189695}" presName="thickLine" presStyleLbl="alignNode1" presStyleIdx="0" presStyleCnt="4"/>
      <dgm:spPr/>
    </dgm:pt>
    <dgm:pt modelId="{94B6DC55-BE7D-4A5F-8BF1-B8E2F70261EE}" type="pres">
      <dgm:prSet presAssocID="{26FDDA1B-5AAD-475F-8563-A39788189695}" presName="horz1" presStyleCnt="0"/>
      <dgm:spPr/>
    </dgm:pt>
    <dgm:pt modelId="{BCEB9680-0E49-4D87-AD29-24FEAEA55230}" type="pres">
      <dgm:prSet presAssocID="{26FDDA1B-5AAD-475F-8563-A39788189695}" presName="tx1" presStyleLbl="revTx" presStyleIdx="0" presStyleCnt="4"/>
      <dgm:spPr/>
    </dgm:pt>
    <dgm:pt modelId="{84803FF6-5692-4B54-B8A1-574CB6EB7FAC}" type="pres">
      <dgm:prSet presAssocID="{26FDDA1B-5AAD-475F-8563-A39788189695}" presName="vert1" presStyleCnt="0"/>
      <dgm:spPr/>
    </dgm:pt>
    <dgm:pt modelId="{51EA7787-35E3-4514-AC3C-CF350698393B}" type="pres">
      <dgm:prSet presAssocID="{85777C51-A0EE-4375-9A3A-19E2A86A87CB}" presName="thickLine" presStyleLbl="alignNode1" presStyleIdx="1" presStyleCnt="4"/>
      <dgm:spPr/>
    </dgm:pt>
    <dgm:pt modelId="{943755EE-2F67-4B93-8ED6-41395F77294B}" type="pres">
      <dgm:prSet presAssocID="{85777C51-A0EE-4375-9A3A-19E2A86A87CB}" presName="horz1" presStyleCnt="0"/>
      <dgm:spPr/>
    </dgm:pt>
    <dgm:pt modelId="{98C521FC-4072-4BF9-BABD-3DBF8FAE275E}" type="pres">
      <dgm:prSet presAssocID="{85777C51-A0EE-4375-9A3A-19E2A86A87CB}" presName="tx1" presStyleLbl="revTx" presStyleIdx="1" presStyleCnt="4"/>
      <dgm:spPr/>
    </dgm:pt>
    <dgm:pt modelId="{38EA3EB7-51E5-4D07-A05B-4CD36B9A383E}" type="pres">
      <dgm:prSet presAssocID="{85777C51-A0EE-4375-9A3A-19E2A86A87CB}" presName="vert1" presStyleCnt="0"/>
      <dgm:spPr/>
    </dgm:pt>
    <dgm:pt modelId="{B34CA998-730D-488A-A9E0-665BDEA88421}" type="pres">
      <dgm:prSet presAssocID="{FBFFCDA7-3B5D-4474-A6BE-2940C66D4D89}" presName="thickLine" presStyleLbl="alignNode1" presStyleIdx="2" presStyleCnt="4"/>
      <dgm:spPr/>
    </dgm:pt>
    <dgm:pt modelId="{5C34113D-4F25-4DB0-B34E-BD2B0658A158}" type="pres">
      <dgm:prSet presAssocID="{FBFFCDA7-3B5D-4474-A6BE-2940C66D4D89}" presName="horz1" presStyleCnt="0"/>
      <dgm:spPr/>
    </dgm:pt>
    <dgm:pt modelId="{D532143A-EE64-4882-A3AA-02C5C3EE722C}" type="pres">
      <dgm:prSet presAssocID="{FBFFCDA7-3B5D-4474-A6BE-2940C66D4D89}" presName="tx1" presStyleLbl="revTx" presStyleIdx="2" presStyleCnt="4"/>
      <dgm:spPr/>
    </dgm:pt>
    <dgm:pt modelId="{30B5ADF9-B24A-4EC5-8C4B-7E498F256C40}" type="pres">
      <dgm:prSet presAssocID="{FBFFCDA7-3B5D-4474-A6BE-2940C66D4D89}" presName="vert1" presStyleCnt="0"/>
      <dgm:spPr/>
    </dgm:pt>
    <dgm:pt modelId="{90551E29-774D-4B80-BFA7-B4E2C683B955}" type="pres">
      <dgm:prSet presAssocID="{5CDE706E-E325-4755-A7FB-EA62A5F367CF}" presName="thickLine" presStyleLbl="alignNode1" presStyleIdx="3" presStyleCnt="4"/>
      <dgm:spPr/>
    </dgm:pt>
    <dgm:pt modelId="{2906CA21-EF86-4E0F-BF52-45C656CFC683}" type="pres">
      <dgm:prSet presAssocID="{5CDE706E-E325-4755-A7FB-EA62A5F367CF}" presName="horz1" presStyleCnt="0"/>
      <dgm:spPr/>
    </dgm:pt>
    <dgm:pt modelId="{A95836A9-3567-4F6E-8538-D1877735904E}" type="pres">
      <dgm:prSet presAssocID="{5CDE706E-E325-4755-A7FB-EA62A5F367CF}" presName="tx1" presStyleLbl="revTx" presStyleIdx="3" presStyleCnt="4"/>
      <dgm:spPr/>
    </dgm:pt>
    <dgm:pt modelId="{5FA193B4-FDFB-4D91-BD34-59831610F60C}" type="pres">
      <dgm:prSet presAssocID="{5CDE706E-E325-4755-A7FB-EA62A5F367CF}" presName="vert1" presStyleCnt="0"/>
      <dgm:spPr/>
    </dgm:pt>
  </dgm:ptLst>
  <dgm:cxnLst>
    <dgm:cxn modelId="{9021B61C-A357-4D9C-AA33-499EC36C69C1}" srcId="{E56A792D-484B-4B59-B1C4-8D6D755E8DBB}" destId="{26FDDA1B-5AAD-475F-8563-A39788189695}" srcOrd="0" destOrd="0" parTransId="{5C36B57D-D3A1-45F6-8C2E-DE172AB59914}" sibTransId="{88DAB933-E7D2-450E-AB17-A99C7E869A9E}"/>
    <dgm:cxn modelId="{9B25993D-F659-4627-BD0E-10D2D2BDB869}" type="presOf" srcId="{E56A792D-484B-4B59-B1C4-8D6D755E8DBB}" destId="{DC6447AA-1408-47A6-9B92-23B0A850274D}" srcOrd="0" destOrd="0" presId="urn:microsoft.com/office/officeart/2008/layout/LinedList"/>
    <dgm:cxn modelId="{A8424F64-D776-4487-8341-3E4C103238D7}" srcId="{E56A792D-484B-4B59-B1C4-8D6D755E8DBB}" destId="{5CDE706E-E325-4755-A7FB-EA62A5F367CF}" srcOrd="3" destOrd="0" parTransId="{31EB7229-D08D-4210-AB5C-63D02BFE2D9E}" sibTransId="{03FC1774-1536-42C5-B91A-C6439FE67226}"/>
    <dgm:cxn modelId="{AD835787-8BA6-48DC-934F-EACDA0A1B309}" srcId="{E56A792D-484B-4B59-B1C4-8D6D755E8DBB}" destId="{FBFFCDA7-3B5D-4474-A6BE-2940C66D4D89}" srcOrd="2" destOrd="0" parTransId="{1144106D-DB79-4CBB-A892-14B0373F6397}" sibTransId="{1809A250-4106-48B0-8F25-301701BABA5E}"/>
    <dgm:cxn modelId="{65DC5E8E-DB54-4F28-83A1-003206C0286A}" type="presOf" srcId="{FBFFCDA7-3B5D-4474-A6BE-2940C66D4D89}" destId="{D532143A-EE64-4882-A3AA-02C5C3EE722C}" srcOrd="0" destOrd="0" presId="urn:microsoft.com/office/officeart/2008/layout/LinedList"/>
    <dgm:cxn modelId="{E4E1CBB1-D139-4E1A-B7F9-37332AEB7A42}" srcId="{E56A792D-484B-4B59-B1C4-8D6D755E8DBB}" destId="{85777C51-A0EE-4375-9A3A-19E2A86A87CB}" srcOrd="1" destOrd="0" parTransId="{5C116946-0675-454C-BA30-22D661DBDFBC}" sibTransId="{A59FB282-3DE8-4E0E-AD03-FB68BF9FACA0}"/>
    <dgm:cxn modelId="{DFC5D5C4-3836-41D6-9791-F2036DC492F1}" type="presOf" srcId="{26FDDA1B-5AAD-475F-8563-A39788189695}" destId="{BCEB9680-0E49-4D87-AD29-24FEAEA55230}" srcOrd="0" destOrd="0" presId="urn:microsoft.com/office/officeart/2008/layout/LinedList"/>
    <dgm:cxn modelId="{6FE4E0C8-DF70-4ADC-826E-0E5C9FD10194}" type="presOf" srcId="{5CDE706E-E325-4755-A7FB-EA62A5F367CF}" destId="{A95836A9-3567-4F6E-8538-D1877735904E}" srcOrd="0" destOrd="0" presId="urn:microsoft.com/office/officeart/2008/layout/LinedList"/>
    <dgm:cxn modelId="{C74056FA-DCDB-4621-B8D2-F9E79357E9B6}" type="presOf" srcId="{85777C51-A0EE-4375-9A3A-19E2A86A87CB}" destId="{98C521FC-4072-4BF9-BABD-3DBF8FAE275E}" srcOrd="0" destOrd="0" presId="urn:microsoft.com/office/officeart/2008/layout/LinedList"/>
    <dgm:cxn modelId="{80C45DBB-1D2D-4CE4-91A3-FA0FDA4771F5}" type="presParOf" srcId="{DC6447AA-1408-47A6-9B92-23B0A850274D}" destId="{FCF10E5B-8CCF-4BB8-B001-E0105E444C43}" srcOrd="0" destOrd="0" presId="urn:microsoft.com/office/officeart/2008/layout/LinedList"/>
    <dgm:cxn modelId="{30511C49-D710-492C-9C1E-9774E816DAAD}" type="presParOf" srcId="{DC6447AA-1408-47A6-9B92-23B0A850274D}" destId="{94B6DC55-BE7D-4A5F-8BF1-B8E2F70261EE}" srcOrd="1" destOrd="0" presId="urn:microsoft.com/office/officeart/2008/layout/LinedList"/>
    <dgm:cxn modelId="{908BA176-8D5E-4201-9D3A-75C6FD3F0DD2}" type="presParOf" srcId="{94B6DC55-BE7D-4A5F-8BF1-B8E2F70261EE}" destId="{BCEB9680-0E49-4D87-AD29-24FEAEA55230}" srcOrd="0" destOrd="0" presId="urn:microsoft.com/office/officeart/2008/layout/LinedList"/>
    <dgm:cxn modelId="{2F2275C4-0246-4805-B2F8-65AF6590059E}" type="presParOf" srcId="{94B6DC55-BE7D-4A5F-8BF1-B8E2F70261EE}" destId="{84803FF6-5692-4B54-B8A1-574CB6EB7FAC}" srcOrd="1" destOrd="0" presId="urn:microsoft.com/office/officeart/2008/layout/LinedList"/>
    <dgm:cxn modelId="{A1A38578-8D09-41DD-9666-C6270014DA27}" type="presParOf" srcId="{DC6447AA-1408-47A6-9B92-23B0A850274D}" destId="{51EA7787-35E3-4514-AC3C-CF350698393B}" srcOrd="2" destOrd="0" presId="urn:microsoft.com/office/officeart/2008/layout/LinedList"/>
    <dgm:cxn modelId="{55461D80-4DB8-4203-A480-F2645747D0C0}" type="presParOf" srcId="{DC6447AA-1408-47A6-9B92-23B0A850274D}" destId="{943755EE-2F67-4B93-8ED6-41395F77294B}" srcOrd="3" destOrd="0" presId="urn:microsoft.com/office/officeart/2008/layout/LinedList"/>
    <dgm:cxn modelId="{365AD66E-05D0-4036-8F1D-E78F1C00DF19}" type="presParOf" srcId="{943755EE-2F67-4B93-8ED6-41395F77294B}" destId="{98C521FC-4072-4BF9-BABD-3DBF8FAE275E}" srcOrd="0" destOrd="0" presId="urn:microsoft.com/office/officeart/2008/layout/LinedList"/>
    <dgm:cxn modelId="{C1A514B7-FF70-4B2F-AE7E-5FDA379D10E5}" type="presParOf" srcId="{943755EE-2F67-4B93-8ED6-41395F77294B}" destId="{38EA3EB7-51E5-4D07-A05B-4CD36B9A383E}" srcOrd="1" destOrd="0" presId="urn:microsoft.com/office/officeart/2008/layout/LinedList"/>
    <dgm:cxn modelId="{162AE5EB-5E26-4E57-9FB5-632BB8A60A68}" type="presParOf" srcId="{DC6447AA-1408-47A6-9B92-23B0A850274D}" destId="{B34CA998-730D-488A-A9E0-665BDEA88421}" srcOrd="4" destOrd="0" presId="urn:microsoft.com/office/officeart/2008/layout/LinedList"/>
    <dgm:cxn modelId="{8F40187B-6A76-4169-9E28-F9A7DDB926B7}" type="presParOf" srcId="{DC6447AA-1408-47A6-9B92-23B0A850274D}" destId="{5C34113D-4F25-4DB0-B34E-BD2B0658A158}" srcOrd="5" destOrd="0" presId="urn:microsoft.com/office/officeart/2008/layout/LinedList"/>
    <dgm:cxn modelId="{EFCDE656-871C-41F3-8CE8-00306C15E145}" type="presParOf" srcId="{5C34113D-4F25-4DB0-B34E-BD2B0658A158}" destId="{D532143A-EE64-4882-A3AA-02C5C3EE722C}" srcOrd="0" destOrd="0" presId="urn:microsoft.com/office/officeart/2008/layout/LinedList"/>
    <dgm:cxn modelId="{DB0413B0-1B98-40DF-ACC1-C3D806B18AF3}" type="presParOf" srcId="{5C34113D-4F25-4DB0-B34E-BD2B0658A158}" destId="{30B5ADF9-B24A-4EC5-8C4B-7E498F256C40}" srcOrd="1" destOrd="0" presId="urn:microsoft.com/office/officeart/2008/layout/LinedList"/>
    <dgm:cxn modelId="{B27CB77D-F6F8-4915-8309-07951B4E0638}" type="presParOf" srcId="{DC6447AA-1408-47A6-9B92-23B0A850274D}" destId="{90551E29-774D-4B80-BFA7-B4E2C683B955}" srcOrd="6" destOrd="0" presId="urn:microsoft.com/office/officeart/2008/layout/LinedList"/>
    <dgm:cxn modelId="{4ED6F18C-CE66-4B2E-B5CE-CB780ABB7735}" type="presParOf" srcId="{DC6447AA-1408-47A6-9B92-23B0A850274D}" destId="{2906CA21-EF86-4E0F-BF52-45C656CFC683}" srcOrd="7" destOrd="0" presId="urn:microsoft.com/office/officeart/2008/layout/LinedList"/>
    <dgm:cxn modelId="{D5B91BA6-F9F4-4E53-AAC2-EE6A08EA41FD}" type="presParOf" srcId="{2906CA21-EF86-4E0F-BF52-45C656CFC683}" destId="{A95836A9-3567-4F6E-8538-D1877735904E}" srcOrd="0" destOrd="0" presId="urn:microsoft.com/office/officeart/2008/layout/LinedList"/>
    <dgm:cxn modelId="{2768DA56-FAB7-41B2-B24A-9BA596C5A516}" type="presParOf" srcId="{2906CA21-EF86-4E0F-BF52-45C656CFC683}" destId="{5FA193B4-FDFB-4D91-BD34-59831610F60C}"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C85E23B-B546-42D4-82CE-B834D8627EE7}"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9442431D-E3D6-4754-91C5-7DAD5942EA62}">
      <dgm:prSet/>
      <dgm:spPr/>
      <dgm:t>
        <a:bodyPr/>
        <a:lstStyle/>
        <a:p>
          <a:r>
            <a:rPr lang="en-US" dirty="0"/>
            <a:t>According to social learning theory, individuals can engage in crime or cybercrime by witnessing the behavior or actions of others. </a:t>
          </a:r>
        </a:p>
      </dgm:t>
    </dgm:pt>
    <dgm:pt modelId="{4653ECAA-821B-4821-8705-B9F4489E2393}" type="parTrans" cxnId="{ACAF3437-B130-4008-85BF-16A3D211696D}">
      <dgm:prSet/>
      <dgm:spPr/>
      <dgm:t>
        <a:bodyPr/>
        <a:lstStyle/>
        <a:p>
          <a:endParaRPr lang="en-US"/>
        </a:p>
      </dgm:t>
    </dgm:pt>
    <dgm:pt modelId="{D9CAC2A9-9716-4D7A-B7B5-B36B8B88EA6A}" type="sibTrans" cxnId="{ACAF3437-B130-4008-85BF-16A3D211696D}">
      <dgm:prSet/>
      <dgm:spPr/>
      <dgm:t>
        <a:bodyPr/>
        <a:lstStyle/>
        <a:p>
          <a:endParaRPr lang="en-US"/>
        </a:p>
      </dgm:t>
    </dgm:pt>
    <dgm:pt modelId="{7AF5F9AE-FCEE-45D6-8FBA-31156C45EB7B}">
      <dgm:prSet/>
      <dgm:spPr/>
      <dgm:t>
        <a:bodyPr/>
        <a:lstStyle/>
        <a:p>
          <a:r>
            <a:rPr lang="en-US" dirty="0"/>
            <a:t>The activities of the crypto trader communities give the impression that market abuse and losing investments in a flash are normalized, and the responsibility falls to the individual to look out for themselves in a trade</a:t>
          </a:r>
        </a:p>
      </dgm:t>
    </dgm:pt>
    <dgm:pt modelId="{0CBF9D6B-3909-41BC-8589-E1800A179A8E}" type="parTrans" cxnId="{FAEA6D9E-C55E-49D4-A721-F2D735421AEB}">
      <dgm:prSet/>
      <dgm:spPr/>
      <dgm:t>
        <a:bodyPr/>
        <a:lstStyle/>
        <a:p>
          <a:endParaRPr lang="en-US"/>
        </a:p>
      </dgm:t>
    </dgm:pt>
    <dgm:pt modelId="{68A9FD04-C91A-4D70-B8FA-3122F05CA613}" type="sibTrans" cxnId="{FAEA6D9E-C55E-49D4-A721-F2D735421AEB}">
      <dgm:prSet/>
      <dgm:spPr/>
      <dgm:t>
        <a:bodyPr/>
        <a:lstStyle/>
        <a:p>
          <a:endParaRPr lang="en-US"/>
        </a:p>
      </dgm:t>
    </dgm:pt>
    <dgm:pt modelId="{6607B402-1ADD-4E13-8FA0-2AF8D4FC8178}">
      <dgm:prSet/>
      <dgm:spPr/>
      <dgm:t>
        <a:bodyPr/>
        <a:lstStyle/>
        <a:p>
          <a:r>
            <a:rPr lang="en-US" dirty="0"/>
            <a:t>It is easy for newcomers who could be followers of a similar individual responsibility and profit by any means mindset to mimic the </a:t>
          </a:r>
          <a:r>
            <a:rPr lang="en-US" dirty="0" err="1"/>
            <a:t>behaviours</a:t>
          </a:r>
          <a:r>
            <a:rPr lang="en-US" dirty="0"/>
            <a:t> of others and participate in scams and other crimes, whether knowingly or unknowingly. </a:t>
          </a:r>
        </a:p>
      </dgm:t>
    </dgm:pt>
    <dgm:pt modelId="{13004137-6650-4D60-BA0E-FB7094C6F919}" type="parTrans" cxnId="{F44FFDD3-27C0-4649-BDA3-D48373E5C1E5}">
      <dgm:prSet/>
      <dgm:spPr/>
      <dgm:t>
        <a:bodyPr/>
        <a:lstStyle/>
        <a:p>
          <a:endParaRPr lang="en-US"/>
        </a:p>
      </dgm:t>
    </dgm:pt>
    <dgm:pt modelId="{AD177FDB-F34B-4D2B-8E69-3DE07277D497}" type="sibTrans" cxnId="{F44FFDD3-27C0-4649-BDA3-D48373E5C1E5}">
      <dgm:prSet/>
      <dgm:spPr/>
      <dgm:t>
        <a:bodyPr/>
        <a:lstStyle/>
        <a:p>
          <a:endParaRPr lang="en-US"/>
        </a:p>
      </dgm:t>
    </dgm:pt>
    <dgm:pt modelId="{69F012C5-C117-43A1-B3B5-6307A89E0F14}" type="pres">
      <dgm:prSet presAssocID="{1C85E23B-B546-42D4-82CE-B834D8627EE7}" presName="vert0" presStyleCnt="0">
        <dgm:presLayoutVars>
          <dgm:dir/>
          <dgm:animOne val="branch"/>
          <dgm:animLvl val="lvl"/>
        </dgm:presLayoutVars>
      </dgm:prSet>
      <dgm:spPr/>
    </dgm:pt>
    <dgm:pt modelId="{1EDE4058-20AD-4E27-9760-D69968A38AF3}" type="pres">
      <dgm:prSet presAssocID="{9442431D-E3D6-4754-91C5-7DAD5942EA62}" presName="thickLine" presStyleLbl="alignNode1" presStyleIdx="0" presStyleCnt="3"/>
      <dgm:spPr/>
    </dgm:pt>
    <dgm:pt modelId="{FF70DCAD-EA21-4345-8FC1-E0A55EDF0D7C}" type="pres">
      <dgm:prSet presAssocID="{9442431D-E3D6-4754-91C5-7DAD5942EA62}" presName="horz1" presStyleCnt="0"/>
      <dgm:spPr/>
    </dgm:pt>
    <dgm:pt modelId="{5EC16AD1-273C-4B9B-A4F3-9EA155DB8F9E}" type="pres">
      <dgm:prSet presAssocID="{9442431D-E3D6-4754-91C5-7DAD5942EA62}" presName="tx1" presStyleLbl="revTx" presStyleIdx="0" presStyleCnt="3"/>
      <dgm:spPr/>
    </dgm:pt>
    <dgm:pt modelId="{E6FA594C-9C21-4B67-AC9A-516D3C511C11}" type="pres">
      <dgm:prSet presAssocID="{9442431D-E3D6-4754-91C5-7DAD5942EA62}" presName="vert1" presStyleCnt="0"/>
      <dgm:spPr/>
    </dgm:pt>
    <dgm:pt modelId="{898AF4FC-C204-4472-996D-CC9EB44B6B16}" type="pres">
      <dgm:prSet presAssocID="{7AF5F9AE-FCEE-45D6-8FBA-31156C45EB7B}" presName="thickLine" presStyleLbl="alignNode1" presStyleIdx="1" presStyleCnt="3"/>
      <dgm:spPr/>
    </dgm:pt>
    <dgm:pt modelId="{159DCE73-E9C4-4B80-B130-B699AF3FD2B0}" type="pres">
      <dgm:prSet presAssocID="{7AF5F9AE-FCEE-45D6-8FBA-31156C45EB7B}" presName="horz1" presStyleCnt="0"/>
      <dgm:spPr/>
    </dgm:pt>
    <dgm:pt modelId="{EC0AC577-2663-49CA-A849-132E632E48D3}" type="pres">
      <dgm:prSet presAssocID="{7AF5F9AE-FCEE-45D6-8FBA-31156C45EB7B}" presName="tx1" presStyleLbl="revTx" presStyleIdx="1" presStyleCnt="3"/>
      <dgm:spPr/>
    </dgm:pt>
    <dgm:pt modelId="{FD16D936-63E0-41D4-82F0-A95A53631733}" type="pres">
      <dgm:prSet presAssocID="{7AF5F9AE-FCEE-45D6-8FBA-31156C45EB7B}" presName="vert1" presStyleCnt="0"/>
      <dgm:spPr/>
    </dgm:pt>
    <dgm:pt modelId="{108D4A24-90C0-440E-9ECF-8003078EEDD9}" type="pres">
      <dgm:prSet presAssocID="{6607B402-1ADD-4E13-8FA0-2AF8D4FC8178}" presName="thickLine" presStyleLbl="alignNode1" presStyleIdx="2" presStyleCnt="3"/>
      <dgm:spPr/>
    </dgm:pt>
    <dgm:pt modelId="{B2DDE389-ED3B-490C-B809-CEBCADCC1A37}" type="pres">
      <dgm:prSet presAssocID="{6607B402-1ADD-4E13-8FA0-2AF8D4FC8178}" presName="horz1" presStyleCnt="0"/>
      <dgm:spPr/>
    </dgm:pt>
    <dgm:pt modelId="{1EBCB6BC-3856-47D2-9845-5447A7EF0D70}" type="pres">
      <dgm:prSet presAssocID="{6607B402-1ADD-4E13-8FA0-2AF8D4FC8178}" presName="tx1" presStyleLbl="revTx" presStyleIdx="2" presStyleCnt="3"/>
      <dgm:spPr/>
    </dgm:pt>
    <dgm:pt modelId="{83CAF8D2-EB69-448C-9A3D-EB5E91481150}" type="pres">
      <dgm:prSet presAssocID="{6607B402-1ADD-4E13-8FA0-2AF8D4FC8178}" presName="vert1" presStyleCnt="0"/>
      <dgm:spPr/>
    </dgm:pt>
  </dgm:ptLst>
  <dgm:cxnLst>
    <dgm:cxn modelId="{0C8E6102-6D1E-4A48-9372-2B4D0AB09645}" type="presOf" srcId="{9442431D-E3D6-4754-91C5-7DAD5942EA62}" destId="{5EC16AD1-273C-4B9B-A4F3-9EA155DB8F9E}" srcOrd="0" destOrd="0" presId="urn:microsoft.com/office/officeart/2008/layout/LinedList"/>
    <dgm:cxn modelId="{09FC2C15-4ED3-49A8-83D4-E95B42961082}" type="presOf" srcId="{6607B402-1ADD-4E13-8FA0-2AF8D4FC8178}" destId="{1EBCB6BC-3856-47D2-9845-5447A7EF0D70}" srcOrd="0" destOrd="0" presId="urn:microsoft.com/office/officeart/2008/layout/LinedList"/>
    <dgm:cxn modelId="{FD064D1A-FBD5-472F-BD92-4D68E0642E04}" type="presOf" srcId="{7AF5F9AE-FCEE-45D6-8FBA-31156C45EB7B}" destId="{EC0AC577-2663-49CA-A849-132E632E48D3}" srcOrd="0" destOrd="0" presId="urn:microsoft.com/office/officeart/2008/layout/LinedList"/>
    <dgm:cxn modelId="{ACAF3437-B130-4008-85BF-16A3D211696D}" srcId="{1C85E23B-B546-42D4-82CE-B834D8627EE7}" destId="{9442431D-E3D6-4754-91C5-7DAD5942EA62}" srcOrd="0" destOrd="0" parTransId="{4653ECAA-821B-4821-8705-B9F4489E2393}" sibTransId="{D9CAC2A9-9716-4D7A-B7B5-B36B8B88EA6A}"/>
    <dgm:cxn modelId="{FAEA6D9E-C55E-49D4-A721-F2D735421AEB}" srcId="{1C85E23B-B546-42D4-82CE-B834D8627EE7}" destId="{7AF5F9AE-FCEE-45D6-8FBA-31156C45EB7B}" srcOrd="1" destOrd="0" parTransId="{0CBF9D6B-3909-41BC-8589-E1800A179A8E}" sibTransId="{68A9FD04-C91A-4D70-B8FA-3122F05CA613}"/>
    <dgm:cxn modelId="{F44FFDD3-27C0-4649-BDA3-D48373E5C1E5}" srcId="{1C85E23B-B546-42D4-82CE-B834D8627EE7}" destId="{6607B402-1ADD-4E13-8FA0-2AF8D4FC8178}" srcOrd="2" destOrd="0" parTransId="{13004137-6650-4D60-BA0E-FB7094C6F919}" sibTransId="{AD177FDB-F34B-4D2B-8E69-3DE07277D497}"/>
    <dgm:cxn modelId="{BC4C91DF-2B58-4683-9733-7FBDC359A103}" type="presOf" srcId="{1C85E23B-B546-42D4-82CE-B834D8627EE7}" destId="{69F012C5-C117-43A1-B3B5-6307A89E0F14}" srcOrd="0" destOrd="0" presId="urn:microsoft.com/office/officeart/2008/layout/LinedList"/>
    <dgm:cxn modelId="{9F82106E-36EA-4E92-8F9C-FC1728FC6E42}" type="presParOf" srcId="{69F012C5-C117-43A1-B3B5-6307A89E0F14}" destId="{1EDE4058-20AD-4E27-9760-D69968A38AF3}" srcOrd="0" destOrd="0" presId="urn:microsoft.com/office/officeart/2008/layout/LinedList"/>
    <dgm:cxn modelId="{F44E923A-E471-4B32-B2F9-E265F7662F20}" type="presParOf" srcId="{69F012C5-C117-43A1-B3B5-6307A89E0F14}" destId="{FF70DCAD-EA21-4345-8FC1-E0A55EDF0D7C}" srcOrd="1" destOrd="0" presId="urn:microsoft.com/office/officeart/2008/layout/LinedList"/>
    <dgm:cxn modelId="{09E92623-84A7-45F5-B40A-E63795717081}" type="presParOf" srcId="{FF70DCAD-EA21-4345-8FC1-E0A55EDF0D7C}" destId="{5EC16AD1-273C-4B9B-A4F3-9EA155DB8F9E}" srcOrd="0" destOrd="0" presId="urn:microsoft.com/office/officeart/2008/layout/LinedList"/>
    <dgm:cxn modelId="{0C507660-ADD2-4EC8-B93C-1B79C2A4A325}" type="presParOf" srcId="{FF70DCAD-EA21-4345-8FC1-E0A55EDF0D7C}" destId="{E6FA594C-9C21-4B67-AC9A-516D3C511C11}" srcOrd="1" destOrd="0" presId="urn:microsoft.com/office/officeart/2008/layout/LinedList"/>
    <dgm:cxn modelId="{5AA5EF8E-16C9-45E7-828D-E8B7D93368F2}" type="presParOf" srcId="{69F012C5-C117-43A1-B3B5-6307A89E0F14}" destId="{898AF4FC-C204-4472-996D-CC9EB44B6B16}" srcOrd="2" destOrd="0" presId="urn:microsoft.com/office/officeart/2008/layout/LinedList"/>
    <dgm:cxn modelId="{2622E2DD-9CD0-4191-84B9-66C4C1EB5C40}" type="presParOf" srcId="{69F012C5-C117-43A1-B3B5-6307A89E0F14}" destId="{159DCE73-E9C4-4B80-B130-B699AF3FD2B0}" srcOrd="3" destOrd="0" presId="urn:microsoft.com/office/officeart/2008/layout/LinedList"/>
    <dgm:cxn modelId="{B1AD3C9F-5E51-4296-A558-E79615CCEA01}" type="presParOf" srcId="{159DCE73-E9C4-4B80-B130-B699AF3FD2B0}" destId="{EC0AC577-2663-49CA-A849-132E632E48D3}" srcOrd="0" destOrd="0" presId="urn:microsoft.com/office/officeart/2008/layout/LinedList"/>
    <dgm:cxn modelId="{15446B7D-822A-4E20-893D-A6C3CD5A71C2}" type="presParOf" srcId="{159DCE73-E9C4-4B80-B130-B699AF3FD2B0}" destId="{FD16D936-63E0-41D4-82F0-A95A53631733}" srcOrd="1" destOrd="0" presId="urn:microsoft.com/office/officeart/2008/layout/LinedList"/>
    <dgm:cxn modelId="{3D1CAA14-0D67-4C89-8F95-49DF59DF83EA}" type="presParOf" srcId="{69F012C5-C117-43A1-B3B5-6307A89E0F14}" destId="{108D4A24-90C0-440E-9ECF-8003078EEDD9}" srcOrd="4" destOrd="0" presId="urn:microsoft.com/office/officeart/2008/layout/LinedList"/>
    <dgm:cxn modelId="{8DB983FD-2F18-4678-A562-6B4E44F10BD1}" type="presParOf" srcId="{69F012C5-C117-43A1-B3B5-6307A89E0F14}" destId="{B2DDE389-ED3B-490C-B809-CEBCADCC1A37}" srcOrd="5" destOrd="0" presId="urn:microsoft.com/office/officeart/2008/layout/LinedList"/>
    <dgm:cxn modelId="{2C281797-A1FD-4EF8-8290-CE94F6CEF321}" type="presParOf" srcId="{B2DDE389-ED3B-490C-B809-CEBCADCC1A37}" destId="{1EBCB6BC-3856-47D2-9845-5447A7EF0D70}" srcOrd="0" destOrd="0" presId="urn:microsoft.com/office/officeart/2008/layout/LinedList"/>
    <dgm:cxn modelId="{B3B2A6F6-4E88-499C-9E7F-3D75863415A1}" type="presParOf" srcId="{B2DDE389-ED3B-490C-B809-CEBCADCC1A37}" destId="{83CAF8D2-EB69-448C-9A3D-EB5E91481150}"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1DFCFB-CF57-412B-B068-6985C85FD700}">
      <dsp:nvSpPr>
        <dsp:cNvPr id="0" name=""/>
        <dsp:cNvSpPr/>
      </dsp:nvSpPr>
      <dsp:spPr>
        <a:xfrm>
          <a:off x="0" y="217346"/>
          <a:ext cx="6207841" cy="2043222"/>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dirty="0"/>
            <a:t>Saha et al (2024) compiled a list of ten cryptocurrency-based financial crimes.</a:t>
          </a:r>
        </a:p>
      </dsp:txBody>
      <dsp:txXfrm>
        <a:off x="99742" y="317088"/>
        <a:ext cx="6008357" cy="1843738"/>
      </dsp:txXfrm>
    </dsp:sp>
    <dsp:sp modelId="{6232C0BD-55BD-45C8-9168-5226CCB9B355}">
      <dsp:nvSpPr>
        <dsp:cNvPr id="0" name=""/>
        <dsp:cNvSpPr/>
      </dsp:nvSpPr>
      <dsp:spPr>
        <a:xfrm>
          <a:off x="0" y="2344088"/>
          <a:ext cx="6207841" cy="2043222"/>
        </a:xfrm>
        <a:prstGeom prst="roundRect">
          <a:avLst/>
        </a:prstGeom>
        <a:solidFill>
          <a:schemeClr val="accent2">
            <a:hueOff val="-1477413"/>
            <a:satOff val="-615"/>
            <a:lumOff val="666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dirty="0"/>
            <a:t>They believe that cryptocurrency’s anonymous transactions make it an attractive method for illegal activity</a:t>
          </a:r>
        </a:p>
      </dsp:txBody>
      <dsp:txXfrm>
        <a:off x="99742" y="2443830"/>
        <a:ext cx="6008357" cy="184373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5E3A59-F7B1-4A64-82A9-1978E3D59AC0}">
      <dsp:nvSpPr>
        <dsp:cNvPr id="0" name=""/>
        <dsp:cNvSpPr/>
      </dsp:nvSpPr>
      <dsp:spPr>
        <a:xfrm>
          <a:off x="0" y="2342"/>
          <a:ext cx="9922764" cy="106224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194DB7F-271B-43F2-83F6-F30160EA97B2}">
      <dsp:nvSpPr>
        <dsp:cNvPr id="0" name=""/>
        <dsp:cNvSpPr/>
      </dsp:nvSpPr>
      <dsp:spPr>
        <a:xfrm>
          <a:off x="321328" y="241347"/>
          <a:ext cx="584805" cy="58423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BC62237-8981-4571-A388-A1831A0B64A7}">
      <dsp:nvSpPr>
        <dsp:cNvPr id="0" name=""/>
        <dsp:cNvSpPr/>
      </dsp:nvSpPr>
      <dsp:spPr>
        <a:xfrm>
          <a:off x="1227462" y="2342"/>
          <a:ext cx="8676397" cy="10954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5934" tIns="115934" rIns="115934" bIns="115934" numCol="1" spcCol="1270" anchor="ctr" anchorCtr="0">
          <a:noAutofit/>
        </a:bodyPr>
        <a:lstStyle/>
        <a:p>
          <a:pPr marL="0" lvl="0" indent="0" algn="l" defTabSz="622300">
            <a:lnSpc>
              <a:spcPct val="100000"/>
            </a:lnSpc>
            <a:spcBef>
              <a:spcPct val="0"/>
            </a:spcBef>
            <a:spcAft>
              <a:spcPct val="35000"/>
            </a:spcAft>
            <a:buNone/>
          </a:pPr>
          <a:r>
            <a:rPr lang="en-US" sz="1400" b="1" kern="1200" dirty="0"/>
            <a:t>Ransomware: </a:t>
          </a:r>
          <a:r>
            <a:rPr lang="en-US" sz="1400" kern="1200" dirty="0"/>
            <a:t>Ransomware is a kind of malware designed to attack an individual or organization’s system or computer to take control of that system and deny access to the owner. Hackers threaten to disclose private information or destroy valuable data until victims fulfill ransom demands, usually in digital currency</a:t>
          </a:r>
        </a:p>
      </dsp:txBody>
      <dsp:txXfrm>
        <a:off x="1227462" y="2342"/>
        <a:ext cx="8676397" cy="1095439"/>
      </dsp:txXfrm>
    </dsp:sp>
    <dsp:sp modelId="{FA83EE92-AD79-429B-83BC-4850349E2BB3}">
      <dsp:nvSpPr>
        <dsp:cNvPr id="0" name=""/>
        <dsp:cNvSpPr/>
      </dsp:nvSpPr>
      <dsp:spPr>
        <a:xfrm>
          <a:off x="0" y="1371641"/>
          <a:ext cx="9922764" cy="106224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1806FF3-65A8-4164-893A-5BE0EC402A30}">
      <dsp:nvSpPr>
        <dsp:cNvPr id="0" name=""/>
        <dsp:cNvSpPr/>
      </dsp:nvSpPr>
      <dsp:spPr>
        <a:xfrm>
          <a:off x="321328" y="1610646"/>
          <a:ext cx="584805" cy="58423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0E7B6AD-FF3E-4549-BE16-BF8434DD94B5}">
      <dsp:nvSpPr>
        <dsp:cNvPr id="0" name=""/>
        <dsp:cNvSpPr/>
      </dsp:nvSpPr>
      <dsp:spPr>
        <a:xfrm>
          <a:off x="1227462" y="1371641"/>
          <a:ext cx="8676397" cy="10954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5934" tIns="115934" rIns="115934" bIns="115934" numCol="1" spcCol="1270" anchor="ctr" anchorCtr="0">
          <a:noAutofit/>
        </a:bodyPr>
        <a:lstStyle/>
        <a:p>
          <a:pPr marL="0" lvl="0" indent="0" algn="l" defTabSz="622300">
            <a:lnSpc>
              <a:spcPct val="100000"/>
            </a:lnSpc>
            <a:spcBef>
              <a:spcPct val="0"/>
            </a:spcBef>
            <a:spcAft>
              <a:spcPct val="35000"/>
            </a:spcAft>
            <a:buNone/>
          </a:pPr>
          <a:r>
            <a:rPr lang="en-US" sz="1400" b="1" kern="1200" dirty="0"/>
            <a:t>Phishing: </a:t>
          </a:r>
          <a:r>
            <a:rPr lang="en-US" sz="1400" kern="1200" dirty="0"/>
            <a:t>Scammers create fake websites, links, emails, or social media accounts that closely resemble the official version and, therefore, are difficult to differentiate. The fraudsters use various methods to distribute these false gateways. They use malware, social media marketing, and search engines to replace the original gateways.</a:t>
          </a:r>
        </a:p>
      </dsp:txBody>
      <dsp:txXfrm>
        <a:off x="1227462" y="1371641"/>
        <a:ext cx="8676397" cy="1095439"/>
      </dsp:txXfrm>
    </dsp:sp>
    <dsp:sp modelId="{E954C0BF-5B1A-4757-818C-0821CBFFF51E}">
      <dsp:nvSpPr>
        <dsp:cNvPr id="0" name=""/>
        <dsp:cNvSpPr/>
      </dsp:nvSpPr>
      <dsp:spPr>
        <a:xfrm>
          <a:off x="0" y="2740940"/>
          <a:ext cx="9922764" cy="106224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B02BBF6-F1D1-4CEA-B066-E2F540B81C55}">
      <dsp:nvSpPr>
        <dsp:cNvPr id="0" name=""/>
        <dsp:cNvSpPr/>
      </dsp:nvSpPr>
      <dsp:spPr>
        <a:xfrm>
          <a:off x="321328" y="2979945"/>
          <a:ext cx="584805" cy="58423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99483B5-E16A-4471-8CC1-BB52A95F02D9}">
      <dsp:nvSpPr>
        <dsp:cNvPr id="0" name=""/>
        <dsp:cNvSpPr/>
      </dsp:nvSpPr>
      <dsp:spPr>
        <a:xfrm>
          <a:off x="1227462" y="2740940"/>
          <a:ext cx="8676397" cy="10954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5934" tIns="115934" rIns="115934" bIns="115934" numCol="1" spcCol="1270" anchor="ctr" anchorCtr="0">
          <a:noAutofit/>
        </a:bodyPr>
        <a:lstStyle/>
        <a:p>
          <a:pPr marL="0" lvl="0" indent="0" algn="l" defTabSz="622300">
            <a:lnSpc>
              <a:spcPct val="100000"/>
            </a:lnSpc>
            <a:spcBef>
              <a:spcPct val="0"/>
            </a:spcBef>
            <a:spcAft>
              <a:spcPct val="35000"/>
            </a:spcAft>
            <a:buNone/>
          </a:pPr>
          <a:r>
            <a:rPr lang="en-US" sz="1400" kern="1200" dirty="0"/>
            <a:t>Phishing is common during ICOs. In 2017, when </a:t>
          </a:r>
          <a:r>
            <a:rPr lang="en-US" sz="1400" kern="1200" dirty="0" err="1"/>
            <a:t>CoinDash</a:t>
          </a:r>
          <a:r>
            <a:rPr lang="en-US" sz="1400" kern="1200" dirty="0"/>
            <a:t> started its public ICO phase, attackers changed official wallet addresses and collected 43,000 ETH in seven minutes until </a:t>
          </a:r>
          <a:r>
            <a:rPr lang="en-US" sz="1400" kern="1200" dirty="0" err="1"/>
            <a:t>CoinDash</a:t>
          </a:r>
          <a:r>
            <a:rPr lang="en-US" sz="1400" kern="1200" dirty="0"/>
            <a:t> shut down its website.</a:t>
          </a:r>
        </a:p>
      </dsp:txBody>
      <dsp:txXfrm>
        <a:off x="1227462" y="2740940"/>
        <a:ext cx="8676397" cy="109543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3E0BDC-778A-420F-BE2F-ADE4E6738785}">
      <dsp:nvSpPr>
        <dsp:cNvPr id="0" name=""/>
        <dsp:cNvSpPr/>
      </dsp:nvSpPr>
      <dsp:spPr>
        <a:xfrm>
          <a:off x="0" y="4301982"/>
          <a:ext cx="6096000" cy="1412006"/>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dirty="0"/>
            <a:t>This theory is one of the older theories, as it originated in the 18th century through the works of Cesare Beccaria, but is still applicable to modern-day crimes. </a:t>
          </a:r>
        </a:p>
      </dsp:txBody>
      <dsp:txXfrm>
        <a:off x="0" y="4301982"/>
        <a:ext cx="6096000" cy="1412006"/>
      </dsp:txXfrm>
    </dsp:sp>
    <dsp:sp modelId="{C43AD06B-B6AE-416B-BFB6-D23E54ED29BA}">
      <dsp:nvSpPr>
        <dsp:cNvPr id="0" name=""/>
        <dsp:cNvSpPr/>
      </dsp:nvSpPr>
      <dsp:spPr>
        <a:xfrm rot="10800000">
          <a:off x="0" y="2151496"/>
          <a:ext cx="6096000" cy="2171666"/>
        </a:xfrm>
        <a:prstGeom prst="upArrowCallout">
          <a:avLst/>
        </a:prstGeom>
        <a:solidFill>
          <a:schemeClr val="accent2">
            <a:hueOff val="-738707"/>
            <a:satOff val="-308"/>
            <a:lumOff val="333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dirty="0"/>
            <a:t>The rational choice theory in criminology dictates that if a crime is profitable and has low risks, an individual could rationalize doing it. </a:t>
          </a:r>
        </a:p>
      </dsp:txBody>
      <dsp:txXfrm rot="10800000">
        <a:off x="0" y="2151496"/>
        <a:ext cx="6096000" cy="1411083"/>
      </dsp:txXfrm>
    </dsp:sp>
    <dsp:sp modelId="{951D0AFF-666F-4211-B578-A1E60726C45C}">
      <dsp:nvSpPr>
        <dsp:cNvPr id="0" name=""/>
        <dsp:cNvSpPr/>
      </dsp:nvSpPr>
      <dsp:spPr>
        <a:xfrm rot="10800000">
          <a:off x="0" y="1010"/>
          <a:ext cx="6096000" cy="2171666"/>
        </a:xfrm>
        <a:prstGeom prst="upArrowCallout">
          <a:avLst/>
        </a:prstGeom>
        <a:solidFill>
          <a:schemeClr val="accent2">
            <a:hueOff val="-1477413"/>
            <a:satOff val="-615"/>
            <a:lumOff val="666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b="1" kern="1200"/>
            <a:t>Rational Choice Theory:</a:t>
          </a:r>
          <a:endParaRPr lang="en-US" sz="2000" kern="1200"/>
        </a:p>
      </dsp:txBody>
      <dsp:txXfrm rot="10800000">
        <a:off x="0" y="1010"/>
        <a:ext cx="6096000" cy="141108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43C94A-BC25-4719-9BBB-9261E2CE8FB1}">
      <dsp:nvSpPr>
        <dsp:cNvPr id="0" name=""/>
        <dsp:cNvSpPr/>
      </dsp:nvSpPr>
      <dsp:spPr>
        <a:xfrm>
          <a:off x="0" y="468"/>
          <a:ext cx="9922764" cy="109650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96C6FF3-C1C2-4874-8AE4-7E0E78F19B2B}">
      <dsp:nvSpPr>
        <dsp:cNvPr id="0" name=""/>
        <dsp:cNvSpPr/>
      </dsp:nvSpPr>
      <dsp:spPr>
        <a:xfrm>
          <a:off x="331694" y="247183"/>
          <a:ext cx="603080" cy="60308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CB9EC7D-B7C2-42D5-A5B5-15F4A1630ADE}">
      <dsp:nvSpPr>
        <dsp:cNvPr id="0" name=""/>
        <dsp:cNvSpPr/>
      </dsp:nvSpPr>
      <dsp:spPr>
        <a:xfrm>
          <a:off x="1266468" y="468"/>
          <a:ext cx="8656295" cy="10965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047" tIns="116047" rIns="116047" bIns="116047" numCol="1" spcCol="1270" anchor="ctr" anchorCtr="0">
          <a:noAutofit/>
        </a:bodyPr>
        <a:lstStyle/>
        <a:p>
          <a:pPr marL="0" lvl="0" indent="0" algn="l" defTabSz="666750">
            <a:lnSpc>
              <a:spcPct val="100000"/>
            </a:lnSpc>
            <a:spcBef>
              <a:spcPct val="0"/>
            </a:spcBef>
            <a:spcAft>
              <a:spcPct val="35000"/>
            </a:spcAft>
            <a:buNone/>
          </a:pPr>
          <a:r>
            <a:rPr lang="en-US" sz="1500" kern="1200"/>
            <a:t>Cybercrimes require no physical contact or confrontation with the involved parties, and an overall lack or lag of regulations around crypto trading has made it lucrative for individuals with criminal intent. </a:t>
          </a:r>
        </a:p>
      </dsp:txBody>
      <dsp:txXfrm>
        <a:off x="1266468" y="468"/>
        <a:ext cx="8656295" cy="1096509"/>
      </dsp:txXfrm>
    </dsp:sp>
    <dsp:sp modelId="{A594C9B7-89A3-459C-9739-84A2542D0582}">
      <dsp:nvSpPr>
        <dsp:cNvPr id="0" name=""/>
        <dsp:cNvSpPr/>
      </dsp:nvSpPr>
      <dsp:spPr>
        <a:xfrm>
          <a:off x="0" y="1371106"/>
          <a:ext cx="9922764" cy="109650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01D37BA-803D-4C80-8A04-0487904F191E}">
      <dsp:nvSpPr>
        <dsp:cNvPr id="0" name=""/>
        <dsp:cNvSpPr/>
      </dsp:nvSpPr>
      <dsp:spPr>
        <a:xfrm>
          <a:off x="331694" y="1617820"/>
          <a:ext cx="603080" cy="60308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A52012A-24B3-4AAC-9C03-3971B9169232}">
      <dsp:nvSpPr>
        <dsp:cNvPr id="0" name=""/>
        <dsp:cNvSpPr/>
      </dsp:nvSpPr>
      <dsp:spPr>
        <a:xfrm>
          <a:off x="1266468" y="1371106"/>
          <a:ext cx="8656295" cy="10965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047" tIns="116047" rIns="116047" bIns="116047" numCol="1" spcCol="1270" anchor="ctr" anchorCtr="0">
          <a:noAutofit/>
        </a:bodyPr>
        <a:lstStyle/>
        <a:p>
          <a:pPr marL="0" lvl="0" indent="0" algn="l" defTabSz="666750">
            <a:lnSpc>
              <a:spcPct val="100000"/>
            </a:lnSpc>
            <a:spcBef>
              <a:spcPct val="0"/>
            </a:spcBef>
            <a:spcAft>
              <a:spcPct val="35000"/>
            </a:spcAft>
            <a:buNone/>
          </a:pPr>
          <a:r>
            <a:rPr lang="en-US" sz="1500" kern="1200" dirty="0"/>
            <a:t>As long as the crime (fraud or Ponzi scheme, money laundering services) is profitable, it makes more rational sense to use cryptocurrency if the chance of being caught is lower since cryptocurrencies have robust anonymity features</a:t>
          </a:r>
        </a:p>
      </dsp:txBody>
      <dsp:txXfrm>
        <a:off x="1266468" y="1371106"/>
        <a:ext cx="8656295" cy="1096509"/>
      </dsp:txXfrm>
    </dsp:sp>
    <dsp:sp modelId="{C749DE7C-D233-412B-A935-05EBEBBB9BB6}">
      <dsp:nvSpPr>
        <dsp:cNvPr id="0" name=""/>
        <dsp:cNvSpPr/>
      </dsp:nvSpPr>
      <dsp:spPr>
        <a:xfrm>
          <a:off x="0" y="2741743"/>
          <a:ext cx="9922764" cy="109650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E0D45AD-55EA-438D-8377-037F23E9DCF7}">
      <dsp:nvSpPr>
        <dsp:cNvPr id="0" name=""/>
        <dsp:cNvSpPr/>
      </dsp:nvSpPr>
      <dsp:spPr>
        <a:xfrm>
          <a:off x="331694" y="2988458"/>
          <a:ext cx="603080" cy="60308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921EE77-D132-4572-B1D8-C198540ABF40}">
      <dsp:nvSpPr>
        <dsp:cNvPr id="0" name=""/>
        <dsp:cNvSpPr/>
      </dsp:nvSpPr>
      <dsp:spPr>
        <a:xfrm>
          <a:off x="1266468" y="2741743"/>
          <a:ext cx="8656295" cy="10965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047" tIns="116047" rIns="116047" bIns="116047" numCol="1" spcCol="1270" anchor="ctr" anchorCtr="0">
          <a:noAutofit/>
        </a:bodyPr>
        <a:lstStyle/>
        <a:p>
          <a:pPr marL="0" lvl="0" indent="0" algn="l" defTabSz="666750">
            <a:lnSpc>
              <a:spcPct val="100000"/>
            </a:lnSpc>
            <a:spcBef>
              <a:spcPct val="0"/>
            </a:spcBef>
            <a:spcAft>
              <a:spcPct val="35000"/>
            </a:spcAft>
            <a:buNone/>
          </a:pPr>
          <a:r>
            <a:rPr lang="en-US" sz="1500" kern="1200" dirty="0"/>
            <a:t>Rational choice, in this case, relies on the perception of the investor, not grounded in objectivity. A cryptocurrency investor with high-risk tolerance and overconfidence is more likely to </a:t>
          </a:r>
          <a:r>
            <a:rPr lang="en-US" sz="1500" kern="1200" dirty="0" err="1"/>
            <a:t>rationalise</a:t>
          </a:r>
          <a:r>
            <a:rPr lang="en-US" sz="1500" kern="1200" dirty="0"/>
            <a:t> engaging in criminal activities with cryptocurrency to </a:t>
          </a:r>
          <a:r>
            <a:rPr lang="en-US" sz="1500" kern="1200" dirty="0" err="1"/>
            <a:t>maximise</a:t>
          </a:r>
          <a:r>
            <a:rPr lang="en-US" sz="1500" kern="1200" dirty="0"/>
            <a:t> their gains.</a:t>
          </a:r>
        </a:p>
      </dsp:txBody>
      <dsp:txXfrm>
        <a:off x="1266468" y="2741743"/>
        <a:ext cx="8656295" cy="109650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F10E5B-8CCF-4BB8-B001-E0105E444C43}">
      <dsp:nvSpPr>
        <dsp:cNvPr id="0" name=""/>
        <dsp:cNvSpPr/>
      </dsp:nvSpPr>
      <dsp:spPr>
        <a:xfrm>
          <a:off x="0" y="0"/>
          <a:ext cx="6207841"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CEB9680-0E49-4D87-AD29-24FEAEA55230}">
      <dsp:nvSpPr>
        <dsp:cNvPr id="0" name=""/>
        <dsp:cNvSpPr/>
      </dsp:nvSpPr>
      <dsp:spPr>
        <a:xfrm>
          <a:off x="0" y="0"/>
          <a:ext cx="6207841" cy="11511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a:t>The convenience theory of white-collar crimes put forward by Gottschalk explains that convenience in three dimensions works to enable white-collar crime:</a:t>
          </a:r>
        </a:p>
      </dsp:txBody>
      <dsp:txXfrm>
        <a:off x="0" y="0"/>
        <a:ext cx="6207841" cy="1151164"/>
      </dsp:txXfrm>
    </dsp:sp>
    <dsp:sp modelId="{51EA7787-35E3-4514-AC3C-CF350698393B}">
      <dsp:nvSpPr>
        <dsp:cNvPr id="0" name=""/>
        <dsp:cNvSpPr/>
      </dsp:nvSpPr>
      <dsp:spPr>
        <a:xfrm>
          <a:off x="0" y="1151164"/>
          <a:ext cx="6207841"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8C521FC-4072-4BF9-BABD-3DBF8FAE275E}">
      <dsp:nvSpPr>
        <dsp:cNvPr id="0" name=""/>
        <dsp:cNvSpPr/>
      </dsp:nvSpPr>
      <dsp:spPr>
        <a:xfrm>
          <a:off x="0" y="1151164"/>
          <a:ext cx="6207841" cy="11511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b="1" kern="1200"/>
            <a:t>The economic dimension</a:t>
          </a:r>
          <a:r>
            <a:rPr lang="en-US" sz="1700" kern="1200"/>
            <a:t>: Which is the desire to profit financially from committing the crime </a:t>
          </a:r>
        </a:p>
      </dsp:txBody>
      <dsp:txXfrm>
        <a:off x="0" y="1151164"/>
        <a:ext cx="6207841" cy="1151164"/>
      </dsp:txXfrm>
    </dsp:sp>
    <dsp:sp modelId="{B34CA998-730D-488A-A9E0-665BDEA88421}">
      <dsp:nvSpPr>
        <dsp:cNvPr id="0" name=""/>
        <dsp:cNvSpPr/>
      </dsp:nvSpPr>
      <dsp:spPr>
        <a:xfrm>
          <a:off x="0" y="2302328"/>
          <a:ext cx="6207841"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532143A-EE64-4882-A3AA-02C5C3EE722C}">
      <dsp:nvSpPr>
        <dsp:cNvPr id="0" name=""/>
        <dsp:cNvSpPr/>
      </dsp:nvSpPr>
      <dsp:spPr>
        <a:xfrm>
          <a:off x="0" y="2302328"/>
          <a:ext cx="6207841" cy="11511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b="1" kern="1200"/>
            <a:t>The organizational dimension: </a:t>
          </a:r>
          <a:r>
            <a:rPr lang="en-US" sz="1700" kern="1200"/>
            <a:t>Where criminals have strategic positions in the organization or the hierarchy, gives them more access to resources and more control to commit these crimes. For example, pump and dump scams</a:t>
          </a:r>
        </a:p>
      </dsp:txBody>
      <dsp:txXfrm>
        <a:off x="0" y="2302328"/>
        <a:ext cx="6207841" cy="1151164"/>
      </dsp:txXfrm>
    </dsp:sp>
    <dsp:sp modelId="{90551E29-774D-4B80-BFA7-B4E2C683B955}">
      <dsp:nvSpPr>
        <dsp:cNvPr id="0" name=""/>
        <dsp:cNvSpPr/>
      </dsp:nvSpPr>
      <dsp:spPr>
        <a:xfrm>
          <a:off x="0" y="3453492"/>
          <a:ext cx="6207841"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95836A9-3567-4F6E-8538-D1877735904E}">
      <dsp:nvSpPr>
        <dsp:cNvPr id="0" name=""/>
        <dsp:cNvSpPr/>
      </dsp:nvSpPr>
      <dsp:spPr>
        <a:xfrm>
          <a:off x="0" y="3453492"/>
          <a:ext cx="6207841" cy="11511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b="1" kern="1200"/>
            <a:t>The behavioral dimension</a:t>
          </a:r>
          <a:r>
            <a:rPr lang="en-US" sz="1700" kern="1200"/>
            <a:t>: Criminals can easily justify their actions and rationalize crimes so that they are not guilty about committing them. </a:t>
          </a:r>
        </a:p>
      </dsp:txBody>
      <dsp:txXfrm>
        <a:off x="0" y="3453492"/>
        <a:ext cx="6207841" cy="115116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DE4058-20AD-4E27-9760-D69968A38AF3}">
      <dsp:nvSpPr>
        <dsp:cNvPr id="0" name=""/>
        <dsp:cNvSpPr/>
      </dsp:nvSpPr>
      <dsp:spPr>
        <a:xfrm>
          <a:off x="0" y="2248"/>
          <a:ext cx="6207841"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EC16AD1-273C-4B9B-A4F3-9EA155DB8F9E}">
      <dsp:nvSpPr>
        <dsp:cNvPr id="0" name=""/>
        <dsp:cNvSpPr/>
      </dsp:nvSpPr>
      <dsp:spPr>
        <a:xfrm>
          <a:off x="0" y="2248"/>
          <a:ext cx="6207841" cy="15333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dirty="0"/>
            <a:t>According to social learning theory, individuals can engage in crime or cybercrime by witnessing the behavior or actions of others. </a:t>
          </a:r>
        </a:p>
      </dsp:txBody>
      <dsp:txXfrm>
        <a:off x="0" y="2248"/>
        <a:ext cx="6207841" cy="1533386"/>
      </dsp:txXfrm>
    </dsp:sp>
    <dsp:sp modelId="{898AF4FC-C204-4472-996D-CC9EB44B6B16}">
      <dsp:nvSpPr>
        <dsp:cNvPr id="0" name=""/>
        <dsp:cNvSpPr/>
      </dsp:nvSpPr>
      <dsp:spPr>
        <a:xfrm>
          <a:off x="0" y="1535635"/>
          <a:ext cx="6207841"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C0AC577-2663-49CA-A849-132E632E48D3}">
      <dsp:nvSpPr>
        <dsp:cNvPr id="0" name=""/>
        <dsp:cNvSpPr/>
      </dsp:nvSpPr>
      <dsp:spPr>
        <a:xfrm>
          <a:off x="0" y="1535635"/>
          <a:ext cx="6207841" cy="15333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dirty="0"/>
            <a:t>The activities of the crypto trader communities give the impression that market abuse and losing investments in a flash are normalized, and the responsibility falls to the individual to look out for themselves in a trade</a:t>
          </a:r>
        </a:p>
      </dsp:txBody>
      <dsp:txXfrm>
        <a:off x="0" y="1535635"/>
        <a:ext cx="6207841" cy="1533386"/>
      </dsp:txXfrm>
    </dsp:sp>
    <dsp:sp modelId="{108D4A24-90C0-440E-9ECF-8003078EEDD9}">
      <dsp:nvSpPr>
        <dsp:cNvPr id="0" name=""/>
        <dsp:cNvSpPr/>
      </dsp:nvSpPr>
      <dsp:spPr>
        <a:xfrm>
          <a:off x="0" y="3069021"/>
          <a:ext cx="6207841"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EBCB6BC-3856-47D2-9845-5447A7EF0D70}">
      <dsp:nvSpPr>
        <dsp:cNvPr id="0" name=""/>
        <dsp:cNvSpPr/>
      </dsp:nvSpPr>
      <dsp:spPr>
        <a:xfrm>
          <a:off x="0" y="3069021"/>
          <a:ext cx="6207841" cy="15333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dirty="0"/>
            <a:t>It is easy for newcomers who could be followers of a similar individual responsibility and profit by any means mindset to mimic the </a:t>
          </a:r>
          <a:r>
            <a:rPr lang="en-US" sz="1900" kern="1200" dirty="0" err="1"/>
            <a:t>behaviours</a:t>
          </a:r>
          <a:r>
            <a:rPr lang="en-US" sz="1900" kern="1200" dirty="0"/>
            <a:t> of others and participate in scams and other crimes, whether knowingly or unknowingly. </a:t>
          </a:r>
        </a:p>
      </dsp:txBody>
      <dsp:txXfrm>
        <a:off x="0" y="3069021"/>
        <a:ext cx="6207841" cy="153338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72E32C-32DB-4552-AAEB-2DCC35C9D5B4}" type="datetimeFigureOut">
              <a:rPr lang="en-US" smtClean="0"/>
              <a:t>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B57CB5-9293-4180-A4E6-97F6D0FE5715}" type="slidenum">
              <a:rPr lang="en-US" smtClean="0"/>
              <a:t>‹#›</a:t>
            </a:fld>
            <a:endParaRPr lang="en-US"/>
          </a:p>
        </p:txBody>
      </p:sp>
    </p:spTree>
    <p:extLst>
      <p:ext uri="{BB962C8B-B14F-4D97-AF65-F5344CB8AC3E}">
        <p14:creationId xmlns:p14="http://schemas.microsoft.com/office/powerpoint/2010/main" val="25177248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4B57CB5-9293-4180-A4E6-97F6D0FE5715}" type="slidenum">
              <a:rPr lang="en-US" smtClean="0"/>
              <a:t>1</a:t>
            </a:fld>
            <a:endParaRPr lang="en-US"/>
          </a:p>
        </p:txBody>
      </p:sp>
    </p:spTree>
    <p:extLst>
      <p:ext uri="{BB962C8B-B14F-4D97-AF65-F5344CB8AC3E}">
        <p14:creationId xmlns:p14="http://schemas.microsoft.com/office/powerpoint/2010/main" val="8720948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4B57CB5-9293-4180-A4E6-97F6D0FE5715}" type="slidenum">
              <a:rPr lang="en-US" smtClean="0"/>
              <a:t>2</a:t>
            </a:fld>
            <a:endParaRPr lang="en-US"/>
          </a:p>
        </p:txBody>
      </p:sp>
    </p:spTree>
    <p:extLst>
      <p:ext uri="{BB962C8B-B14F-4D97-AF65-F5344CB8AC3E}">
        <p14:creationId xmlns:p14="http://schemas.microsoft.com/office/powerpoint/2010/main" val="32093083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dirty="0" err="1"/>
              <a:t>Bitconnect</a:t>
            </a:r>
            <a:r>
              <a:rPr lang="en-US" dirty="0"/>
              <a:t> ICO case took place in 2017, with the platform launching its initial coin offering in December 2016. The ICO and subsequent operations attracted significant attention throughout 2017 as </a:t>
            </a:r>
            <a:r>
              <a:rPr lang="en-US" dirty="0" err="1"/>
              <a:t>Bitconnect</a:t>
            </a:r>
            <a:r>
              <a:rPr lang="en-US" dirty="0"/>
              <a:t> aggressively marketed itself as an investment platform offering guaranteed high returns.</a:t>
            </a:r>
          </a:p>
          <a:p>
            <a:endParaRPr lang="en-US" dirty="0"/>
          </a:p>
          <a:p>
            <a:r>
              <a:rPr lang="en-US" dirty="0" err="1"/>
              <a:t>Bitconnect</a:t>
            </a:r>
            <a:r>
              <a:rPr lang="en-US" dirty="0"/>
              <a:t> reached its peak in late 2017, becoming one of the most infamous cryptocurrency platforms of the era. However, it began to unravel in early 2018 when authorities started investigating its activities, and the platform collapsed in January 2018.</a:t>
            </a:r>
          </a:p>
          <a:p>
            <a:endParaRPr lang="en-US" dirty="0"/>
          </a:p>
          <a:p>
            <a:r>
              <a:rPr lang="en-US" dirty="0"/>
              <a:t>Key dates in the </a:t>
            </a:r>
            <a:r>
              <a:rPr lang="en-US" dirty="0" err="1"/>
              <a:t>Bitconnect</a:t>
            </a:r>
            <a:r>
              <a:rPr lang="en-US" dirty="0"/>
              <a:t> case:</a:t>
            </a:r>
          </a:p>
          <a:p>
            <a:endParaRPr lang="en-US" dirty="0"/>
          </a:p>
          <a:p>
            <a:r>
              <a:rPr lang="en-US" dirty="0"/>
              <a:t>    December 2016: </a:t>
            </a:r>
            <a:r>
              <a:rPr lang="en-US" dirty="0" err="1"/>
              <a:t>Bitconnect</a:t>
            </a:r>
            <a:r>
              <a:rPr lang="en-US" dirty="0"/>
              <a:t> launched its ICO.</a:t>
            </a:r>
          </a:p>
          <a:p>
            <a:r>
              <a:rPr lang="en-US" dirty="0"/>
              <a:t>    January 2017: The platform officially went live.</a:t>
            </a:r>
          </a:p>
          <a:p>
            <a:r>
              <a:rPr lang="en-US" dirty="0"/>
              <a:t>    2017: </a:t>
            </a:r>
            <a:r>
              <a:rPr lang="en-US" dirty="0" err="1"/>
              <a:t>Bitconnect</a:t>
            </a:r>
            <a:r>
              <a:rPr lang="en-US" dirty="0"/>
              <a:t> rapidly gained popularity, promising returns of up to 40% per month through its lending program.</a:t>
            </a:r>
          </a:p>
          <a:p>
            <a:r>
              <a:rPr lang="en-US" dirty="0"/>
              <a:t>    January 2018: The platform was shut down following warnings from regulators in the United States and other countries.</a:t>
            </a:r>
          </a:p>
          <a:p>
            <a:endParaRPr lang="en-US" dirty="0"/>
          </a:p>
          <a:p>
            <a:r>
              <a:rPr lang="en-US" dirty="0"/>
              <a:t>The collapse of </a:t>
            </a:r>
            <a:r>
              <a:rPr lang="en-US" dirty="0" err="1"/>
              <a:t>Bitconnect</a:t>
            </a:r>
            <a:r>
              <a:rPr lang="en-US" dirty="0"/>
              <a:t> led to significant financial losses for investors, and it was later revealed to be a massive Ponzi scheme, resulting in multiple lawsuits and criminal investigations.</a:t>
            </a:r>
          </a:p>
        </p:txBody>
      </p:sp>
      <p:sp>
        <p:nvSpPr>
          <p:cNvPr id="4" name="Slide Number Placeholder 3"/>
          <p:cNvSpPr>
            <a:spLocks noGrp="1"/>
          </p:cNvSpPr>
          <p:nvPr>
            <p:ph type="sldNum" sz="quarter" idx="5"/>
          </p:nvPr>
        </p:nvSpPr>
        <p:spPr/>
        <p:txBody>
          <a:bodyPr/>
          <a:lstStyle/>
          <a:p>
            <a:fld id="{34B57CB5-9293-4180-A4E6-97F6D0FE5715}" type="slidenum">
              <a:rPr lang="en-US" smtClean="0"/>
              <a:t>8</a:t>
            </a:fld>
            <a:endParaRPr lang="en-US"/>
          </a:p>
        </p:txBody>
      </p:sp>
    </p:spTree>
    <p:extLst>
      <p:ext uri="{BB962C8B-B14F-4D97-AF65-F5344CB8AC3E}">
        <p14:creationId xmlns:p14="http://schemas.microsoft.com/office/powerpoint/2010/main" val="3853273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83D70-91AA-429A-BD57-1CB6792B30EE}"/>
              </a:ext>
            </a:extLst>
          </p:cNvPr>
          <p:cNvSpPr>
            <a:spLocks noGrp="1"/>
          </p:cNvSpPr>
          <p:nvPr>
            <p:ph type="ctrTitle"/>
          </p:nvPr>
        </p:nvSpPr>
        <p:spPr>
          <a:xfrm>
            <a:off x="1088136" y="1078030"/>
            <a:ext cx="9288096" cy="2956718"/>
          </a:xfrm>
        </p:spPr>
        <p:txBody>
          <a:bodyPr anchor="t">
            <a:noAutofit/>
          </a:bodyPr>
          <a:lstStyle>
            <a:lvl1pPr algn="l">
              <a:defRPr sz="6600" cap="all" baseline="0"/>
            </a:lvl1pPr>
          </a:lstStyle>
          <a:p>
            <a:r>
              <a:rPr lang="en-US" dirty="0"/>
              <a:t>Click to edit Master title style</a:t>
            </a:r>
          </a:p>
        </p:txBody>
      </p:sp>
      <p:sp>
        <p:nvSpPr>
          <p:cNvPr id="3" name="Subtitle 2">
            <a:extLst>
              <a:ext uri="{FF2B5EF4-FFF2-40B4-BE49-F238E27FC236}">
                <a16:creationId xmlns:a16="http://schemas.microsoft.com/office/drawing/2014/main" id="{F065D245-B564-481D-A323-F73C5BCA8461}"/>
              </a:ext>
            </a:extLst>
          </p:cNvPr>
          <p:cNvSpPr>
            <a:spLocks noGrp="1"/>
          </p:cNvSpPr>
          <p:nvPr>
            <p:ph type="subTitle" idx="1"/>
          </p:nvPr>
        </p:nvSpPr>
        <p:spPr>
          <a:xfrm>
            <a:off x="1088136" y="4455621"/>
            <a:ext cx="9288096" cy="1435331"/>
          </a:xfrm>
        </p:spPr>
        <p:txBody>
          <a:bodyPr>
            <a:normAutofit/>
          </a:bodyPr>
          <a:lstStyle>
            <a:lvl1pPr marL="0" indent="0" algn="l">
              <a:lnSpc>
                <a:spcPct val="12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28E072EE-51B3-4C0C-A460-4684AB079301}"/>
              </a:ext>
            </a:extLst>
          </p:cNvPr>
          <p:cNvSpPr>
            <a:spLocks noGrp="1"/>
          </p:cNvSpPr>
          <p:nvPr>
            <p:ph type="dt" sz="half" idx="10"/>
          </p:nvPr>
        </p:nvSpPr>
        <p:spPr/>
        <p:txBody>
          <a:bodyPr/>
          <a:lstStyle/>
          <a:p>
            <a:fld id="{A1E45834-53BD-4C8F-B791-CD5378F4150E}" type="datetimeFigureOut">
              <a:rPr lang="en-US" smtClean="0"/>
              <a:t>2/4/2026</a:t>
            </a:fld>
            <a:endParaRPr lang="en-US"/>
          </a:p>
        </p:txBody>
      </p:sp>
      <p:sp>
        <p:nvSpPr>
          <p:cNvPr id="5" name="Footer Placeholder 4">
            <a:extLst>
              <a:ext uri="{FF2B5EF4-FFF2-40B4-BE49-F238E27FC236}">
                <a16:creationId xmlns:a16="http://schemas.microsoft.com/office/drawing/2014/main" id="{011422A5-3076-413B-84CB-ED3BA4171C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267C68-40D5-477E-9DBC-C28FD4B1142F}"/>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385186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EE2F5-9D3C-4BE7-9AD5-335B31CF2CB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F98C4F-4BF6-47CF-ABEE-2B12748C470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539070-70D2-4DD1-A439-155343FE262E}"/>
              </a:ext>
            </a:extLst>
          </p:cNvPr>
          <p:cNvSpPr>
            <a:spLocks noGrp="1"/>
          </p:cNvSpPr>
          <p:nvPr>
            <p:ph type="dt" sz="half" idx="10"/>
          </p:nvPr>
        </p:nvSpPr>
        <p:spPr/>
        <p:txBody>
          <a:bodyPr/>
          <a:lstStyle/>
          <a:p>
            <a:fld id="{A1E45834-53BD-4C8F-B791-CD5378F4150E}" type="datetimeFigureOut">
              <a:rPr lang="en-US" smtClean="0"/>
              <a:t>2/4/2026</a:t>
            </a:fld>
            <a:endParaRPr lang="en-US"/>
          </a:p>
        </p:txBody>
      </p:sp>
      <p:sp>
        <p:nvSpPr>
          <p:cNvPr id="5" name="Footer Placeholder 4">
            <a:extLst>
              <a:ext uri="{FF2B5EF4-FFF2-40B4-BE49-F238E27FC236}">
                <a16:creationId xmlns:a16="http://schemas.microsoft.com/office/drawing/2014/main" id="{6151AB30-CD74-471D-9FA6-ADC0C901E6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A137C4-F19E-4521-8DCB-4E0CF9CA3193}"/>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22390291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8007D-9B1D-4E2C-B38F-29C6820996DF}"/>
              </a:ext>
            </a:extLst>
          </p:cNvPr>
          <p:cNvSpPr>
            <a:spLocks noGrp="1"/>
          </p:cNvSpPr>
          <p:nvPr>
            <p:ph type="title"/>
          </p:nvPr>
        </p:nvSpPr>
        <p:spPr>
          <a:xfrm>
            <a:off x="1090940" y="1099127"/>
            <a:ext cx="9272260" cy="3472874"/>
          </a:xfrm>
        </p:spPr>
        <p:txBody>
          <a:bodyPr anchor="t">
            <a:normAutofit/>
          </a:bodyPr>
          <a:lstStyle>
            <a:lvl1pPr>
              <a:defRPr sz="40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960C51B-B525-4032-9D08-2978D7367BFF}"/>
              </a:ext>
            </a:extLst>
          </p:cNvPr>
          <p:cNvSpPr>
            <a:spLocks noGrp="1"/>
          </p:cNvSpPr>
          <p:nvPr>
            <p:ph type="body" idx="1"/>
          </p:nvPr>
        </p:nvSpPr>
        <p:spPr>
          <a:xfrm>
            <a:off x="1090939" y="4572000"/>
            <a:ext cx="9272262" cy="1320801"/>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3408851-4DCC-447C-828A-5F7E66F7623D}"/>
              </a:ext>
            </a:extLst>
          </p:cNvPr>
          <p:cNvSpPr>
            <a:spLocks noGrp="1"/>
          </p:cNvSpPr>
          <p:nvPr>
            <p:ph type="dt" sz="half" idx="10"/>
          </p:nvPr>
        </p:nvSpPr>
        <p:spPr/>
        <p:txBody>
          <a:bodyPr/>
          <a:lstStyle/>
          <a:p>
            <a:fld id="{A1E45834-53BD-4C8F-B791-CD5378F4150E}" type="datetimeFigureOut">
              <a:rPr lang="en-US" smtClean="0"/>
              <a:t>2/4/2026</a:t>
            </a:fld>
            <a:endParaRPr lang="en-US"/>
          </a:p>
        </p:txBody>
      </p:sp>
      <p:sp>
        <p:nvSpPr>
          <p:cNvPr id="5" name="Footer Placeholder 4">
            <a:extLst>
              <a:ext uri="{FF2B5EF4-FFF2-40B4-BE49-F238E27FC236}">
                <a16:creationId xmlns:a16="http://schemas.microsoft.com/office/drawing/2014/main" id="{4C094542-CAEF-4D6C-BE6A-BC100F0590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8BDE40-8468-4051-9703-B751608AAF9D}"/>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389455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BF7AE-3892-4896-8C15-7A35A41EFD9C}"/>
              </a:ext>
            </a:extLst>
          </p:cNvPr>
          <p:cNvSpPr>
            <a:spLocks noGrp="1"/>
          </p:cNvSpPr>
          <p:nvPr>
            <p:ph type="title"/>
          </p:nvPr>
        </p:nvSpPr>
        <p:spPr>
          <a:xfrm>
            <a:off x="1088136" y="1088136"/>
            <a:ext cx="9890066" cy="1294228"/>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F2FD9A26-86F1-4817-B243-4DE63B4F182F}"/>
              </a:ext>
            </a:extLst>
          </p:cNvPr>
          <p:cNvSpPr>
            <a:spLocks noGrp="1"/>
          </p:cNvSpPr>
          <p:nvPr>
            <p:ph sz="half" idx="1"/>
          </p:nvPr>
        </p:nvSpPr>
        <p:spPr>
          <a:xfrm>
            <a:off x="1082185" y="2440568"/>
            <a:ext cx="4841505" cy="380128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D454BF9B-EA16-48C8-96B9-7A66051BE768}"/>
              </a:ext>
            </a:extLst>
          </p:cNvPr>
          <p:cNvSpPr>
            <a:spLocks noGrp="1"/>
          </p:cNvSpPr>
          <p:nvPr>
            <p:ph sz="half" idx="2"/>
          </p:nvPr>
        </p:nvSpPr>
        <p:spPr>
          <a:xfrm>
            <a:off x="6172200" y="2440568"/>
            <a:ext cx="4806002" cy="38012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16E2D9F-1FCE-4A1C-996E-DB05777A8994}"/>
              </a:ext>
            </a:extLst>
          </p:cNvPr>
          <p:cNvSpPr>
            <a:spLocks noGrp="1"/>
          </p:cNvSpPr>
          <p:nvPr>
            <p:ph type="dt" sz="half" idx="10"/>
          </p:nvPr>
        </p:nvSpPr>
        <p:spPr/>
        <p:txBody>
          <a:bodyPr/>
          <a:lstStyle/>
          <a:p>
            <a:fld id="{A1E45834-53BD-4C8F-B791-CD5378F4150E}" type="datetimeFigureOut">
              <a:rPr lang="en-US" smtClean="0"/>
              <a:t>2/4/2026</a:t>
            </a:fld>
            <a:endParaRPr lang="en-US"/>
          </a:p>
        </p:txBody>
      </p:sp>
      <p:sp>
        <p:nvSpPr>
          <p:cNvPr id="6" name="Footer Placeholder 5">
            <a:extLst>
              <a:ext uri="{FF2B5EF4-FFF2-40B4-BE49-F238E27FC236}">
                <a16:creationId xmlns:a16="http://schemas.microsoft.com/office/drawing/2014/main" id="{40629E05-3F6C-40BF-9324-118588B6CA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9BE013-C5C0-4CBD-982E-36F037F7366F}"/>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20588177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ED885-5FE5-4407-BE4D-FAD01C40A905}"/>
              </a:ext>
            </a:extLst>
          </p:cNvPr>
          <p:cNvSpPr>
            <a:spLocks noGrp="1"/>
          </p:cNvSpPr>
          <p:nvPr>
            <p:ph type="title"/>
          </p:nvPr>
        </p:nvSpPr>
        <p:spPr>
          <a:xfrm>
            <a:off x="1090940" y="1084333"/>
            <a:ext cx="9949455" cy="838856"/>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6E322A77-C134-4857-83E5-51217D3C29FB}"/>
              </a:ext>
            </a:extLst>
          </p:cNvPr>
          <p:cNvSpPr>
            <a:spLocks noGrp="1"/>
          </p:cNvSpPr>
          <p:nvPr>
            <p:ph type="body" idx="1"/>
          </p:nvPr>
        </p:nvSpPr>
        <p:spPr>
          <a:xfrm>
            <a:off x="1092088" y="1923190"/>
            <a:ext cx="4816475" cy="838856"/>
          </a:xfrm>
        </p:spPr>
        <p:txBody>
          <a:bodyPr anchor="b">
            <a:normAutofit/>
          </a:bodyPr>
          <a:lstStyle>
            <a:lvl1pPr marL="0" indent="0">
              <a:lnSpc>
                <a:spcPct val="100000"/>
              </a:lnSpc>
              <a:buNone/>
              <a:defRPr sz="20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9A4ECBFE-C62C-471B-BFE4-1272EAC3479D}"/>
              </a:ext>
            </a:extLst>
          </p:cNvPr>
          <p:cNvSpPr>
            <a:spLocks noGrp="1"/>
          </p:cNvSpPr>
          <p:nvPr>
            <p:ph sz="half" idx="2"/>
          </p:nvPr>
        </p:nvSpPr>
        <p:spPr>
          <a:xfrm>
            <a:off x="1092088" y="2825791"/>
            <a:ext cx="4816475" cy="336387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7710AFC6-F407-4F35-BD37-B32F9B4036D0}"/>
              </a:ext>
            </a:extLst>
          </p:cNvPr>
          <p:cNvSpPr>
            <a:spLocks noGrp="1"/>
          </p:cNvSpPr>
          <p:nvPr>
            <p:ph type="body" sz="quarter" idx="3"/>
          </p:nvPr>
        </p:nvSpPr>
        <p:spPr>
          <a:xfrm>
            <a:off x="6215482" y="1923190"/>
            <a:ext cx="4824913" cy="838856"/>
          </a:xfrm>
        </p:spPr>
        <p:txBody>
          <a:bodyPr anchor="b">
            <a:normAutofit/>
          </a:bodyPr>
          <a:lstStyle>
            <a:lvl1pPr marL="0" indent="0">
              <a:lnSpc>
                <a:spcPct val="100000"/>
              </a:lnSpc>
              <a:buNone/>
              <a:defRPr sz="20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58D60D5-0F83-46CB-92F3-849FC08E6E92}"/>
              </a:ext>
            </a:extLst>
          </p:cNvPr>
          <p:cNvSpPr>
            <a:spLocks noGrp="1"/>
          </p:cNvSpPr>
          <p:nvPr>
            <p:ph sz="quarter" idx="4"/>
          </p:nvPr>
        </p:nvSpPr>
        <p:spPr>
          <a:xfrm>
            <a:off x="6215482" y="2825791"/>
            <a:ext cx="4824913" cy="3363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A5AE694-5CA0-48DA-90D3-EC42BD1D86C1}"/>
              </a:ext>
            </a:extLst>
          </p:cNvPr>
          <p:cNvSpPr>
            <a:spLocks noGrp="1"/>
          </p:cNvSpPr>
          <p:nvPr>
            <p:ph type="dt" sz="half" idx="10"/>
          </p:nvPr>
        </p:nvSpPr>
        <p:spPr/>
        <p:txBody>
          <a:bodyPr/>
          <a:lstStyle/>
          <a:p>
            <a:fld id="{A1E45834-53BD-4C8F-B791-CD5378F4150E}" type="datetimeFigureOut">
              <a:rPr lang="en-US" smtClean="0"/>
              <a:t>2/4/2026</a:t>
            </a:fld>
            <a:endParaRPr lang="en-US"/>
          </a:p>
        </p:txBody>
      </p:sp>
      <p:sp>
        <p:nvSpPr>
          <p:cNvPr id="8" name="Footer Placeholder 7">
            <a:extLst>
              <a:ext uri="{FF2B5EF4-FFF2-40B4-BE49-F238E27FC236}">
                <a16:creationId xmlns:a16="http://schemas.microsoft.com/office/drawing/2014/main" id="{F340A80D-4CCB-4899-9E1D-A5967F4E649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F753A9D-469A-4ED9-99A1-7E4B115F8933}"/>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3769736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7C91E-0A11-4E5D-9B8D-5316E73A2D58}"/>
              </a:ext>
            </a:extLst>
          </p:cNvPr>
          <p:cNvSpPr>
            <a:spLocks noGrp="1"/>
          </p:cNvSpPr>
          <p:nvPr>
            <p:ph type="title"/>
          </p:nvPr>
        </p:nvSpPr>
        <p:spPr/>
        <p:txBody>
          <a:bodyPr/>
          <a:lstStyle>
            <a:lvl1pPr>
              <a:defRPr cap="all" baseline="0"/>
            </a:lvl1pPr>
          </a:lstStyle>
          <a:p>
            <a:r>
              <a:rPr lang="en-US" dirty="0"/>
              <a:t>Click to edit Master title style</a:t>
            </a:r>
          </a:p>
        </p:txBody>
      </p:sp>
      <p:sp>
        <p:nvSpPr>
          <p:cNvPr id="3" name="Date Placeholder 2">
            <a:extLst>
              <a:ext uri="{FF2B5EF4-FFF2-40B4-BE49-F238E27FC236}">
                <a16:creationId xmlns:a16="http://schemas.microsoft.com/office/drawing/2014/main" id="{A1B8A8D1-71AD-4F9F-B393-9EED83FEF003}"/>
              </a:ext>
            </a:extLst>
          </p:cNvPr>
          <p:cNvSpPr>
            <a:spLocks noGrp="1"/>
          </p:cNvSpPr>
          <p:nvPr>
            <p:ph type="dt" sz="half" idx="10"/>
          </p:nvPr>
        </p:nvSpPr>
        <p:spPr/>
        <p:txBody>
          <a:bodyPr/>
          <a:lstStyle/>
          <a:p>
            <a:fld id="{A1E45834-53BD-4C8F-B791-CD5378F4150E}" type="datetimeFigureOut">
              <a:rPr lang="en-US" smtClean="0"/>
              <a:t>2/4/2026</a:t>
            </a:fld>
            <a:endParaRPr lang="en-US"/>
          </a:p>
        </p:txBody>
      </p:sp>
      <p:sp>
        <p:nvSpPr>
          <p:cNvPr id="4" name="Footer Placeholder 3">
            <a:extLst>
              <a:ext uri="{FF2B5EF4-FFF2-40B4-BE49-F238E27FC236}">
                <a16:creationId xmlns:a16="http://schemas.microsoft.com/office/drawing/2014/main" id="{D7E36922-9A4C-453D-9B70-0C3A70281C0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F5AAEF2-65DC-4E28-9AA4-5115ACB074CC}"/>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12816208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448B02B-A32A-4383-BBC7-0C383390A96F}"/>
              </a:ext>
            </a:extLst>
          </p:cNvPr>
          <p:cNvSpPr>
            <a:spLocks noGrp="1"/>
          </p:cNvSpPr>
          <p:nvPr>
            <p:ph type="dt" sz="half" idx="10"/>
          </p:nvPr>
        </p:nvSpPr>
        <p:spPr/>
        <p:txBody>
          <a:bodyPr/>
          <a:lstStyle/>
          <a:p>
            <a:fld id="{A1E45834-53BD-4C8F-B791-CD5378F4150E}" type="datetimeFigureOut">
              <a:rPr lang="en-US" smtClean="0"/>
              <a:t>2/4/2026</a:t>
            </a:fld>
            <a:endParaRPr lang="en-US"/>
          </a:p>
        </p:txBody>
      </p:sp>
      <p:sp>
        <p:nvSpPr>
          <p:cNvPr id="3" name="Footer Placeholder 2">
            <a:extLst>
              <a:ext uri="{FF2B5EF4-FFF2-40B4-BE49-F238E27FC236}">
                <a16:creationId xmlns:a16="http://schemas.microsoft.com/office/drawing/2014/main" id="{FCFF7E77-47E0-4F9E-9148-8D0C59C0CFC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98005A2-ECF0-4759-A17B-FDECE80683F4}"/>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2850009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1DD4B-5676-477E-8C52-4C1CF160FCDE}"/>
              </a:ext>
            </a:extLst>
          </p:cNvPr>
          <p:cNvSpPr>
            <a:spLocks noGrp="1"/>
          </p:cNvSpPr>
          <p:nvPr>
            <p:ph type="title"/>
          </p:nvPr>
        </p:nvSpPr>
        <p:spPr>
          <a:xfrm>
            <a:off x="1090940" y="1094448"/>
            <a:ext cx="3785860" cy="1554362"/>
          </a:xfrm>
        </p:spPr>
        <p:txBody>
          <a:bodyPr anchor="t">
            <a:normAutofit/>
          </a:bodyPr>
          <a:lstStyle>
            <a:lvl1pPr>
              <a:defRPr sz="2800" cap="all" baseline="0"/>
            </a:lvl1pPr>
          </a:lstStyle>
          <a:p>
            <a:r>
              <a:rPr lang="en-US" dirty="0"/>
              <a:t>Click to edit Master title style</a:t>
            </a:r>
          </a:p>
        </p:txBody>
      </p:sp>
      <p:sp>
        <p:nvSpPr>
          <p:cNvPr id="3" name="Content Placeholder 2">
            <a:extLst>
              <a:ext uri="{FF2B5EF4-FFF2-40B4-BE49-F238E27FC236}">
                <a16:creationId xmlns:a16="http://schemas.microsoft.com/office/drawing/2014/main" id="{4B5A3E63-EB15-4D82-BF2B-36BB030C430D}"/>
              </a:ext>
            </a:extLst>
          </p:cNvPr>
          <p:cNvSpPr>
            <a:spLocks noGrp="1"/>
          </p:cNvSpPr>
          <p:nvPr>
            <p:ph idx="1"/>
          </p:nvPr>
        </p:nvSpPr>
        <p:spPr>
          <a:xfrm>
            <a:off x="5524500" y="922689"/>
            <a:ext cx="5486002"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7CBE994E-BAB7-43DC-A0E4-C779CF2A33D5}"/>
              </a:ext>
            </a:extLst>
          </p:cNvPr>
          <p:cNvSpPr>
            <a:spLocks noGrp="1"/>
          </p:cNvSpPr>
          <p:nvPr>
            <p:ph type="body" sz="half" idx="2"/>
          </p:nvPr>
        </p:nvSpPr>
        <p:spPr>
          <a:xfrm>
            <a:off x="1090940" y="2701254"/>
            <a:ext cx="3785860" cy="316773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DEFAAA-1B70-42AA-ADCC-F49B58132654}"/>
              </a:ext>
            </a:extLst>
          </p:cNvPr>
          <p:cNvSpPr>
            <a:spLocks noGrp="1"/>
          </p:cNvSpPr>
          <p:nvPr>
            <p:ph type="dt" sz="half" idx="10"/>
          </p:nvPr>
        </p:nvSpPr>
        <p:spPr/>
        <p:txBody>
          <a:bodyPr/>
          <a:lstStyle/>
          <a:p>
            <a:fld id="{A1E45834-53BD-4C8F-B791-CD5378F4150E}" type="datetimeFigureOut">
              <a:rPr lang="en-US" smtClean="0"/>
              <a:t>2/4/2026</a:t>
            </a:fld>
            <a:endParaRPr lang="en-US"/>
          </a:p>
        </p:txBody>
      </p:sp>
      <p:sp>
        <p:nvSpPr>
          <p:cNvPr id="6" name="Footer Placeholder 5">
            <a:extLst>
              <a:ext uri="{FF2B5EF4-FFF2-40B4-BE49-F238E27FC236}">
                <a16:creationId xmlns:a16="http://schemas.microsoft.com/office/drawing/2014/main" id="{E4C7B6CC-1C13-4F34-AC86-CCD442C8C3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F1B638-9061-41AD-AF47-73A4AF8B781A}"/>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41917084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F3C43-1676-4A29-83F9-D788ED2E71E9}"/>
              </a:ext>
            </a:extLst>
          </p:cNvPr>
          <p:cNvSpPr>
            <a:spLocks noGrp="1"/>
          </p:cNvSpPr>
          <p:nvPr>
            <p:ph type="title"/>
          </p:nvPr>
        </p:nvSpPr>
        <p:spPr>
          <a:xfrm>
            <a:off x="1090940" y="1097280"/>
            <a:ext cx="3785860" cy="1559740"/>
          </a:xfrm>
        </p:spPr>
        <p:txBody>
          <a:bodyPr anchor="t">
            <a:normAutofit/>
          </a:bodyPr>
          <a:lstStyle>
            <a:lvl1pPr>
              <a:defRPr sz="2800" cap="all" baseline="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5214A903-97C7-4349-B8CE-1BBED1942E3B}"/>
              </a:ext>
            </a:extLst>
          </p:cNvPr>
          <p:cNvSpPr>
            <a:spLocks noGrp="1"/>
          </p:cNvSpPr>
          <p:nvPr>
            <p:ph type="pic" idx="1"/>
          </p:nvPr>
        </p:nvSpPr>
        <p:spPr>
          <a:xfrm>
            <a:off x="5524500" y="1143000"/>
            <a:ext cx="5486400" cy="4572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BF0A9F58-4AEB-4286-98F7-3C77AA913BE8}"/>
              </a:ext>
            </a:extLst>
          </p:cNvPr>
          <p:cNvSpPr>
            <a:spLocks noGrp="1"/>
          </p:cNvSpPr>
          <p:nvPr>
            <p:ph type="body" sz="half" idx="2"/>
          </p:nvPr>
        </p:nvSpPr>
        <p:spPr>
          <a:xfrm>
            <a:off x="1090940" y="2697480"/>
            <a:ext cx="3785860" cy="309342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F55A58-F085-4500-AF61-045B12C8F41E}"/>
              </a:ext>
            </a:extLst>
          </p:cNvPr>
          <p:cNvSpPr>
            <a:spLocks noGrp="1"/>
          </p:cNvSpPr>
          <p:nvPr>
            <p:ph type="dt" sz="half" idx="10"/>
          </p:nvPr>
        </p:nvSpPr>
        <p:spPr/>
        <p:txBody>
          <a:bodyPr/>
          <a:lstStyle/>
          <a:p>
            <a:fld id="{A1E45834-53BD-4C8F-B791-CD5378F4150E}" type="datetimeFigureOut">
              <a:rPr lang="en-US" smtClean="0"/>
              <a:t>2/4/2026</a:t>
            </a:fld>
            <a:endParaRPr lang="en-US"/>
          </a:p>
        </p:txBody>
      </p:sp>
      <p:sp>
        <p:nvSpPr>
          <p:cNvPr id="6" name="Footer Placeholder 5">
            <a:extLst>
              <a:ext uri="{FF2B5EF4-FFF2-40B4-BE49-F238E27FC236}">
                <a16:creationId xmlns:a16="http://schemas.microsoft.com/office/drawing/2014/main" id="{E9936470-561D-49AE-AC84-B79D483FDA7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EF2BE2-DF21-4683-9D5F-849A525FD5C4}"/>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11890442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6C900-05BC-4021-B69F-2DAF974B7EF6}"/>
              </a:ext>
            </a:extLst>
          </p:cNvPr>
          <p:cNvSpPr>
            <a:spLocks noGrp="1"/>
          </p:cNvSpPr>
          <p:nvPr>
            <p:ph type="title"/>
          </p:nvPr>
        </p:nvSpPr>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3F26E227-253A-44A0-9404-1CFD8CE419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FF5A02-0FC4-41C8-A13C-4C929B28846B}"/>
              </a:ext>
            </a:extLst>
          </p:cNvPr>
          <p:cNvSpPr>
            <a:spLocks noGrp="1"/>
          </p:cNvSpPr>
          <p:nvPr>
            <p:ph type="dt" sz="half" idx="10"/>
          </p:nvPr>
        </p:nvSpPr>
        <p:spPr/>
        <p:txBody>
          <a:bodyPr/>
          <a:lstStyle/>
          <a:p>
            <a:fld id="{A1E45834-53BD-4C8F-B791-CD5378F4150E}" type="datetimeFigureOut">
              <a:rPr lang="en-US" smtClean="0"/>
              <a:t>2/4/2026</a:t>
            </a:fld>
            <a:endParaRPr lang="en-US"/>
          </a:p>
        </p:txBody>
      </p:sp>
      <p:sp>
        <p:nvSpPr>
          <p:cNvPr id="5" name="Footer Placeholder 4">
            <a:extLst>
              <a:ext uri="{FF2B5EF4-FFF2-40B4-BE49-F238E27FC236}">
                <a16:creationId xmlns:a16="http://schemas.microsoft.com/office/drawing/2014/main" id="{80459378-C430-49DB-B2D6-E32FBBCD4A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B9D57D-CB8E-4E67-AE2D-2790E2AA60CB}"/>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10866378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82CF945-D70F-49C1-8CE5-5758C1166014}"/>
              </a:ext>
            </a:extLst>
          </p:cNvPr>
          <p:cNvSpPr>
            <a:spLocks noGrp="1"/>
          </p:cNvSpPr>
          <p:nvPr>
            <p:ph type="title" orient="vert"/>
          </p:nvPr>
        </p:nvSpPr>
        <p:spPr>
          <a:xfrm>
            <a:off x="9182100" y="1091381"/>
            <a:ext cx="2171700" cy="4953369"/>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C2FDB721-04AA-4330-8045-3F2D9BB4BC66}"/>
              </a:ext>
            </a:extLst>
          </p:cNvPr>
          <p:cNvSpPr>
            <a:spLocks noGrp="1"/>
          </p:cNvSpPr>
          <p:nvPr>
            <p:ph type="body" orient="vert" idx="1"/>
          </p:nvPr>
        </p:nvSpPr>
        <p:spPr>
          <a:xfrm>
            <a:off x="838200" y="1091381"/>
            <a:ext cx="8265340" cy="4953369"/>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F418C15-991C-4C71-8DCD-DB3B3888831F}"/>
              </a:ext>
            </a:extLst>
          </p:cNvPr>
          <p:cNvSpPr>
            <a:spLocks noGrp="1"/>
          </p:cNvSpPr>
          <p:nvPr>
            <p:ph type="dt" sz="half" idx="10"/>
          </p:nvPr>
        </p:nvSpPr>
        <p:spPr/>
        <p:txBody>
          <a:bodyPr/>
          <a:lstStyle/>
          <a:p>
            <a:fld id="{A1E45834-53BD-4C8F-B791-CD5378F4150E}" type="datetimeFigureOut">
              <a:rPr lang="en-US" smtClean="0"/>
              <a:t>2/4/2026</a:t>
            </a:fld>
            <a:endParaRPr lang="en-US"/>
          </a:p>
        </p:txBody>
      </p:sp>
      <p:sp>
        <p:nvSpPr>
          <p:cNvPr id="5" name="Footer Placeholder 4">
            <a:extLst>
              <a:ext uri="{FF2B5EF4-FFF2-40B4-BE49-F238E27FC236}">
                <a16:creationId xmlns:a16="http://schemas.microsoft.com/office/drawing/2014/main" id="{F7728CC3-5830-4EFA-B28E-1648904DE1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DA91B6-E419-4483-9B66-3C758788BC48}"/>
              </a:ext>
            </a:extLst>
          </p:cNvPr>
          <p:cNvSpPr>
            <a:spLocks noGrp="1"/>
          </p:cNvSpPr>
          <p:nvPr>
            <p:ph type="sldNum" sz="quarter" idx="12"/>
          </p:nvPr>
        </p:nvSpPr>
        <p:spPr/>
        <p:txBody>
          <a:bodyPr/>
          <a:lstStyle/>
          <a:p>
            <a:fld id="{719D7796-F675-488F-AC46-C88938C80352}" type="slidenum">
              <a:rPr lang="en-US" smtClean="0"/>
              <a:t>‹#›</a:t>
            </a:fld>
            <a:endParaRPr lang="en-US"/>
          </a:p>
        </p:txBody>
      </p:sp>
      <p:cxnSp>
        <p:nvCxnSpPr>
          <p:cNvPr id="7" name="Straight Connector 6">
            <a:extLst>
              <a:ext uri="{FF2B5EF4-FFF2-40B4-BE49-F238E27FC236}">
                <a16:creationId xmlns:a16="http://schemas.microsoft.com/office/drawing/2014/main" id="{DE447C6A-78C3-4687-9A71-A05DBF6700DE}"/>
              </a:ext>
            </a:extLst>
          </p:cNvPr>
          <p:cNvCxnSpPr>
            <a:cxnSpLocks/>
          </p:cNvCxnSpPr>
          <p:nvPr/>
        </p:nvCxnSpPr>
        <p:spPr>
          <a:xfrm>
            <a:off x="11387805" y="1185205"/>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53554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4438DC-3CEE-4170-9B1C-BAC05CD8C3B5}"/>
              </a:ext>
            </a:extLst>
          </p:cNvPr>
          <p:cNvSpPr>
            <a:spLocks noGrp="1"/>
          </p:cNvSpPr>
          <p:nvPr>
            <p:ph type="title"/>
          </p:nvPr>
        </p:nvSpPr>
        <p:spPr>
          <a:xfrm>
            <a:off x="1088136" y="1090245"/>
            <a:ext cx="9922764" cy="1294228"/>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47C19D24-DCBE-47F9-8B85-8A118B02B3C9}"/>
              </a:ext>
            </a:extLst>
          </p:cNvPr>
          <p:cNvSpPr>
            <a:spLocks noGrp="1"/>
          </p:cNvSpPr>
          <p:nvPr>
            <p:ph type="body" idx="1"/>
          </p:nvPr>
        </p:nvSpPr>
        <p:spPr>
          <a:xfrm>
            <a:off x="1088136" y="2447778"/>
            <a:ext cx="9922764" cy="383872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34F5788-BDCE-49E2-80AE-31C739C6A0CE}"/>
              </a:ext>
            </a:extLst>
          </p:cNvPr>
          <p:cNvSpPr>
            <a:spLocks noGrp="1"/>
          </p:cNvSpPr>
          <p:nvPr>
            <p:ph type="dt" sz="half" idx="2"/>
          </p:nvPr>
        </p:nvSpPr>
        <p:spPr>
          <a:xfrm>
            <a:off x="7315200" y="6389688"/>
            <a:ext cx="3695302" cy="365125"/>
          </a:xfrm>
          <a:prstGeom prst="rect">
            <a:avLst/>
          </a:prstGeom>
        </p:spPr>
        <p:txBody>
          <a:bodyPr vert="horz" lIns="91440" tIns="45720" rIns="91440" bIns="45720" rtlCol="0" anchor="ctr"/>
          <a:lstStyle>
            <a:lvl1pPr algn="l">
              <a:defRPr sz="900">
                <a:solidFill>
                  <a:schemeClr val="tx1"/>
                </a:solidFill>
              </a:defRPr>
            </a:lvl1pPr>
          </a:lstStyle>
          <a:p>
            <a:fld id="{A1E45834-53BD-4C8F-B791-CD5378F4150E}" type="datetimeFigureOut">
              <a:rPr lang="en-US" smtClean="0"/>
              <a:t>2/4/2026</a:t>
            </a:fld>
            <a:endParaRPr lang="en-US"/>
          </a:p>
        </p:txBody>
      </p:sp>
      <p:sp>
        <p:nvSpPr>
          <p:cNvPr id="5" name="Footer Placeholder 4">
            <a:extLst>
              <a:ext uri="{FF2B5EF4-FFF2-40B4-BE49-F238E27FC236}">
                <a16:creationId xmlns:a16="http://schemas.microsoft.com/office/drawing/2014/main" id="{FD1D5844-8163-4D82-BEFC-BC2D8D511B7E}"/>
              </a:ext>
            </a:extLst>
          </p:cNvPr>
          <p:cNvSpPr>
            <a:spLocks noGrp="1"/>
          </p:cNvSpPr>
          <p:nvPr>
            <p:ph type="ftr" sz="quarter" idx="3"/>
          </p:nvPr>
        </p:nvSpPr>
        <p:spPr>
          <a:xfrm>
            <a:off x="1090940" y="6389688"/>
            <a:ext cx="4433560" cy="365125"/>
          </a:xfrm>
          <a:prstGeom prst="rect">
            <a:avLst/>
          </a:prstGeom>
        </p:spPr>
        <p:txBody>
          <a:bodyPr vert="horz" lIns="91440" tIns="45720" rIns="91440" bIns="45720" rtlCol="0" anchor="ctr"/>
          <a:lstStyle>
            <a:lvl1pPr algn="l">
              <a:defRPr sz="9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22698A50-C435-4220-82C6-C8D62A7C9EB0}"/>
              </a:ext>
            </a:extLst>
          </p:cNvPr>
          <p:cNvSpPr>
            <a:spLocks noGrp="1"/>
          </p:cNvSpPr>
          <p:nvPr>
            <p:ph type="sldNum" sz="quarter" idx="4"/>
          </p:nvPr>
        </p:nvSpPr>
        <p:spPr>
          <a:xfrm>
            <a:off x="10983190" y="6389688"/>
            <a:ext cx="940296" cy="365125"/>
          </a:xfrm>
          <a:prstGeom prst="rect">
            <a:avLst/>
          </a:prstGeom>
        </p:spPr>
        <p:txBody>
          <a:bodyPr vert="horz" lIns="91440" tIns="45720" rIns="91440" bIns="45720" rtlCol="0" anchor="ctr"/>
          <a:lstStyle>
            <a:lvl1pPr algn="r">
              <a:defRPr sz="900">
                <a:solidFill>
                  <a:schemeClr val="tx1"/>
                </a:solidFill>
              </a:defRPr>
            </a:lvl1pPr>
          </a:lstStyle>
          <a:p>
            <a:fld id="{719D7796-F675-488F-AC46-C88938C80352}" type="slidenum">
              <a:rPr lang="en-US" smtClean="0"/>
              <a:t>‹#›</a:t>
            </a:fld>
            <a:endParaRPr lang="en-US"/>
          </a:p>
        </p:txBody>
      </p:sp>
      <p:cxnSp>
        <p:nvCxnSpPr>
          <p:cNvPr id="28" name="Straight Connector 27">
            <a:extLst>
              <a:ext uri="{FF2B5EF4-FFF2-40B4-BE49-F238E27FC236}">
                <a16:creationId xmlns:a16="http://schemas.microsoft.com/office/drawing/2014/main" id="{D8689CE0-64D2-447C-9C1F-872D111D8AC3}"/>
              </a:ext>
            </a:extLst>
          </p:cNvPr>
          <p:cNvCxnSpPr>
            <a:cxnSpLocks/>
          </p:cNvCxnSpPr>
          <p:nvPr/>
        </p:nvCxnSpPr>
        <p:spPr>
          <a:xfrm>
            <a:off x="0" y="1185205"/>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7441899"/>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2" r:id="rId6"/>
    <p:sldLayoutId id="2147483688" r:id="rId7"/>
    <p:sldLayoutId id="2147483689" r:id="rId8"/>
    <p:sldLayoutId id="2147483690" r:id="rId9"/>
    <p:sldLayoutId id="2147483691" r:id="rId10"/>
    <p:sldLayoutId id="2147483693" r:id="rId11"/>
  </p:sldLayoutIdLst>
  <p:txStyles>
    <p:titleStyle>
      <a:lvl1pPr algn="l" defTabSz="914400" rtl="0" eaLnBrk="1" latinLnBrk="0" hangingPunct="1">
        <a:lnSpc>
          <a:spcPct val="85000"/>
        </a:lnSpc>
        <a:spcBef>
          <a:spcPct val="0"/>
        </a:spcBef>
        <a:buNone/>
        <a:defRPr sz="4400" b="1" kern="1200" cap="none" baseline="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Neue Haas Grotesk Text Pro" panose="020B0504020202020204" pitchFamily="34" charset="0"/>
        <a:buChar char="-"/>
        <a:defRPr sz="1800" kern="1200">
          <a:solidFill>
            <a:schemeClr val="tx1"/>
          </a:solidFill>
          <a:latin typeface="+mn-lt"/>
          <a:ea typeface="+mn-ea"/>
          <a:cs typeface="+mn-cs"/>
        </a:defRPr>
      </a:lvl1pPr>
      <a:lvl2pPr marL="502920" indent="-228600" algn="l" defTabSz="914400" rtl="0" eaLnBrk="1" latinLnBrk="0" hangingPunct="1">
        <a:lnSpc>
          <a:spcPct val="130000"/>
        </a:lnSpc>
        <a:spcBef>
          <a:spcPts val="500"/>
        </a:spcBef>
        <a:buFont typeface="Neue Haas Grotesk Text Pro" panose="020B05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30000"/>
        </a:lnSpc>
        <a:spcBef>
          <a:spcPts val="500"/>
        </a:spcBef>
        <a:buFont typeface="Neue Haas Grotesk Text Pro" panose="020B0504020202020204" pitchFamily="34" charset="0"/>
        <a:buChar char="-"/>
        <a:defRPr sz="1600" kern="1200">
          <a:solidFill>
            <a:schemeClr val="tx1"/>
          </a:solidFill>
          <a:latin typeface="+mn-lt"/>
          <a:ea typeface="+mn-ea"/>
          <a:cs typeface="+mn-cs"/>
        </a:defRPr>
      </a:lvl3pPr>
      <a:lvl4pPr marL="1005840" indent="-228600" algn="l" defTabSz="914400" rtl="0" eaLnBrk="1" latinLnBrk="0" hangingPunct="1">
        <a:lnSpc>
          <a:spcPct val="130000"/>
        </a:lnSpc>
        <a:spcBef>
          <a:spcPts val="500"/>
        </a:spcBef>
        <a:buFont typeface="Neue Haas Grotesk Text Pro" panose="020B0504020202020204" pitchFamily="34" charset="0"/>
        <a:buChar char="-"/>
        <a:defRPr sz="1400" kern="1200">
          <a:solidFill>
            <a:schemeClr val="tx1"/>
          </a:solidFill>
          <a:latin typeface="+mn-lt"/>
          <a:ea typeface="+mn-ea"/>
          <a:cs typeface="+mn-cs"/>
        </a:defRPr>
      </a:lvl4pPr>
      <a:lvl5pPr marL="1280160" indent="-228600" algn="l" defTabSz="914400" rtl="0" eaLnBrk="1" latinLnBrk="0" hangingPunct="1">
        <a:lnSpc>
          <a:spcPct val="130000"/>
        </a:lnSpc>
        <a:spcBef>
          <a:spcPts val="500"/>
        </a:spcBef>
        <a:buFont typeface="Neue Haas Grotesk Text Pro" panose="020B05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11C99DC-C3C5-4EBE-91DD-345109C3D6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0DF5DF-70C8-1CEA-D39E-C34728BD6BDD}"/>
              </a:ext>
            </a:extLst>
          </p:cNvPr>
          <p:cNvSpPr>
            <a:spLocks noGrp="1"/>
          </p:cNvSpPr>
          <p:nvPr>
            <p:ph type="ctrTitle"/>
          </p:nvPr>
        </p:nvSpPr>
        <p:spPr>
          <a:xfrm>
            <a:off x="1080789" y="2457319"/>
            <a:ext cx="5015211" cy="3495365"/>
          </a:xfrm>
        </p:spPr>
        <p:txBody>
          <a:bodyPr anchor="b">
            <a:normAutofit/>
          </a:bodyPr>
          <a:lstStyle/>
          <a:p>
            <a:r>
              <a:rPr lang="en-US" sz="3600" dirty="0"/>
              <a:t>Chapter 3: Cybercrime and cybercrime laws</a:t>
            </a:r>
          </a:p>
        </p:txBody>
      </p:sp>
      <p:sp>
        <p:nvSpPr>
          <p:cNvPr id="3" name="Subtitle 2">
            <a:extLst>
              <a:ext uri="{FF2B5EF4-FFF2-40B4-BE49-F238E27FC236}">
                <a16:creationId xmlns:a16="http://schemas.microsoft.com/office/drawing/2014/main" id="{CECE0DD2-D7D9-8145-6C15-D59E2A99FC7D}"/>
              </a:ext>
            </a:extLst>
          </p:cNvPr>
          <p:cNvSpPr>
            <a:spLocks noGrp="1"/>
          </p:cNvSpPr>
          <p:nvPr>
            <p:ph type="subTitle" idx="1"/>
          </p:nvPr>
        </p:nvSpPr>
        <p:spPr>
          <a:xfrm>
            <a:off x="1094716" y="1022130"/>
            <a:ext cx="5001284" cy="1268361"/>
          </a:xfrm>
        </p:spPr>
        <p:txBody>
          <a:bodyPr anchor="t">
            <a:normAutofit/>
          </a:bodyPr>
          <a:lstStyle/>
          <a:p>
            <a:endParaRPr lang="en-US"/>
          </a:p>
        </p:txBody>
      </p:sp>
      <p:cxnSp>
        <p:nvCxnSpPr>
          <p:cNvPr id="11" name="Straight Connector 10">
            <a:extLst>
              <a:ext uri="{FF2B5EF4-FFF2-40B4-BE49-F238E27FC236}">
                <a16:creationId xmlns:a16="http://schemas.microsoft.com/office/drawing/2014/main" id="{B0AA360F-DECB-4836-8FB6-22C4BC3FB02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684" y="1186792"/>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Picture 3" descr="A purple and white sky&#10;&#10;Description automatically generated">
            <a:extLst>
              <a:ext uri="{FF2B5EF4-FFF2-40B4-BE49-F238E27FC236}">
                <a16:creationId xmlns:a16="http://schemas.microsoft.com/office/drawing/2014/main" id="{E633B07B-028F-BDD4-8CF6-7210973F3E09}"/>
              </a:ext>
            </a:extLst>
          </p:cNvPr>
          <p:cNvPicPr>
            <a:picLocks noChangeAspect="1"/>
          </p:cNvPicPr>
          <p:nvPr/>
        </p:nvPicPr>
        <p:blipFill>
          <a:blip r:embed="rId3"/>
          <a:srcRect l="5687" r="14313"/>
          <a:stretch/>
        </p:blipFill>
        <p:spPr>
          <a:xfrm>
            <a:off x="6705594" y="1"/>
            <a:ext cx="5486407" cy="6857999"/>
          </a:xfrm>
          <a:prstGeom prst="rect">
            <a:avLst/>
          </a:prstGeom>
        </p:spPr>
      </p:pic>
    </p:spTree>
    <p:extLst>
      <p:ext uri="{BB962C8B-B14F-4D97-AF65-F5344CB8AC3E}">
        <p14:creationId xmlns:p14="http://schemas.microsoft.com/office/powerpoint/2010/main" val="23056686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1B1731-39D9-4145-8343-C209E1F09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9DF653A-1503-7D8E-41DE-AA44AA4B70BF}"/>
              </a:ext>
            </a:extLst>
          </p:cNvPr>
          <p:cNvSpPr>
            <a:spLocks noGrp="1"/>
          </p:cNvSpPr>
          <p:nvPr>
            <p:ph type="title"/>
          </p:nvPr>
        </p:nvSpPr>
        <p:spPr>
          <a:xfrm>
            <a:off x="1091203" y="1069848"/>
            <a:ext cx="6308775" cy="2049620"/>
          </a:xfrm>
        </p:spPr>
        <p:txBody>
          <a:bodyPr>
            <a:normAutofit/>
          </a:bodyPr>
          <a:lstStyle/>
          <a:p>
            <a:r>
              <a:rPr lang="en-US" sz="6000"/>
              <a:t>Cybercrime</a:t>
            </a:r>
          </a:p>
        </p:txBody>
      </p:sp>
      <p:cxnSp>
        <p:nvCxnSpPr>
          <p:cNvPr id="11" name="Straight Connector 10">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83"/>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2807E35C-6BDF-15BE-19E2-77696908A41D}"/>
              </a:ext>
            </a:extLst>
          </p:cNvPr>
          <p:cNvSpPr>
            <a:spLocks noGrp="1"/>
          </p:cNvSpPr>
          <p:nvPr>
            <p:ph idx="1"/>
          </p:nvPr>
        </p:nvSpPr>
        <p:spPr>
          <a:xfrm>
            <a:off x="1097280" y="3180522"/>
            <a:ext cx="6223996" cy="3105978"/>
          </a:xfrm>
        </p:spPr>
        <p:txBody>
          <a:bodyPr>
            <a:normAutofit fontScale="92500" lnSpcReduction="20000"/>
          </a:bodyPr>
          <a:lstStyle/>
          <a:p>
            <a:pPr>
              <a:lnSpc>
                <a:spcPct val="120000"/>
              </a:lnSpc>
            </a:pPr>
            <a:r>
              <a:rPr lang="en-US" sz="1500" b="1" dirty="0"/>
              <a:t>Cybercrime: </a:t>
            </a:r>
            <a:r>
              <a:rPr lang="en-US" sz="1500" dirty="0"/>
              <a:t>A special category of criminal acts that are typically executed through the utilization of computer and network technologies</a:t>
            </a:r>
          </a:p>
          <a:p>
            <a:pPr>
              <a:lnSpc>
                <a:spcPct val="120000"/>
              </a:lnSpc>
            </a:pPr>
            <a:r>
              <a:rPr lang="en-US" sz="1500" dirty="0"/>
              <a:t>Cybercrime includes three basic categories:</a:t>
            </a:r>
          </a:p>
          <a:p>
            <a:pPr marL="342900" indent="-342900">
              <a:lnSpc>
                <a:spcPct val="120000"/>
              </a:lnSpc>
              <a:buFont typeface="+mj-lt"/>
              <a:buAutoNum type="arabicPeriod"/>
            </a:pPr>
            <a:r>
              <a:rPr lang="en-US" sz="1500" b="1" dirty="0"/>
              <a:t>Software Piracy: </a:t>
            </a:r>
            <a:r>
              <a:rPr lang="en-US" sz="1500" dirty="0"/>
              <a:t>The unauthorized duplication of proprietary software and the distribution or making available of those copies over the network</a:t>
            </a:r>
          </a:p>
          <a:p>
            <a:pPr marL="342900" indent="-342900">
              <a:lnSpc>
                <a:spcPct val="120000"/>
              </a:lnSpc>
              <a:buFont typeface="+mj-lt"/>
              <a:buAutoNum type="arabicPeriod"/>
            </a:pPr>
            <a:r>
              <a:rPr lang="en-US" sz="1500" b="1" dirty="0"/>
              <a:t>Computer Sabotage: </a:t>
            </a:r>
            <a:r>
              <a:rPr lang="en-US" sz="1500" dirty="0"/>
              <a:t>implies interference with computer systems, such as disruption of operations by means of malware.</a:t>
            </a:r>
          </a:p>
          <a:p>
            <a:pPr marL="342900" indent="-342900">
              <a:lnSpc>
                <a:spcPct val="120000"/>
              </a:lnSpc>
              <a:buFont typeface="+mj-lt"/>
              <a:buAutoNum type="arabicPeriod"/>
            </a:pPr>
            <a:r>
              <a:rPr lang="en-US" sz="1500" b="1" dirty="0"/>
              <a:t>Electronic break-ins: </a:t>
            </a:r>
            <a:r>
              <a:rPr lang="en-US" sz="1500" dirty="0"/>
              <a:t>Unauthorized access to sensitive data, including cyber espionage. </a:t>
            </a:r>
          </a:p>
          <a:p>
            <a:pPr>
              <a:lnSpc>
                <a:spcPct val="120000"/>
              </a:lnSpc>
            </a:pPr>
            <a:endParaRPr lang="en-US" sz="1500" dirty="0"/>
          </a:p>
        </p:txBody>
      </p:sp>
      <p:pic>
        <p:nvPicPr>
          <p:cNvPr id="5" name="Picture 4" descr="Circuit board background">
            <a:extLst>
              <a:ext uri="{FF2B5EF4-FFF2-40B4-BE49-F238E27FC236}">
                <a16:creationId xmlns:a16="http://schemas.microsoft.com/office/drawing/2014/main" id="{2F225431-CD13-DFA8-59E2-02F7726B4D95}"/>
              </a:ext>
            </a:extLst>
          </p:cNvPr>
          <p:cNvPicPr>
            <a:picLocks noChangeAspect="1"/>
          </p:cNvPicPr>
          <p:nvPr/>
        </p:nvPicPr>
        <p:blipFill>
          <a:blip r:embed="rId3"/>
          <a:srcRect l="15043" r="49490"/>
          <a:stretch/>
        </p:blipFill>
        <p:spPr>
          <a:xfrm>
            <a:off x="8534400" y="10"/>
            <a:ext cx="3657601" cy="6857990"/>
          </a:xfrm>
          <a:prstGeom prst="rect">
            <a:avLst/>
          </a:prstGeom>
        </p:spPr>
      </p:pic>
    </p:spTree>
    <p:extLst>
      <p:ext uri="{BB962C8B-B14F-4D97-AF65-F5344CB8AC3E}">
        <p14:creationId xmlns:p14="http://schemas.microsoft.com/office/powerpoint/2010/main" val="3867965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7A451F5-0044-411A-B07C-6382FDFC63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AD4C5B16-4350-5A14-521F-0A09FDB6C8C2}"/>
              </a:ext>
            </a:extLst>
          </p:cNvPr>
          <p:cNvSpPr>
            <a:spLocks noGrp="1"/>
          </p:cNvSpPr>
          <p:nvPr>
            <p:ph type="ctrTitle"/>
          </p:nvPr>
        </p:nvSpPr>
        <p:spPr>
          <a:xfrm>
            <a:off x="1068818" y="1076635"/>
            <a:ext cx="9919959" cy="3757751"/>
          </a:xfrm>
        </p:spPr>
        <p:txBody>
          <a:bodyPr anchor="t">
            <a:normAutofit/>
          </a:bodyPr>
          <a:lstStyle/>
          <a:p>
            <a:r>
              <a:rPr lang="en-US" sz="5600" dirty="0"/>
              <a:t>Discussion 3.1 what is the best way to handle ransomware cases in your organization?</a:t>
            </a:r>
          </a:p>
        </p:txBody>
      </p:sp>
      <p:sp>
        <p:nvSpPr>
          <p:cNvPr id="5" name="Subtitle 4">
            <a:extLst>
              <a:ext uri="{FF2B5EF4-FFF2-40B4-BE49-F238E27FC236}">
                <a16:creationId xmlns:a16="http://schemas.microsoft.com/office/drawing/2014/main" id="{E2D6ECC2-55A8-3980-D729-0F38A05D3936}"/>
              </a:ext>
            </a:extLst>
          </p:cNvPr>
          <p:cNvSpPr>
            <a:spLocks noGrp="1"/>
          </p:cNvSpPr>
          <p:nvPr>
            <p:ph type="subTitle" idx="1"/>
          </p:nvPr>
        </p:nvSpPr>
        <p:spPr>
          <a:xfrm>
            <a:off x="1070490" y="4834393"/>
            <a:ext cx="9940409" cy="1005968"/>
          </a:xfrm>
        </p:spPr>
        <p:txBody>
          <a:bodyPr anchor="b">
            <a:normAutofit/>
          </a:bodyPr>
          <a:lstStyle/>
          <a:p>
            <a:endParaRPr lang="en-US"/>
          </a:p>
        </p:txBody>
      </p:sp>
      <p:cxnSp>
        <p:nvCxnSpPr>
          <p:cNvPr id="12" name="Straight Connector 11">
            <a:extLst>
              <a:ext uri="{FF2B5EF4-FFF2-40B4-BE49-F238E27FC236}">
                <a16:creationId xmlns:a16="http://schemas.microsoft.com/office/drawing/2014/main" id="{B0AA360F-DECB-4836-8FB6-22C4BC3FB02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65890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1B1731-39D9-4145-8343-C209E1F09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7FBC58-BB04-AC1D-0E3B-E216197C0CFF}"/>
              </a:ext>
            </a:extLst>
          </p:cNvPr>
          <p:cNvSpPr>
            <a:spLocks noGrp="1"/>
          </p:cNvSpPr>
          <p:nvPr>
            <p:ph type="title"/>
          </p:nvPr>
        </p:nvSpPr>
        <p:spPr>
          <a:xfrm>
            <a:off x="1091203" y="1069848"/>
            <a:ext cx="6308775" cy="2049620"/>
          </a:xfrm>
        </p:spPr>
        <p:txBody>
          <a:bodyPr>
            <a:normAutofit/>
          </a:bodyPr>
          <a:lstStyle/>
          <a:p>
            <a:r>
              <a:rPr lang="en-US" sz="6000"/>
              <a:t>Computer-related crimes</a:t>
            </a:r>
          </a:p>
        </p:txBody>
      </p:sp>
      <p:cxnSp>
        <p:nvCxnSpPr>
          <p:cNvPr id="11" name="Straight Connector 10">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83"/>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719830A-12CD-80C9-AE9A-0DAFB0AEAC7A}"/>
              </a:ext>
            </a:extLst>
          </p:cNvPr>
          <p:cNvSpPr>
            <a:spLocks noGrp="1"/>
          </p:cNvSpPr>
          <p:nvPr>
            <p:ph idx="1"/>
          </p:nvPr>
        </p:nvSpPr>
        <p:spPr>
          <a:xfrm>
            <a:off x="1097280" y="3180522"/>
            <a:ext cx="6223996" cy="3105978"/>
          </a:xfrm>
        </p:spPr>
        <p:txBody>
          <a:bodyPr>
            <a:normAutofit/>
          </a:bodyPr>
          <a:lstStyle/>
          <a:p>
            <a:r>
              <a:rPr lang="en-US" sz="1700" b="1" dirty="0"/>
              <a:t>Computer-related crimes: </a:t>
            </a:r>
            <a:r>
              <a:rPr lang="en-US" sz="1700" dirty="0"/>
              <a:t>Traditional crimes that can be aided by the use of computers</a:t>
            </a:r>
          </a:p>
          <a:p>
            <a:r>
              <a:rPr lang="en-US" sz="1700" dirty="0"/>
              <a:t>Crimes can include:</a:t>
            </a:r>
          </a:p>
          <a:p>
            <a:pPr marL="342900" indent="-342900">
              <a:buFont typeface="+mj-lt"/>
              <a:buAutoNum type="arabicPeriod"/>
            </a:pPr>
            <a:r>
              <a:rPr lang="en-US" sz="1700" dirty="0"/>
              <a:t>Stalking</a:t>
            </a:r>
          </a:p>
          <a:p>
            <a:pPr marL="342900" indent="-342900">
              <a:buFont typeface="+mj-lt"/>
              <a:buAutoNum type="arabicPeriod"/>
            </a:pPr>
            <a:r>
              <a:rPr lang="en-US" sz="1700" dirty="0"/>
              <a:t>Theft (identity theft, fraud, swindling, or embezzlement)</a:t>
            </a:r>
          </a:p>
          <a:p>
            <a:pPr marL="342900" indent="-342900">
              <a:buFont typeface="+mj-lt"/>
              <a:buAutoNum type="arabicPeriod"/>
            </a:pPr>
            <a:r>
              <a:rPr lang="en-US" sz="1700" dirty="0"/>
              <a:t>Data leakage (trade secrets)</a:t>
            </a:r>
          </a:p>
          <a:p>
            <a:pPr marL="342900" indent="-342900">
              <a:buFont typeface="+mj-lt"/>
              <a:buAutoNum type="arabicPeriod"/>
            </a:pPr>
            <a:r>
              <a:rPr lang="en-US" sz="1700" dirty="0"/>
              <a:t>Phishing </a:t>
            </a:r>
          </a:p>
        </p:txBody>
      </p:sp>
      <p:pic>
        <p:nvPicPr>
          <p:cNvPr id="5" name="Picture 4" descr="Circuit board background">
            <a:extLst>
              <a:ext uri="{FF2B5EF4-FFF2-40B4-BE49-F238E27FC236}">
                <a16:creationId xmlns:a16="http://schemas.microsoft.com/office/drawing/2014/main" id="{0AB534C0-D85B-48B5-74CD-D58017B31562}"/>
              </a:ext>
            </a:extLst>
          </p:cNvPr>
          <p:cNvPicPr>
            <a:picLocks noChangeAspect="1"/>
          </p:cNvPicPr>
          <p:nvPr/>
        </p:nvPicPr>
        <p:blipFill>
          <a:blip r:embed="rId2"/>
          <a:srcRect l="15043" r="49490"/>
          <a:stretch/>
        </p:blipFill>
        <p:spPr>
          <a:xfrm>
            <a:off x="8534400" y="10"/>
            <a:ext cx="3657601" cy="6857990"/>
          </a:xfrm>
          <a:prstGeom prst="rect">
            <a:avLst/>
          </a:prstGeom>
        </p:spPr>
      </p:pic>
    </p:spTree>
    <p:extLst>
      <p:ext uri="{BB962C8B-B14F-4D97-AF65-F5344CB8AC3E}">
        <p14:creationId xmlns:p14="http://schemas.microsoft.com/office/powerpoint/2010/main" val="13107527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561B1731-39D9-4145-8343-C209E1F09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5B1B6B0-B4B6-544C-7204-2D066F648CDB}"/>
              </a:ext>
            </a:extLst>
          </p:cNvPr>
          <p:cNvSpPr>
            <a:spLocks noGrp="1"/>
          </p:cNvSpPr>
          <p:nvPr>
            <p:ph type="title"/>
          </p:nvPr>
        </p:nvSpPr>
        <p:spPr>
          <a:xfrm>
            <a:off x="1091203" y="1069848"/>
            <a:ext cx="6308775" cy="2049620"/>
          </a:xfrm>
        </p:spPr>
        <p:txBody>
          <a:bodyPr>
            <a:normAutofit/>
          </a:bodyPr>
          <a:lstStyle/>
          <a:p>
            <a:r>
              <a:rPr lang="en-US" sz="6000" dirty="0"/>
              <a:t>Financial Crimes</a:t>
            </a:r>
          </a:p>
        </p:txBody>
      </p:sp>
      <p:cxnSp>
        <p:nvCxnSpPr>
          <p:cNvPr id="16" name="Straight Connector 15">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83"/>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Content Placeholder 10">
            <a:extLst>
              <a:ext uri="{FF2B5EF4-FFF2-40B4-BE49-F238E27FC236}">
                <a16:creationId xmlns:a16="http://schemas.microsoft.com/office/drawing/2014/main" id="{D183BEE8-1F18-4A04-48A5-0BC5411AEE2C}"/>
              </a:ext>
            </a:extLst>
          </p:cNvPr>
          <p:cNvSpPr>
            <a:spLocks noGrp="1"/>
          </p:cNvSpPr>
          <p:nvPr>
            <p:ph idx="1"/>
          </p:nvPr>
        </p:nvSpPr>
        <p:spPr>
          <a:xfrm>
            <a:off x="1097280" y="3180522"/>
            <a:ext cx="6223996" cy="3105978"/>
          </a:xfrm>
        </p:spPr>
        <p:txBody>
          <a:bodyPr>
            <a:normAutofit/>
          </a:bodyPr>
          <a:lstStyle/>
          <a:p>
            <a:r>
              <a:rPr lang="en-US" dirty="0"/>
              <a:t>Financial crimes are non-violent crimes that refer to any illegal act involving acquiring, transferring, or concealing financial assets to gain an unlawful advantage, deception, or breaking laws and regulations.</a:t>
            </a:r>
          </a:p>
          <a:p>
            <a:r>
              <a:rPr lang="en-US" dirty="0"/>
              <a:t>Cryptocurrencies have been labelled as the “Wild </a:t>
            </a:r>
            <a:r>
              <a:rPr lang="en-US" dirty="0" err="1"/>
              <a:t>Wild</a:t>
            </a:r>
            <a:r>
              <a:rPr lang="en-US" dirty="0"/>
              <a:t> West” where financial crimes are rampant.</a:t>
            </a:r>
          </a:p>
        </p:txBody>
      </p:sp>
      <p:pic>
        <p:nvPicPr>
          <p:cNvPr id="7" name="Content Placeholder 6" descr="A poster of a cowboy with a hat and two men&#10;&#10;Description automatically generated">
            <a:extLst>
              <a:ext uri="{FF2B5EF4-FFF2-40B4-BE49-F238E27FC236}">
                <a16:creationId xmlns:a16="http://schemas.microsoft.com/office/drawing/2014/main" id="{41DFEC6F-E834-C2C4-DF68-5576914599BC}"/>
              </a:ext>
            </a:extLst>
          </p:cNvPr>
          <p:cNvPicPr>
            <a:picLocks noChangeAspect="1"/>
          </p:cNvPicPr>
          <p:nvPr/>
        </p:nvPicPr>
        <p:blipFill>
          <a:blip r:embed="rId2">
            <a:extLst>
              <a:ext uri="{28A0092B-C50C-407E-A947-70E740481C1C}">
                <a14:useLocalDpi xmlns:a14="http://schemas.microsoft.com/office/drawing/2010/main" val="0"/>
              </a:ext>
            </a:extLst>
          </a:blip>
          <a:srcRect l="23426" r="23241"/>
          <a:stretch/>
        </p:blipFill>
        <p:spPr>
          <a:xfrm>
            <a:off x="8534400" y="10"/>
            <a:ext cx="3657601" cy="6857990"/>
          </a:xfrm>
          <a:prstGeom prst="rect">
            <a:avLst/>
          </a:prstGeom>
        </p:spPr>
      </p:pic>
    </p:spTree>
    <p:extLst>
      <p:ext uri="{BB962C8B-B14F-4D97-AF65-F5344CB8AC3E}">
        <p14:creationId xmlns:p14="http://schemas.microsoft.com/office/powerpoint/2010/main" val="7039540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A8C38AB-00B3-4611-B51A-458666907A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8A99AE-60DC-35E1-B43B-FB762370E416}"/>
              </a:ext>
            </a:extLst>
          </p:cNvPr>
          <p:cNvSpPr>
            <a:spLocks noGrp="1"/>
          </p:cNvSpPr>
          <p:nvPr>
            <p:ph type="title"/>
          </p:nvPr>
        </p:nvSpPr>
        <p:spPr>
          <a:xfrm>
            <a:off x="1092304" y="4504002"/>
            <a:ext cx="3784496" cy="1790886"/>
          </a:xfrm>
        </p:spPr>
        <p:txBody>
          <a:bodyPr anchor="t">
            <a:normAutofit/>
          </a:bodyPr>
          <a:lstStyle/>
          <a:p>
            <a:r>
              <a:rPr lang="en-US" sz="3400"/>
              <a:t>Cryptocurrency-based Financial Crimes</a:t>
            </a:r>
          </a:p>
        </p:txBody>
      </p:sp>
      <p:cxnSp>
        <p:nvCxnSpPr>
          <p:cNvPr id="11" name="Straight Connector 10">
            <a:extLst>
              <a:ext uri="{FF2B5EF4-FFF2-40B4-BE49-F238E27FC236}">
                <a16:creationId xmlns:a16="http://schemas.microsoft.com/office/drawing/2014/main" id="{8F5909CB-6CD3-45DF-9920-8D81824854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4607234"/>
            <a:ext cx="804195" cy="0"/>
          </a:xfrm>
          <a:prstGeom prst="line">
            <a:avLst/>
          </a:prstGeom>
          <a:ln w="8255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3D0B9E38-FA74-31F8-5817-3964FFF09BAC}"/>
              </a:ext>
            </a:extLst>
          </p:cNvPr>
          <p:cNvGraphicFramePr>
            <a:graphicFrameLocks noGrp="1"/>
          </p:cNvGraphicFramePr>
          <p:nvPr>
            <p:ph idx="1"/>
            <p:extLst>
              <p:ext uri="{D42A27DB-BD31-4B8C-83A1-F6EECF244321}">
                <p14:modId xmlns:p14="http://schemas.microsoft.com/office/powerpoint/2010/main" val="1406977743"/>
              </p:ext>
            </p:extLst>
          </p:nvPr>
        </p:nvGraphicFramePr>
        <p:xfrm>
          <a:off x="5412658" y="1110343"/>
          <a:ext cx="6207841" cy="460465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946725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F374C-857F-458C-81C7-61E673F138A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1BC1541-0D47-0EE0-FA6D-9E75053C6ADA}"/>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61EE47F9-0046-55D2-F981-2F807B5EEBCE}"/>
              </a:ext>
            </a:extLst>
          </p:cNvPr>
          <p:cNvPicPr>
            <a:picLocks noChangeAspect="1"/>
          </p:cNvPicPr>
          <p:nvPr/>
        </p:nvPicPr>
        <p:blipFill>
          <a:blip r:embed="rId2"/>
          <a:stretch>
            <a:fillRect/>
          </a:stretch>
        </p:blipFill>
        <p:spPr>
          <a:xfrm>
            <a:off x="0" y="274921"/>
            <a:ext cx="12192000" cy="6308157"/>
          </a:xfrm>
          <a:prstGeom prst="rect">
            <a:avLst/>
          </a:prstGeom>
        </p:spPr>
      </p:pic>
    </p:spTree>
    <p:extLst>
      <p:ext uri="{BB962C8B-B14F-4D97-AF65-F5344CB8AC3E}">
        <p14:creationId xmlns:p14="http://schemas.microsoft.com/office/powerpoint/2010/main" val="27356452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0583E-243E-6F16-6726-01C5EA7C94A5}"/>
              </a:ext>
            </a:extLst>
          </p:cNvPr>
          <p:cNvSpPr>
            <a:spLocks noGrp="1"/>
          </p:cNvSpPr>
          <p:nvPr>
            <p:ph type="title"/>
          </p:nvPr>
        </p:nvSpPr>
        <p:spPr/>
        <p:txBody>
          <a:bodyPr/>
          <a:lstStyle/>
          <a:p>
            <a:r>
              <a:rPr lang="en-US" dirty="0"/>
              <a:t>ICO Frauds</a:t>
            </a:r>
          </a:p>
        </p:txBody>
      </p:sp>
      <p:sp>
        <p:nvSpPr>
          <p:cNvPr id="3" name="Content Placeholder 2">
            <a:extLst>
              <a:ext uri="{FF2B5EF4-FFF2-40B4-BE49-F238E27FC236}">
                <a16:creationId xmlns:a16="http://schemas.microsoft.com/office/drawing/2014/main" id="{B8F47ABB-CE64-8E97-A343-10C42D7200BF}"/>
              </a:ext>
            </a:extLst>
          </p:cNvPr>
          <p:cNvSpPr>
            <a:spLocks noGrp="1"/>
          </p:cNvSpPr>
          <p:nvPr>
            <p:ph idx="1"/>
          </p:nvPr>
        </p:nvSpPr>
        <p:spPr/>
        <p:txBody>
          <a:bodyPr/>
          <a:lstStyle/>
          <a:p>
            <a:r>
              <a:rPr lang="en-US" b="1" dirty="0"/>
              <a:t>Initial Coin Offerings (ICO) Frauds: </a:t>
            </a:r>
            <a:r>
              <a:rPr lang="en-US" dirty="0"/>
              <a:t>Are an initial offering that raises capital by selling cryptocurrency, usually by start-ups in the digital currency market. Examples of ICO Frauds are:</a:t>
            </a:r>
          </a:p>
          <a:p>
            <a:pPr lvl="1"/>
            <a:r>
              <a:rPr lang="en-US" dirty="0"/>
              <a:t>The firm issuing the ICO disappears after collecting money or guarantees an unrealistic return on investment to attract investment and eventually fails to do so (</a:t>
            </a:r>
            <a:r>
              <a:rPr lang="en-US" dirty="0" err="1"/>
              <a:t>Bitconnect</a:t>
            </a:r>
            <a:r>
              <a:rPr lang="en-US" dirty="0"/>
              <a:t> ICO 2017) </a:t>
            </a:r>
          </a:p>
          <a:p>
            <a:pPr lvl="1"/>
            <a:r>
              <a:rPr lang="en-US" dirty="0"/>
              <a:t>ICO issuing firms and their investors can be victims of fraud through phishing, hacking, or malware by cybercriminals (Olympic Games Token OGT 2024)</a:t>
            </a:r>
          </a:p>
        </p:txBody>
      </p:sp>
    </p:spTree>
    <p:extLst>
      <p:ext uri="{BB962C8B-B14F-4D97-AF65-F5344CB8AC3E}">
        <p14:creationId xmlns:p14="http://schemas.microsoft.com/office/powerpoint/2010/main" val="11634629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46454-B01A-2B65-2323-94CBCB5BB468}"/>
              </a:ext>
            </a:extLst>
          </p:cNvPr>
          <p:cNvSpPr>
            <a:spLocks noGrp="1"/>
          </p:cNvSpPr>
          <p:nvPr>
            <p:ph type="title"/>
          </p:nvPr>
        </p:nvSpPr>
        <p:spPr/>
        <p:txBody>
          <a:bodyPr/>
          <a:lstStyle/>
          <a:p>
            <a:r>
              <a:rPr lang="en-US" dirty="0"/>
              <a:t>Money Laundering</a:t>
            </a:r>
          </a:p>
        </p:txBody>
      </p:sp>
      <p:sp>
        <p:nvSpPr>
          <p:cNvPr id="3" name="Content Placeholder 2">
            <a:extLst>
              <a:ext uri="{FF2B5EF4-FFF2-40B4-BE49-F238E27FC236}">
                <a16:creationId xmlns:a16="http://schemas.microsoft.com/office/drawing/2014/main" id="{1D80DA3B-C7EF-E4F6-3708-F6D82BEDA228}"/>
              </a:ext>
            </a:extLst>
          </p:cNvPr>
          <p:cNvSpPr>
            <a:spLocks noGrp="1"/>
          </p:cNvSpPr>
          <p:nvPr>
            <p:ph idx="1"/>
          </p:nvPr>
        </p:nvSpPr>
        <p:spPr/>
        <p:txBody>
          <a:bodyPr/>
          <a:lstStyle/>
          <a:p>
            <a:r>
              <a:rPr lang="en-US" b="1" dirty="0"/>
              <a:t>Money Laundering: </a:t>
            </a:r>
            <a:r>
              <a:rPr lang="en-US" dirty="0"/>
              <a:t>The process of </a:t>
            </a:r>
            <a:r>
              <a:rPr lang="en-US" dirty="0" err="1"/>
              <a:t>legitimising</a:t>
            </a:r>
            <a:r>
              <a:rPr lang="en-US" dirty="0"/>
              <a:t> the money earned through illegal transactions. The process involves three steps:</a:t>
            </a:r>
          </a:p>
          <a:p>
            <a:pPr marL="342900" indent="-342900">
              <a:buFont typeface="+mj-lt"/>
              <a:buAutoNum type="arabicPeriod"/>
            </a:pPr>
            <a:r>
              <a:rPr lang="en-US" b="1" dirty="0"/>
              <a:t>Placement: </a:t>
            </a:r>
            <a:r>
              <a:rPr lang="en-US" dirty="0"/>
              <a:t>Money launderers purchase cryptocurrency through exchanges, P2P exchanges, or crypto ATMs</a:t>
            </a:r>
          </a:p>
          <a:p>
            <a:pPr marL="342900" indent="-342900">
              <a:buFont typeface="+mj-lt"/>
              <a:buAutoNum type="arabicPeriod"/>
            </a:pPr>
            <a:r>
              <a:rPr lang="en-US" b="1" dirty="0"/>
              <a:t>Layering: </a:t>
            </a:r>
            <a:r>
              <a:rPr lang="en-US" dirty="0"/>
              <a:t>Launderers use unregulated exchanges to trade coins into different currencies and use mixers or tumblers to distort their location.</a:t>
            </a:r>
          </a:p>
          <a:p>
            <a:pPr marL="342900" indent="-342900">
              <a:buFont typeface="+mj-lt"/>
              <a:buAutoNum type="arabicPeriod"/>
            </a:pPr>
            <a:r>
              <a:rPr lang="en-US" b="1" dirty="0"/>
              <a:t>Integration:  </a:t>
            </a:r>
            <a:r>
              <a:rPr lang="en-US" dirty="0"/>
              <a:t>The “cleaned” funds are introduced into the legitimate economy. These funds are usually used to buy luxury goods or real estate. Cybercriminals may invest in legitimate businesses or services to make funds appear lawful. </a:t>
            </a:r>
          </a:p>
        </p:txBody>
      </p:sp>
    </p:spTree>
    <p:extLst>
      <p:ext uri="{BB962C8B-B14F-4D97-AF65-F5344CB8AC3E}">
        <p14:creationId xmlns:p14="http://schemas.microsoft.com/office/powerpoint/2010/main" val="35872073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1" name="Rectangle 1040">
            <a:extLst>
              <a:ext uri="{FF2B5EF4-FFF2-40B4-BE49-F238E27FC236}">
                <a16:creationId xmlns:a16="http://schemas.microsoft.com/office/drawing/2014/main" id="{EAD38A05-71A9-42A7-96D8-30DBD82457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F01ADBF-1762-ADEE-3409-37E9725F6271}"/>
              </a:ext>
            </a:extLst>
          </p:cNvPr>
          <p:cNvSpPr>
            <a:spLocks noGrp="1"/>
          </p:cNvSpPr>
          <p:nvPr>
            <p:ph type="title"/>
          </p:nvPr>
        </p:nvSpPr>
        <p:spPr>
          <a:xfrm>
            <a:off x="1088136" y="1069848"/>
            <a:ext cx="10295750" cy="1801388"/>
          </a:xfrm>
        </p:spPr>
        <p:txBody>
          <a:bodyPr>
            <a:normAutofit/>
          </a:bodyPr>
          <a:lstStyle/>
          <a:p>
            <a:r>
              <a:rPr lang="en-US" sz="6000"/>
              <a:t>Ponzi Scheme and Pump and Dumps</a:t>
            </a:r>
          </a:p>
        </p:txBody>
      </p:sp>
      <p:cxnSp>
        <p:nvCxnSpPr>
          <p:cNvPr id="1042" name="Straight Connector 1041">
            <a:extLst>
              <a:ext uri="{FF2B5EF4-FFF2-40B4-BE49-F238E27FC236}">
                <a16:creationId xmlns:a16="http://schemas.microsoft.com/office/drawing/2014/main" id="{BEEC68E4-C92F-4C20-B53E-A68563553A8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620" y="1185205"/>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FDD1EDF-4DB3-A778-FCAE-E55CEC08FB8B}"/>
              </a:ext>
            </a:extLst>
          </p:cNvPr>
          <p:cNvSpPr>
            <a:spLocks noGrp="1"/>
          </p:cNvSpPr>
          <p:nvPr>
            <p:ph idx="1"/>
          </p:nvPr>
        </p:nvSpPr>
        <p:spPr>
          <a:xfrm>
            <a:off x="1096683" y="3328186"/>
            <a:ext cx="6218517" cy="2958314"/>
          </a:xfrm>
        </p:spPr>
        <p:txBody>
          <a:bodyPr>
            <a:normAutofit/>
          </a:bodyPr>
          <a:lstStyle/>
          <a:p>
            <a:pPr>
              <a:lnSpc>
                <a:spcPct val="120000"/>
              </a:lnSpc>
            </a:pPr>
            <a:r>
              <a:rPr lang="en-US" sz="1500" b="1" dirty="0"/>
              <a:t>Ponzi Scheme</a:t>
            </a:r>
            <a:r>
              <a:rPr lang="en-US" sz="1500" dirty="0"/>
              <a:t>: Also known as pyramid schemes, is where the fraudulent issuers of cryptocurrency circulate false information, make extensive marketing efforts, and offer tempting returns to lure investors into buying, selling, or converting coins and then disappear with the money. </a:t>
            </a:r>
          </a:p>
          <a:p>
            <a:pPr>
              <a:lnSpc>
                <a:spcPct val="120000"/>
              </a:lnSpc>
            </a:pPr>
            <a:r>
              <a:rPr lang="en-US" sz="1500" b="1" dirty="0"/>
              <a:t>Pumps and Dumps: </a:t>
            </a:r>
            <a:r>
              <a:rPr lang="en-US" sz="1500" dirty="0"/>
              <a:t>The fraudsters circulate misinformation to increase the price of low-value coins and sell those coins to make profits, leaving investors who bought those coins at a high price. Example: Squid Game Token (SQUID) in 2021.</a:t>
            </a:r>
            <a:endParaRPr lang="en-US" sz="1500" b="1" dirty="0"/>
          </a:p>
        </p:txBody>
      </p:sp>
      <p:pic>
        <p:nvPicPr>
          <p:cNvPr id="1026" name="Picture 2" descr="Squid Game cryptocurrency collapses in apparent scam | Cryptocurrencies |  The Guardian">
            <a:extLst>
              <a:ext uri="{FF2B5EF4-FFF2-40B4-BE49-F238E27FC236}">
                <a16:creationId xmlns:a16="http://schemas.microsoft.com/office/drawing/2014/main" id="{61AEDE7E-8699-DCD3-6A70-1131A39CDE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8874" r="7129" b="3"/>
          <a:stretch/>
        </p:blipFill>
        <p:spPr bwMode="auto">
          <a:xfrm>
            <a:off x="8534399" y="3429000"/>
            <a:ext cx="3657602"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17743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40DC026F-444B-46C9-BCBE-329183BF5F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7BD7C1-225B-C551-BD5C-2A7CCEB1FCF2}"/>
              </a:ext>
            </a:extLst>
          </p:cNvPr>
          <p:cNvSpPr>
            <a:spLocks noGrp="1"/>
          </p:cNvSpPr>
          <p:nvPr>
            <p:ph type="title"/>
          </p:nvPr>
        </p:nvSpPr>
        <p:spPr>
          <a:xfrm>
            <a:off x="1088136" y="1088136"/>
            <a:ext cx="10270671" cy="1188720"/>
          </a:xfrm>
        </p:spPr>
        <p:txBody>
          <a:bodyPr>
            <a:normAutofit/>
          </a:bodyPr>
          <a:lstStyle/>
          <a:p>
            <a:r>
              <a:rPr lang="en-US" sz="4000"/>
              <a:t>Exchange Scams</a:t>
            </a:r>
          </a:p>
        </p:txBody>
      </p:sp>
      <p:cxnSp>
        <p:nvCxnSpPr>
          <p:cNvPr id="13" name="Straight Connector 12">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5255"/>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9C94540-BD2C-729A-6107-0392955322C3}"/>
              </a:ext>
            </a:extLst>
          </p:cNvPr>
          <p:cNvSpPr>
            <a:spLocks noGrp="1"/>
          </p:cNvSpPr>
          <p:nvPr>
            <p:ph idx="1"/>
          </p:nvPr>
        </p:nvSpPr>
        <p:spPr>
          <a:xfrm>
            <a:off x="1096684" y="2593181"/>
            <a:ext cx="4868347" cy="3693319"/>
          </a:xfrm>
        </p:spPr>
        <p:txBody>
          <a:bodyPr>
            <a:normAutofit fontScale="85000" lnSpcReduction="20000"/>
          </a:bodyPr>
          <a:lstStyle/>
          <a:p>
            <a:r>
              <a:rPr lang="en-US" dirty="0"/>
              <a:t>Exchange scams: Cryptocurrency exchanges engage in scams by closing the platform after investors buy coins through that exchange. </a:t>
            </a:r>
          </a:p>
          <a:p>
            <a:r>
              <a:rPr lang="en-US" dirty="0"/>
              <a:t>FTX was one such exchange that defrauded its investors by misusing funds and moving funds across various entities owned by Sam Bankman-Fried, the owner of FTX and Alameda Research. </a:t>
            </a:r>
          </a:p>
          <a:p>
            <a:r>
              <a:rPr lang="en-US" dirty="0"/>
              <a:t>While FTX did not close and disappear with the funds, it misused the funds of its investors, which led to its bankruptcy.</a:t>
            </a:r>
          </a:p>
          <a:p>
            <a:r>
              <a:rPr lang="en-US" dirty="0"/>
              <a:t>Bankman-Fried was sentenced to 24 years in prison in 2024.</a:t>
            </a:r>
          </a:p>
        </p:txBody>
      </p:sp>
      <p:pic>
        <p:nvPicPr>
          <p:cNvPr id="6" name="Picture 5" descr="A person with bitcoin symbols over his eyes&#10;&#10;Description automatically generated">
            <a:extLst>
              <a:ext uri="{FF2B5EF4-FFF2-40B4-BE49-F238E27FC236}">
                <a16:creationId xmlns:a16="http://schemas.microsoft.com/office/drawing/2014/main" id="{F8296F26-8BBE-1AC3-941F-1A9DB782B3AB}"/>
              </a:ext>
            </a:extLst>
          </p:cNvPr>
          <p:cNvPicPr>
            <a:picLocks noChangeAspect="1"/>
          </p:cNvPicPr>
          <p:nvPr/>
        </p:nvPicPr>
        <p:blipFill>
          <a:blip r:embed="rId2"/>
          <a:srcRect l="13921" r="7176"/>
          <a:stretch/>
        </p:blipFill>
        <p:spPr>
          <a:xfrm>
            <a:off x="6705600" y="2657475"/>
            <a:ext cx="5486401" cy="4200526"/>
          </a:xfrm>
          <a:prstGeom prst="rect">
            <a:avLst/>
          </a:prstGeom>
        </p:spPr>
      </p:pic>
    </p:spTree>
    <p:extLst>
      <p:ext uri="{BB962C8B-B14F-4D97-AF65-F5344CB8AC3E}">
        <p14:creationId xmlns:p14="http://schemas.microsoft.com/office/powerpoint/2010/main" val="37933466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1B1731-39D9-4145-8343-C209E1F09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E0B4FD-3AEE-8E8A-903B-18FD07F767DF}"/>
              </a:ext>
            </a:extLst>
          </p:cNvPr>
          <p:cNvSpPr>
            <a:spLocks noGrp="1"/>
          </p:cNvSpPr>
          <p:nvPr>
            <p:ph type="title"/>
          </p:nvPr>
        </p:nvSpPr>
        <p:spPr>
          <a:xfrm>
            <a:off x="1091203" y="1069848"/>
            <a:ext cx="6308775" cy="2049620"/>
          </a:xfrm>
        </p:spPr>
        <p:txBody>
          <a:bodyPr>
            <a:normAutofit/>
          </a:bodyPr>
          <a:lstStyle/>
          <a:p>
            <a:r>
              <a:rPr lang="en-US" sz="4700"/>
              <a:t>Darknet Market and Terrorist Financing</a:t>
            </a:r>
          </a:p>
        </p:txBody>
      </p:sp>
      <p:cxnSp>
        <p:nvCxnSpPr>
          <p:cNvPr id="11" name="Straight Connector 10">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83"/>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E8EE2E0-3E97-1467-0FF4-6275C7760535}"/>
              </a:ext>
            </a:extLst>
          </p:cNvPr>
          <p:cNvSpPr>
            <a:spLocks noGrp="1"/>
          </p:cNvSpPr>
          <p:nvPr>
            <p:ph idx="1"/>
          </p:nvPr>
        </p:nvSpPr>
        <p:spPr>
          <a:xfrm>
            <a:off x="1097280" y="3180522"/>
            <a:ext cx="6223996" cy="3105978"/>
          </a:xfrm>
        </p:spPr>
        <p:txBody>
          <a:bodyPr>
            <a:normAutofit/>
          </a:bodyPr>
          <a:lstStyle/>
          <a:p>
            <a:r>
              <a:rPr lang="en-US" b="1" dirty="0"/>
              <a:t>Darknet market: </a:t>
            </a:r>
            <a:r>
              <a:rPr lang="en-US" dirty="0"/>
              <a:t>Cryptocurrency has become a popular payment method in the darknet market for illegal services such as dealing with illegal drugs and substances, human trafficking, illicit trafficking of protected goods, and counterfeit documents</a:t>
            </a:r>
          </a:p>
          <a:p>
            <a:r>
              <a:rPr lang="en-US" b="1" dirty="0"/>
              <a:t>Terrorist Financing: </a:t>
            </a:r>
            <a:r>
              <a:rPr lang="en-US" dirty="0"/>
              <a:t>Terrorists and their financiers use cryptocurrency to receive, transfer, and spend funds</a:t>
            </a:r>
          </a:p>
        </p:txBody>
      </p:sp>
      <p:pic>
        <p:nvPicPr>
          <p:cNvPr id="5" name="Picture 4" descr="Digital numbers and graphs">
            <a:extLst>
              <a:ext uri="{FF2B5EF4-FFF2-40B4-BE49-F238E27FC236}">
                <a16:creationId xmlns:a16="http://schemas.microsoft.com/office/drawing/2014/main" id="{DCF655ED-DC36-3E93-ADA0-9DAC5C44BC42}"/>
              </a:ext>
            </a:extLst>
          </p:cNvPr>
          <p:cNvPicPr>
            <a:picLocks noChangeAspect="1"/>
          </p:cNvPicPr>
          <p:nvPr/>
        </p:nvPicPr>
        <p:blipFill>
          <a:blip r:embed="rId2"/>
          <a:srcRect l="40523" r="23877" b="-1"/>
          <a:stretch/>
        </p:blipFill>
        <p:spPr>
          <a:xfrm>
            <a:off x="8534400" y="10"/>
            <a:ext cx="3657601" cy="6857990"/>
          </a:xfrm>
          <a:prstGeom prst="rect">
            <a:avLst/>
          </a:prstGeom>
        </p:spPr>
      </p:pic>
    </p:spTree>
    <p:extLst>
      <p:ext uri="{BB962C8B-B14F-4D97-AF65-F5344CB8AC3E}">
        <p14:creationId xmlns:p14="http://schemas.microsoft.com/office/powerpoint/2010/main" val="17699609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86389-0314-90AB-7B70-2E99641605E7}"/>
              </a:ext>
            </a:extLst>
          </p:cNvPr>
          <p:cNvSpPr>
            <a:spLocks noGrp="1"/>
          </p:cNvSpPr>
          <p:nvPr>
            <p:ph type="title"/>
          </p:nvPr>
        </p:nvSpPr>
        <p:spPr/>
        <p:txBody>
          <a:bodyPr/>
          <a:lstStyle/>
          <a:p>
            <a:r>
              <a:rPr lang="en-US"/>
              <a:t>Ransomware and Phishing</a:t>
            </a:r>
            <a:endParaRPr lang="en-US" dirty="0"/>
          </a:p>
        </p:txBody>
      </p:sp>
      <p:graphicFrame>
        <p:nvGraphicFramePr>
          <p:cNvPr id="17" name="Content Placeholder 2">
            <a:extLst>
              <a:ext uri="{FF2B5EF4-FFF2-40B4-BE49-F238E27FC236}">
                <a16:creationId xmlns:a16="http://schemas.microsoft.com/office/drawing/2014/main" id="{DDD5C820-DEEB-4FCC-A983-6AA986AA37F7}"/>
              </a:ext>
            </a:extLst>
          </p:cNvPr>
          <p:cNvGraphicFramePr>
            <a:graphicFrameLocks noGrp="1"/>
          </p:cNvGraphicFramePr>
          <p:nvPr>
            <p:ph idx="1"/>
          </p:nvPr>
        </p:nvGraphicFramePr>
        <p:xfrm>
          <a:off x="1088136" y="2447778"/>
          <a:ext cx="9922764" cy="38387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098414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1B1731-39D9-4145-8343-C209E1F09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03DB35-C15A-1F11-56F8-2D6134C1A4AB}"/>
              </a:ext>
            </a:extLst>
          </p:cNvPr>
          <p:cNvSpPr>
            <a:spLocks noGrp="1"/>
          </p:cNvSpPr>
          <p:nvPr>
            <p:ph type="title"/>
          </p:nvPr>
        </p:nvSpPr>
        <p:spPr>
          <a:xfrm>
            <a:off x="1091203" y="1069848"/>
            <a:ext cx="6308775" cy="2049620"/>
          </a:xfrm>
        </p:spPr>
        <p:txBody>
          <a:bodyPr>
            <a:normAutofit/>
          </a:bodyPr>
          <a:lstStyle/>
          <a:p>
            <a:r>
              <a:rPr lang="en-US" sz="6000"/>
              <a:t>Corruption</a:t>
            </a:r>
          </a:p>
        </p:txBody>
      </p:sp>
      <p:cxnSp>
        <p:nvCxnSpPr>
          <p:cNvPr id="11" name="Straight Connector 10">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83"/>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64B11FF-75E8-F841-D3B5-5505E24C824A}"/>
              </a:ext>
            </a:extLst>
          </p:cNvPr>
          <p:cNvSpPr>
            <a:spLocks noGrp="1"/>
          </p:cNvSpPr>
          <p:nvPr>
            <p:ph idx="1"/>
          </p:nvPr>
        </p:nvSpPr>
        <p:spPr>
          <a:xfrm>
            <a:off x="1097280" y="3180522"/>
            <a:ext cx="6223996" cy="3105978"/>
          </a:xfrm>
        </p:spPr>
        <p:txBody>
          <a:bodyPr>
            <a:normAutofit/>
          </a:bodyPr>
          <a:lstStyle/>
          <a:p>
            <a:r>
              <a:rPr lang="en-US" dirty="0"/>
              <a:t>Corruption: Cryptocurrency involves corruption-related fund transfers (such as bribery). Both parties involved in such transactions have a wallet, and they can avoid detection by ensuring that their e-wallets are inaccessible to others. Later, they can convert this cryptocurrency into cash through money laundering.</a:t>
            </a:r>
          </a:p>
        </p:txBody>
      </p:sp>
      <p:pic>
        <p:nvPicPr>
          <p:cNvPr id="5" name="Picture 4" descr="Old wrinkled hands with some coins">
            <a:extLst>
              <a:ext uri="{FF2B5EF4-FFF2-40B4-BE49-F238E27FC236}">
                <a16:creationId xmlns:a16="http://schemas.microsoft.com/office/drawing/2014/main" id="{963A3DE3-104E-B6A4-56FA-86F224B2335F}"/>
              </a:ext>
            </a:extLst>
          </p:cNvPr>
          <p:cNvPicPr>
            <a:picLocks noChangeAspect="1"/>
          </p:cNvPicPr>
          <p:nvPr/>
        </p:nvPicPr>
        <p:blipFill>
          <a:blip r:embed="rId2"/>
          <a:srcRect l="21742" r="42658" b="-1"/>
          <a:stretch/>
        </p:blipFill>
        <p:spPr>
          <a:xfrm>
            <a:off x="8534400" y="10"/>
            <a:ext cx="3657601" cy="6857990"/>
          </a:xfrm>
          <a:prstGeom prst="rect">
            <a:avLst/>
          </a:prstGeom>
        </p:spPr>
      </p:pic>
    </p:spTree>
    <p:extLst>
      <p:ext uri="{BB962C8B-B14F-4D97-AF65-F5344CB8AC3E}">
        <p14:creationId xmlns:p14="http://schemas.microsoft.com/office/powerpoint/2010/main" val="18765020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227BDC9-FB18-487D-844E-9A6B39F8C1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5320C7-E3FD-E6F3-6456-4BC4115C1D5F}"/>
              </a:ext>
            </a:extLst>
          </p:cNvPr>
          <p:cNvSpPr>
            <a:spLocks noGrp="1"/>
          </p:cNvSpPr>
          <p:nvPr>
            <p:ph type="title"/>
          </p:nvPr>
        </p:nvSpPr>
        <p:spPr>
          <a:xfrm>
            <a:off x="1088136" y="2235210"/>
            <a:ext cx="3807714" cy="3352789"/>
          </a:xfrm>
        </p:spPr>
        <p:txBody>
          <a:bodyPr anchor="t">
            <a:normAutofit/>
          </a:bodyPr>
          <a:lstStyle/>
          <a:p>
            <a:r>
              <a:rPr lang="en-US" sz="4000"/>
              <a:t>Rational Choice Theory</a:t>
            </a:r>
          </a:p>
        </p:txBody>
      </p:sp>
      <p:cxnSp>
        <p:nvCxnSpPr>
          <p:cNvPr id="11" name="Straight Connector 10">
            <a:extLst>
              <a:ext uri="{FF2B5EF4-FFF2-40B4-BE49-F238E27FC236}">
                <a16:creationId xmlns:a16="http://schemas.microsoft.com/office/drawing/2014/main" id="{25BE18DF-459C-485A-834C-292AA6BB108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495" y="2337622"/>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709B5B43-B2D8-1B38-0EF2-4F1053FAFC61}"/>
              </a:ext>
            </a:extLst>
          </p:cNvPr>
          <p:cNvGraphicFramePr>
            <a:graphicFrameLocks noGrp="1"/>
          </p:cNvGraphicFramePr>
          <p:nvPr>
            <p:ph idx="1"/>
            <p:extLst>
              <p:ext uri="{D42A27DB-BD31-4B8C-83A1-F6EECF244321}">
                <p14:modId xmlns:p14="http://schemas.microsoft.com/office/powerpoint/2010/main" val="3900789395"/>
              </p:ext>
            </p:extLst>
          </p:nvPr>
        </p:nvGraphicFramePr>
        <p:xfrm>
          <a:off x="5524500" y="571500"/>
          <a:ext cx="6096000" cy="57149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119916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320C7-E3FD-E6F3-6456-4BC4115C1D5F}"/>
              </a:ext>
            </a:extLst>
          </p:cNvPr>
          <p:cNvSpPr>
            <a:spLocks noGrp="1"/>
          </p:cNvSpPr>
          <p:nvPr>
            <p:ph type="title"/>
          </p:nvPr>
        </p:nvSpPr>
        <p:spPr/>
        <p:txBody>
          <a:bodyPr/>
          <a:lstStyle/>
          <a:p>
            <a:r>
              <a:rPr lang="en-US" dirty="0"/>
              <a:t>Rational Choice Theory</a:t>
            </a:r>
          </a:p>
        </p:txBody>
      </p:sp>
      <p:graphicFrame>
        <p:nvGraphicFramePr>
          <p:cNvPr id="5" name="Content Placeholder 2">
            <a:extLst>
              <a:ext uri="{FF2B5EF4-FFF2-40B4-BE49-F238E27FC236}">
                <a16:creationId xmlns:a16="http://schemas.microsoft.com/office/drawing/2014/main" id="{BFACA286-BC8A-5FB6-1F2E-F584BEE7F371}"/>
              </a:ext>
            </a:extLst>
          </p:cNvPr>
          <p:cNvGraphicFramePr>
            <a:graphicFrameLocks noGrp="1"/>
          </p:cNvGraphicFramePr>
          <p:nvPr>
            <p:ph idx="1"/>
            <p:extLst>
              <p:ext uri="{D42A27DB-BD31-4B8C-83A1-F6EECF244321}">
                <p14:modId xmlns:p14="http://schemas.microsoft.com/office/powerpoint/2010/main" val="3286658124"/>
              </p:ext>
            </p:extLst>
          </p:nvPr>
        </p:nvGraphicFramePr>
        <p:xfrm>
          <a:off x="1088136" y="2447778"/>
          <a:ext cx="9922764" cy="38387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4226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5A8C38AB-00B3-4611-B51A-458666907A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C9CFEF1-5FB7-0474-05B7-0FDB44E7FA71}"/>
              </a:ext>
            </a:extLst>
          </p:cNvPr>
          <p:cNvSpPr>
            <a:spLocks noGrp="1"/>
          </p:cNvSpPr>
          <p:nvPr>
            <p:ph type="title"/>
          </p:nvPr>
        </p:nvSpPr>
        <p:spPr>
          <a:xfrm>
            <a:off x="1092304" y="4504002"/>
            <a:ext cx="3784496" cy="1790886"/>
          </a:xfrm>
        </p:spPr>
        <p:txBody>
          <a:bodyPr anchor="t">
            <a:normAutofit/>
          </a:bodyPr>
          <a:lstStyle/>
          <a:p>
            <a:r>
              <a:rPr lang="en-US" sz="4000"/>
              <a:t>Convenience Theory</a:t>
            </a:r>
          </a:p>
        </p:txBody>
      </p:sp>
      <p:cxnSp>
        <p:nvCxnSpPr>
          <p:cNvPr id="14" name="Straight Connector 13">
            <a:extLst>
              <a:ext uri="{FF2B5EF4-FFF2-40B4-BE49-F238E27FC236}">
                <a16:creationId xmlns:a16="http://schemas.microsoft.com/office/drawing/2014/main" id="{8F5909CB-6CD3-45DF-9920-8D81824854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4607234"/>
            <a:ext cx="804195" cy="0"/>
          </a:xfrm>
          <a:prstGeom prst="line">
            <a:avLst/>
          </a:prstGeom>
          <a:ln w="8255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5" name="Content Placeholder 2">
            <a:extLst>
              <a:ext uri="{FF2B5EF4-FFF2-40B4-BE49-F238E27FC236}">
                <a16:creationId xmlns:a16="http://schemas.microsoft.com/office/drawing/2014/main" id="{141E5F86-4A5C-8F5F-3040-5C458A2F3E93}"/>
              </a:ext>
            </a:extLst>
          </p:cNvPr>
          <p:cNvGraphicFramePr>
            <a:graphicFrameLocks noGrp="1"/>
          </p:cNvGraphicFramePr>
          <p:nvPr>
            <p:ph idx="1"/>
            <p:extLst>
              <p:ext uri="{D42A27DB-BD31-4B8C-83A1-F6EECF244321}">
                <p14:modId xmlns:p14="http://schemas.microsoft.com/office/powerpoint/2010/main" val="3921222343"/>
              </p:ext>
            </p:extLst>
          </p:nvPr>
        </p:nvGraphicFramePr>
        <p:xfrm>
          <a:off x="5412658" y="1110343"/>
          <a:ext cx="6207841" cy="460465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674134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A8C38AB-00B3-4611-B51A-458666907A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39431F-2EE5-2B83-3B18-ABB189C914C0}"/>
              </a:ext>
            </a:extLst>
          </p:cNvPr>
          <p:cNvSpPr>
            <a:spLocks noGrp="1"/>
          </p:cNvSpPr>
          <p:nvPr>
            <p:ph type="title"/>
          </p:nvPr>
        </p:nvSpPr>
        <p:spPr>
          <a:xfrm>
            <a:off x="1092304" y="4504002"/>
            <a:ext cx="3784496" cy="1790886"/>
          </a:xfrm>
        </p:spPr>
        <p:txBody>
          <a:bodyPr anchor="t">
            <a:normAutofit/>
          </a:bodyPr>
          <a:lstStyle/>
          <a:p>
            <a:r>
              <a:rPr lang="en-US" sz="4000" dirty="0"/>
              <a:t>Social Learning Theory</a:t>
            </a:r>
          </a:p>
        </p:txBody>
      </p:sp>
      <p:cxnSp>
        <p:nvCxnSpPr>
          <p:cNvPr id="11" name="Straight Connector 10">
            <a:extLst>
              <a:ext uri="{FF2B5EF4-FFF2-40B4-BE49-F238E27FC236}">
                <a16:creationId xmlns:a16="http://schemas.microsoft.com/office/drawing/2014/main" id="{8F5909CB-6CD3-45DF-9920-8D81824854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4607234"/>
            <a:ext cx="804195" cy="0"/>
          </a:xfrm>
          <a:prstGeom prst="line">
            <a:avLst/>
          </a:prstGeom>
          <a:ln w="8255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A2E5A885-0A10-DCAE-0159-D9FDC744D501}"/>
              </a:ext>
            </a:extLst>
          </p:cNvPr>
          <p:cNvGraphicFramePr>
            <a:graphicFrameLocks noGrp="1"/>
          </p:cNvGraphicFramePr>
          <p:nvPr>
            <p:ph idx="1"/>
            <p:extLst>
              <p:ext uri="{D42A27DB-BD31-4B8C-83A1-F6EECF244321}">
                <p14:modId xmlns:p14="http://schemas.microsoft.com/office/powerpoint/2010/main" val="632987855"/>
              </p:ext>
            </p:extLst>
          </p:nvPr>
        </p:nvGraphicFramePr>
        <p:xfrm>
          <a:off x="5412658" y="1110343"/>
          <a:ext cx="6207841" cy="460465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188083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24F3D-2407-9D71-4621-68586D890595}"/>
              </a:ext>
            </a:extLst>
          </p:cNvPr>
          <p:cNvSpPr>
            <a:spLocks noGrp="1"/>
          </p:cNvSpPr>
          <p:nvPr>
            <p:ph type="title"/>
          </p:nvPr>
        </p:nvSpPr>
        <p:spPr/>
        <p:txBody>
          <a:bodyPr/>
          <a:lstStyle/>
          <a:p>
            <a:r>
              <a:rPr lang="en-US" dirty="0"/>
              <a:t>Space Transition Theory</a:t>
            </a:r>
          </a:p>
        </p:txBody>
      </p:sp>
      <p:sp>
        <p:nvSpPr>
          <p:cNvPr id="3" name="Content Placeholder 2">
            <a:extLst>
              <a:ext uri="{FF2B5EF4-FFF2-40B4-BE49-F238E27FC236}">
                <a16:creationId xmlns:a16="http://schemas.microsoft.com/office/drawing/2014/main" id="{D0290C7A-EA1A-F403-76EF-A936DCA00AE5}"/>
              </a:ext>
            </a:extLst>
          </p:cNvPr>
          <p:cNvSpPr>
            <a:spLocks noGrp="1"/>
          </p:cNvSpPr>
          <p:nvPr>
            <p:ph idx="1"/>
          </p:nvPr>
        </p:nvSpPr>
        <p:spPr/>
        <p:txBody>
          <a:bodyPr>
            <a:normAutofit fontScale="92500" lnSpcReduction="20000"/>
          </a:bodyPr>
          <a:lstStyle/>
          <a:p>
            <a:r>
              <a:rPr lang="en-US" dirty="0"/>
              <a:t>Space transition theory suggests that people with a repressed or overt tendency to commit crimes in real life are also likely to commit crimes in virtual space due to the anonymity and likelihood of forming bonds with similar tendencies.</a:t>
            </a:r>
          </a:p>
          <a:p>
            <a:r>
              <a:rPr lang="en-US" dirty="0"/>
              <a:t>This makes intuitive sense since many people seeking anonymity and needing more governance in financial transactions could be barred from doing so in traditional financial institutions. </a:t>
            </a:r>
          </a:p>
          <a:p>
            <a:r>
              <a:rPr lang="en-US" dirty="0"/>
              <a:t>There could be strong self-selection bias where cryptocurrency is used for illicit financing and crimes because it is used by </a:t>
            </a:r>
            <a:r>
              <a:rPr lang="en-US" dirty="0" err="1"/>
              <a:t>unsavoury</a:t>
            </a:r>
            <a:r>
              <a:rPr lang="en-US" dirty="0"/>
              <a:t> individuals who have already committed those crimes in real-world space.</a:t>
            </a:r>
          </a:p>
          <a:p>
            <a:r>
              <a:rPr lang="en-US" dirty="0"/>
              <a:t>So, it is unsurprising that real-world money launderers and scammers would start to show in the virtual space to use cryptocurrency for such activities.</a:t>
            </a:r>
          </a:p>
          <a:p>
            <a:endParaRPr lang="en-US" dirty="0"/>
          </a:p>
        </p:txBody>
      </p:sp>
    </p:spTree>
    <p:extLst>
      <p:ext uri="{BB962C8B-B14F-4D97-AF65-F5344CB8AC3E}">
        <p14:creationId xmlns:p14="http://schemas.microsoft.com/office/powerpoint/2010/main" val="41061336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1B1731-39D9-4145-8343-C209E1F09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6CD5A6F-AD69-E381-A112-28E0E8B22414}"/>
              </a:ext>
            </a:extLst>
          </p:cNvPr>
          <p:cNvSpPr>
            <a:spLocks noGrp="1"/>
          </p:cNvSpPr>
          <p:nvPr>
            <p:ph type="title"/>
          </p:nvPr>
        </p:nvSpPr>
        <p:spPr>
          <a:xfrm>
            <a:off x="1091203" y="1069848"/>
            <a:ext cx="6308775" cy="2049620"/>
          </a:xfrm>
        </p:spPr>
        <p:txBody>
          <a:bodyPr>
            <a:normAutofit/>
          </a:bodyPr>
          <a:lstStyle/>
          <a:p>
            <a:r>
              <a:rPr lang="en-US" sz="5100"/>
              <a:t>Bahrain’s Cyber Crime Legislations</a:t>
            </a:r>
          </a:p>
        </p:txBody>
      </p:sp>
      <p:cxnSp>
        <p:nvCxnSpPr>
          <p:cNvPr id="11" name="Straight Connector 10">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83"/>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8B79D9A7-E795-2D37-53A5-ECFD98F6F996}"/>
              </a:ext>
            </a:extLst>
          </p:cNvPr>
          <p:cNvSpPr>
            <a:spLocks noGrp="1"/>
          </p:cNvSpPr>
          <p:nvPr>
            <p:ph idx="1"/>
          </p:nvPr>
        </p:nvSpPr>
        <p:spPr>
          <a:xfrm>
            <a:off x="1097280" y="3180522"/>
            <a:ext cx="6223996" cy="3105978"/>
          </a:xfrm>
        </p:spPr>
        <p:txBody>
          <a:bodyPr>
            <a:normAutofit/>
          </a:bodyPr>
          <a:lstStyle/>
          <a:p>
            <a:pPr>
              <a:lnSpc>
                <a:spcPct val="120000"/>
              </a:lnSpc>
            </a:pPr>
            <a:r>
              <a:rPr lang="en-US" sz="1100" dirty="0"/>
              <a:t>Law No 30 of 2018 regarding Issuing the Protecting Personal Data Law</a:t>
            </a:r>
          </a:p>
          <a:p>
            <a:pPr>
              <a:lnSpc>
                <a:spcPct val="120000"/>
              </a:lnSpc>
            </a:pPr>
            <a:r>
              <a:rPr lang="en-US" sz="1100" dirty="0"/>
              <a:t>Law No. 2 of 2017 for Ratifying the Arab Agreement on Combating IT Crimes</a:t>
            </a:r>
          </a:p>
          <a:p>
            <a:pPr>
              <a:lnSpc>
                <a:spcPct val="120000"/>
              </a:lnSpc>
            </a:pPr>
            <a:r>
              <a:rPr lang="en-US" sz="1100" dirty="0"/>
              <a:t>Law No. 60 of 2014 regarding Information Technology crimes</a:t>
            </a:r>
          </a:p>
          <a:p>
            <a:pPr>
              <a:lnSpc>
                <a:spcPct val="120000"/>
              </a:lnSpc>
            </a:pPr>
            <a:r>
              <a:rPr lang="en-US" sz="1100" dirty="0"/>
              <a:t>Law No. 16 of 2014 regarding the Protection of Information and State Documents</a:t>
            </a:r>
          </a:p>
          <a:p>
            <a:pPr>
              <a:lnSpc>
                <a:spcPct val="120000"/>
              </a:lnSpc>
            </a:pPr>
            <a:r>
              <a:rPr lang="en-US" sz="1100" dirty="0"/>
              <a:t>Decree-law No. (54) for the year 2018 for Issuance of Letters and Electronic Transactions</a:t>
            </a:r>
          </a:p>
          <a:p>
            <a:pPr>
              <a:lnSpc>
                <a:spcPct val="120000"/>
              </a:lnSpc>
            </a:pPr>
            <a:r>
              <a:rPr lang="en-US" sz="1100" dirty="0"/>
              <a:t>Decree of the Prime Minister No. 36/2018 regulating the technical requirements for sending, receiving, and updating the electronic records and signatures of the public bodies</a:t>
            </a:r>
          </a:p>
          <a:p>
            <a:pPr>
              <a:lnSpc>
                <a:spcPct val="120000"/>
              </a:lnSpc>
            </a:pPr>
            <a:endParaRPr lang="en-US" sz="1100" dirty="0"/>
          </a:p>
          <a:p>
            <a:pPr>
              <a:lnSpc>
                <a:spcPct val="120000"/>
              </a:lnSpc>
            </a:pPr>
            <a:endParaRPr lang="en-US" sz="1100" dirty="0"/>
          </a:p>
        </p:txBody>
      </p:sp>
      <p:pic>
        <p:nvPicPr>
          <p:cNvPr id="5" name="Picture 4" descr="A hand holding a pen and shading circles on a sheet">
            <a:extLst>
              <a:ext uri="{FF2B5EF4-FFF2-40B4-BE49-F238E27FC236}">
                <a16:creationId xmlns:a16="http://schemas.microsoft.com/office/drawing/2014/main" id="{BE38B1FE-C118-09F0-1323-0F2CCBB988F3}"/>
              </a:ext>
            </a:extLst>
          </p:cNvPr>
          <p:cNvPicPr>
            <a:picLocks noChangeAspect="1"/>
          </p:cNvPicPr>
          <p:nvPr/>
        </p:nvPicPr>
        <p:blipFill>
          <a:blip r:embed="rId2"/>
          <a:srcRect l="46702" r="22231" b="-1"/>
          <a:stretch/>
        </p:blipFill>
        <p:spPr>
          <a:xfrm>
            <a:off x="8534400" y="10"/>
            <a:ext cx="3657601" cy="6857990"/>
          </a:xfrm>
          <a:prstGeom prst="rect">
            <a:avLst/>
          </a:prstGeom>
        </p:spPr>
      </p:pic>
    </p:spTree>
    <p:extLst>
      <p:ext uri="{BB962C8B-B14F-4D97-AF65-F5344CB8AC3E}">
        <p14:creationId xmlns:p14="http://schemas.microsoft.com/office/powerpoint/2010/main" val="29529121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3A701-2936-B2ED-89FE-14D6185D82C4}"/>
              </a:ext>
            </a:extLst>
          </p:cNvPr>
          <p:cNvSpPr>
            <a:spLocks noGrp="1"/>
          </p:cNvSpPr>
          <p:nvPr>
            <p:ph type="title"/>
          </p:nvPr>
        </p:nvSpPr>
        <p:spPr/>
        <p:txBody>
          <a:bodyPr>
            <a:normAutofit fontScale="90000"/>
          </a:bodyPr>
          <a:lstStyle/>
          <a:p>
            <a:r>
              <a:rPr lang="en-US" dirty="0"/>
              <a:t>Law No. 60 of 2014 regarding Information Technology crimes</a:t>
            </a:r>
            <a:br>
              <a:rPr lang="en-US" dirty="0"/>
            </a:br>
            <a:endParaRPr lang="en-US" dirty="0"/>
          </a:p>
        </p:txBody>
      </p:sp>
      <p:sp>
        <p:nvSpPr>
          <p:cNvPr id="3" name="Content Placeholder 2">
            <a:extLst>
              <a:ext uri="{FF2B5EF4-FFF2-40B4-BE49-F238E27FC236}">
                <a16:creationId xmlns:a16="http://schemas.microsoft.com/office/drawing/2014/main" id="{561A4140-E281-99B8-C33B-7D5B32AAAA84}"/>
              </a:ext>
            </a:extLst>
          </p:cNvPr>
          <p:cNvSpPr>
            <a:spLocks noGrp="1"/>
          </p:cNvSpPr>
          <p:nvPr>
            <p:ph idx="1"/>
          </p:nvPr>
        </p:nvSpPr>
        <p:spPr/>
        <p:txBody>
          <a:bodyPr>
            <a:normAutofit fontScale="92500" lnSpcReduction="20000"/>
          </a:bodyPr>
          <a:lstStyle/>
          <a:p>
            <a:r>
              <a:rPr lang="en-US" b="1" dirty="0"/>
              <a:t>Introductory Chapter:</a:t>
            </a:r>
          </a:p>
          <a:p>
            <a:r>
              <a:rPr lang="en-US" dirty="0"/>
              <a:t>As this law describes crimes and their corresponding penalties, it is essential to define elements such as Information technology, Information, Information technology tool, system, and data. </a:t>
            </a:r>
          </a:p>
          <a:p>
            <a:r>
              <a:rPr lang="en-US" b="1" dirty="0"/>
              <a:t>Chapter One: Penalties for IT crimes</a:t>
            </a:r>
          </a:p>
          <a:p>
            <a:pPr lvl="1"/>
            <a:r>
              <a:rPr lang="en-US" dirty="0"/>
              <a:t>Section One: Crimes against the IT tool’s systems and data</a:t>
            </a:r>
          </a:p>
          <a:p>
            <a:pPr lvl="1"/>
            <a:r>
              <a:rPr lang="en-US" dirty="0"/>
              <a:t>Section Two: Crimes related to IT tools</a:t>
            </a:r>
          </a:p>
          <a:p>
            <a:pPr lvl="1"/>
            <a:r>
              <a:rPr lang="en-US" dirty="0"/>
              <a:t>Section Three: Crimes related to content</a:t>
            </a:r>
          </a:p>
          <a:p>
            <a:r>
              <a:rPr lang="en-US" b="1" dirty="0"/>
              <a:t>Chapter Two: Procedures for IT Crimes</a:t>
            </a:r>
          </a:p>
          <a:p>
            <a:r>
              <a:rPr lang="en-US" b="1" dirty="0"/>
              <a:t>Chapter Three: Miscellaneous Provisions</a:t>
            </a:r>
          </a:p>
        </p:txBody>
      </p:sp>
    </p:spTree>
    <p:extLst>
      <p:ext uri="{BB962C8B-B14F-4D97-AF65-F5344CB8AC3E}">
        <p14:creationId xmlns:p14="http://schemas.microsoft.com/office/powerpoint/2010/main" val="19993155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0825-BE45-8A85-1992-F4BAAE398BA3}"/>
              </a:ext>
            </a:extLst>
          </p:cNvPr>
          <p:cNvSpPr>
            <a:spLocks noGrp="1"/>
          </p:cNvSpPr>
          <p:nvPr>
            <p:ph type="title"/>
          </p:nvPr>
        </p:nvSpPr>
        <p:spPr/>
        <p:txBody>
          <a:bodyPr/>
          <a:lstStyle/>
          <a:p>
            <a:r>
              <a:rPr lang="en-US" b="1" dirty="0"/>
              <a:t>Chapter One: Penalties for IT crimes (Section 1: Cybercrimes)</a:t>
            </a:r>
          </a:p>
        </p:txBody>
      </p:sp>
      <p:sp>
        <p:nvSpPr>
          <p:cNvPr id="3" name="Content Placeholder 2">
            <a:extLst>
              <a:ext uri="{FF2B5EF4-FFF2-40B4-BE49-F238E27FC236}">
                <a16:creationId xmlns:a16="http://schemas.microsoft.com/office/drawing/2014/main" id="{925CF7B8-2722-1A3E-BCF1-408EF166A00A}"/>
              </a:ext>
            </a:extLst>
          </p:cNvPr>
          <p:cNvSpPr>
            <a:spLocks noGrp="1"/>
          </p:cNvSpPr>
          <p:nvPr>
            <p:ph idx="1"/>
          </p:nvPr>
        </p:nvSpPr>
        <p:spPr/>
        <p:txBody>
          <a:bodyPr>
            <a:normAutofit/>
          </a:bodyPr>
          <a:lstStyle/>
          <a:p>
            <a:r>
              <a:rPr lang="en-US" b="1" dirty="0"/>
              <a:t>Article (2) Electronic break-in: </a:t>
            </a:r>
            <a:r>
              <a:rPr lang="en-US" dirty="0"/>
              <a:t>No more than 1 year imprisonment and a fine not exceeding thirty thousand dinars or one of these two penalties. </a:t>
            </a:r>
            <a:br>
              <a:rPr lang="en-US" dirty="0"/>
            </a:br>
            <a:r>
              <a:rPr lang="en-US" dirty="0"/>
              <a:t>If break-in results in disclosure of data, this shall be considered as an aggravating circumstance.</a:t>
            </a:r>
          </a:p>
        </p:txBody>
      </p:sp>
    </p:spTree>
    <p:extLst>
      <p:ext uri="{BB962C8B-B14F-4D97-AF65-F5344CB8AC3E}">
        <p14:creationId xmlns:p14="http://schemas.microsoft.com/office/powerpoint/2010/main" val="15138492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0825-BE45-8A85-1992-F4BAAE398BA3}"/>
              </a:ext>
            </a:extLst>
          </p:cNvPr>
          <p:cNvSpPr>
            <a:spLocks noGrp="1"/>
          </p:cNvSpPr>
          <p:nvPr>
            <p:ph type="title"/>
          </p:nvPr>
        </p:nvSpPr>
        <p:spPr/>
        <p:txBody>
          <a:bodyPr/>
          <a:lstStyle/>
          <a:p>
            <a:r>
              <a:rPr lang="en-US" b="1" dirty="0"/>
              <a:t>Chapter One: Penalties for IT crimes (Section 1: Cybercrimes)</a:t>
            </a:r>
          </a:p>
        </p:txBody>
      </p:sp>
      <p:sp>
        <p:nvSpPr>
          <p:cNvPr id="3" name="Content Placeholder 2">
            <a:extLst>
              <a:ext uri="{FF2B5EF4-FFF2-40B4-BE49-F238E27FC236}">
                <a16:creationId xmlns:a16="http://schemas.microsoft.com/office/drawing/2014/main" id="{925CF7B8-2722-1A3E-BCF1-408EF166A00A}"/>
              </a:ext>
            </a:extLst>
          </p:cNvPr>
          <p:cNvSpPr>
            <a:spLocks noGrp="1"/>
          </p:cNvSpPr>
          <p:nvPr>
            <p:ph idx="1"/>
          </p:nvPr>
        </p:nvSpPr>
        <p:spPr/>
        <p:txBody>
          <a:bodyPr>
            <a:normAutofit lnSpcReduction="10000"/>
          </a:bodyPr>
          <a:lstStyle/>
          <a:p>
            <a:r>
              <a:rPr lang="en-US" b="1" dirty="0"/>
              <a:t>Article (3) Computer Sabotage: </a:t>
            </a:r>
            <a:r>
              <a:rPr lang="en-US" dirty="0"/>
              <a:t>Subjected to imprisonment (up to 3 years) and a fine not exceeding fifty thousand dinars, or either of these two penalties.</a:t>
            </a:r>
            <a:br>
              <a:rPr lang="en-US" dirty="0"/>
            </a:br>
            <a:r>
              <a:rPr lang="en-US" dirty="0"/>
              <a:t>Penalty is doubled if the crime results </a:t>
            </a:r>
            <a:r>
              <a:rPr lang="ar-BH" dirty="0" err="1"/>
              <a:t>in</a:t>
            </a:r>
            <a:r>
              <a:rPr lang="en-US" dirty="0"/>
              <a:t>:</a:t>
            </a:r>
          </a:p>
          <a:p>
            <a:pPr lvl="1"/>
            <a:r>
              <a:rPr lang="en-US" dirty="0"/>
              <a:t>Impediment of the conduct of any public facilities or public interest</a:t>
            </a:r>
          </a:p>
          <a:p>
            <a:pPr lvl="1"/>
            <a:r>
              <a:rPr lang="en-US" dirty="0"/>
              <a:t>Threat to people’s lives, security, or health</a:t>
            </a:r>
          </a:p>
          <a:p>
            <a:pPr lvl="1"/>
            <a:r>
              <a:rPr lang="en-US" dirty="0"/>
              <a:t>Causing bodily harm</a:t>
            </a:r>
          </a:p>
          <a:p>
            <a:pPr lvl="1"/>
            <a:r>
              <a:rPr lang="en-US" dirty="0"/>
              <a:t>Tampering or deletion of medical examinations, diagnosis, or treatment</a:t>
            </a:r>
          </a:p>
          <a:p>
            <a:pPr lvl="1"/>
            <a:endParaRPr lang="en-US" dirty="0"/>
          </a:p>
          <a:p>
            <a:pPr lvl="1"/>
            <a:r>
              <a:rPr lang="en-US" dirty="0"/>
              <a:t>If the crime committed involves the intentional death of a person, the penalty is life imprisonment or a determinate term of imprisonment (over 3 years)</a:t>
            </a:r>
          </a:p>
          <a:p>
            <a:pPr lvl="1"/>
            <a:endParaRPr lang="en-US" dirty="0"/>
          </a:p>
        </p:txBody>
      </p:sp>
    </p:spTree>
    <p:extLst>
      <p:ext uri="{BB962C8B-B14F-4D97-AF65-F5344CB8AC3E}">
        <p14:creationId xmlns:p14="http://schemas.microsoft.com/office/powerpoint/2010/main" val="39145126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20E4E-97F9-B98E-7AD6-E3B4961B0266}"/>
              </a:ext>
            </a:extLst>
          </p:cNvPr>
          <p:cNvSpPr>
            <a:spLocks noGrp="1"/>
          </p:cNvSpPr>
          <p:nvPr>
            <p:ph type="title"/>
          </p:nvPr>
        </p:nvSpPr>
        <p:spPr/>
        <p:txBody>
          <a:bodyPr/>
          <a:lstStyle/>
          <a:p>
            <a:r>
              <a:rPr lang="en-US" b="1" dirty="0"/>
              <a:t>Chapter One: Penalties for IT crimes (Section 1: Cybercrimes)</a:t>
            </a:r>
            <a:endParaRPr lang="en-US" dirty="0"/>
          </a:p>
        </p:txBody>
      </p:sp>
      <p:sp>
        <p:nvSpPr>
          <p:cNvPr id="3" name="Content Placeholder 2">
            <a:extLst>
              <a:ext uri="{FF2B5EF4-FFF2-40B4-BE49-F238E27FC236}">
                <a16:creationId xmlns:a16="http://schemas.microsoft.com/office/drawing/2014/main" id="{7830BE29-9744-6D6E-1BFE-A4DFD359B135}"/>
              </a:ext>
            </a:extLst>
          </p:cNvPr>
          <p:cNvSpPr>
            <a:spLocks noGrp="1"/>
          </p:cNvSpPr>
          <p:nvPr>
            <p:ph idx="1"/>
          </p:nvPr>
        </p:nvSpPr>
        <p:spPr/>
        <p:txBody>
          <a:bodyPr/>
          <a:lstStyle/>
          <a:p>
            <a:r>
              <a:rPr lang="en-US" b="1" dirty="0"/>
              <a:t>Article (4) Spying: </a:t>
            </a:r>
            <a:r>
              <a:rPr lang="en-US" dirty="0"/>
              <a:t>Subject to imprisonment (up to 3 years) and a fine not exceeding one hundred thousand dinars, or either of these two penalties.</a:t>
            </a:r>
            <a:br>
              <a:rPr lang="en-US" dirty="0"/>
            </a:br>
            <a:r>
              <a:rPr lang="en-US" dirty="0"/>
              <a:t>If the eavesdropping results in disclosure without legal justification, it shall be considered an aggravating circumstance.</a:t>
            </a:r>
            <a:br>
              <a:rPr lang="en-US" dirty="0"/>
            </a:br>
            <a:endParaRPr lang="en-US" dirty="0"/>
          </a:p>
          <a:p>
            <a:r>
              <a:rPr lang="en-US" b="1" dirty="0"/>
              <a:t>Article (5) Blackmailing/ Ransomware: </a:t>
            </a:r>
            <a:r>
              <a:rPr lang="en-US" dirty="0"/>
              <a:t>Subject to imprisonment (up to 3 years) and a fine not exceeding thirty thousand dinars, or either of these two penalties.</a:t>
            </a:r>
            <a:br>
              <a:rPr lang="en-US" dirty="0"/>
            </a:br>
            <a:br>
              <a:rPr lang="en-US" dirty="0"/>
            </a:br>
            <a:r>
              <a:rPr lang="en-US" dirty="0"/>
              <a:t>If the offender reaches his objective, imprisonment should not exceed five years, and a fine not exceeding sixty thousand dinars.</a:t>
            </a:r>
            <a:endParaRPr lang="en-US" b="1" dirty="0"/>
          </a:p>
        </p:txBody>
      </p:sp>
    </p:spTree>
    <p:extLst>
      <p:ext uri="{BB962C8B-B14F-4D97-AF65-F5344CB8AC3E}">
        <p14:creationId xmlns:p14="http://schemas.microsoft.com/office/powerpoint/2010/main" val="31353435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B8D23-F795-C374-BF9A-57B8A0061FE9}"/>
              </a:ext>
            </a:extLst>
          </p:cNvPr>
          <p:cNvSpPr>
            <a:spLocks noGrp="1"/>
          </p:cNvSpPr>
          <p:nvPr>
            <p:ph type="title"/>
          </p:nvPr>
        </p:nvSpPr>
        <p:spPr/>
        <p:txBody>
          <a:bodyPr/>
          <a:lstStyle/>
          <a:p>
            <a:r>
              <a:rPr lang="en-US" b="1" dirty="0"/>
              <a:t>Chapter One: Penalties for IT crimes (Section 1: Cybercrimes)</a:t>
            </a:r>
            <a:endParaRPr lang="en-US" dirty="0"/>
          </a:p>
        </p:txBody>
      </p:sp>
      <p:sp>
        <p:nvSpPr>
          <p:cNvPr id="3" name="Content Placeholder 2">
            <a:extLst>
              <a:ext uri="{FF2B5EF4-FFF2-40B4-BE49-F238E27FC236}">
                <a16:creationId xmlns:a16="http://schemas.microsoft.com/office/drawing/2014/main" id="{B10DD60A-2834-5371-68AA-B5087B508DCA}"/>
              </a:ext>
            </a:extLst>
          </p:cNvPr>
          <p:cNvSpPr>
            <a:spLocks noGrp="1"/>
          </p:cNvSpPr>
          <p:nvPr>
            <p:ph idx="1"/>
          </p:nvPr>
        </p:nvSpPr>
        <p:spPr/>
        <p:txBody>
          <a:bodyPr/>
          <a:lstStyle/>
          <a:p>
            <a:r>
              <a:rPr lang="en-US" b="1" dirty="0"/>
              <a:t>Article (6) Facilitating an IT crime: </a:t>
            </a:r>
            <a:r>
              <a:rPr lang="en-US" dirty="0"/>
              <a:t>By producing, importing, buying, selling, offering to sell or use, distributing, circulating, possessing, publishing, or freely distributing:</a:t>
            </a:r>
          </a:p>
          <a:p>
            <a:pPr lvl="1"/>
            <a:r>
              <a:rPr lang="en-US" dirty="0"/>
              <a:t>A tool, including any software, to commit an IT crime</a:t>
            </a:r>
          </a:p>
          <a:p>
            <a:pPr lvl="1"/>
            <a:r>
              <a:rPr lang="en-US" dirty="0"/>
              <a:t>Any password or access to an IT system</a:t>
            </a:r>
            <a:br>
              <a:rPr lang="en-US" dirty="0"/>
            </a:br>
            <a:endParaRPr lang="en-US" dirty="0"/>
          </a:p>
          <a:p>
            <a:r>
              <a:rPr lang="en-US" dirty="0"/>
              <a:t>The penalty is imprisonment not more than one year, and a fine not exceeding 100 thousand dinars or either of these two penalties. </a:t>
            </a:r>
          </a:p>
        </p:txBody>
      </p:sp>
    </p:spTree>
    <p:extLst>
      <p:ext uri="{BB962C8B-B14F-4D97-AF65-F5344CB8AC3E}">
        <p14:creationId xmlns:p14="http://schemas.microsoft.com/office/powerpoint/2010/main" val="30286801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5FE5F-7C9C-8372-6F2C-3A03C10B6BB6}"/>
              </a:ext>
            </a:extLst>
          </p:cNvPr>
          <p:cNvSpPr>
            <a:spLocks noGrp="1"/>
          </p:cNvSpPr>
          <p:nvPr>
            <p:ph type="title"/>
          </p:nvPr>
        </p:nvSpPr>
        <p:spPr/>
        <p:txBody>
          <a:bodyPr>
            <a:normAutofit fontScale="90000"/>
          </a:bodyPr>
          <a:lstStyle/>
          <a:p>
            <a:r>
              <a:rPr lang="en-US" b="1" dirty="0"/>
              <a:t>Chapter One: Penalties for IT crimes (Section 2: Crimes related to IT tools)</a:t>
            </a:r>
            <a:endParaRPr lang="en-US" dirty="0"/>
          </a:p>
        </p:txBody>
      </p:sp>
      <p:sp>
        <p:nvSpPr>
          <p:cNvPr id="3" name="Content Placeholder 2">
            <a:extLst>
              <a:ext uri="{FF2B5EF4-FFF2-40B4-BE49-F238E27FC236}">
                <a16:creationId xmlns:a16="http://schemas.microsoft.com/office/drawing/2014/main" id="{56A3938C-8B95-AEB7-23B5-188212EBC1EF}"/>
              </a:ext>
            </a:extLst>
          </p:cNvPr>
          <p:cNvSpPr>
            <a:spLocks noGrp="1"/>
          </p:cNvSpPr>
          <p:nvPr>
            <p:ph idx="1"/>
          </p:nvPr>
        </p:nvSpPr>
        <p:spPr/>
        <p:txBody>
          <a:bodyPr>
            <a:normAutofit lnSpcReduction="10000"/>
          </a:bodyPr>
          <a:lstStyle/>
          <a:p>
            <a:r>
              <a:rPr lang="en-US" b="1" dirty="0"/>
              <a:t>Article (7) Cybercrimes against government agencies: </a:t>
            </a:r>
            <a:r>
              <a:rPr lang="en-US" dirty="0"/>
              <a:t>Any person who installs, denatures, deactivates, cancels, deletes, destroys, alters, modifies, distorts or obscures data owned by a government department will receive a penalty of imprisonment not exceeding ten years.</a:t>
            </a:r>
            <a:br>
              <a:rPr lang="en-US" dirty="0"/>
            </a:br>
            <a:endParaRPr lang="en-US" dirty="0"/>
          </a:p>
          <a:p>
            <a:r>
              <a:rPr lang="en-US" b="1" dirty="0"/>
              <a:t>Article (8) Fraud: </a:t>
            </a:r>
            <a:r>
              <a:rPr lang="en-US" dirty="0"/>
              <a:t>Anyone who seizes money from others, or obtains any advantage for himself or for others by the following means:</a:t>
            </a:r>
          </a:p>
          <a:p>
            <a:pPr lvl="1"/>
            <a:r>
              <a:rPr lang="en-US" dirty="0"/>
              <a:t>installs, denatures, deactivates, cancels, deletes, destroys, alters, modifies, distorts or obscures data</a:t>
            </a:r>
            <a:br>
              <a:rPr lang="en-US" dirty="0"/>
            </a:br>
            <a:r>
              <a:rPr lang="en-US" dirty="0"/>
              <a:t>receives a penalty of up to three years of imprisonment</a:t>
            </a:r>
          </a:p>
          <a:p>
            <a:pPr lvl="1"/>
            <a:endParaRPr lang="en-US" b="1" dirty="0"/>
          </a:p>
        </p:txBody>
      </p:sp>
    </p:spTree>
    <p:extLst>
      <p:ext uri="{BB962C8B-B14F-4D97-AF65-F5344CB8AC3E}">
        <p14:creationId xmlns:p14="http://schemas.microsoft.com/office/powerpoint/2010/main" val="6836087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E5C3BA-BB0B-1706-52A5-36A9404B25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910E35-CD87-A545-4294-90EBAAC4BADF}"/>
              </a:ext>
            </a:extLst>
          </p:cNvPr>
          <p:cNvSpPr>
            <a:spLocks noGrp="1"/>
          </p:cNvSpPr>
          <p:nvPr>
            <p:ph type="title"/>
          </p:nvPr>
        </p:nvSpPr>
        <p:spPr/>
        <p:txBody>
          <a:bodyPr>
            <a:normAutofit fontScale="90000"/>
          </a:bodyPr>
          <a:lstStyle/>
          <a:p>
            <a:r>
              <a:rPr lang="en-US" b="1" dirty="0"/>
              <a:t>Chapter One: Penalties for IT crimes (Section 2: Crimes related to IT tools)</a:t>
            </a:r>
            <a:endParaRPr lang="en-US" dirty="0"/>
          </a:p>
        </p:txBody>
      </p:sp>
      <p:sp>
        <p:nvSpPr>
          <p:cNvPr id="3" name="Content Placeholder 2">
            <a:extLst>
              <a:ext uri="{FF2B5EF4-FFF2-40B4-BE49-F238E27FC236}">
                <a16:creationId xmlns:a16="http://schemas.microsoft.com/office/drawing/2014/main" id="{456D2917-4539-0E7E-3451-4279186DAD7B}"/>
              </a:ext>
            </a:extLst>
          </p:cNvPr>
          <p:cNvSpPr>
            <a:spLocks noGrp="1"/>
          </p:cNvSpPr>
          <p:nvPr>
            <p:ph idx="1"/>
          </p:nvPr>
        </p:nvSpPr>
        <p:spPr/>
        <p:txBody>
          <a:bodyPr>
            <a:normAutofit/>
          </a:bodyPr>
          <a:lstStyle/>
          <a:p>
            <a:r>
              <a:rPr lang="en-US" b="1" dirty="0"/>
              <a:t>Article (9) Encryption: </a:t>
            </a:r>
            <a:r>
              <a:rPr lang="en-US" dirty="0"/>
              <a:t>A penalty of imprisonment (up to three years) and a fine not exceeding 100 thousand dinars, or either of these two penalties, shall be imposed on any person who uses encryption to commit or hide any offence.</a:t>
            </a:r>
          </a:p>
          <a:p>
            <a:pPr lvl="1"/>
            <a:endParaRPr lang="en-US" b="1" dirty="0"/>
          </a:p>
        </p:txBody>
      </p:sp>
    </p:spTree>
    <p:extLst>
      <p:ext uri="{BB962C8B-B14F-4D97-AF65-F5344CB8AC3E}">
        <p14:creationId xmlns:p14="http://schemas.microsoft.com/office/powerpoint/2010/main" val="14724370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6FE42-C7CA-EDFC-EA45-ED0771C338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C33218-8198-E119-0DAD-A4894B917A97}"/>
              </a:ext>
            </a:extLst>
          </p:cNvPr>
          <p:cNvSpPr>
            <a:spLocks noGrp="1"/>
          </p:cNvSpPr>
          <p:nvPr>
            <p:ph type="title"/>
          </p:nvPr>
        </p:nvSpPr>
        <p:spPr/>
        <p:txBody>
          <a:bodyPr>
            <a:normAutofit fontScale="90000"/>
          </a:bodyPr>
          <a:lstStyle/>
          <a:p>
            <a:r>
              <a:rPr lang="en-US" b="1" dirty="0"/>
              <a:t>Chapter One: Penalties for IT crimes (Section 3: Crimes related to content)</a:t>
            </a:r>
            <a:endParaRPr lang="en-US" dirty="0"/>
          </a:p>
        </p:txBody>
      </p:sp>
      <p:sp>
        <p:nvSpPr>
          <p:cNvPr id="3" name="Content Placeholder 2">
            <a:extLst>
              <a:ext uri="{FF2B5EF4-FFF2-40B4-BE49-F238E27FC236}">
                <a16:creationId xmlns:a16="http://schemas.microsoft.com/office/drawing/2014/main" id="{957A7CD2-FBAC-97D8-4FF3-A4AE01795873}"/>
              </a:ext>
            </a:extLst>
          </p:cNvPr>
          <p:cNvSpPr>
            <a:spLocks noGrp="1"/>
          </p:cNvSpPr>
          <p:nvPr>
            <p:ph idx="1"/>
          </p:nvPr>
        </p:nvSpPr>
        <p:spPr/>
        <p:txBody>
          <a:bodyPr>
            <a:normAutofit fontScale="92500" lnSpcReduction="10000"/>
          </a:bodyPr>
          <a:lstStyle/>
          <a:p>
            <a:r>
              <a:rPr lang="en-US" b="1" dirty="0"/>
              <a:t>Article (10) Pornography: </a:t>
            </a:r>
            <a:r>
              <a:rPr lang="en-US" dirty="0"/>
              <a:t>A penalty of imprisonment (1-3 years) and a fine not exceeding ten thousand dinars, or either of these two penalties for:</a:t>
            </a:r>
          </a:p>
          <a:p>
            <a:pPr lvl="1"/>
            <a:r>
              <a:rPr lang="en-US" dirty="0"/>
              <a:t>Producing pornographic content</a:t>
            </a:r>
          </a:p>
          <a:p>
            <a:pPr lvl="1"/>
            <a:r>
              <a:rPr lang="en-US" dirty="0"/>
              <a:t>Import, sale, offer for sale or use, exchange, transfer, distribution, sending, publishing, or making available via IT systems (minimum 2 years imprisonment if children are targeted)</a:t>
            </a:r>
          </a:p>
          <a:p>
            <a:r>
              <a:rPr lang="en-US" dirty="0"/>
              <a:t>A minimum of three months imprisonment and a fine not exceeding three thousand dinars, or either of these two penalties for those:</a:t>
            </a:r>
          </a:p>
          <a:p>
            <a:pPr lvl="1"/>
            <a:r>
              <a:rPr lang="en-US" dirty="0"/>
              <a:t>Obtaining pornographic content</a:t>
            </a:r>
          </a:p>
          <a:p>
            <a:pPr lvl="1"/>
            <a:r>
              <a:rPr lang="en-US" dirty="0"/>
              <a:t>Possessing pornographic content and the penalty is doubled if intended for children or placed within their reach</a:t>
            </a:r>
          </a:p>
          <a:p>
            <a:pPr lvl="1"/>
            <a:endParaRPr lang="en-US" b="1" dirty="0"/>
          </a:p>
        </p:txBody>
      </p:sp>
    </p:spTree>
    <p:extLst>
      <p:ext uri="{BB962C8B-B14F-4D97-AF65-F5344CB8AC3E}">
        <p14:creationId xmlns:p14="http://schemas.microsoft.com/office/powerpoint/2010/main" val="806212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AE408-575E-2C5C-D80D-6855D8247B92}"/>
              </a:ext>
            </a:extLst>
          </p:cNvPr>
          <p:cNvSpPr>
            <a:spLocks noGrp="1"/>
          </p:cNvSpPr>
          <p:nvPr>
            <p:ph type="title"/>
          </p:nvPr>
        </p:nvSpPr>
        <p:spPr/>
        <p:txBody>
          <a:bodyPr/>
          <a:lstStyle/>
          <a:p>
            <a:r>
              <a:rPr lang="en-US" dirty="0"/>
              <a:t>Chapters Two and Three</a:t>
            </a:r>
          </a:p>
        </p:txBody>
      </p:sp>
      <p:sp>
        <p:nvSpPr>
          <p:cNvPr id="3" name="Content Placeholder 2">
            <a:extLst>
              <a:ext uri="{FF2B5EF4-FFF2-40B4-BE49-F238E27FC236}">
                <a16:creationId xmlns:a16="http://schemas.microsoft.com/office/drawing/2014/main" id="{814DE3C3-9F51-D2FA-486E-6E877BA109F9}"/>
              </a:ext>
            </a:extLst>
          </p:cNvPr>
          <p:cNvSpPr>
            <a:spLocks noGrp="1"/>
          </p:cNvSpPr>
          <p:nvPr>
            <p:ph idx="1"/>
          </p:nvPr>
        </p:nvSpPr>
        <p:spPr/>
        <p:txBody>
          <a:bodyPr/>
          <a:lstStyle/>
          <a:p>
            <a:r>
              <a:rPr lang="en-US" b="1" dirty="0"/>
              <a:t>Chapter Two: Procedures for IT crimes</a:t>
            </a:r>
            <a:br>
              <a:rPr lang="en-US" b="1" dirty="0"/>
            </a:br>
            <a:r>
              <a:rPr lang="en-US" dirty="0"/>
              <a:t>Describes the steps needed to be taken by the Public Prosecution and the judges of the lower court to ensure a fair trial.</a:t>
            </a:r>
            <a:br>
              <a:rPr lang="en-US" dirty="0"/>
            </a:br>
            <a:endParaRPr lang="en-US" dirty="0"/>
          </a:p>
          <a:p>
            <a:r>
              <a:rPr lang="en-US" b="1" dirty="0"/>
              <a:t>Chapter Three: Miscellaneous Provisions</a:t>
            </a:r>
          </a:p>
          <a:p>
            <a:r>
              <a:rPr lang="en-US" b="1" dirty="0"/>
              <a:t>Article (20): </a:t>
            </a:r>
            <a:r>
              <a:rPr lang="en-US" dirty="0"/>
              <a:t>Attempts to commit the crimes shall be punished by half the penalty of the full crime</a:t>
            </a:r>
          </a:p>
          <a:p>
            <a:r>
              <a:rPr lang="en-US" b="1" dirty="0"/>
              <a:t>Article (22): </a:t>
            </a:r>
            <a:r>
              <a:rPr lang="en-US" dirty="0"/>
              <a:t>Allows intangible items such as data, software, and electronic documents to be referred to as “things”, which is a term used for tangible items. </a:t>
            </a:r>
            <a:endParaRPr lang="en-US" b="1" dirty="0"/>
          </a:p>
        </p:txBody>
      </p:sp>
    </p:spTree>
    <p:extLst>
      <p:ext uri="{BB962C8B-B14F-4D97-AF65-F5344CB8AC3E}">
        <p14:creationId xmlns:p14="http://schemas.microsoft.com/office/powerpoint/2010/main" val="22963885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67499-BFCF-7651-5D9E-9DCD143A5BBB}"/>
              </a:ext>
            </a:extLst>
          </p:cNvPr>
          <p:cNvSpPr>
            <a:spLocks noGrp="1"/>
          </p:cNvSpPr>
          <p:nvPr>
            <p:ph type="title"/>
          </p:nvPr>
        </p:nvSpPr>
        <p:spPr/>
        <p:txBody>
          <a:bodyPr/>
          <a:lstStyle/>
          <a:p>
            <a:r>
              <a:rPr lang="en-US"/>
              <a:t>Summary</a:t>
            </a:r>
            <a:endParaRPr lang="en-US" dirty="0"/>
          </a:p>
        </p:txBody>
      </p:sp>
      <p:sp>
        <p:nvSpPr>
          <p:cNvPr id="3" name="Content Placeholder 2">
            <a:extLst>
              <a:ext uri="{FF2B5EF4-FFF2-40B4-BE49-F238E27FC236}">
                <a16:creationId xmlns:a16="http://schemas.microsoft.com/office/drawing/2014/main" id="{13CD5A09-0BCB-CB61-5617-93A661A14719}"/>
              </a:ext>
            </a:extLst>
          </p:cNvPr>
          <p:cNvSpPr>
            <a:spLocks noGrp="1"/>
          </p:cNvSpPr>
          <p:nvPr>
            <p:ph idx="1"/>
          </p:nvPr>
        </p:nvSpPr>
        <p:spPr/>
        <p:txBody>
          <a:bodyPr/>
          <a:lstStyle/>
          <a:p>
            <a:r>
              <a:rPr lang="en-US" dirty="0"/>
              <a:t>Cybercrime includes sabotage, break-ins, financial fraud, and crypto-enabled crimes.</a:t>
            </a:r>
          </a:p>
          <a:p>
            <a:r>
              <a:rPr lang="en-US" dirty="0"/>
              <a:t>Cryptocurrencies amplify risks through </a:t>
            </a:r>
            <a:r>
              <a:rPr lang="en-US" b="1" dirty="0"/>
              <a:t>anonymity and global reach</a:t>
            </a:r>
            <a:r>
              <a:rPr lang="en-US" dirty="0"/>
              <a:t>.</a:t>
            </a:r>
          </a:p>
          <a:p>
            <a:r>
              <a:rPr lang="en-US" dirty="0"/>
              <a:t>Criminological theories explain why offenders migrate to cyberspace.</a:t>
            </a:r>
          </a:p>
          <a:p>
            <a:r>
              <a:rPr lang="en-US" dirty="0"/>
              <a:t>Bahrain’s IT Crimes Law defines </a:t>
            </a:r>
            <a:r>
              <a:rPr lang="en-US" b="1" dirty="0"/>
              <a:t>clear offences and penalties</a:t>
            </a:r>
            <a:r>
              <a:rPr lang="en-US" dirty="0"/>
              <a:t>.</a:t>
            </a:r>
          </a:p>
          <a:p>
            <a:r>
              <a:rPr lang="en-US" b="1" dirty="0"/>
              <a:t>Critical Reflection</a:t>
            </a:r>
            <a:endParaRPr lang="en-US" dirty="0"/>
          </a:p>
          <a:p>
            <a:r>
              <a:rPr lang="en-US" dirty="0"/>
              <a:t>Can law keep pace with evolving cybercrime methods?</a:t>
            </a:r>
          </a:p>
          <a:p>
            <a:r>
              <a:rPr lang="en-US" dirty="0"/>
              <a:t>Should anonymity always be preserved if it enables crime?</a:t>
            </a:r>
          </a:p>
          <a:p>
            <a:endParaRPr lang="en-US" dirty="0"/>
          </a:p>
        </p:txBody>
      </p:sp>
    </p:spTree>
    <p:extLst>
      <p:ext uri="{BB962C8B-B14F-4D97-AF65-F5344CB8AC3E}">
        <p14:creationId xmlns:p14="http://schemas.microsoft.com/office/powerpoint/2010/main" val="3473399250"/>
      </p:ext>
    </p:extLst>
  </p:cSld>
  <p:clrMapOvr>
    <a:masterClrMapping/>
  </p:clrMapOvr>
</p:sld>
</file>

<file path=ppt/theme/theme1.xml><?xml version="1.0" encoding="utf-8"?>
<a:theme xmlns:a="http://schemas.openxmlformats.org/drawingml/2006/main" name="BjornVTI">
  <a:themeElements>
    <a:clrScheme name="AnalogousFromDarkSeedLeftStep">
      <a:dk1>
        <a:srgbClr val="000000"/>
      </a:dk1>
      <a:lt1>
        <a:srgbClr val="FFFFFF"/>
      </a:lt1>
      <a:dk2>
        <a:srgbClr val="251D38"/>
      </a:dk2>
      <a:lt2>
        <a:srgbClr val="E2E8E2"/>
      </a:lt2>
      <a:accent1>
        <a:srgbClr val="DE31D1"/>
      </a:accent1>
      <a:accent2>
        <a:srgbClr val="9120CD"/>
      </a:accent2>
      <a:accent3>
        <a:srgbClr val="5B31DE"/>
      </a:accent3>
      <a:accent4>
        <a:srgbClr val="203ECD"/>
      </a:accent4>
      <a:accent5>
        <a:srgbClr val="3198DE"/>
      </a:accent5>
      <a:accent6>
        <a:srgbClr val="1CB4B3"/>
      </a:accent6>
      <a:hlink>
        <a:srgbClr val="3F75BF"/>
      </a:hlink>
      <a:folHlink>
        <a:srgbClr val="7F7F7F"/>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jornVTI" id="{D01443FD-65CF-4AEF-9B9D-4466C96F9785}" vid="{36EF4262-385E-40E6-B073-FB18FD98BF4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48689</TotalTime>
  <Words>2632</Words>
  <Application>Microsoft Office PowerPoint</Application>
  <PresentationFormat>Widescreen</PresentationFormat>
  <Paragraphs>144</Paragraphs>
  <Slides>30</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Aptos</vt:lpstr>
      <vt:lpstr>Arial</vt:lpstr>
      <vt:lpstr>Neue Haas Grotesk Text Pro</vt:lpstr>
      <vt:lpstr>BjornVTI</vt:lpstr>
      <vt:lpstr>Chapter 3: Cybercrime and cybercrime laws</vt:lpstr>
      <vt:lpstr>Cybercrime</vt:lpstr>
      <vt:lpstr>Discussion 3.1 what is the best way to handle ransomware cases in your organization?</vt:lpstr>
      <vt:lpstr>Computer-related crimes</vt:lpstr>
      <vt:lpstr>Financial Crimes</vt:lpstr>
      <vt:lpstr>Cryptocurrency-based Financial Crimes</vt:lpstr>
      <vt:lpstr>PowerPoint Presentation</vt:lpstr>
      <vt:lpstr>ICO Frauds</vt:lpstr>
      <vt:lpstr>Money Laundering</vt:lpstr>
      <vt:lpstr>Ponzi Scheme and Pump and Dumps</vt:lpstr>
      <vt:lpstr>Exchange Scams</vt:lpstr>
      <vt:lpstr>Darknet Market and Terrorist Financing</vt:lpstr>
      <vt:lpstr>Ransomware and Phishing</vt:lpstr>
      <vt:lpstr>Corruption</vt:lpstr>
      <vt:lpstr>Rational Choice Theory</vt:lpstr>
      <vt:lpstr>Rational Choice Theory</vt:lpstr>
      <vt:lpstr>Convenience Theory</vt:lpstr>
      <vt:lpstr>Social Learning Theory</vt:lpstr>
      <vt:lpstr>Space Transition Theory</vt:lpstr>
      <vt:lpstr>Bahrain’s Cyber Crime Legislations</vt:lpstr>
      <vt:lpstr>Law No. 60 of 2014 regarding Information Technology crimes </vt:lpstr>
      <vt:lpstr>Chapter One: Penalties for IT crimes (Section 1: Cybercrimes)</vt:lpstr>
      <vt:lpstr>Chapter One: Penalties for IT crimes (Section 1: Cybercrimes)</vt:lpstr>
      <vt:lpstr>Chapter One: Penalties for IT crimes (Section 1: Cybercrimes)</vt:lpstr>
      <vt:lpstr>Chapter One: Penalties for IT crimes (Section 1: Cybercrimes)</vt:lpstr>
      <vt:lpstr>Chapter One: Penalties for IT crimes (Section 2: Crimes related to IT tools)</vt:lpstr>
      <vt:lpstr>Chapter One: Penalties for IT crimes (Section 2: Crimes related to IT tools)</vt:lpstr>
      <vt:lpstr>Chapter One: Penalties for IT crimes (Section 3: Crimes related to content)</vt:lpstr>
      <vt:lpstr>Chapters Two and Three</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Mr. YAQOOB SALMAN MOHAMED ALSLAIS</dc:creator>
  <cp:lastModifiedBy>Dr. YAQOOB SALMAN MOHAMED ALSLAIS</cp:lastModifiedBy>
  <cp:revision>10</cp:revision>
  <dcterms:created xsi:type="dcterms:W3CDTF">2024-08-29T08:11:27Z</dcterms:created>
  <dcterms:modified xsi:type="dcterms:W3CDTF">2026-02-04T10:02:15Z</dcterms:modified>
</cp:coreProperties>
</file>