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39"/>
  </p:notesMasterIdLst>
  <p:sldIdLst>
    <p:sldId id="256" r:id="rId2"/>
    <p:sldId id="262" r:id="rId3"/>
    <p:sldId id="257" r:id="rId4"/>
    <p:sldId id="258" r:id="rId5"/>
    <p:sldId id="261" r:id="rId6"/>
    <p:sldId id="259" r:id="rId7"/>
    <p:sldId id="260"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2" r:id="rId21"/>
    <p:sldId id="286" r:id="rId22"/>
    <p:sldId id="287" r:id="rId23"/>
    <p:sldId id="275" r:id="rId24"/>
    <p:sldId id="276" r:id="rId25"/>
    <p:sldId id="277" r:id="rId26"/>
    <p:sldId id="278" r:id="rId27"/>
    <p:sldId id="279" r:id="rId28"/>
    <p:sldId id="280" r:id="rId29"/>
    <p:sldId id="281" r:id="rId30"/>
    <p:sldId id="284" r:id="rId31"/>
    <p:sldId id="285" r:id="rId32"/>
    <p:sldId id="288" r:id="rId33"/>
    <p:sldId id="289" r:id="rId34"/>
    <p:sldId id="290" r:id="rId35"/>
    <p:sldId id="291" r:id="rId36"/>
    <p:sldId id="292" r:id="rId37"/>
    <p:sldId id="29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6BCFBA-7154-4D78-B2F2-030CED340F2E}" v="1" dt="2026-02-02T10:25:5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88366" autoAdjust="0"/>
  </p:normalViewPr>
  <p:slideViewPr>
    <p:cSldViewPr snapToGrid="0">
      <p:cViewPr varScale="1">
        <p:scale>
          <a:sx n="73" d="100"/>
          <a:sy n="73" d="100"/>
        </p:scale>
        <p:origin x="10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YAQOOB SALMAN MOHAMED ALSLAIS" userId="3b843498-0d2f-436b-9cfb-0641998d3142" providerId="ADAL" clId="{14E12B48-7A42-4907-9A13-F7839ACECA24}"/>
    <pc:docChg chg="custSel addSld delSld modSld modShowInfo">
      <pc:chgData name="Dr. YAQOOB SALMAN MOHAMED ALSLAIS" userId="3b843498-0d2f-436b-9cfb-0641998d3142" providerId="ADAL" clId="{14E12B48-7A42-4907-9A13-F7839ACECA24}" dt="2026-02-02T10:25:54.040" v="116" actId="20577"/>
      <pc:docMkLst>
        <pc:docMk/>
      </pc:docMkLst>
      <pc:sldChg chg="modSp new mod">
        <pc:chgData name="Dr. YAQOOB SALMAN MOHAMED ALSLAIS" userId="3b843498-0d2f-436b-9cfb-0641998d3142" providerId="ADAL" clId="{14E12B48-7A42-4907-9A13-F7839ACECA24}" dt="2026-02-02T10:25:54.040" v="116" actId="20577"/>
        <pc:sldMkLst>
          <pc:docMk/>
          <pc:sldMk cId="1961382115" sldId="293"/>
        </pc:sldMkLst>
        <pc:spChg chg="mod">
          <ac:chgData name="Dr. YAQOOB SALMAN MOHAMED ALSLAIS" userId="3b843498-0d2f-436b-9cfb-0641998d3142" providerId="ADAL" clId="{14E12B48-7A42-4907-9A13-F7839ACECA24}" dt="2026-02-02T10:25:54.040" v="116" actId="20577"/>
          <ac:spMkLst>
            <pc:docMk/>
            <pc:sldMk cId="1961382115" sldId="293"/>
            <ac:spMk id="2" creationId="{64696108-186F-51F2-089E-A56808BE6FCA}"/>
          </ac:spMkLst>
        </pc:spChg>
        <pc:spChg chg="mod">
          <ac:chgData name="Dr. YAQOOB SALMAN MOHAMED ALSLAIS" userId="3b843498-0d2f-436b-9cfb-0641998d3142" providerId="ADAL" clId="{14E12B48-7A42-4907-9A13-F7839ACECA24}" dt="2026-02-02T10:25:50.766" v="109"/>
          <ac:spMkLst>
            <pc:docMk/>
            <pc:sldMk cId="1961382115" sldId="293"/>
            <ac:spMk id="3" creationId="{BE7A693E-EA46-E8E4-08B1-85FEA0D06587}"/>
          </ac:spMkLst>
        </pc:spChg>
      </pc:sldChg>
      <pc:sldChg chg="modSp new del mod">
        <pc:chgData name="Dr. YAQOOB SALMAN MOHAMED ALSLAIS" userId="3b843498-0d2f-436b-9cfb-0641998d3142" providerId="ADAL" clId="{14E12B48-7A42-4907-9A13-F7839ACECA24}" dt="2026-02-02T10:25:25.051" v="107" actId="47"/>
        <pc:sldMkLst>
          <pc:docMk/>
          <pc:sldMk cId="3631233019" sldId="293"/>
        </pc:sldMkLst>
      </pc:sldChg>
      <pc:sldChg chg="modSp add del mod">
        <pc:chgData name="Dr. YAQOOB SALMAN MOHAMED ALSLAIS" userId="3b843498-0d2f-436b-9cfb-0641998d3142" providerId="ADAL" clId="{14E12B48-7A42-4907-9A13-F7839ACECA24}" dt="2026-02-02T10:25:25.051" v="107" actId="47"/>
        <pc:sldMkLst>
          <pc:docMk/>
          <pc:sldMk cId="2561910065" sldId="294"/>
        </pc:sldMkLst>
      </pc:sldChg>
      <pc:sldChg chg="modSp new del mod">
        <pc:chgData name="Dr. YAQOOB SALMAN MOHAMED ALSLAIS" userId="3b843498-0d2f-436b-9cfb-0641998d3142" providerId="ADAL" clId="{14E12B48-7A42-4907-9A13-F7839ACECA24}" dt="2026-02-02T10:25:25.051" v="107" actId="47"/>
        <pc:sldMkLst>
          <pc:docMk/>
          <pc:sldMk cId="3311778611" sldId="295"/>
        </pc:sldMkLst>
      </pc:sldChg>
      <pc:sldChg chg="modSp new del mod">
        <pc:chgData name="Dr. YAQOOB SALMAN MOHAMED ALSLAIS" userId="3b843498-0d2f-436b-9cfb-0641998d3142" providerId="ADAL" clId="{14E12B48-7A42-4907-9A13-F7839ACECA24}" dt="2026-02-02T10:25:25.051" v="107" actId="47"/>
        <pc:sldMkLst>
          <pc:docMk/>
          <pc:sldMk cId="983666355" sldId="296"/>
        </pc:sldMkLst>
      </pc:sldChg>
      <pc:sldChg chg="modSp add del mod">
        <pc:chgData name="Dr. YAQOOB SALMAN MOHAMED ALSLAIS" userId="3b843498-0d2f-436b-9cfb-0641998d3142" providerId="ADAL" clId="{14E12B48-7A42-4907-9A13-F7839ACECA24}" dt="2026-02-02T10:25:25.051" v="107" actId="47"/>
        <pc:sldMkLst>
          <pc:docMk/>
          <pc:sldMk cId="1313281246" sldId="297"/>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4EAF99-F3A0-446D-97EC-D17B569408D5}"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AD615D36-E019-4857-A12D-0FD7E818B181}">
      <dgm:prSet/>
      <dgm:spPr/>
      <dgm:t>
        <a:bodyPr/>
        <a:lstStyle/>
        <a:p>
          <a:r>
            <a:rPr lang="en-US" dirty="0"/>
            <a:t>Introduction</a:t>
          </a:r>
        </a:p>
      </dgm:t>
    </dgm:pt>
    <dgm:pt modelId="{359EB0AC-BA5F-442A-88BA-02DCF54F46F4}" type="parTrans" cxnId="{ED88AFED-8D5D-4207-9EC6-C5CEE2C7EFFB}">
      <dgm:prSet/>
      <dgm:spPr/>
      <dgm:t>
        <a:bodyPr/>
        <a:lstStyle/>
        <a:p>
          <a:endParaRPr lang="en-US"/>
        </a:p>
      </dgm:t>
    </dgm:pt>
    <dgm:pt modelId="{D486D322-6FB5-4CB8-A3D9-495E615A0E1B}" type="sibTrans" cxnId="{ED88AFED-8D5D-4207-9EC6-C5CEE2C7EFFB}">
      <dgm:prSet/>
      <dgm:spPr/>
      <dgm:t>
        <a:bodyPr/>
        <a:lstStyle/>
        <a:p>
          <a:endParaRPr lang="en-US"/>
        </a:p>
      </dgm:t>
    </dgm:pt>
    <dgm:pt modelId="{E93226DA-7BF1-4E19-9D8F-74BA78A2254F}">
      <dgm:prSet/>
      <dgm:spPr/>
      <dgm:t>
        <a:bodyPr/>
        <a:lstStyle/>
        <a:p>
          <a:r>
            <a:rPr lang="en-US" dirty="0"/>
            <a:t>How Well Developed are the Computing Professions?</a:t>
          </a:r>
        </a:p>
      </dgm:t>
    </dgm:pt>
    <dgm:pt modelId="{366E6712-E7A6-4809-B577-75A528ACFB43}" type="parTrans" cxnId="{F695ABEC-86E9-4806-97ED-2AFA23DFA72D}">
      <dgm:prSet/>
      <dgm:spPr/>
      <dgm:t>
        <a:bodyPr/>
        <a:lstStyle/>
        <a:p>
          <a:endParaRPr lang="en-US"/>
        </a:p>
      </dgm:t>
    </dgm:pt>
    <dgm:pt modelId="{381224C6-A507-479B-BDF8-17EFE3E9E86E}" type="sibTrans" cxnId="{F695ABEC-86E9-4806-97ED-2AFA23DFA72D}">
      <dgm:prSet/>
      <dgm:spPr/>
      <dgm:t>
        <a:bodyPr/>
        <a:lstStyle/>
        <a:p>
          <a:endParaRPr lang="en-US"/>
        </a:p>
      </dgm:t>
    </dgm:pt>
    <dgm:pt modelId="{9F0D867C-E155-4A57-892A-075C575FC602}">
      <dgm:prSet/>
      <dgm:spPr/>
      <dgm:t>
        <a:bodyPr/>
        <a:lstStyle/>
        <a:p>
          <a:r>
            <a:rPr lang="en-US" dirty="0"/>
            <a:t>How do Computer-related Careers Stack up?</a:t>
          </a:r>
        </a:p>
      </dgm:t>
    </dgm:pt>
    <dgm:pt modelId="{95D06F0B-C757-43A4-B5F2-FC7AEB1635A3}" type="parTrans" cxnId="{E60F3BF7-9A1E-4CE4-9CD4-DF5491C86FCA}">
      <dgm:prSet/>
      <dgm:spPr/>
      <dgm:t>
        <a:bodyPr/>
        <a:lstStyle/>
        <a:p>
          <a:endParaRPr lang="en-US"/>
        </a:p>
      </dgm:t>
    </dgm:pt>
    <dgm:pt modelId="{F77945D7-3252-4AC0-ABEA-4EA4E3137411}" type="sibTrans" cxnId="{E60F3BF7-9A1E-4CE4-9CD4-DF5491C86FCA}">
      <dgm:prSet/>
      <dgm:spPr/>
      <dgm:t>
        <a:bodyPr/>
        <a:lstStyle/>
        <a:p>
          <a:endParaRPr lang="en-US"/>
        </a:p>
      </dgm:t>
    </dgm:pt>
    <dgm:pt modelId="{4A315AF6-A0A4-4D64-9D70-2ACCB57EE0C6}">
      <dgm:prSet/>
      <dgm:spPr/>
      <dgm:t>
        <a:bodyPr/>
        <a:lstStyle/>
        <a:p>
          <a:r>
            <a:rPr lang="en-US" dirty="0"/>
            <a:t>Ability to Harm the Public</a:t>
          </a:r>
        </a:p>
      </dgm:t>
    </dgm:pt>
    <dgm:pt modelId="{DD82A93D-D18A-4DDE-AAAA-102A549F6FE6}" type="parTrans" cxnId="{FBC643DF-23F6-4AA6-A671-5C57D21E6C9B}">
      <dgm:prSet/>
      <dgm:spPr/>
      <dgm:t>
        <a:bodyPr/>
        <a:lstStyle/>
        <a:p>
          <a:endParaRPr lang="en-US"/>
        </a:p>
      </dgm:t>
    </dgm:pt>
    <dgm:pt modelId="{D40F4AA8-82A7-4DED-B7B6-5CDF458DFB23}" type="sibTrans" cxnId="{FBC643DF-23F6-4AA6-A671-5C57D21E6C9B}">
      <dgm:prSet/>
      <dgm:spPr/>
      <dgm:t>
        <a:bodyPr/>
        <a:lstStyle/>
        <a:p>
          <a:endParaRPr lang="en-US"/>
        </a:p>
      </dgm:t>
    </dgm:pt>
    <dgm:pt modelId="{8E8278D8-3010-45C1-807D-9369DD3AD532}">
      <dgm:prSet/>
      <dgm:spPr/>
      <dgm:t>
        <a:bodyPr/>
        <a:lstStyle/>
        <a:p>
          <a:r>
            <a:rPr lang="en-US" dirty="0"/>
            <a:t>ACM Code of Ethics and Professional Conduct</a:t>
          </a:r>
        </a:p>
      </dgm:t>
    </dgm:pt>
    <dgm:pt modelId="{7DE3E45A-DC26-4E9B-8904-EDE1A2B3D841}" type="parTrans" cxnId="{24AB963A-3D80-4852-AB12-48B85914869A}">
      <dgm:prSet/>
      <dgm:spPr/>
      <dgm:t>
        <a:bodyPr/>
        <a:lstStyle/>
        <a:p>
          <a:endParaRPr lang="en-US"/>
        </a:p>
      </dgm:t>
    </dgm:pt>
    <dgm:pt modelId="{9DC4712B-A8B8-4666-AA05-7B27EBDBD416}" type="sibTrans" cxnId="{24AB963A-3D80-4852-AB12-48B85914869A}">
      <dgm:prSet/>
      <dgm:spPr/>
      <dgm:t>
        <a:bodyPr/>
        <a:lstStyle/>
        <a:p>
          <a:endParaRPr lang="en-US"/>
        </a:p>
      </dgm:t>
    </dgm:pt>
    <dgm:pt modelId="{6E8D193A-A800-4318-8B1C-328C2C933641}">
      <dgm:prSet/>
      <dgm:spPr/>
      <dgm:t>
        <a:bodyPr/>
        <a:lstStyle/>
        <a:p>
          <a:r>
            <a:rPr lang="en-US" dirty="0"/>
            <a:t>IEEE Code of Ethics</a:t>
          </a:r>
        </a:p>
      </dgm:t>
    </dgm:pt>
    <dgm:pt modelId="{1A1DAEC9-FFD7-46BC-850A-CEBD8C4EA384}" type="parTrans" cxnId="{2432521F-F74F-40F7-BA3B-DC8CE4AAA430}">
      <dgm:prSet/>
      <dgm:spPr/>
      <dgm:t>
        <a:bodyPr/>
        <a:lstStyle/>
        <a:p>
          <a:endParaRPr lang="en-US"/>
        </a:p>
      </dgm:t>
    </dgm:pt>
    <dgm:pt modelId="{1F2A055A-BA9B-4172-897D-EAD82151E5A2}" type="sibTrans" cxnId="{2432521F-F74F-40F7-BA3B-DC8CE4AAA430}">
      <dgm:prSet/>
      <dgm:spPr/>
      <dgm:t>
        <a:bodyPr/>
        <a:lstStyle/>
        <a:p>
          <a:endParaRPr lang="en-US"/>
        </a:p>
      </dgm:t>
    </dgm:pt>
    <dgm:pt modelId="{8EB36DD1-B405-4959-B27F-D4B7FCE84CB2}" type="pres">
      <dgm:prSet presAssocID="{B34EAF99-F3A0-446D-97EC-D17B569408D5}" presName="vert0" presStyleCnt="0">
        <dgm:presLayoutVars>
          <dgm:dir/>
          <dgm:animOne val="branch"/>
          <dgm:animLvl val="lvl"/>
        </dgm:presLayoutVars>
      </dgm:prSet>
      <dgm:spPr/>
    </dgm:pt>
    <dgm:pt modelId="{44EA43D7-F0E0-4341-BA44-F15B762E3021}" type="pres">
      <dgm:prSet presAssocID="{AD615D36-E019-4857-A12D-0FD7E818B181}" presName="thickLine" presStyleLbl="alignNode1" presStyleIdx="0" presStyleCnt="6"/>
      <dgm:spPr/>
    </dgm:pt>
    <dgm:pt modelId="{59377F3A-8DD7-4233-A847-AF4FB8DCC88E}" type="pres">
      <dgm:prSet presAssocID="{AD615D36-E019-4857-A12D-0FD7E818B181}" presName="horz1" presStyleCnt="0"/>
      <dgm:spPr/>
    </dgm:pt>
    <dgm:pt modelId="{E6886393-6D3C-4A4F-85DF-96E9A2487160}" type="pres">
      <dgm:prSet presAssocID="{AD615D36-E019-4857-A12D-0FD7E818B181}" presName="tx1" presStyleLbl="revTx" presStyleIdx="0" presStyleCnt="6"/>
      <dgm:spPr/>
    </dgm:pt>
    <dgm:pt modelId="{CE717FDD-ED11-43BF-A649-FFE0DA2465AA}" type="pres">
      <dgm:prSet presAssocID="{AD615D36-E019-4857-A12D-0FD7E818B181}" presName="vert1" presStyleCnt="0"/>
      <dgm:spPr/>
    </dgm:pt>
    <dgm:pt modelId="{B5815D24-6827-48A6-815B-19E0293A99C9}" type="pres">
      <dgm:prSet presAssocID="{E93226DA-7BF1-4E19-9D8F-74BA78A2254F}" presName="thickLine" presStyleLbl="alignNode1" presStyleIdx="1" presStyleCnt="6"/>
      <dgm:spPr/>
    </dgm:pt>
    <dgm:pt modelId="{60A6BD30-5A3A-42F3-9022-68D3EFB33DD1}" type="pres">
      <dgm:prSet presAssocID="{E93226DA-7BF1-4E19-9D8F-74BA78A2254F}" presName="horz1" presStyleCnt="0"/>
      <dgm:spPr/>
    </dgm:pt>
    <dgm:pt modelId="{C81987B5-62E5-4E8E-80CF-21F04ACCEB13}" type="pres">
      <dgm:prSet presAssocID="{E93226DA-7BF1-4E19-9D8F-74BA78A2254F}" presName="tx1" presStyleLbl="revTx" presStyleIdx="1" presStyleCnt="6"/>
      <dgm:spPr/>
    </dgm:pt>
    <dgm:pt modelId="{6ACBC149-A944-4580-B31E-BDE2569868AF}" type="pres">
      <dgm:prSet presAssocID="{E93226DA-7BF1-4E19-9D8F-74BA78A2254F}" presName="vert1" presStyleCnt="0"/>
      <dgm:spPr/>
    </dgm:pt>
    <dgm:pt modelId="{D26DCA16-A09C-422C-B02D-C7C2B47ABE62}" type="pres">
      <dgm:prSet presAssocID="{9F0D867C-E155-4A57-892A-075C575FC602}" presName="thickLine" presStyleLbl="alignNode1" presStyleIdx="2" presStyleCnt="6"/>
      <dgm:spPr/>
    </dgm:pt>
    <dgm:pt modelId="{F06F1C4D-E592-4755-823B-9D851BBDD524}" type="pres">
      <dgm:prSet presAssocID="{9F0D867C-E155-4A57-892A-075C575FC602}" presName="horz1" presStyleCnt="0"/>
      <dgm:spPr/>
    </dgm:pt>
    <dgm:pt modelId="{30B68805-8986-46EF-B0E6-64C73AD252DC}" type="pres">
      <dgm:prSet presAssocID="{9F0D867C-E155-4A57-892A-075C575FC602}" presName="tx1" presStyleLbl="revTx" presStyleIdx="2" presStyleCnt="6"/>
      <dgm:spPr/>
    </dgm:pt>
    <dgm:pt modelId="{D8CE6FDD-3391-4956-B131-45C8CF0E65F8}" type="pres">
      <dgm:prSet presAssocID="{9F0D867C-E155-4A57-892A-075C575FC602}" presName="vert1" presStyleCnt="0"/>
      <dgm:spPr/>
    </dgm:pt>
    <dgm:pt modelId="{10BAD85E-5063-4774-AD48-2408CE506081}" type="pres">
      <dgm:prSet presAssocID="{4A315AF6-A0A4-4D64-9D70-2ACCB57EE0C6}" presName="thickLine" presStyleLbl="alignNode1" presStyleIdx="3" presStyleCnt="6"/>
      <dgm:spPr/>
    </dgm:pt>
    <dgm:pt modelId="{708296AA-5725-45FF-904D-FE3DD721F321}" type="pres">
      <dgm:prSet presAssocID="{4A315AF6-A0A4-4D64-9D70-2ACCB57EE0C6}" presName="horz1" presStyleCnt="0"/>
      <dgm:spPr/>
    </dgm:pt>
    <dgm:pt modelId="{C026B350-0D33-4799-B112-B1059FCB7725}" type="pres">
      <dgm:prSet presAssocID="{4A315AF6-A0A4-4D64-9D70-2ACCB57EE0C6}" presName="tx1" presStyleLbl="revTx" presStyleIdx="3" presStyleCnt="6"/>
      <dgm:spPr/>
    </dgm:pt>
    <dgm:pt modelId="{2E00027F-BA31-4F57-A017-1E138D5B6A93}" type="pres">
      <dgm:prSet presAssocID="{4A315AF6-A0A4-4D64-9D70-2ACCB57EE0C6}" presName="vert1" presStyleCnt="0"/>
      <dgm:spPr/>
    </dgm:pt>
    <dgm:pt modelId="{0F1E6AD0-AA9A-40CB-BEE4-5D0FF2C00739}" type="pres">
      <dgm:prSet presAssocID="{8E8278D8-3010-45C1-807D-9369DD3AD532}" presName="thickLine" presStyleLbl="alignNode1" presStyleIdx="4" presStyleCnt="6"/>
      <dgm:spPr/>
    </dgm:pt>
    <dgm:pt modelId="{E579B731-D3D1-4549-BA8B-DC4980AD03E1}" type="pres">
      <dgm:prSet presAssocID="{8E8278D8-3010-45C1-807D-9369DD3AD532}" presName="horz1" presStyleCnt="0"/>
      <dgm:spPr/>
    </dgm:pt>
    <dgm:pt modelId="{B60C1ACA-FED0-4048-958A-F3E1E38B7B59}" type="pres">
      <dgm:prSet presAssocID="{8E8278D8-3010-45C1-807D-9369DD3AD532}" presName="tx1" presStyleLbl="revTx" presStyleIdx="4" presStyleCnt="6"/>
      <dgm:spPr/>
    </dgm:pt>
    <dgm:pt modelId="{199102EA-9647-412C-9FC3-62B45441ED47}" type="pres">
      <dgm:prSet presAssocID="{8E8278D8-3010-45C1-807D-9369DD3AD532}" presName="vert1" presStyleCnt="0"/>
      <dgm:spPr/>
    </dgm:pt>
    <dgm:pt modelId="{07C7A12E-973A-43A2-9A47-6A5619D97179}" type="pres">
      <dgm:prSet presAssocID="{6E8D193A-A800-4318-8B1C-328C2C933641}" presName="thickLine" presStyleLbl="alignNode1" presStyleIdx="5" presStyleCnt="6"/>
      <dgm:spPr/>
    </dgm:pt>
    <dgm:pt modelId="{249E9F5E-A414-477D-AE7E-268680F4C793}" type="pres">
      <dgm:prSet presAssocID="{6E8D193A-A800-4318-8B1C-328C2C933641}" presName="horz1" presStyleCnt="0"/>
      <dgm:spPr/>
    </dgm:pt>
    <dgm:pt modelId="{8AE64FCC-5E13-4350-9324-189ACF94FDE0}" type="pres">
      <dgm:prSet presAssocID="{6E8D193A-A800-4318-8B1C-328C2C933641}" presName="tx1" presStyleLbl="revTx" presStyleIdx="5" presStyleCnt="6"/>
      <dgm:spPr/>
    </dgm:pt>
    <dgm:pt modelId="{B4EDA64C-4FE0-4F6F-8BEB-1E682CF2D605}" type="pres">
      <dgm:prSet presAssocID="{6E8D193A-A800-4318-8B1C-328C2C933641}" presName="vert1" presStyleCnt="0"/>
      <dgm:spPr/>
    </dgm:pt>
  </dgm:ptLst>
  <dgm:cxnLst>
    <dgm:cxn modelId="{D7BB3111-58B3-4CFC-9A7E-0C8C22CE11E2}" type="presOf" srcId="{8E8278D8-3010-45C1-807D-9369DD3AD532}" destId="{B60C1ACA-FED0-4048-958A-F3E1E38B7B59}" srcOrd="0" destOrd="0" presId="urn:microsoft.com/office/officeart/2008/layout/LinedList"/>
    <dgm:cxn modelId="{2432521F-F74F-40F7-BA3B-DC8CE4AAA430}" srcId="{B34EAF99-F3A0-446D-97EC-D17B569408D5}" destId="{6E8D193A-A800-4318-8B1C-328C2C933641}" srcOrd="5" destOrd="0" parTransId="{1A1DAEC9-FFD7-46BC-850A-CEBD8C4EA384}" sibTransId="{1F2A055A-BA9B-4172-897D-EAD82151E5A2}"/>
    <dgm:cxn modelId="{AF1B762F-832F-4325-B87D-58E66D9B5FD9}" type="presOf" srcId="{E93226DA-7BF1-4E19-9D8F-74BA78A2254F}" destId="{C81987B5-62E5-4E8E-80CF-21F04ACCEB13}" srcOrd="0" destOrd="0" presId="urn:microsoft.com/office/officeart/2008/layout/LinedList"/>
    <dgm:cxn modelId="{24AB963A-3D80-4852-AB12-48B85914869A}" srcId="{B34EAF99-F3A0-446D-97EC-D17B569408D5}" destId="{8E8278D8-3010-45C1-807D-9369DD3AD532}" srcOrd="4" destOrd="0" parTransId="{7DE3E45A-DC26-4E9B-8904-EDE1A2B3D841}" sibTransId="{9DC4712B-A8B8-4666-AA05-7B27EBDBD416}"/>
    <dgm:cxn modelId="{D60E0F42-6BCE-4047-98CE-2269CC751AFC}" type="presOf" srcId="{6E8D193A-A800-4318-8B1C-328C2C933641}" destId="{8AE64FCC-5E13-4350-9324-189ACF94FDE0}" srcOrd="0" destOrd="0" presId="urn:microsoft.com/office/officeart/2008/layout/LinedList"/>
    <dgm:cxn modelId="{7AA3A374-CBE8-42E2-98CA-512C93ED9AB2}" type="presOf" srcId="{4A315AF6-A0A4-4D64-9D70-2ACCB57EE0C6}" destId="{C026B350-0D33-4799-B112-B1059FCB7725}" srcOrd="0" destOrd="0" presId="urn:microsoft.com/office/officeart/2008/layout/LinedList"/>
    <dgm:cxn modelId="{E23432C8-7E03-49E7-A8FE-6DD69F496D59}" type="presOf" srcId="{AD615D36-E019-4857-A12D-0FD7E818B181}" destId="{E6886393-6D3C-4A4F-85DF-96E9A2487160}" srcOrd="0" destOrd="0" presId="urn:microsoft.com/office/officeart/2008/layout/LinedList"/>
    <dgm:cxn modelId="{2A5A86CA-6636-4B51-A39F-CC7C026075FC}" type="presOf" srcId="{B34EAF99-F3A0-446D-97EC-D17B569408D5}" destId="{8EB36DD1-B405-4959-B27F-D4B7FCE84CB2}" srcOrd="0" destOrd="0" presId="urn:microsoft.com/office/officeart/2008/layout/LinedList"/>
    <dgm:cxn modelId="{FBC643DF-23F6-4AA6-A671-5C57D21E6C9B}" srcId="{B34EAF99-F3A0-446D-97EC-D17B569408D5}" destId="{4A315AF6-A0A4-4D64-9D70-2ACCB57EE0C6}" srcOrd="3" destOrd="0" parTransId="{DD82A93D-D18A-4DDE-AAAA-102A549F6FE6}" sibTransId="{D40F4AA8-82A7-4DED-B7B6-5CDF458DFB23}"/>
    <dgm:cxn modelId="{CC278EE9-B263-41B3-AE22-B38A96DCE059}" type="presOf" srcId="{9F0D867C-E155-4A57-892A-075C575FC602}" destId="{30B68805-8986-46EF-B0E6-64C73AD252DC}" srcOrd="0" destOrd="0" presId="urn:microsoft.com/office/officeart/2008/layout/LinedList"/>
    <dgm:cxn modelId="{F695ABEC-86E9-4806-97ED-2AFA23DFA72D}" srcId="{B34EAF99-F3A0-446D-97EC-D17B569408D5}" destId="{E93226DA-7BF1-4E19-9D8F-74BA78A2254F}" srcOrd="1" destOrd="0" parTransId="{366E6712-E7A6-4809-B577-75A528ACFB43}" sibTransId="{381224C6-A507-479B-BDF8-17EFE3E9E86E}"/>
    <dgm:cxn modelId="{ED88AFED-8D5D-4207-9EC6-C5CEE2C7EFFB}" srcId="{B34EAF99-F3A0-446D-97EC-D17B569408D5}" destId="{AD615D36-E019-4857-A12D-0FD7E818B181}" srcOrd="0" destOrd="0" parTransId="{359EB0AC-BA5F-442A-88BA-02DCF54F46F4}" sibTransId="{D486D322-6FB5-4CB8-A3D9-495E615A0E1B}"/>
    <dgm:cxn modelId="{E60F3BF7-9A1E-4CE4-9CD4-DF5491C86FCA}" srcId="{B34EAF99-F3A0-446D-97EC-D17B569408D5}" destId="{9F0D867C-E155-4A57-892A-075C575FC602}" srcOrd="2" destOrd="0" parTransId="{95D06F0B-C757-43A4-B5F2-FC7AEB1635A3}" sibTransId="{F77945D7-3252-4AC0-ABEA-4EA4E3137411}"/>
    <dgm:cxn modelId="{64CCF44A-DC2F-4CEB-AABB-BC1EFB0E412E}" type="presParOf" srcId="{8EB36DD1-B405-4959-B27F-D4B7FCE84CB2}" destId="{44EA43D7-F0E0-4341-BA44-F15B762E3021}" srcOrd="0" destOrd="0" presId="urn:microsoft.com/office/officeart/2008/layout/LinedList"/>
    <dgm:cxn modelId="{62CCFF78-44AE-4E4C-AE02-7741453760AA}" type="presParOf" srcId="{8EB36DD1-B405-4959-B27F-D4B7FCE84CB2}" destId="{59377F3A-8DD7-4233-A847-AF4FB8DCC88E}" srcOrd="1" destOrd="0" presId="urn:microsoft.com/office/officeart/2008/layout/LinedList"/>
    <dgm:cxn modelId="{7A7937EB-1DFB-4F7F-A8ED-62C7C001BE50}" type="presParOf" srcId="{59377F3A-8DD7-4233-A847-AF4FB8DCC88E}" destId="{E6886393-6D3C-4A4F-85DF-96E9A2487160}" srcOrd="0" destOrd="0" presId="urn:microsoft.com/office/officeart/2008/layout/LinedList"/>
    <dgm:cxn modelId="{C730C100-58C0-41C1-A887-8C00D211A496}" type="presParOf" srcId="{59377F3A-8DD7-4233-A847-AF4FB8DCC88E}" destId="{CE717FDD-ED11-43BF-A649-FFE0DA2465AA}" srcOrd="1" destOrd="0" presId="urn:microsoft.com/office/officeart/2008/layout/LinedList"/>
    <dgm:cxn modelId="{8BD27788-C58E-4C74-B032-669D3EFC299E}" type="presParOf" srcId="{8EB36DD1-B405-4959-B27F-D4B7FCE84CB2}" destId="{B5815D24-6827-48A6-815B-19E0293A99C9}" srcOrd="2" destOrd="0" presId="urn:microsoft.com/office/officeart/2008/layout/LinedList"/>
    <dgm:cxn modelId="{4F3203FD-04C2-4574-BB2B-E96194A4A22E}" type="presParOf" srcId="{8EB36DD1-B405-4959-B27F-D4B7FCE84CB2}" destId="{60A6BD30-5A3A-42F3-9022-68D3EFB33DD1}" srcOrd="3" destOrd="0" presId="urn:microsoft.com/office/officeart/2008/layout/LinedList"/>
    <dgm:cxn modelId="{AE9A6E17-4B69-4FED-B952-95E752A4942C}" type="presParOf" srcId="{60A6BD30-5A3A-42F3-9022-68D3EFB33DD1}" destId="{C81987B5-62E5-4E8E-80CF-21F04ACCEB13}" srcOrd="0" destOrd="0" presId="urn:microsoft.com/office/officeart/2008/layout/LinedList"/>
    <dgm:cxn modelId="{1F2821E1-4CFB-44C4-AEB6-C3D5CDBCAB85}" type="presParOf" srcId="{60A6BD30-5A3A-42F3-9022-68D3EFB33DD1}" destId="{6ACBC149-A944-4580-B31E-BDE2569868AF}" srcOrd="1" destOrd="0" presId="urn:microsoft.com/office/officeart/2008/layout/LinedList"/>
    <dgm:cxn modelId="{7A16721D-8A7E-4402-859B-4330F0DB01BA}" type="presParOf" srcId="{8EB36DD1-B405-4959-B27F-D4B7FCE84CB2}" destId="{D26DCA16-A09C-422C-B02D-C7C2B47ABE62}" srcOrd="4" destOrd="0" presId="urn:microsoft.com/office/officeart/2008/layout/LinedList"/>
    <dgm:cxn modelId="{3A98426C-D2BD-4DBA-B10B-E2DF12CC9B70}" type="presParOf" srcId="{8EB36DD1-B405-4959-B27F-D4B7FCE84CB2}" destId="{F06F1C4D-E592-4755-823B-9D851BBDD524}" srcOrd="5" destOrd="0" presId="urn:microsoft.com/office/officeart/2008/layout/LinedList"/>
    <dgm:cxn modelId="{6DC80C9B-D963-4979-AF01-FC09B8016D6D}" type="presParOf" srcId="{F06F1C4D-E592-4755-823B-9D851BBDD524}" destId="{30B68805-8986-46EF-B0E6-64C73AD252DC}" srcOrd="0" destOrd="0" presId="urn:microsoft.com/office/officeart/2008/layout/LinedList"/>
    <dgm:cxn modelId="{853E0C8F-1CBA-4CC7-8AAF-DC778065D5A4}" type="presParOf" srcId="{F06F1C4D-E592-4755-823B-9D851BBDD524}" destId="{D8CE6FDD-3391-4956-B131-45C8CF0E65F8}" srcOrd="1" destOrd="0" presId="urn:microsoft.com/office/officeart/2008/layout/LinedList"/>
    <dgm:cxn modelId="{AEB2A976-771D-4CBC-9E4D-F39640EA859B}" type="presParOf" srcId="{8EB36DD1-B405-4959-B27F-D4B7FCE84CB2}" destId="{10BAD85E-5063-4774-AD48-2408CE506081}" srcOrd="6" destOrd="0" presId="urn:microsoft.com/office/officeart/2008/layout/LinedList"/>
    <dgm:cxn modelId="{D076AE3B-7D48-47B2-960E-7E7CC35C0224}" type="presParOf" srcId="{8EB36DD1-B405-4959-B27F-D4B7FCE84CB2}" destId="{708296AA-5725-45FF-904D-FE3DD721F321}" srcOrd="7" destOrd="0" presId="urn:microsoft.com/office/officeart/2008/layout/LinedList"/>
    <dgm:cxn modelId="{D23D1BAD-517E-4102-9F53-E8BA96A787DE}" type="presParOf" srcId="{708296AA-5725-45FF-904D-FE3DD721F321}" destId="{C026B350-0D33-4799-B112-B1059FCB7725}" srcOrd="0" destOrd="0" presId="urn:microsoft.com/office/officeart/2008/layout/LinedList"/>
    <dgm:cxn modelId="{60784BC6-FB3B-4E4F-9006-7E04D095DA5C}" type="presParOf" srcId="{708296AA-5725-45FF-904D-FE3DD721F321}" destId="{2E00027F-BA31-4F57-A017-1E138D5B6A93}" srcOrd="1" destOrd="0" presId="urn:microsoft.com/office/officeart/2008/layout/LinedList"/>
    <dgm:cxn modelId="{F4BA42F2-D9F1-44B4-85F9-2426D4CB9435}" type="presParOf" srcId="{8EB36DD1-B405-4959-B27F-D4B7FCE84CB2}" destId="{0F1E6AD0-AA9A-40CB-BEE4-5D0FF2C00739}" srcOrd="8" destOrd="0" presId="urn:microsoft.com/office/officeart/2008/layout/LinedList"/>
    <dgm:cxn modelId="{9B1541E9-723E-4144-BD2D-0A5B5ACD8C82}" type="presParOf" srcId="{8EB36DD1-B405-4959-B27F-D4B7FCE84CB2}" destId="{E579B731-D3D1-4549-BA8B-DC4980AD03E1}" srcOrd="9" destOrd="0" presId="urn:microsoft.com/office/officeart/2008/layout/LinedList"/>
    <dgm:cxn modelId="{A2A66E1D-7504-4192-BCF1-486C326F2256}" type="presParOf" srcId="{E579B731-D3D1-4549-BA8B-DC4980AD03E1}" destId="{B60C1ACA-FED0-4048-958A-F3E1E38B7B59}" srcOrd="0" destOrd="0" presId="urn:microsoft.com/office/officeart/2008/layout/LinedList"/>
    <dgm:cxn modelId="{E33084E2-C284-495F-BE84-7DB1B32B02C3}" type="presParOf" srcId="{E579B731-D3D1-4549-BA8B-DC4980AD03E1}" destId="{199102EA-9647-412C-9FC3-62B45441ED47}" srcOrd="1" destOrd="0" presId="urn:microsoft.com/office/officeart/2008/layout/LinedList"/>
    <dgm:cxn modelId="{482DC57B-3C44-4FE8-938A-A55E187712E6}" type="presParOf" srcId="{8EB36DD1-B405-4959-B27F-D4B7FCE84CB2}" destId="{07C7A12E-973A-43A2-9A47-6A5619D97179}" srcOrd="10" destOrd="0" presId="urn:microsoft.com/office/officeart/2008/layout/LinedList"/>
    <dgm:cxn modelId="{AA327335-BDA8-41E9-915E-656DED54DD91}" type="presParOf" srcId="{8EB36DD1-B405-4959-B27F-D4B7FCE84CB2}" destId="{249E9F5E-A414-477D-AE7E-268680F4C793}" srcOrd="11" destOrd="0" presId="urn:microsoft.com/office/officeart/2008/layout/LinedList"/>
    <dgm:cxn modelId="{21777274-AC3B-45DF-9652-D3D119190B15}" type="presParOf" srcId="{249E9F5E-A414-477D-AE7E-268680F4C793}" destId="{8AE64FCC-5E13-4350-9324-189ACF94FDE0}" srcOrd="0" destOrd="0" presId="urn:microsoft.com/office/officeart/2008/layout/LinedList"/>
    <dgm:cxn modelId="{AC3526B2-664C-43CD-8E09-DD24BCF3048C}" type="presParOf" srcId="{249E9F5E-A414-477D-AE7E-268680F4C793}" destId="{B4EDA64C-4FE0-4F6F-8BEB-1E682CF2D60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7FC1F01-19D6-4D7A-AA0C-22EA0C3F6CF8}"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8855829E-A858-460C-851E-98ED3CF4FB3C}">
      <dgm:prSet/>
      <dgm:spPr/>
      <dgm:t>
        <a:bodyPr/>
        <a:lstStyle/>
        <a:p>
          <a:r>
            <a:rPr lang="en-US" b="1"/>
            <a:t>Profession: </a:t>
          </a:r>
          <a:r>
            <a:rPr lang="en-US"/>
            <a:t>A vocation that requires a high level of education and practical experience in the field.</a:t>
          </a:r>
        </a:p>
      </dgm:t>
    </dgm:pt>
    <dgm:pt modelId="{7DB1B7ED-2289-48C9-A736-0050EE8A46C3}" type="parTrans" cxnId="{ED2F491A-AAD8-4D3D-AAF3-841C0FEE2D66}">
      <dgm:prSet/>
      <dgm:spPr/>
      <dgm:t>
        <a:bodyPr/>
        <a:lstStyle/>
        <a:p>
          <a:endParaRPr lang="en-US"/>
        </a:p>
      </dgm:t>
    </dgm:pt>
    <dgm:pt modelId="{6A8638F3-AF60-424E-9C5F-72765A12FF44}" type="sibTrans" cxnId="{ED2F491A-AAD8-4D3D-AAF3-841C0FEE2D66}">
      <dgm:prSet/>
      <dgm:spPr/>
      <dgm:t>
        <a:bodyPr/>
        <a:lstStyle/>
        <a:p>
          <a:endParaRPr lang="en-US"/>
        </a:p>
      </dgm:t>
    </dgm:pt>
    <dgm:pt modelId="{73B80C3D-9466-47E5-BD15-1E676909B9B2}">
      <dgm:prSet/>
      <dgm:spPr/>
      <dgm:t>
        <a:bodyPr/>
        <a:lstStyle/>
        <a:p>
          <a:r>
            <a:rPr lang="en-US"/>
            <a:t>Professionals have a special obligation to ensure their actions are for the good of those who depend on them, because their decisions can have more serious consequences.</a:t>
          </a:r>
        </a:p>
      </dgm:t>
    </dgm:pt>
    <dgm:pt modelId="{39F3CEA5-0945-4FA9-865C-A390A4DF47E4}" type="parTrans" cxnId="{8D0961AE-0DC2-401B-9901-F280BF22F1D1}">
      <dgm:prSet/>
      <dgm:spPr/>
      <dgm:t>
        <a:bodyPr/>
        <a:lstStyle/>
        <a:p>
          <a:endParaRPr lang="en-US"/>
        </a:p>
      </dgm:t>
    </dgm:pt>
    <dgm:pt modelId="{8DC37493-B962-495B-8C98-B1277767B3D8}" type="sibTrans" cxnId="{8D0961AE-0DC2-401B-9901-F280BF22F1D1}">
      <dgm:prSet/>
      <dgm:spPr/>
      <dgm:t>
        <a:bodyPr/>
        <a:lstStyle/>
        <a:p>
          <a:endParaRPr lang="en-US"/>
        </a:p>
      </dgm:t>
    </dgm:pt>
    <dgm:pt modelId="{2CB6CD42-80C9-4B76-843D-5618C4B6B3E3}" type="pres">
      <dgm:prSet presAssocID="{F7FC1F01-19D6-4D7A-AA0C-22EA0C3F6CF8}" presName="vert0" presStyleCnt="0">
        <dgm:presLayoutVars>
          <dgm:dir/>
          <dgm:animOne val="branch"/>
          <dgm:animLvl val="lvl"/>
        </dgm:presLayoutVars>
      </dgm:prSet>
      <dgm:spPr/>
    </dgm:pt>
    <dgm:pt modelId="{913BBBB5-CFD7-4665-BD36-87607818B801}" type="pres">
      <dgm:prSet presAssocID="{8855829E-A858-460C-851E-98ED3CF4FB3C}" presName="thickLine" presStyleLbl="alignNode1" presStyleIdx="0" presStyleCnt="2"/>
      <dgm:spPr/>
    </dgm:pt>
    <dgm:pt modelId="{A0F7EA32-E858-4C27-9DDC-5E484C696E43}" type="pres">
      <dgm:prSet presAssocID="{8855829E-A858-460C-851E-98ED3CF4FB3C}" presName="horz1" presStyleCnt="0"/>
      <dgm:spPr/>
    </dgm:pt>
    <dgm:pt modelId="{CD7BE187-8C3F-4BE6-BDBC-70BC6080D07B}" type="pres">
      <dgm:prSet presAssocID="{8855829E-A858-460C-851E-98ED3CF4FB3C}" presName="tx1" presStyleLbl="revTx" presStyleIdx="0" presStyleCnt="2"/>
      <dgm:spPr/>
    </dgm:pt>
    <dgm:pt modelId="{74A9464E-9230-4298-B1F5-81A70FAEF4FD}" type="pres">
      <dgm:prSet presAssocID="{8855829E-A858-460C-851E-98ED3CF4FB3C}" presName="vert1" presStyleCnt="0"/>
      <dgm:spPr/>
    </dgm:pt>
    <dgm:pt modelId="{055C9E4E-B1D1-4A53-80FE-2615E247AB0B}" type="pres">
      <dgm:prSet presAssocID="{73B80C3D-9466-47E5-BD15-1E676909B9B2}" presName="thickLine" presStyleLbl="alignNode1" presStyleIdx="1" presStyleCnt="2"/>
      <dgm:spPr/>
    </dgm:pt>
    <dgm:pt modelId="{33B2A9D0-A485-4D82-A884-6FA84D8B865C}" type="pres">
      <dgm:prSet presAssocID="{73B80C3D-9466-47E5-BD15-1E676909B9B2}" presName="horz1" presStyleCnt="0"/>
      <dgm:spPr/>
    </dgm:pt>
    <dgm:pt modelId="{0E33A0B3-A350-42A4-A3F2-5FEE0C8E5257}" type="pres">
      <dgm:prSet presAssocID="{73B80C3D-9466-47E5-BD15-1E676909B9B2}" presName="tx1" presStyleLbl="revTx" presStyleIdx="1" presStyleCnt="2"/>
      <dgm:spPr/>
    </dgm:pt>
    <dgm:pt modelId="{432F9314-631F-4E39-AF4B-DEC873389D50}" type="pres">
      <dgm:prSet presAssocID="{73B80C3D-9466-47E5-BD15-1E676909B9B2}" presName="vert1" presStyleCnt="0"/>
      <dgm:spPr/>
    </dgm:pt>
  </dgm:ptLst>
  <dgm:cxnLst>
    <dgm:cxn modelId="{ED2F491A-AAD8-4D3D-AAF3-841C0FEE2D66}" srcId="{F7FC1F01-19D6-4D7A-AA0C-22EA0C3F6CF8}" destId="{8855829E-A858-460C-851E-98ED3CF4FB3C}" srcOrd="0" destOrd="0" parTransId="{7DB1B7ED-2289-48C9-A736-0050EE8A46C3}" sibTransId="{6A8638F3-AF60-424E-9C5F-72765A12FF44}"/>
    <dgm:cxn modelId="{CC85EE77-43C8-4715-983A-993CB0E6C1FF}" type="presOf" srcId="{73B80C3D-9466-47E5-BD15-1E676909B9B2}" destId="{0E33A0B3-A350-42A4-A3F2-5FEE0C8E5257}" srcOrd="0" destOrd="0" presId="urn:microsoft.com/office/officeart/2008/layout/LinedList"/>
    <dgm:cxn modelId="{55A867A3-0161-462A-88D2-26445CA77450}" type="presOf" srcId="{F7FC1F01-19D6-4D7A-AA0C-22EA0C3F6CF8}" destId="{2CB6CD42-80C9-4B76-843D-5618C4B6B3E3}" srcOrd="0" destOrd="0" presId="urn:microsoft.com/office/officeart/2008/layout/LinedList"/>
    <dgm:cxn modelId="{92F96CAA-9E8E-4F31-AF5A-ABD74D9C107A}" type="presOf" srcId="{8855829E-A858-460C-851E-98ED3CF4FB3C}" destId="{CD7BE187-8C3F-4BE6-BDBC-70BC6080D07B}" srcOrd="0" destOrd="0" presId="urn:microsoft.com/office/officeart/2008/layout/LinedList"/>
    <dgm:cxn modelId="{8D0961AE-0DC2-401B-9901-F280BF22F1D1}" srcId="{F7FC1F01-19D6-4D7A-AA0C-22EA0C3F6CF8}" destId="{73B80C3D-9466-47E5-BD15-1E676909B9B2}" srcOrd="1" destOrd="0" parTransId="{39F3CEA5-0945-4FA9-865C-A390A4DF47E4}" sibTransId="{8DC37493-B962-495B-8C98-B1277767B3D8}"/>
    <dgm:cxn modelId="{7BAEE9FC-A0D2-452C-B90C-922A212A868C}" type="presParOf" srcId="{2CB6CD42-80C9-4B76-843D-5618C4B6B3E3}" destId="{913BBBB5-CFD7-4665-BD36-87607818B801}" srcOrd="0" destOrd="0" presId="urn:microsoft.com/office/officeart/2008/layout/LinedList"/>
    <dgm:cxn modelId="{15FF2630-9D00-4ADB-9512-081411DBAAD1}" type="presParOf" srcId="{2CB6CD42-80C9-4B76-843D-5618C4B6B3E3}" destId="{A0F7EA32-E858-4C27-9DDC-5E484C696E43}" srcOrd="1" destOrd="0" presId="urn:microsoft.com/office/officeart/2008/layout/LinedList"/>
    <dgm:cxn modelId="{5133A97A-93EA-4287-8AD5-06392BF391CE}" type="presParOf" srcId="{A0F7EA32-E858-4C27-9DDC-5E484C696E43}" destId="{CD7BE187-8C3F-4BE6-BDBC-70BC6080D07B}" srcOrd="0" destOrd="0" presId="urn:microsoft.com/office/officeart/2008/layout/LinedList"/>
    <dgm:cxn modelId="{99E49D4F-7767-4330-B8CD-BD841D7A1579}" type="presParOf" srcId="{A0F7EA32-E858-4C27-9DDC-5E484C696E43}" destId="{74A9464E-9230-4298-B1F5-81A70FAEF4FD}" srcOrd="1" destOrd="0" presId="urn:microsoft.com/office/officeart/2008/layout/LinedList"/>
    <dgm:cxn modelId="{E37CAEA5-07EB-4786-AB4A-ED5F3B57AFF0}" type="presParOf" srcId="{2CB6CD42-80C9-4B76-843D-5618C4B6B3E3}" destId="{055C9E4E-B1D1-4A53-80FE-2615E247AB0B}" srcOrd="2" destOrd="0" presId="urn:microsoft.com/office/officeart/2008/layout/LinedList"/>
    <dgm:cxn modelId="{3244000A-5279-4A12-B1A4-8AF0F0FC3281}" type="presParOf" srcId="{2CB6CD42-80C9-4B76-843D-5618C4B6B3E3}" destId="{33B2A9D0-A485-4D82-A884-6FA84D8B865C}" srcOrd="3" destOrd="0" presId="urn:microsoft.com/office/officeart/2008/layout/LinedList"/>
    <dgm:cxn modelId="{1928874E-A05E-4170-B095-840B64CA1AC4}" type="presParOf" srcId="{33B2A9D0-A485-4D82-A884-6FA84D8B865C}" destId="{0E33A0B3-A350-42A4-A3F2-5FEE0C8E5257}" srcOrd="0" destOrd="0" presId="urn:microsoft.com/office/officeart/2008/layout/LinedList"/>
    <dgm:cxn modelId="{5C2FDA22-263A-45B4-AD44-FBB0C707482D}" type="presParOf" srcId="{33B2A9D0-A485-4D82-A884-6FA84D8B865C}" destId="{432F9314-631F-4E39-AF4B-DEC873389D50}"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B3A1B6-1BF1-46B1-AADB-7FBEA693FF5F}"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6BDFDDA9-8AD8-45EA-8083-1F132532EA69}">
      <dgm:prSet/>
      <dgm:spPr/>
      <dgm:t>
        <a:bodyPr/>
        <a:lstStyle/>
        <a:p>
          <a:r>
            <a:rPr lang="en-US"/>
            <a:t>The typical corporate response in condemnation</a:t>
          </a:r>
        </a:p>
      </dgm:t>
    </dgm:pt>
    <dgm:pt modelId="{E9D1E6E7-9101-48C9-BF22-A9D0AAD33188}" type="parTrans" cxnId="{7917D1E2-5ADB-4F27-9BAC-B2583729A281}">
      <dgm:prSet/>
      <dgm:spPr/>
      <dgm:t>
        <a:bodyPr/>
        <a:lstStyle/>
        <a:p>
          <a:endParaRPr lang="en-US"/>
        </a:p>
      </dgm:t>
    </dgm:pt>
    <dgm:pt modelId="{53C755D7-74D0-41E9-B6D6-01DAE64325A5}" type="sibTrans" cxnId="{7917D1E2-5ADB-4F27-9BAC-B2583729A281}">
      <dgm:prSet/>
      <dgm:spPr/>
      <dgm:t>
        <a:bodyPr/>
        <a:lstStyle/>
        <a:p>
          <a:endParaRPr lang="en-US"/>
        </a:p>
      </dgm:t>
    </dgm:pt>
    <dgm:pt modelId="{978FAC60-F68C-49CD-8E07-22BE4927D2A2}">
      <dgm:prSet/>
      <dgm:spPr/>
      <dgm:t>
        <a:bodyPr/>
        <a:lstStyle/>
        <a:p>
          <a:r>
            <a:rPr lang="en-US"/>
            <a:t>Whistle-blowers are disloyal to their companies</a:t>
          </a:r>
        </a:p>
      </dgm:t>
    </dgm:pt>
    <dgm:pt modelId="{3EB05110-7C56-4F15-BC55-43396E7F5978}" type="parTrans" cxnId="{2F2250CF-B96E-4622-9AFF-B717D2D3EF9D}">
      <dgm:prSet/>
      <dgm:spPr/>
      <dgm:t>
        <a:bodyPr/>
        <a:lstStyle/>
        <a:p>
          <a:endParaRPr lang="en-US"/>
        </a:p>
      </dgm:t>
    </dgm:pt>
    <dgm:pt modelId="{90418197-49CB-48C9-95A3-B428F2DA7F83}" type="sibTrans" cxnId="{2F2250CF-B96E-4622-9AFF-B717D2D3EF9D}">
      <dgm:prSet/>
      <dgm:spPr/>
      <dgm:t>
        <a:bodyPr/>
        <a:lstStyle/>
        <a:p>
          <a:endParaRPr lang="en-US"/>
        </a:p>
      </dgm:t>
    </dgm:pt>
    <dgm:pt modelId="{8AA57AB5-7247-45A2-9862-B6DEAF8A7CC4}">
      <dgm:prSet/>
      <dgm:spPr/>
      <dgm:t>
        <a:bodyPr/>
        <a:lstStyle/>
        <a:p>
          <a:r>
            <a:rPr lang="en-US"/>
            <a:t>Generate bad publicity</a:t>
          </a:r>
        </a:p>
      </dgm:t>
    </dgm:pt>
    <dgm:pt modelId="{5C7D51DE-9D83-417A-955A-9FF4B1986117}" type="parTrans" cxnId="{B10ADFCE-7220-4ABF-8D64-0DF81D64F7E1}">
      <dgm:prSet/>
      <dgm:spPr/>
      <dgm:t>
        <a:bodyPr/>
        <a:lstStyle/>
        <a:p>
          <a:endParaRPr lang="en-US"/>
        </a:p>
      </dgm:t>
    </dgm:pt>
    <dgm:pt modelId="{B177234A-BFCB-4431-A2D8-9F166546C347}" type="sibTrans" cxnId="{B10ADFCE-7220-4ABF-8D64-0DF81D64F7E1}">
      <dgm:prSet/>
      <dgm:spPr/>
      <dgm:t>
        <a:bodyPr/>
        <a:lstStyle/>
        <a:p>
          <a:endParaRPr lang="en-US"/>
        </a:p>
      </dgm:t>
    </dgm:pt>
    <dgm:pt modelId="{8DD92301-6C0B-4B04-94A9-FEE6F7EE6FE1}">
      <dgm:prSet/>
      <dgm:spPr/>
      <dgm:t>
        <a:bodyPr/>
        <a:lstStyle/>
        <a:p>
          <a:r>
            <a:rPr lang="en-US"/>
            <a:t>Disrupt the social fabric of the organization and sows mistrust</a:t>
          </a:r>
        </a:p>
      </dgm:t>
    </dgm:pt>
    <dgm:pt modelId="{09133728-158A-4A14-A311-D4450AB65F9E}" type="parTrans" cxnId="{E5225F69-E213-477B-947F-F06B583AB25D}">
      <dgm:prSet/>
      <dgm:spPr/>
      <dgm:t>
        <a:bodyPr/>
        <a:lstStyle/>
        <a:p>
          <a:endParaRPr lang="en-US"/>
        </a:p>
      </dgm:t>
    </dgm:pt>
    <dgm:pt modelId="{D83D11A4-B84E-4655-9FD1-B6184D6AAC82}" type="sibTrans" cxnId="{E5225F69-E213-477B-947F-F06B583AB25D}">
      <dgm:prSet/>
      <dgm:spPr/>
      <dgm:t>
        <a:bodyPr/>
        <a:lstStyle/>
        <a:p>
          <a:endParaRPr lang="en-US"/>
        </a:p>
      </dgm:t>
    </dgm:pt>
    <dgm:pt modelId="{9E04F3AA-3A40-49BE-B235-1B95942829B1}" type="pres">
      <dgm:prSet presAssocID="{94B3A1B6-1BF1-46B1-AADB-7FBEA693FF5F}" presName="matrix" presStyleCnt="0">
        <dgm:presLayoutVars>
          <dgm:chMax val="1"/>
          <dgm:dir/>
          <dgm:resizeHandles val="exact"/>
        </dgm:presLayoutVars>
      </dgm:prSet>
      <dgm:spPr/>
    </dgm:pt>
    <dgm:pt modelId="{380B6205-575B-4A93-B93F-42E86AE5F79C}" type="pres">
      <dgm:prSet presAssocID="{94B3A1B6-1BF1-46B1-AADB-7FBEA693FF5F}" presName="diamond" presStyleLbl="bgShp" presStyleIdx="0" presStyleCnt="1"/>
      <dgm:spPr/>
    </dgm:pt>
    <dgm:pt modelId="{4A9FA06A-086C-4277-99D9-FACDA1404AF9}" type="pres">
      <dgm:prSet presAssocID="{94B3A1B6-1BF1-46B1-AADB-7FBEA693FF5F}" presName="quad1" presStyleLbl="node1" presStyleIdx="0" presStyleCnt="4">
        <dgm:presLayoutVars>
          <dgm:chMax val="0"/>
          <dgm:chPref val="0"/>
          <dgm:bulletEnabled val="1"/>
        </dgm:presLayoutVars>
      </dgm:prSet>
      <dgm:spPr/>
    </dgm:pt>
    <dgm:pt modelId="{D58BDC9A-438C-4283-8D97-38E477D036C3}" type="pres">
      <dgm:prSet presAssocID="{94B3A1B6-1BF1-46B1-AADB-7FBEA693FF5F}" presName="quad2" presStyleLbl="node1" presStyleIdx="1" presStyleCnt="4">
        <dgm:presLayoutVars>
          <dgm:chMax val="0"/>
          <dgm:chPref val="0"/>
          <dgm:bulletEnabled val="1"/>
        </dgm:presLayoutVars>
      </dgm:prSet>
      <dgm:spPr/>
    </dgm:pt>
    <dgm:pt modelId="{BD6D1911-92C3-4762-998A-C3D0AC422D37}" type="pres">
      <dgm:prSet presAssocID="{94B3A1B6-1BF1-46B1-AADB-7FBEA693FF5F}" presName="quad3" presStyleLbl="node1" presStyleIdx="2" presStyleCnt="4">
        <dgm:presLayoutVars>
          <dgm:chMax val="0"/>
          <dgm:chPref val="0"/>
          <dgm:bulletEnabled val="1"/>
        </dgm:presLayoutVars>
      </dgm:prSet>
      <dgm:spPr/>
    </dgm:pt>
    <dgm:pt modelId="{D9D545C5-C768-4301-A955-50C04332BD9D}" type="pres">
      <dgm:prSet presAssocID="{94B3A1B6-1BF1-46B1-AADB-7FBEA693FF5F}" presName="quad4" presStyleLbl="node1" presStyleIdx="3" presStyleCnt="4">
        <dgm:presLayoutVars>
          <dgm:chMax val="0"/>
          <dgm:chPref val="0"/>
          <dgm:bulletEnabled val="1"/>
        </dgm:presLayoutVars>
      </dgm:prSet>
      <dgm:spPr/>
    </dgm:pt>
  </dgm:ptLst>
  <dgm:cxnLst>
    <dgm:cxn modelId="{B914671D-C857-41BB-BFF9-27ED5A453C5E}" type="presOf" srcId="{8DD92301-6C0B-4B04-94A9-FEE6F7EE6FE1}" destId="{D9D545C5-C768-4301-A955-50C04332BD9D}" srcOrd="0" destOrd="0" presId="urn:microsoft.com/office/officeart/2005/8/layout/matrix3"/>
    <dgm:cxn modelId="{A0256426-A9B7-434B-80E6-49FB7C7EA9CF}" type="presOf" srcId="{94B3A1B6-1BF1-46B1-AADB-7FBEA693FF5F}" destId="{9E04F3AA-3A40-49BE-B235-1B95942829B1}" srcOrd="0" destOrd="0" presId="urn:microsoft.com/office/officeart/2005/8/layout/matrix3"/>
    <dgm:cxn modelId="{7B163C5F-CCD0-4A89-BB54-51D52B14B696}" type="presOf" srcId="{8AA57AB5-7247-45A2-9862-B6DEAF8A7CC4}" destId="{BD6D1911-92C3-4762-998A-C3D0AC422D37}" srcOrd="0" destOrd="0" presId="urn:microsoft.com/office/officeart/2005/8/layout/matrix3"/>
    <dgm:cxn modelId="{E5225F69-E213-477B-947F-F06B583AB25D}" srcId="{94B3A1B6-1BF1-46B1-AADB-7FBEA693FF5F}" destId="{8DD92301-6C0B-4B04-94A9-FEE6F7EE6FE1}" srcOrd="3" destOrd="0" parTransId="{09133728-158A-4A14-A311-D4450AB65F9E}" sibTransId="{D83D11A4-B84E-4655-9FD1-B6184D6AAC82}"/>
    <dgm:cxn modelId="{7AE591A2-35D6-4B38-AD0C-954FC6F02D38}" type="presOf" srcId="{6BDFDDA9-8AD8-45EA-8083-1F132532EA69}" destId="{4A9FA06A-086C-4277-99D9-FACDA1404AF9}" srcOrd="0" destOrd="0" presId="urn:microsoft.com/office/officeart/2005/8/layout/matrix3"/>
    <dgm:cxn modelId="{B10ADFCE-7220-4ABF-8D64-0DF81D64F7E1}" srcId="{94B3A1B6-1BF1-46B1-AADB-7FBEA693FF5F}" destId="{8AA57AB5-7247-45A2-9862-B6DEAF8A7CC4}" srcOrd="2" destOrd="0" parTransId="{5C7D51DE-9D83-417A-955A-9FF4B1986117}" sibTransId="{B177234A-BFCB-4431-A2D8-9F166546C347}"/>
    <dgm:cxn modelId="{2F2250CF-B96E-4622-9AFF-B717D2D3EF9D}" srcId="{94B3A1B6-1BF1-46B1-AADB-7FBEA693FF5F}" destId="{978FAC60-F68C-49CD-8E07-22BE4927D2A2}" srcOrd="1" destOrd="0" parTransId="{3EB05110-7C56-4F15-BC55-43396E7F5978}" sibTransId="{90418197-49CB-48C9-95A3-B428F2DA7F83}"/>
    <dgm:cxn modelId="{03331DD3-C479-4036-8231-8E9DAF18C6AA}" type="presOf" srcId="{978FAC60-F68C-49CD-8E07-22BE4927D2A2}" destId="{D58BDC9A-438C-4283-8D97-38E477D036C3}" srcOrd="0" destOrd="0" presId="urn:microsoft.com/office/officeart/2005/8/layout/matrix3"/>
    <dgm:cxn modelId="{7917D1E2-5ADB-4F27-9BAC-B2583729A281}" srcId="{94B3A1B6-1BF1-46B1-AADB-7FBEA693FF5F}" destId="{6BDFDDA9-8AD8-45EA-8083-1F132532EA69}" srcOrd="0" destOrd="0" parTransId="{E9D1E6E7-9101-48C9-BF22-A9D0AAD33188}" sibTransId="{53C755D7-74D0-41E9-B6D6-01DAE64325A5}"/>
    <dgm:cxn modelId="{F26C4F09-8E34-4BFB-9F17-E3C6DEEE8D17}" type="presParOf" srcId="{9E04F3AA-3A40-49BE-B235-1B95942829B1}" destId="{380B6205-575B-4A93-B93F-42E86AE5F79C}" srcOrd="0" destOrd="0" presId="urn:microsoft.com/office/officeart/2005/8/layout/matrix3"/>
    <dgm:cxn modelId="{3A6458F6-48EC-4F81-ABE1-5791A5BEDE6E}" type="presParOf" srcId="{9E04F3AA-3A40-49BE-B235-1B95942829B1}" destId="{4A9FA06A-086C-4277-99D9-FACDA1404AF9}" srcOrd="1" destOrd="0" presId="urn:microsoft.com/office/officeart/2005/8/layout/matrix3"/>
    <dgm:cxn modelId="{4B8ACD16-245F-4531-9AEC-8619B754FD11}" type="presParOf" srcId="{9E04F3AA-3A40-49BE-B235-1B95942829B1}" destId="{D58BDC9A-438C-4283-8D97-38E477D036C3}" srcOrd="2" destOrd="0" presId="urn:microsoft.com/office/officeart/2005/8/layout/matrix3"/>
    <dgm:cxn modelId="{2BA74C41-AEFC-47C5-8408-28AC99A813C3}" type="presParOf" srcId="{9E04F3AA-3A40-49BE-B235-1B95942829B1}" destId="{BD6D1911-92C3-4762-998A-C3D0AC422D37}" srcOrd="3" destOrd="0" presId="urn:microsoft.com/office/officeart/2005/8/layout/matrix3"/>
    <dgm:cxn modelId="{504AE32C-36E3-4BA2-8164-56B6B978719A}" type="presParOf" srcId="{9E04F3AA-3A40-49BE-B235-1B95942829B1}" destId="{D9D545C5-C768-4301-A955-50C04332BD9D}"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DA32653-5587-4F8E-8E67-9E2E11012985}" type="doc">
      <dgm:prSet loTypeId="urn:microsoft.com/office/officeart/2008/layout/LinedList" loCatId="list" qsTypeId="urn:microsoft.com/office/officeart/2005/8/quickstyle/simple1" qsCatId="simple" csTypeId="urn:microsoft.com/office/officeart/2005/8/colors/colorful1" csCatId="colorful"/>
      <dgm:spPr/>
      <dgm:t>
        <a:bodyPr/>
        <a:lstStyle/>
        <a:p>
          <a:endParaRPr lang="en-US"/>
        </a:p>
      </dgm:t>
    </dgm:pt>
    <dgm:pt modelId="{4214B49A-1872-4F20-82B1-37E7CD1A1ED7}">
      <dgm:prSet/>
      <dgm:spPr/>
      <dgm:t>
        <a:bodyPr/>
        <a:lstStyle/>
        <a:p>
          <a:r>
            <a:rPr lang="en-US"/>
            <a:t>The organization suffers for bad publicity</a:t>
          </a:r>
        </a:p>
      </dgm:t>
    </dgm:pt>
    <dgm:pt modelId="{B2D0B742-DD59-4E0A-9F2C-40F18E8A07F4}" type="parTrans" cxnId="{03F37475-F7A5-4940-B1D6-238ED8496D63}">
      <dgm:prSet/>
      <dgm:spPr/>
      <dgm:t>
        <a:bodyPr/>
        <a:lstStyle/>
        <a:p>
          <a:endParaRPr lang="en-US"/>
        </a:p>
      </dgm:t>
    </dgm:pt>
    <dgm:pt modelId="{AE503838-001A-429F-9C98-3F37189B9F12}" type="sibTrans" cxnId="{03F37475-F7A5-4940-B1D6-238ED8496D63}">
      <dgm:prSet/>
      <dgm:spPr/>
      <dgm:t>
        <a:bodyPr/>
        <a:lstStyle/>
        <a:p>
          <a:endParaRPr lang="en-US"/>
        </a:p>
      </dgm:t>
    </dgm:pt>
    <dgm:pt modelId="{A065C696-C6E9-4875-810A-9A39FA57895F}">
      <dgm:prSet/>
      <dgm:spPr/>
      <dgm:t>
        <a:bodyPr/>
        <a:lstStyle/>
        <a:p>
          <a:r>
            <a:rPr lang="en-US"/>
            <a:t>Accused managers’ careers can be ruined</a:t>
          </a:r>
        </a:p>
      </dgm:t>
    </dgm:pt>
    <dgm:pt modelId="{B2F672B8-7030-4106-9557-C04B321FB71A}" type="parTrans" cxnId="{3F28D519-E870-4779-910C-B2C0F0F158A5}">
      <dgm:prSet/>
      <dgm:spPr/>
      <dgm:t>
        <a:bodyPr/>
        <a:lstStyle/>
        <a:p>
          <a:endParaRPr lang="en-US"/>
        </a:p>
      </dgm:t>
    </dgm:pt>
    <dgm:pt modelId="{6DDA4FE4-362F-4D97-94C9-12A8261CBD0A}" type="sibTrans" cxnId="{3F28D519-E870-4779-910C-B2C0F0F158A5}">
      <dgm:prSet/>
      <dgm:spPr/>
      <dgm:t>
        <a:bodyPr/>
        <a:lstStyle/>
        <a:p>
          <a:endParaRPr lang="en-US"/>
        </a:p>
      </dgm:t>
    </dgm:pt>
    <dgm:pt modelId="{55016C3B-7081-4F02-B1FA-CD8568C3272B}">
      <dgm:prSet/>
      <dgm:spPr/>
      <dgm:t>
        <a:bodyPr/>
        <a:lstStyle/>
        <a:p>
          <a:r>
            <a:rPr lang="en-US"/>
            <a:t>Sows mistrust and erodes team spirit</a:t>
          </a:r>
        </a:p>
      </dgm:t>
    </dgm:pt>
    <dgm:pt modelId="{D172110B-23F4-42AA-9A14-AA4157F25B53}" type="parTrans" cxnId="{9CF8A299-DE1E-41E1-9077-C6138DC532F7}">
      <dgm:prSet/>
      <dgm:spPr/>
      <dgm:t>
        <a:bodyPr/>
        <a:lstStyle/>
        <a:p>
          <a:endParaRPr lang="en-US"/>
        </a:p>
      </dgm:t>
    </dgm:pt>
    <dgm:pt modelId="{52A7AA4C-40F8-4B68-BFA9-D69157A9F710}" type="sibTrans" cxnId="{9CF8A299-DE1E-41E1-9077-C6138DC532F7}">
      <dgm:prSet/>
      <dgm:spPr/>
      <dgm:t>
        <a:bodyPr/>
        <a:lstStyle/>
        <a:p>
          <a:endParaRPr lang="en-US"/>
        </a:p>
      </dgm:t>
    </dgm:pt>
    <dgm:pt modelId="{040AD6C2-F9E4-4F12-9C00-859635015D67}">
      <dgm:prSet/>
      <dgm:spPr/>
      <dgm:t>
        <a:bodyPr/>
        <a:lstStyle/>
        <a:p>
          <a:r>
            <a:rPr lang="en-US" dirty="0"/>
            <a:t>Whistle-blowers typically suffer retaliation and become estranged from their co-workers</a:t>
          </a:r>
        </a:p>
      </dgm:t>
    </dgm:pt>
    <dgm:pt modelId="{8108DEBC-E347-440C-9176-DAD71CB5918E}" type="parTrans" cxnId="{F71181CA-CA6C-4D3C-993A-66E480D22486}">
      <dgm:prSet/>
      <dgm:spPr/>
      <dgm:t>
        <a:bodyPr/>
        <a:lstStyle/>
        <a:p>
          <a:endParaRPr lang="en-US"/>
        </a:p>
      </dgm:t>
    </dgm:pt>
    <dgm:pt modelId="{66D202A3-7792-4A12-981F-41688EC91A4C}" type="sibTrans" cxnId="{F71181CA-CA6C-4D3C-993A-66E480D22486}">
      <dgm:prSet/>
      <dgm:spPr/>
      <dgm:t>
        <a:bodyPr/>
        <a:lstStyle/>
        <a:p>
          <a:endParaRPr lang="en-US"/>
        </a:p>
      </dgm:t>
    </dgm:pt>
    <dgm:pt modelId="{7CC87706-8720-4B50-B1D7-227EEEF8292E}">
      <dgm:prSet/>
      <dgm:spPr/>
      <dgm:t>
        <a:bodyPr/>
        <a:lstStyle/>
        <a:p>
          <a:r>
            <a:rPr lang="en-US" dirty="0"/>
            <a:t>Long-term prospects with the company are dim</a:t>
          </a:r>
        </a:p>
      </dgm:t>
    </dgm:pt>
    <dgm:pt modelId="{344AD84D-BB68-4037-AC14-085A6D8221BC}" type="parTrans" cxnId="{7D93C852-7FB7-46B2-92C6-30B080835C70}">
      <dgm:prSet/>
      <dgm:spPr/>
      <dgm:t>
        <a:bodyPr/>
        <a:lstStyle/>
        <a:p>
          <a:endParaRPr lang="en-US"/>
        </a:p>
      </dgm:t>
    </dgm:pt>
    <dgm:pt modelId="{51AE3939-FF2A-46CF-AFDA-C40DA35C2B62}" type="sibTrans" cxnId="{7D93C852-7FB7-46B2-92C6-30B080835C70}">
      <dgm:prSet/>
      <dgm:spPr/>
      <dgm:t>
        <a:bodyPr/>
        <a:lstStyle/>
        <a:p>
          <a:endParaRPr lang="en-US"/>
        </a:p>
      </dgm:t>
    </dgm:pt>
    <dgm:pt modelId="{1C1DB421-7AE7-4DF4-9CE9-ACE1E8F65D6E}">
      <dgm:prSet/>
      <dgm:spPr/>
      <dgm:t>
        <a:bodyPr/>
        <a:lstStyle/>
        <a:p>
          <a:r>
            <a:rPr lang="en-US"/>
            <a:t>Organizations need to create management structures and communication processes that allow concerns to be raised, discussed, and resolved</a:t>
          </a:r>
        </a:p>
      </dgm:t>
    </dgm:pt>
    <dgm:pt modelId="{BFD60D73-BA55-4288-815B-E74CC873C0CA}" type="parTrans" cxnId="{C6C05AE0-F500-4F3B-B9D7-9BB49FC0291F}">
      <dgm:prSet/>
      <dgm:spPr/>
      <dgm:t>
        <a:bodyPr/>
        <a:lstStyle/>
        <a:p>
          <a:endParaRPr lang="en-US"/>
        </a:p>
      </dgm:t>
    </dgm:pt>
    <dgm:pt modelId="{48D6EFDD-42EC-4992-805F-471B990E4C1F}" type="sibTrans" cxnId="{C6C05AE0-F500-4F3B-B9D7-9BB49FC0291F}">
      <dgm:prSet/>
      <dgm:spPr/>
      <dgm:t>
        <a:bodyPr/>
        <a:lstStyle/>
        <a:p>
          <a:endParaRPr lang="en-US"/>
        </a:p>
      </dgm:t>
    </dgm:pt>
    <dgm:pt modelId="{C8109235-5CB7-46D8-970C-21DB9AFC6C6C}" type="pres">
      <dgm:prSet presAssocID="{2DA32653-5587-4F8E-8E67-9E2E11012985}" presName="vert0" presStyleCnt="0">
        <dgm:presLayoutVars>
          <dgm:dir/>
          <dgm:animOne val="branch"/>
          <dgm:animLvl val="lvl"/>
        </dgm:presLayoutVars>
      </dgm:prSet>
      <dgm:spPr/>
    </dgm:pt>
    <dgm:pt modelId="{F19D7EFA-A988-4D54-B6C3-23B4603E7E37}" type="pres">
      <dgm:prSet presAssocID="{4214B49A-1872-4F20-82B1-37E7CD1A1ED7}" presName="thickLine" presStyleLbl="alignNode1" presStyleIdx="0" presStyleCnt="6"/>
      <dgm:spPr/>
    </dgm:pt>
    <dgm:pt modelId="{36018C07-62DB-44CB-98B5-55E8B3071C38}" type="pres">
      <dgm:prSet presAssocID="{4214B49A-1872-4F20-82B1-37E7CD1A1ED7}" presName="horz1" presStyleCnt="0"/>
      <dgm:spPr/>
    </dgm:pt>
    <dgm:pt modelId="{437102DE-AE69-4F14-A1C9-9C85F82BBBCA}" type="pres">
      <dgm:prSet presAssocID="{4214B49A-1872-4F20-82B1-37E7CD1A1ED7}" presName="tx1" presStyleLbl="revTx" presStyleIdx="0" presStyleCnt="6"/>
      <dgm:spPr/>
    </dgm:pt>
    <dgm:pt modelId="{8ECFDF77-CA46-4932-AD0A-6C8D363970C7}" type="pres">
      <dgm:prSet presAssocID="{4214B49A-1872-4F20-82B1-37E7CD1A1ED7}" presName="vert1" presStyleCnt="0"/>
      <dgm:spPr/>
    </dgm:pt>
    <dgm:pt modelId="{A031B1BB-9B13-497B-A6FD-ED1560BBE231}" type="pres">
      <dgm:prSet presAssocID="{A065C696-C6E9-4875-810A-9A39FA57895F}" presName="thickLine" presStyleLbl="alignNode1" presStyleIdx="1" presStyleCnt="6"/>
      <dgm:spPr/>
    </dgm:pt>
    <dgm:pt modelId="{005BE001-5648-43BC-BD4B-82BB660F4948}" type="pres">
      <dgm:prSet presAssocID="{A065C696-C6E9-4875-810A-9A39FA57895F}" presName="horz1" presStyleCnt="0"/>
      <dgm:spPr/>
    </dgm:pt>
    <dgm:pt modelId="{1FDAC284-B05B-4877-AA37-5202522538A8}" type="pres">
      <dgm:prSet presAssocID="{A065C696-C6E9-4875-810A-9A39FA57895F}" presName="tx1" presStyleLbl="revTx" presStyleIdx="1" presStyleCnt="6"/>
      <dgm:spPr/>
    </dgm:pt>
    <dgm:pt modelId="{FAC92233-7AD6-4946-8E2D-3ACE7CF645AA}" type="pres">
      <dgm:prSet presAssocID="{A065C696-C6E9-4875-810A-9A39FA57895F}" presName="vert1" presStyleCnt="0"/>
      <dgm:spPr/>
    </dgm:pt>
    <dgm:pt modelId="{8CF28304-6C19-4A05-BFBA-A4E2088E2CBA}" type="pres">
      <dgm:prSet presAssocID="{55016C3B-7081-4F02-B1FA-CD8568C3272B}" presName="thickLine" presStyleLbl="alignNode1" presStyleIdx="2" presStyleCnt="6"/>
      <dgm:spPr/>
    </dgm:pt>
    <dgm:pt modelId="{861A48A6-9977-407D-97D7-22BDDD44B132}" type="pres">
      <dgm:prSet presAssocID="{55016C3B-7081-4F02-B1FA-CD8568C3272B}" presName="horz1" presStyleCnt="0"/>
      <dgm:spPr/>
    </dgm:pt>
    <dgm:pt modelId="{9D233684-EA73-4AAF-B4EF-F7A67A66ECDD}" type="pres">
      <dgm:prSet presAssocID="{55016C3B-7081-4F02-B1FA-CD8568C3272B}" presName="tx1" presStyleLbl="revTx" presStyleIdx="2" presStyleCnt="6"/>
      <dgm:spPr/>
    </dgm:pt>
    <dgm:pt modelId="{B336164F-AAEF-4BC0-BDC8-323B55765CF1}" type="pres">
      <dgm:prSet presAssocID="{55016C3B-7081-4F02-B1FA-CD8568C3272B}" presName="vert1" presStyleCnt="0"/>
      <dgm:spPr/>
    </dgm:pt>
    <dgm:pt modelId="{D952FA7D-E892-400E-9655-EECE8E20154F}" type="pres">
      <dgm:prSet presAssocID="{040AD6C2-F9E4-4F12-9C00-859635015D67}" presName="thickLine" presStyleLbl="alignNode1" presStyleIdx="3" presStyleCnt="6"/>
      <dgm:spPr/>
    </dgm:pt>
    <dgm:pt modelId="{4A89AB2A-AB8C-4134-9F1A-042D139661FA}" type="pres">
      <dgm:prSet presAssocID="{040AD6C2-F9E4-4F12-9C00-859635015D67}" presName="horz1" presStyleCnt="0"/>
      <dgm:spPr/>
    </dgm:pt>
    <dgm:pt modelId="{D1525BFA-4DC5-4C34-9D77-7EF6725778C5}" type="pres">
      <dgm:prSet presAssocID="{040AD6C2-F9E4-4F12-9C00-859635015D67}" presName="tx1" presStyleLbl="revTx" presStyleIdx="3" presStyleCnt="6"/>
      <dgm:spPr/>
    </dgm:pt>
    <dgm:pt modelId="{39F999AD-7F91-44D6-A8DF-3B6D4E95B8E8}" type="pres">
      <dgm:prSet presAssocID="{040AD6C2-F9E4-4F12-9C00-859635015D67}" presName="vert1" presStyleCnt="0"/>
      <dgm:spPr/>
    </dgm:pt>
    <dgm:pt modelId="{CA520AD0-3646-4E40-9FA8-9BA86D6DBFEB}" type="pres">
      <dgm:prSet presAssocID="{7CC87706-8720-4B50-B1D7-227EEEF8292E}" presName="thickLine" presStyleLbl="alignNode1" presStyleIdx="4" presStyleCnt="6"/>
      <dgm:spPr/>
    </dgm:pt>
    <dgm:pt modelId="{903AE6CE-D58F-4E97-A8AE-715DC0D13D78}" type="pres">
      <dgm:prSet presAssocID="{7CC87706-8720-4B50-B1D7-227EEEF8292E}" presName="horz1" presStyleCnt="0"/>
      <dgm:spPr/>
    </dgm:pt>
    <dgm:pt modelId="{D5EA5F78-E515-4731-A8E6-F317BDC34C0B}" type="pres">
      <dgm:prSet presAssocID="{7CC87706-8720-4B50-B1D7-227EEEF8292E}" presName="tx1" presStyleLbl="revTx" presStyleIdx="4" presStyleCnt="6"/>
      <dgm:spPr/>
    </dgm:pt>
    <dgm:pt modelId="{1EDD53F4-75AF-4F09-9E30-82FA700F5475}" type="pres">
      <dgm:prSet presAssocID="{7CC87706-8720-4B50-B1D7-227EEEF8292E}" presName="vert1" presStyleCnt="0"/>
      <dgm:spPr/>
    </dgm:pt>
    <dgm:pt modelId="{3D9B1386-9463-4376-B31B-6B2E88B09BCA}" type="pres">
      <dgm:prSet presAssocID="{1C1DB421-7AE7-4DF4-9CE9-ACE1E8F65D6E}" presName="thickLine" presStyleLbl="alignNode1" presStyleIdx="5" presStyleCnt="6"/>
      <dgm:spPr/>
    </dgm:pt>
    <dgm:pt modelId="{E707CBE7-9429-48B9-9A5C-64E42F4D5BBE}" type="pres">
      <dgm:prSet presAssocID="{1C1DB421-7AE7-4DF4-9CE9-ACE1E8F65D6E}" presName="horz1" presStyleCnt="0"/>
      <dgm:spPr/>
    </dgm:pt>
    <dgm:pt modelId="{31111D05-8637-46EE-9805-8CDAC502F0C5}" type="pres">
      <dgm:prSet presAssocID="{1C1DB421-7AE7-4DF4-9CE9-ACE1E8F65D6E}" presName="tx1" presStyleLbl="revTx" presStyleIdx="5" presStyleCnt="6"/>
      <dgm:spPr/>
    </dgm:pt>
    <dgm:pt modelId="{C96E9A72-E5DA-4C7A-8793-777BB6DA7039}" type="pres">
      <dgm:prSet presAssocID="{1C1DB421-7AE7-4DF4-9CE9-ACE1E8F65D6E}" presName="vert1" presStyleCnt="0"/>
      <dgm:spPr/>
    </dgm:pt>
  </dgm:ptLst>
  <dgm:cxnLst>
    <dgm:cxn modelId="{3F28D519-E870-4779-910C-B2C0F0F158A5}" srcId="{2DA32653-5587-4F8E-8E67-9E2E11012985}" destId="{A065C696-C6E9-4875-810A-9A39FA57895F}" srcOrd="1" destOrd="0" parTransId="{B2F672B8-7030-4106-9557-C04B321FB71A}" sibTransId="{6DDA4FE4-362F-4D97-94C9-12A8261CBD0A}"/>
    <dgm:cxn modelId="{EB3C205D-9B55-41A0-9789-C8E180425DBB}" type="presOf" srcId="{7CC87706-8720-4B50-B1D7-227EEEF8292E}" destId="{D5EA5F78-E515-4731-A8E6-F317BDC34C0B}" srcOrd="0" destOrd="0" presId="urn:microsoft.com/office/officeart/2008/layout/LinedList"/>
    <dgm:cxn modelId="{698BAE66-56EA-4C82-B0B8-3E11CA2C71C0}" type="presOf" srcId="{040AD6C2-F9E4-4F12-9C00-859635015D67}" destId="{D1525BFA-4DC5-4C34-9D77-7EF6725778C5}" srcOrd="0" destOrd="0" presId="urn:microsoft.com/office/officeart/2008/layout/LinedList"/>
    <dgm:cxn modelId="{7D93C852-7FB7-46B2-92C6-30B080835C70}" srcId="{2DA32653-5587-4F8E-8E67-9E2E11012985}" destId="{7CC87706-8720-4B50-B1D7-227EEEF8292E}" srcOrd="4" destOrd="0" parTransId="{344AD84D-BB68-4037-AC14-085A6D8221BC}" sibTransId="{51AE3939-FF2A-46CF-AFDA-C40DA35C2B62}"/>
    <dgm:cxn modelId="{03F37475-F7A5-4940-B1D6-238ED8496D63}" srcId="{2DA32653-5587-4F8E-8E67-9E2E11012985}" destId="{4214B49A-1872-4F20-82B1-37E7CD1A1ED7}" srcOrd="0" destOrd="0" parTransId="{B2D0B742-DD59-4E0A-9F2C-40F18E8A07F4}" sibTransId="{AE503838-001A-429F-9C98-3F37189B9F12}"/>
    <dgm:cxn modelId="{B4AC227B-A747-49B7-AFC1-029E84D55E8A}" type="presOf" srcId="{A065C696-C6E9-4875-810A-9A39FA57895F}" destId="{1FDAC284-B05B-4877-AA37-5202522538A8}" srcOrd="0" destOrd="0" presId="urn:microsoft.com/office/officeart/2008/layout/LinedList"/>
    <dgm:cxn modelId="{9B073896-1E34-4320-BAAD-A852BC9EA928}" type="presOf" srcId="{4214B49A-1872-4F20-82B1-37E7CD1A1ED7}" destId="{437102DE-AE69-4F14-A1C9-9C85F82BBBCA}" srcOrd="0" destOrd="0" presId="urn:microsoft.com/office/officeart/2008/layout/LinedList"/>
    <dgm:cxn modelId="{9CF8A299-DE1E-41E1-9077-C6138DC532F7}" srcId="{2DA32653-5587-4F8E-8E67-9E2E11012985}" destId="{55016C3B-7081-4F02-B1FA-CD8568C3272B}" srcOrd="2" destOrd="0" parTransId="{D172110B-23F4-42AA-9A14-AA4157F25B53}" sibTransId="{52A7AA4C-40F8-4B68-BFA9-D69157A9F710}"/>
    <dgm:cxn modelId="{F71181CA-CA6C-4D3C-993A-66E480D22486}" srcId="{2DA32653-5587-4F8E-8E67-9E2E11012985}" destId="{040AD6C2-F9E4-4F12-9C00-859635015D67}" srcOrd="3" destOrd="0" parTransId="{8108DEBC-E347-440C-9176-DAD71CB5918E}" sibTransId="{66D202A3-7792-4A12-981F-41688EC91A4C}"/>
    <dgm:cxn modelId="{3E434DCF-3131-4FD1-A118-B1FB17668A0B}" type="presOf" srcId="{55016C3B-7081-4F02-B1FA-CD8568C3272B}" destId="{9D233684-EA73-4AAF-B4EF-F7A67A66ECDD}" srcOrd="0" destOrd="0" presId="urn:microsoft.com/office/officeart/2008/layout/LinedList"/>
    <dgm:cxn modelId="{C6C05AE0-F500-4F3B-B9D7-9BB49FC0291F}" srcId="{2DA32653-5587-4F8E-8E67-9E2E11012985}" destId="{1C1DB421-7AE7-4DF4-9CE9-ACE1E8F65D6E}" srcOrd="5" destOrd="0" parTransId="{BFD60D73-BA55-4288-815B-E74CC873C0CA}" sibTransId="{48D6EFDD-42EC-4992-805F-471B990E4C1F}"/>
    <dgm:cxn modelId="{FEE990E9-011B-4600-BAF4-7201A769906C}" type="presOf" srcId="{1C1DB421-7AE7-4DF4-9CE9-ACE1E8F65D6E}" destId="{31111D05-8637-46EE-9805-8CDAC502F0C5}" srcOrd="0" destOrd="0" presId="urn:microsoft.com/office/officeart/2008/layout/LinedList"/>
    <dgm:cxn modelId="{94C4DAF1-66AE-4C2B-86B6-49D9D2AA7D4A}" type="presOf" srcId="{2DA32653-5587-4F8E-8E67-9E2E11012985}" destId="{C8109235-5CB7-46D8-970C-21DB9AFC6C6C}" srcOrd="0" destOrd="0" presId="urn:microsoft.com/office/officeart/2008/layout/LinedList"/>
    <dgm:cxn modelId="{6D140F40-9F53-4FDA-915C-BFDA8BC50E0D}" type="presParOf" srcId="{C8109235-5CB7-46D8-970C-21DB9AFC6C6C}" destId="{F19D7EFA-A988-4D54-B6C3-23B4603E7E37}" srcOrd="0" destOrd="0" presId="urn:microsoft.com/office/officeart/2008/layout/LinedList"/>
    <dgm:cxn modelId="{3B3FBD86-EC94-4530-A69D-C44EDDE11337}" type="presParOf" srcId="{C8109235-5CB7-46D8-970C-21DB9AFC6C6C}" destId="{36018C07-62DB-44CB-98B5-55E8B3071C38}" srcOrd="1" destOrd="0" presId="urn:microsoft.com/office/officeart/2008/layout/LinedList"/>
    <dgm:cxn modelId="{1FDDB6FA-8667-491A-9479-B04E2ADCB309}" type="presParOf" srcId="{36018C07-62DB-44CB-98B5-55E8B3071C38}" destId="{437102DE-AE69-4F14-A1C9-9C85F82BBBCA}" srcOrd="0" destOrd="0" presId="urn:microsoft.com/office/officeart/2008/layout/LinedList"/>
    <dgm:cxn modelId="{4B1D4971-973F-4ECA-B131-0606B7188D27}" type="presParOf" srcId="{36018C07-62DB-44CB-98B5-55E8B3071C38}" destId="{8ECFDF77-CA46-4932-AD0A-6C8D363970C7}" srcOrd="1" destOrd="0" presId="urn:microsoft.com/office/officeart/2008/layout/LinedList"/>
    <dgm:cxn modelId="{6ADC6360-31D9-4231-A241-D31F3B423D0D}" type="presParOf" srcId="{C8109235-5CB7-46D8-970C-21DB9AFC6C6C}" destId="{A031B1BB-9B13-497B-A6FD-ED1560BBE231}" srcOrd="2" destOrd="0" presId="urn:microsoft.com/office/officeart/2008/layout/LinedList"/>
    <dgm:cxn modelId="{AF511F4B-AE00-41ED-851F-CD2B920B0E42}" type="presParOf" srcId="{C8109235-5CB7-46D8-970C-21DB9AFC6C6C}" destId="{005BE001-5648-43BC-BD4B-82BB660F4948}" srcOrd="3" destOrd="0" presId="urn:microsoft.com/office/officeart/2008/layout/LinedList"/>
    <dgm:cxn modelId="{BBE1A688-F9A0-4AFB-9CB5-30A4D488E5B3}" type="presParOf" srcId="{005BE001-5648-43BC-BD4B-82BB660F4948}" destId="{1FDAC284-B05B-4877-AA37-5202522538A8}" srcOrd="0" destOrd="0" presId="urn:microsoft.com/office/officeart/2008/layout/LinedList"/>
    <dgm:cxn modelId="{FCCAC6B1-38AF-4274-B4AA-9D57DA552409}" type="presParOf" srcId="{005BE001-5648-43BC-BD4B-82BB660F4948}" destId="{FAC92233-7AD6-4946-8E2D-3ACE7CF645AA}" srcOrd="1" destOrd="0" presId="urn:microsoft.com/office/officeart/2008/layout/LinedList"/>
    <dgm:cxn modelId="{F57EF8CE-F6DE-4593-B1C3-E4ECACDA4048}" type="presParOf" srcId="{C8109235-5CB7-46D8-970C-21DB9AFC6C6C}" destId="{8CF28304-6C19-4A05-BFBA-A4E2088E2CBA}" srcOrd="4" destOrd="0" presId="urn:microsoft.com/office/officeart/2008/layout/LinedList"/>
    <dgm:cxn modelId="{740DB55A-28A7-444F-B11E-33988F234F0F}" type="presParOf" srcId="{C8109235-5CB7-46D8-970C-21DB9AFC6C6C}" destId="{861A48A6-9977-407D-97D7-22BDDD44B132}" srcOrd="5" destOrd="0" presId="urn:microsoft.com/office/officeart/2008/layout/LinedList"/>
    <dgm:cxn modelId="{B66C3F29-7D95-4F38-8221-68A0AF12AE33}" type="presParOf" srcId="{861A48A6-9977-407D-97D7-22BDDD44B132}" destId="{9D233684-EA73-4AAF-B4EF-F7A67A66ECDD}" srcOrd="0" destOrd="0" presId="urn:microsoft.com/office/officeart/2008/layout/LinedList"/>
    <dgm:cxn modelId="{F5C19D4D-9BA4-482F-BE0B-5F25964EA737}" type="presParOf" srcId="{861A48A6-9977-407D-97D7-22BDDD44B132}" destId="{B336164F-AAEF-4BC0-BDC8-323B55765CF1}" srcOrd="1" destOrd="0" presId="urn:microsoft.com/office/officeart/2008/layout/LinedList"/>
    <dgm:cxn modelId="{5C355DD5-3F2C-4CA7-9C0B-65CC183A324B}" type="presParOf" srcId="{C8109235-5CB7-46D8-970C-21DB9AFC6C6C}" destId="{D952FA7D-E892-400E-9655-EECE8E20154F}" srcOrd="6" destOrd="0" presId="urn:microsoft.com/office/officeart/2008/layout/LinedList"/>
    <dgm:cxn modelId="{7D39EA18-509C-4E92-B4F0-26BCBC6CF61F}" type="presParOf" srcId="{C8109235-5CB7-46D8-970C-21DB9AFC6C6C}" destId="{4A89AB2A-AB8C-4134-9F1A-042D139661FA}" srcOrd="7" destOrd="0" presId="urn:microsoft.com/office/officeart/2008/layout/LinedList"/>
    <dgm:cxn modelId="{64AD4EC4-6367-4486-B9F0-2EE074F9E3D1}" type="presParOf" srcId="{4A89AB2A-AB8C-4134-9F1A-042D139661FA}" destId="{D1525BFA-4DC5-4C34-9D77-7EF6725778C5}" srcOrd="0" destOrd="0" presId="urn:microsoft.com/office/officeart/2008/layout/LinedList"/>
    <dgm:cxn modelId="{C6DBAB03-2DA6-4457-B770-49C92F2BC914}" type="presParOf" srcId="{4A89AB2A-AB8C-4134-9F1A-042D139661FA}" destId="{39F999AD-7F91-44D6-A8DF-3B6D4E95B8E8}" srcOrd="1" destOrd="0" presId="urn:microsoft.com/office/officeart/2008/layout/LinedList"/>
    <dgm:cxn modelId="{DABEC83E-EA2A-48F0-8CE6-390559065D48}" type="presParOf" srcId="{C8109235-5CB7-46D8-970C-21DB9AFC6C6C}" destId="{CA520AD0-3646-4E40-9FA8-9BA86D6DBFEB}" srcOrd="8" destOrd="0" presId="urn:microsoft.com/office/officeart/2008/layout/LinedList"/>
    <dgm:cxn modelId="{6C8E1818-C1E0-48C9-97F0-F679329E63B0}" type="presParOf" srcId="{C8109235-5CB7-46D8-970C-21DB9AFC6C6C}" destId="{903AE6CE-D58F-4E97-A8AE-715DC0D13D78}" srcOrd="9" destOrd="0" presId="urn:microsoft.com/office/officeart/2008/layout/LinedList"/>
    <dgm:cxn modelId="{647E029D-E74D-42EE-A0FE-60408A68E136}" type="presParOf" srcId="{903AE6CE-D58F-4E97-A8AE-715DC0D13D78}" destId="{D5EA5F78-E515-4731-A8E6-F317BDC34C0B}" srcOrd="0" destOrd="0" presId="urn:microsoft.com/office/officeart/2008/layout/LinedList"/>
    <dgm:cxn modelId="{FBC9BDBF-F1E0-4C94-98E0-8BA7D0AAD51C}" type="presParOf" srcId="{903AE6CE-D58F-4E97-A8AE-715DC0D13D78}" destId="{1EDD53F4-75AF-4F09-9E30-82FA700F5475}" srcOrd="1" destOrd="0" presId="urn:microsoft.com/office/officeart/2008/layout/LinedList"/>
    <dgm:cxn modelId="{3C1E483D-04A7-42F7-A99D-F631FF3BE138}" type="presParOf" srcId="{C8109235-5CB7-46D8-970C-21DB9AFC6C6C}" destId="{3D9B1386-9463-4376-B31B-6B2E88B09BCA}" srcOrd="10" destOrd="0" presId="urn:microsoft.com/office/officeart/2008/layout/LinedList"/>
    <dgm:cxn modelId="{8640E7AD-267A-4DCE-85A4-1718C1F76E80}" type="presParOf" srcId="{C8109235-5CB7-46D8-970C-21DB9AFC6C6C}" destId="{E707CBE7-9429-48B9-9A5C-64E42F4D5BBE}" srcOrd="11" destOrd="0" presId="urn:microsoft.com/office/officeart/2008/layout/LinedList"/>
    <dgm:cxn modelId="{05F4FF01-09D9-4DAB-8241-2DAC713D1C05}" type="presParOf" srcId="{E707CBE7-9429-48B9-9A5C-64E42F4D5BBE}" destId="{31111D05-8637-46EE-9805-8CDAC502F0C5}" srcOrd="0" destOrd="0" presId="urn:microsoft.com/office/officeart/2008/layout/LinedList"/>
    <dgm:cxn modelId="{90696FC4-880A-4227-B60D-228F1068025B}" type="presParOf" srcId="{E707CBE7-9429-48B9-9A5C-64E42F4D5BBE}" destId="{C96E9A72-E5DA-4C7A-8793-777BB6DA703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EA43D7-F0E0-4341-BA44-F15B762E3021}">
      <dsp:nvSpPr>
        <dsp:cNvPr id="0" name=""/>
        <dsp:cNvSpPr/>
      </dsp:nvSpPr>
      <dsp:spPr>
        <a:xfrm>
          <a:off x="0" y="2790"/>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886393-6D3C-4A4F-85DF-96E9A2487160}">
      <dsp:nvSpPr>
        <dsp:cNvPr id="0" name=""/>
        <dsp:cNvSpPr/>
      </dsp:nvSpPr>
      <dsp:spPr>
        <a:xfrm>
          <a:off x="0" y="2790"/>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Introduction</a:t>
          </a:r>
        </a:p>
      </dsp:txBody>
      <dsp:txXfrm>
        <a:off x="0" y="2790"/>
        <a:ext cx="6096000" cy="951569"/>
      </dsp:txXfrm>
    </dsp:sp>
    <dsp:sp modelId="{B5815D24-6827-48A6-815B-19E0293A99C9}">
      <dsp:nvSpPr>
        <dsp:cNvPr id="0" name=""/>
        <dsp:cNvSpPr/>
      </dsp:nvSpPr>
      <dsp:spPr>
        <a:xfrm>
          <a:off x="0" y="954360"/>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1987B5-62E5-4E8E-80CF-21F04ACCEB13}">
      <dsp:nvSpPr>
        <dsp:cNvPr id="0" name=""/>
        <dsp:cNvSpPr/>
      </dsp:nvSpPr>
      <dsp:spPr>
        <a:xfrm>
          <a:off x="0" y="954360"/>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How Well Developed are the Computing Professions?</a:t>
          </a:r>
        </a:p>
      </dsp:txBody>
      <dsp:txXfrm>
        <a:off x="0" y="954360"/>
        <a:ext cx="6096000" cy="951569"/>
      </dsp:txXfrm>
    </dsp:sp>
    <dsp:sp modelId="{D26DCA16-A09C-422C-B02D-C7C2B47ABE62}">
      <dsp:nvSpPr>
        <dsp:cNvPr id="0" name=""/>
        <dsp:cNvSpPr/>
      </dsp:nvSpPr>
      <dsp:spPr>
        <a:xfrm>
          <a:off x="0" y="1905929"/>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B68805-8986-46EF-B0E6-64C73AD252DC}">
      <dsp:nvSpPr>
        <dsp:cNvPr id="0" name=""/>
        <dsp:cNvSpPr/>
      </dsp:nvSpPr>
      <dsp:spPr>
        <a:xfrm>
          <a:off x="0" y="190592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How do Computer-related Careers Stack up?</a:t>
          </a:r>
        </a:p>
      </dsp:txBody>
      <dsp:txXfrm>
        <a:off x="0" y="1905929"/>
        <a:ext cx="6096000" cy="951569"/>
      </dsp:txXfrm>
    </dsp:sp>
    <dsp:sp modelId="{10BAD85E-5063-4774-AD48-2408CE506081}">
      <dsp:nvSpPr>
        <dsp:cNvPr id="0" name=""/>
        <dsp:cNvSpPr/>
      </dsp:nvSpPr>
      <dsp:spPr>
        <a:xfrm>
          <a:off x="0" y="2857499"/>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26B350-0D33-4799-B112-B1059FCB7725}">
      <dsp:nvSpPr>
        <dsp:cNvPr id="0" name=""/>
        <dsp:cNvSpPr/>
      </dsp:nvSpPr>
      <dsp:spPr>
        <a:xfrm>
          <a:off x="0" y="285749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Ability to Harm the Public</a:t>
          </a:r>
        </a:p>
      </dsp:txBody>
      <dsp:txXfrm>
        <a:off x="0" y="2857499"/>
        <a:ext cx="6096000" cy="951569"/>
      </dsp:txXfrm>
    </dsp:sp>
    <dsp:sp modelId="{0F1E6AD0-AA9A-40CB-BEE4-5D0FF2C00739}">
      <dsp:nvSpPr>
        <dsp:cNvPr id="0" name=""/>
        <dsp:cNvSpPr/>
      </dsp:nvSpPr>
      <dsp:spPr>
        <a:xfrm>
          <a:off x="0" y="3809069"/>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0C1ACA-FED0-4048-958A-F3E1E38B7B59}">
      <dsp:nvSpPr>
        <dsp:cNvPr id="0" name=""/>
        <dsp:cNvSpPr/>
      </dsp:nvSpPr>
      <dsp:spPr>
        <a:xfrm>
          <a:off x="0" y="380906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ACM Code of Ethics and Professional Conduct</a:t>
          </a:r>
        </a:p>
      </dsp:txBody>
      <dsp:txXfrm>
        <a:off x="0" y="3809069"/>
        <a:ext cx="6096000" cy="951569"/>
      </dsp:txXfrm>
    </dsp:sp>
    <dsp:sp modelId="{07C7A12E-973A-43A2-9A47-6A5619D97179}">
      <dsp:nvSpPr>
        <dsp:cNvPr id="0" name=""/>
        <dsp:cNvSpPr/>
      </dsp:nvSpPr>
      <dsp:spPr>
        <a:xfrm>
          <a:off x="0" y="4760638"/>
          <a:ext cx="6096000" cy="0"/>
        </a:xfrm>
        <a:prstGeom prst="line">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E64FCC-5E13-4350-9324-189ACF94FDE0}">
      <dsp:nvSpPr>
        <dsp:cNvPr id="0" name=""/>
        <dsp:cNvSpPr/>
      </dsp:nvSpPr>
      <dsp:spPr>
        <a:xfrm>
          <a:off x="0" y="4760638"/>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IEEE Code of Ethics</a:t>
          </a:r>
        </a:p>
      </dsp:txBody>
      <dsp:txXfrm>
        <a:off x="0" y="4760638"/>
        <a:ext cx="6096000" cy="9515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3BBBB5-CFD7-4665-BD36-87607818B801}">
      <dsp:nvSpPr>
        <dsp:cNvPr id="0" name=""/>
        <dsp:cNvSpPr/>
      </dsp:nvSpPr>
      <dsp:spPr>
        <a:xfrm>
          <a:off x="0" y="0"/>
          <a:ext cx="620784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7BE187-8C3F-4BE6-BDBC-70BC6080D07B}">
      <dsp:nvSpPr>
        <dsp:cNvPr id="0" name=""/>
        <dsp:cNvSpPr/>
      </dsp:nvSpPr>
      <dsp:spPr>
        <a:xfrm>
          <a:off x="0" y="0"/>
          <a:ext cx="6207841" cy="2302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1" kern="1200"/>
            <a:t>Profession: </a:t>
          </a:r>
          <a:r>
            <a:rPr lang="en-US" sz="2700" kern="1200"/>
            <a:t>A vocation that requires a high level of education and practical experience in the field.</a:t>
          </a:r>
        </a:p>
      </dsp:txBody>
      <dsp:txXfrm>
        <a:off x="0" y="0"/>
        <a:ext cx="6207841" cy="2302328"/>
      </dsp:txXfrm>
    </dsp:sp>
    <dsp:sp modelId="{055C9E4E-B1D1-4A53-80FE-2615E247AB0B}">
      <dsp:nvSpPr>
        <dsp:cNvPr id="0" name=""/>
        <dsp:cNvSpPr/>
      </dsp:nvSpPr>
      <dsp:spPr>
        <a:xfrm>
          <a:off x="0" y="2302328"/>
          <a:ext cx="620784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E33A0B3-A350-42A4-A3F2-5FEE0C8E5257}">
      <dsp:nvSpPr>
        <dsp:cNvPr id="0" name=""/>
        <dsp:cNvSpPr/>
      </dsp:nvSpPr>
      <dsp:spPr>
        <a:xfrm>
          <a:off x="0" y="2302328"/>
          <a:ext cx="6207841" cy="23023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Professionals have a special obligation to ensure their actions are for the good of those who depend on them, because their decisions can have more serious consequences.</a:t>
          </a:r>
        </a:p>
      </dsp:txBody>
      <dsp:txXfrm>
        <a:off x="0" y="2302328"/>
        <a:ext cx="6207841" cy="23023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0B6205-575B-4A93-B93F-42E86AE5F79C}">
      <dsp:nvSpPr>
        <dsp:cNvPr id="0" name=""/>
        <dsp:cNvSpPr/>
      </dsp:nvSpPr>
      <dsp:spPr>
        <a:xfrm>
          <a:off x="190500" y="0"/>
          <a:ext cx="5714999" cy="5714999"/>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9FA06A-086C-4277-99D9-FACDA1404AF9}">
      <dsp:nvSpPr>
        <dsp:cNvPr id="0" name=""/>
        <dsp:cNvSpPr/>
      </dsp:nvSpPr>
      <dsp:spPr>
        <a:xfrm>
          <a:off x="733425" y="542924"/>
          <a:ext cx="2228849" cy="2228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The typical corporate response in condemnation</a:t>
          </a:r>
        </a:p>
      </dsp:txBody>
      <dsp:txXfrm>
        <a:off x="842228" y="651727"/>
        <a:ext cx="2011243" cy="2011243"/>
      </dsp:txXfrm>
    </dsp:sp>
    <dsp:sp modelId="{D58BDC9A-438C-4283-8D97-38E477D036C3}">
      <dsp:nvSpPr>
        <dsp:cNvPr id="0" name=""/>
        <dsp:cNvSpPr/>
      </dsp:nvSpPr>
      <dsp:spPr>
        <a:xfrm>
          <a:off x="3133724" y="542924"/>
          <a:ext cx="2228849" cy="2228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Whistle-blowers are disloyal to their companies</a:t>
          </a:r>
        </a:p>
      </dsp:txBody>
      <dsp:txXfrm>
        <a:off x="3242527" y="651727"/>
        <a:ext cx="2011243" cy="2011243"/>
      </dsp:txXfrm>
    </dsp:sp>
    <dsp:sp modelId="{BD6D1911-92C3-4762-998A-C3D0AC422D37}">
      <dsp:nvSpPr>
        <dsp:cNvPr id="0" name=""/>
        <dsp:cNvSpPr/>
      </dsp:nvSpPr>
      <dsp:spPr>
        <a:xfrm>
          <a:off x="733425" y="2943224"/>
          <a:ext cx="2228849" cy="2228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Generate bad publicity</a:t>
          </a:r>
        </a:p>
      </dsp:txBody>
      <dsp:txXfrm>
        <a:off x="842228" y="3052027"/>
        <a:ext cx="2011243" cy="2011243"/>
      </dsp:txXfrm>
    </dsp:sp>
    <dsp:sp modelId="{D9D545C5-C768-4301-A955-50C04332BD9D}">
      <dsp:nvSpPr>
        <dsp:cNvPr id="0" name=""/>
        <dsp:cNvSpPr/>
      </dsp:nvSpPr>
      <dsp:spPr>
        <a:xfrm>
          <a:off x="3133724" y="2943224"/>
          <a:ext cx="2228849" cy="22288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Disrupt the social fabric of the organization and sows mistrust</a:t>
          </a:r>
        </a:p>
      </dsp:txBody>
      <dsp:txXfrm>
        <a:off x="3242527" y="3052027"/>
        <a:ext cx="2011243" cy="20112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9D7EFA-A988-4D54-B6C3-23B4603E7E37}">
      <dsp:nvSpPr>
        <dsp:cNvPr id="0" name=""/>
        <dsp:cNvSpPr/>
      </dsp:nvSpPr>
      <dsp:spPr>
        <a:xfrm>
          <a:off x="0" y="2790"/>
          <a:ext cx="6096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7102DE-AE69-4F14-A1C9-9C85F82BBBCA}">
      <dsp:nvSpPr>
        <dsp:cNvPr id="0" name=""/>
        <dsp:cNvSpPr/>
      </dsp:nvSpPr>
      <dsp:spPr>
        <a:xfrm>
          <a:off x="0" y="2790"/>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The organization suffers for bad publicity</a:t>
          </a:r>
        </a:p>
      </dsp:txBody>
      <dsp:txXfrm>
        <a:off x="0" y="2790"/>
        <a:ext cx="6096000" cy="951569"/>
      </dsp:txXfrm>
    </dsp:sp>
    <dsp:sp modelId="{A031B1BB-9B13-497B-A6FD-ED1560BBE231}">
      <dsp:nvSpPr>
        <dsp:cNvPr id="0" name=""/>
        <dsp:cNvSpPr/>
      </dsp:nvSpPr>
      <dsp:spPr>
        <a:xfrm>
          <a:off x="0" y="954360"/>
          <a:ext cx="60960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DAC284-B05B-4877-AA37-5202522538A8}">
      <dsp:nvSpPr>
        <dsp:cNvPr id="0" name=""/>
        <dsp:cNvSpPr/>
      </dsp:nvSpPr>
      <dsp:spPr>
        <a:xfrm>
          <a:off x="0" y="954360"/>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Accused managers’ careers can be ruined</a:t>
          </a:r>
        </a:p>
      </dsp:txBody>
      <dsp:txXfrm>
        <a:off x="0" y="954360"/>
        <a:ext cx="6096000" cy="951569"/>
      </dsp:txXfrm>
    </dsp:sp>
    <dsp:sp modelId="{8CF28304-6C19-4A05-BFBA-A4E2088E2CBA}">
      <dsp:nvSpPr>
        <dsp:cNvPr id="0" name=""/>
        <dsp:cNvSpPr/>
      </dsp:nvSpPr>
      <dsp:spPr>
        <a:xfrm>
          <a:off x="0" y="1905929"/>
          <a:ext cx="6096000"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233684-EA73-4AAF-B4EF-F7A67A66ECDD}">
      <dsp:nvSpPr>
        <dsp:cNvPr id="0" name=""/>
        <dsp:cNvSpPr/>
      </dsp:nvSpPr>
      <dsp:spPr>
        <a:xfrm>
          <a:off x="0" y="190592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Sows mistrust and erodes team spirit</a:t>
          </a:r>
        </a:p>
      </dsp:txBody>
      <dsp:txXfrm>
        <a:off x="0" y="1905929"/>
        <a:ext cx="6096000" cy="951569"/>
      </dsp:txXfrm>
    </dsp:sp>
    <dsp:sp modelId="{D952FA7D-E892-400E-9655-EECE8E20154F}">
      <dsp:nvSpPr>
        <dsp:cNvPr id="0" name=""/>
        <dsp:cNvSpPr/>
      </dsp:nvSpPr>
      <dsp:spPr>
        <a:xfrm>
          <a:off x="0" y="2857499"/>
          <a:ext cx="60960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525BFA-4DC5-4C34-9D77-7EF6725778C5}">
      <dsp:nvSpPr>
        <dsp:cNvPr id="0" name=""/>
        <dsp:cNvSpPr/>
      </dsp:nvSpPr>
      <dsp:spPr>
        <a:xfrm>
          <a:off x="0" y="285749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Whistle-blowers typically suffer retaliation and become estranged from their co-workers</a:t>
          </a:r>
        </a:p>
      </dsp:txBody>
      <dsp:txXfrm>
        <a:off x="0" y="2857499"/>
        <a:ext cx="6096000" cy="951569"/>
      </dsp:txXfrm>
    </dsp:sp>
    <dsp:sp modelId="{CA520AD0-3646-4E40-9FA8-9BA86D6DBFEB}">
      <dsp:nvSpPr>
        <dsp:cNvPr id="0" name=""/>
        <dsp:cNvSpPr/>
      </dsp:nvSpPr>
      <dsp:spPr>
        <a:xfrm>
          <a:off x="0" y="3809069"/>
          <a:ext cx="6096000" cy="0"/>
        </a:xfrm>
        <a:prstGeom prst="line">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EA5F78-E515-4731-A8E6-F317BDC34C0B}">
      <dsp:nvSpPr>
        <dsp:cNvPr id="0" name=""/>
        <dsp:cNvSpPr/>
      </dsp:nvSpPr>
      <dsp:spPr>
        <a:xfrm>
          <a:off x="0" y="3809069"/>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Long-term prospects with the company are dim</a:t>
          </a:r>
        </a:p>
      </dsp:txBody>
      <dsp:txXfrm>
        <a:off x="0" y="3809069"/>
        <a:ext cx="6096000" cy="951569"/>
      </dsp:txXfrm>
    </dsp:sp>
    <dsp:sp modelId="{3D9B1386-9463-4376-B31B-6B2E88B09BCA}">
      <dsp:nvSpPr>
        <dsp:cNvPr id="0" name=""/>
        <dsp:cNvSpPr/>
      </dsp:nvSpPr>
      <dsp:spPr>
        <a:xfrm>
          <a:off x="0" y="4760638"/>
          <a:ext cx="60960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111D05-8637-46EE-9805-8CDAC502F0C5}">
      <dsp:nvSpPr>
        <dsp:cNvPr id="0" name=""/>
        <dsp:cNvSpPr/>
      </dsp:nvSpPr>
      <dsp:spPr>
        <a:xfrm>
          <a:off x="0" y="4760638"/>
          <a:ext cx="6096000" cy="951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Organizations need to create management structures and communication processes that allow concerns to be raised, discussed, and resolved</a:t>
          </a:r>
        </a:p>
      </dsp:txBody>
      <dsp:txXfrm>
        <a:off x="0" y="4760638"/>
        <a:ext cx="6096000" cy="95156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2E32C-32DB-4552-AAEB-2DCC35C9D5B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57CB5-9293-4180-A4E6-97F6D0FE5715}" type="slidenum">
              <a:rPr lang="en-US" smtClean="0"/>
              <a:t>‹#›</a:t>
            </a:fld>
            <a:endParaRPr lang="en-US"/>
          </a:p>
        </p:txBody>
      </p:sp>
    </p:spTree>
    <p:extLst>
      <p:ext uri="{BB962C8B-B14F-4D97-AF65-F5344CB8AC3E}">
        <p14:creationId xmlns:p14="http://schemas.microsoft.com/office/powerpoint/2010/main" val="2517724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Dude developed ID cards rejected by Dutch as undemocratic, then came the Nazis and loved his work which </a:t>
            </a:r>
          </a:p>
        </p:txBody>
      </p:sp>
      <p:sp>
        <p:nvSpPr>
          <p:cNvPr id="4" name="Slide Number Placeholder 3"/>
          <p:cNvSpPr>
            <a:spLocks noGrp="1"/>
          </p:cNvSpPr>
          <p:nvPr>
            <p:ph type="sldNum" sz="quarter" idx="5"/>
          </p:nvPr>
        </p:nvSpPr>
        <p:spPr/>
        <p:txBody>
          <a:bodyPr/>
          <a:lstStyle/>
          <a:p>
            <a:fld id="{34B57CB5-9293-4180-A4E6-97F6D0FE5715}" type="slidenum">
              <a:rPr lang="en-US" smtClean="0"/>
              <a:t>2</a:t>
            </a:fld>
            <a:endParaRPr lang="en-US"/>
          </a:p>
        </p:txBody>
      </p:sp>
    </p:spTree>
    <p:extLst>
      <p:ext uri="{BB962C8B-B14F-4D97-AF65-F5344CB8AC3E}">
        <p14:creationId xmlns:p14="http://schemas.microsoft.com/office/powerpoint/2010/main" val="2608805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4B57CB5-9293-4180-A4E6-97F6D0FE5715}" type="slidenum">
              <a:rPr lang="en-US" smtClean="0"/>
              <a:t>20</a:t>
            </a:fld>
            <a:endParaRPr lang="en-US"/>
          </a:p>
        </p:txBody>
      </p:sp>
    </p:spTree>
    <p:extLst>
      <p:ext uri="{BB962C8B-B14F-4D97-AF65-F5344CB8AC3E}">
        <p14:creationId xmlns:p14="http://schemas.microsoft.com/office/powerpoint/2010/main" val="2635640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Edward Snowden, Julian Assange, and Karen Silkwood</a:t>
            </a:r>
          </a:p>
        </p:txBody>
      </p:sp>
      <p:sp>
        <p:nvSpPr>
          <p:cNvPr id="4" name="Slide Number Placeholder 3"/>
          <p:cNvSpPr>
            <a:spLocks noGrp="1"/>
          </p:cNvSpPr>
          <p:nvPr>
            <p:ph type="sldNum" sz="quarter" idx="5"/>
          </p:nvPr>
        </p:nvSpPr>
        <p:spPr/>
        <p:txBody>
          <a:bodyPr/>
          <a:lstStyle/>
          <a:p>
            <a:fld id="{34B57CB5-9293-4180-A4E6-97F6D0FE5715}" type="slidenum">
              <a:rPr lang="en-US" smtClean="0"/>
              <a:t>29</a:t>
            </a:fld>
            <a:endParaRPr lang="en-US"/>
          </a:p>
        </p:txBody>
      </p:sp>
    </p:spTree>
    <p:extLst>
      <p:ext uri="{BB962C8B-B14F-4D97-AF65-F5344CB8AC3E}">
        <p14:creationId xmlns:p14="http://schemas.microsoft.com/office/powerpoint/2010/main" val="3428160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Ford Pinto case: In the 70s, executives at Ford wanted to sell a 2,000 pound, $2,000 alternative to Japanese imports. Unfortunately the prototypes did not pass mandatory collision tests, because the windshield keeps popping out. Forbidden from making design changes, the engineers redirected the energy of the collision down the drive train causing </a:t>
            </a:r>
            <a:r>
              <a:rPr lang="en-US"/>
              <a:t>gas explosions</a:t>
            </a:r>
            <a:endParaRPr lang="en-US" dirty="0"/>
          </a:p>
        </p:txBody>
      </p:sp>
      <p:sp>
        <p:nvSpPr>
          <p:cNvPr id="4" name="Slide Number Placeholder 3"/>
          <p:cNvSpPr>
            <a:spLocks noGrp="1"/>
          </p:cNvSpPr>
          <p:nvPr>
            <p:ph type="sldNum" sz="quarter" idx="5"/>
          </p:nvPr>
        </p:nvSpPr>
        <p:spPr/>
        <p:txBody>
          <a:bodyPr/>
          <a:lstStyle/>
          <a:p>
            <a:fld id="{34B57CB5-9293-4180-A4E6-97F6D0FE5715}" type="slidenum">
              <a:rPr lang="en-US" smtClean="0"/>
              <a:t>36</a:t>
            </a:fld>
            <a:endParaRPr lang="en-US"/>
          </a:p>
        </p:txBody>
      </p:sp>
    </p:spTree>
    <p:extLst>
      <p:ext uri="{BB962C8B-B14F-4D97-AF65-F5344CB8AC3E}">
        <p14:creationId xmlns:p14="http://schemas.microsoft.com/office/powerpoint/2010/main" val="1684395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518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39029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8945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0588177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69736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281620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850009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19170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189044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86637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5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2/2/2026</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744189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11C99DC-C3C5-4EBE-91DD-345109C3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DF5DF-70C8-1CEA-D39E-C34728BD6BDD}"/>
              </a:ext>
            </a:extLst>
          </p:cNvPr>
          <p:cNvSpPr>
            <a:spLocks noGrp="1"/>
          </p:cNvSpPr>
          <p:nvPr>
            <p:ph type="ctrTitle"/>
          </p:nvPr>
        </p:nvSpPr>
        <p:spPr>
          <a:xfrm>
            <a:off x="1080789" y="2457319"/>
            <a:ext cx="5015211" cy="3495365"/>
          </a:xfrm>
        </p:spPr>
        <p:txBody>
          <a:bodyPr anchor="b">
            <a:normAutofit/>
          </a:bodyPr>
          <a:lstStyle/>
          <a:p>
            <a:r>
              <a:rPr lang="en-US" sz="3600" dirty="0"/>
              <a:t>Chapter 2: Professionalism and responsibility</a:t>
            </a:r>
          </a:p>
        </p:txBody>
      </p:sp>
      <p:sp>
        <p:nvSpPr>
          <p:cNvPr id="3" name="Subtitle 2">
            <a:extLst>
              <a:ext uri="{FF2B5EF4-FFF2-40B4-BE49-F238E27FC236}">
                <a16:creationId xmlns:a16="http://schemas.microsoft.com/office/drawing/2014/main" id="{CECE0DD2-D7D9-8145-6C15-D59E2A99FC7D}"/>
              </a:ext>
            </a:extLst>
          </p:cNvPr>
          <p:cNvSpPr>
            <a:spLocks noGrp="1"/>
          </p:cNvSpPr>
          <p:nvPr>
            <p:ph type="subTitle" idx="1"/>
          </p:nvPr>
        </p:nvSpPr>
        <p:spPr>
          <a:xfrm>
            <a:off x="1094716" y="1022130"/>
            <a:ext cx="5001284" cy="1268361"/>
          </a:xfrm>
        </p:spPr>
        <p:txBody>
          <a:bodyPr anchor="t">
            <a:normAutofit/>
          </a:bodyPr>
          <a:lstStyle/>
          <a:p>
            <a:endParaRPr lang="en-US"/>
          </a:p>
        </p:txBody>
      </p:sp>
      <p:cxnSp>
        <p:nvCxnSpPr>
          <p:cNvPr id="11" name="Straight Connector 10">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84" y="118679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purple and white sky&#10;&#10;Description automatically generated">
            <a:extLst>
              <a:ext uri="{FF2B5EF4-FFF2-40B4-BE49-F238E27FC236}">
                <a16:creationId xmlns:a16="http://schemas.microsoft.com/office/drawing/2014/main" id="{E633B07B-028F-BDD4-8CF6-7210973F3E09}"/>
              </a:ext>
            </a:extLst>
          </p:cNvPr>
          <p:cNvPicPr>
            <a:picLocks noChangeAspect="1"/>
          </p:cNvPicPr>
          <p:nvPr/>
        </p:nvPicPr>
        <p:blipFill>
          <a:blip r:embed="rId2"/>
          <a:srcRect l="5687" r="14313"/>
          <a:stretch/>
        </p:blipFill>
        <p:spPr>
          <a:xfrm>
            <a:off x="6705594" y="1"/>
            <a:ext cx="5486407" cy="6857999"/>
          </a:xfrm>
          <a:prstGeom prst="rect">
            <a:avLst/>
          </a:prstGeom>
        </p:spPr>
      </p:pic>
    </p:spTree>
    <p:extLst>
      <p:ext uri="{BB962C8B-B14F-4D97-AF65-F5344CB8AC3E}">
        <p14:creationId xmlns:p14="http://schemas.microsoft.com/office/powerpoint/2010/main" val="230566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3EE5C-15EA-84CE-7063-BB91891008A2}"/>
              </a:ext>
            </a:extLst>
          </p:cNvPr>
          <p:cNvSpPr>
            <a:spLocks noGrp="1"/>
          </p:cNvSpPr>
          <p:nvPr>
            <p:ph type="title"/>
          </p:nvPr>
        </p:nvSpPr>
        <p:spPr>
          <a:xfrm>
            <a:off x="1091203" y="1069848"/>
            <a:ext cx="6308775" cy="2049620"/>
          </a:xfrm>
        </p:spPr>
        <p:txBody>
          <a:bodyPr>
            <a:normAutofit/>
          </a:bodyPr>
          <a:lstStyle/>
          <a:p>
            <a:endParaRPr lang="en-US" sz="6000"/>
          </a:p>
        </p:txBody>
      </p:sp>
      <p:cxnSp>
        <p:nvCxnSpPr>
          <p:cNvPr id="14" name="Straight Connector 13">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46F7BAD1-76CB-88A0-F7D3-41C7CBDD2789}"/>
              </a:ext>
            </a:extLst>
          </p:cNvPr>
          <p:cNvSpPr>
            <a:spLocks noGrp="1"/>
          </p:cNvSpPr>
          <p:nvPr>
            <p:ph idx="1"/>
          </p:nvPr>
        </p:nvSpPr>
        <p:spPr>
          <a:xfrm>
            <a:off x="1097280" y="3180522"/>
            <a:ext cx="6223996" cy="3105978"/>
          </a:xfrm>
        </p:spPr>
        <p:txBody>
          <a:bodyPr>
            <a:normAutofit/>
          </a:bodyPr>
          <a:lstStyle/>
          <a:p>
            <a:r>
              <a:rPr lang="en-US" dirty="0"/>
              <a:t>“Theoretically, the collection of data for each person can be so abundant and complete that we can finally speak of a paper human representing the natural human”</a:t>
            </a:r>
          </a:p>
          <a:p>
            <a:r>
              <a:rPr lang="en-US" dirty="0"/>
              <a:t>-Jacobus Lentz</a:t>
            </a:r>
          </a:p>
        </p:txBody>
      </p:sp>
      <p:pic>
        <p:nvPicPr>
          <p:cNvPr id="5" name="Content Placeholder 4" descr="A person in a suit and tie&#10;&#10;Description automatically generated">
            <a:extLst>
              <a:ext uri="{FF2B5EF4-FFF2-40B4-BE49-F238E27FC236}">
                <a16:creationId xmlns:a16="http://schemas.microsoft.com/office/drawing/2014/main" id="{F3C19DC1-FC16-2D13-40AC-32B535ED2E01}"/>
              </a:ext>
            </a:extLst>
          </p:cNvPr>
          <p:cNvPicPr>
            <a:picLocks noChangeAspect="1"/>
          </p:cNvPicPr>
          <p:nvPr/>
        </p:nvPicPr>
        <p:blipFill>
          <a:blip r:embed="rId3">
            <a:extLst>
              <a:ext uri="{28A0092B-C50C-407E-A947-70E740481C1C}">
                <a14:useLocalDpi xmlns:a14="http://schemas.microsoft.com/office/drawing/2010/main" val="0"/>
              </a:ext>
            </a:extLst>
          </a:blip>
          <a:srcRect l="6866" r="13233"/>
          <a:stretch/>
        </p:blipFill>
        <p:spPr>
          <a:xfrm>
            <a:off x="8534400" y="10"/>
            <a:ext cx="3657601" cy="6857990"/>
          </a:xfrm>
          <a:prstGeom prst="rect">
            <a:avLst/>
          </a:prstGeom>
        </p:spPr>
      </p:pic>
    </p:spTree>
    <p:extLst>
      <p:ext uri="{BB962C8B-B14F-4D97-AF65-F5344CB8AC3E}">
        <p14:creationId xmlns:p14="http://schemas.microsoft.com/office/powerpoint/2010/main" val="3809585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9182A2-D3A0-E2B5-A1ED-20D9CBC24EB2}"/>
              </a:ext>
            </a:extLst>
          </p:cNvPr>
          <p:cNvSpPr>
            <a:spLocks noGrp="1"/>
          </p:cNvSpPr>
          <p:nvPr>
            <p:ph type="title"/>
          </p:nvPr>
        </p:nvSpPr>
        <p:spPr>
          <a:xfrm>
            <a:off x="1088136" y="2235210"/>
            <a:ext cx="3807714" cy="3352789"/>
          </a:xfrm>
        </p:spPr>
        <p:txBody>
          <a:bodyPr anchor="t">
            <a:normAutofit/>
          </a:bodyPr>
          <a:lstStyle/>
          <a:p>
            <a:r>
              <a:rPr lang="en-US" sz="4000" dirty="0"/>
              <a:t>Overview</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8A95D74-6CBB-BFA8-AE80-AB645EEBAE72}"/>
              </a:ext>
            </a:extLst>
          </p:cNvPr>
          <p:cNvGraphicFramePr>
            <a:graphicFrameLocks noGrp="1"/>
          </p:cNvGraphicFramePr>
          <p:nvPr>
            <p:ph idx="1"/>
            <p:extLst>
              <p:ext uri="{D42A27DB-BD31-4B8C-83A1-F6EECF244321}">
                <p14:modId xmlns:p14="http://schemas.microsoft.com/office/powerpoint/2010/main" val="829560765"/>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924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8C38AB-00B3-4611-B51A-458666907A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3B8CDB-66D0-ED77-FE52-29A5ABD10221}"/>
              </a:ext>
            </a:extLst>
          </p:cNvPr>
          <p:cNvSpPr>
            <a:spLocks noGrp="1"/>
          </p:cNvSpPr>
          <p:nvPr>
            <p:ph type="title"/>
          </p:nvPr>
        </p:nvSpPr>
        <p:spPr>
          <a:xfrm>
            <a:off x="1092304" y="4504002"/>
            <a:ext cx="3784496" cy="1790886"/>
          </a:xfrm>
        </p:spPr>
        <p:txBody>
          <a:bodyPr anchor="t">
            <a:normAutofit/>
          </a:bodyPr>
          <a:lstStyle/>
          <a:p>
            <a:r>
              <a:rPr lang="en-US" sz="4000"/>
              <a:t>Introduction</a:t>
            </a:r>
          </a:p>
        </p:txBody>
      </p:sp>
      <p:cxnSp>
        <p:nvCxnSpPr>
          <p:cNvPr id="17" name="Straight Connector 16">
            <a:extLst>
              <a:ext uri="{FF2B5EF4-FFF2-40B4-BE49-F238E27FC236}">
                <a16:creationId xmlns:a16="http://schemas.microsoft.com/office/drawing/2014/main" id="{8F5909CB-6CD3-45DF-9920-8D81824854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4607234"/>
            <a:ext cx="804195" cy="0"/>
          </a:xfrm>
          <a:prstGeom prst="line">
            <a:avLst/>
          </a:prstGeom>
          <a:ln w="825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Content Placeholder 8">
            <a:extLst>
              <a:ext uri="{FF2B5EF4-FFF2-40B4-BE49-F238E27FC236}">
                <a16:creationId xmlns:a16="http://schemas.microsoft.com/office/drawing/2014/main" id="{0598D8DF-F58F-6851-4506-2AAA30A8B11E}"/>
              </a:ext>
            </a:extLst>
          </p:cNvPr>
          <p:cNvGraphicFramePr>
            <a:graphicFrameLocks noGrp="1"/>
          </p:cNvGraphicFramePr>
          <p:nvPr>
            <p:ph idx="1"/>
            <p:extLst>
              <p:ext uri="{D42A27DB-BD31-4B8C-83A1-F6EECF244321}">
                <p14:modId xmlns:p14="http://schemas.microsoft.com/office/powerpoint/2010/main" val="2096422995"/>
              </p:ext>
            </p:extLst>
          </p:nvPr>
        </p:nvGraphicFramePr>
        <p:xfrm>
          <a:off x="5412658" y="1110343"/>
          <a:ext cx="6207841" cy="46046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6611959"/>
      </p:ext>
    </p:extLst>
  </p:cSld>
  <p:clrMapOvr>
    <a:masterClrMapping/>
  </p:clrMapOvr>
  <mc:AlternateContent xmlns:mc="http://schemas.openxmlformats.org/markup-compatibility/2006" xmlns:p14="http://schemas.microsoft.com/office/powerpoint/2010/main">
    <mc:Choice Requires="p14">
      <p:transition spd="slow" p14:dur="2000" advTm="77746"/>
    </mc:Choice>
    <mc:Fallback xmlns="">
      <p:transition spd="slow" advTm="7774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92FEE5-763E-DC7A-3292-B3A51A1185B5}"/>
              </a:ext>
            </a:extLst>
          </p:cNvPr>
          <p:cNvPicPr>
            <a:picLocks noChangeAspect="1"/>
          </p:cNvPicPr>
          <p:nvPr/>
        </p:nvPicPr>
        <p:blipFill>
          <a:blip r:embed="rId2"/>
          <a:stretch>
            <a:fillRect/>
          </a:stretch>
        </p:blipFill>
        <p:spPr>
          <a:xfrm>
            <a:off x="2380731" y="575864"/>
            <a:ext cx="7430537" cy="5706271"/>
          </a:xfrm>
          <a:prstGeom prst="rect">
            <a:avLst/>
          </a:prstGeom>
        </p:spPr>
      </p:pic>
    </p:spTree>
    <p:extLst>
      <p:ext uri="{BB962C8B-B14F-4D97-AF65-F5344CB8AC3E}">
        <p14:creationId xmlns:p14="http://schemas.microsoft.com/office/powerpoint/2010/main" val="2278109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93B29-C7CB-5C13-6391-682DD1897E1B}"/>
              </a:ext>
            </a:extLst>
          </p:cNvPr>
          <p:cNvSpPr>
            <a:spLocks noGrp="1"/>
          </p:cNvSpPr>
          <p:nvPr>
            <p:ph type="title"/>
          </p:nvPr>
        </p:nvSpPr>
        <p:spPr/>
        <p:txBody>
          <a:bodyPr/>
          <a:lstStyle/>
          <a:p>
            <a:r>
              <a:rPr lang="en-US" dirty="0"/>
              <a:t>How Well Developed are the Computing Professions?</a:t>
            </a:r>
          </a:p>
        </p:txBody>
      </p:sp>
      <p:sp>
        <p:nvSpPr>
          <p:cNvPr id="3" name="Content Placeholder 2">
            <a:extLst>
              <a:ext uri="{FF2B5EF4-FFF2-40B4-BE49-F238E27FC236}">
                <a16:creationId xmlns:a16="http://schemas.microsoft.com/office/drawing/2014/main" id="{EF7B5EF1-E8E7-7409-6892-F77BA1510BF5}"/>
              </a:ext>
            </a:extLst>
          </p:cNvPr>
          <p:cNvSpPr>
            <a:spLocks noGrp="1"/>
          </p:cNvSpPr>
          <p:nvPr>
            <p:ph idx="1"/>
          </p:nvPr>
        </p:nvSpPr>
        <p:spPr/>
        <p:txBody>
          <a:bodyPr/>
          <a:lstStyle/>
          <a:p>
            <a:r>
              <a:rPr lang="en-US" dirty="0"/>
              <a:t>A fully developed profession has a well-organized infrastructure for certifying new members and supporting those who already belong to the profession. </a:t>
            </a:r>
          </a:p>
          <a:p>
            <a:r>
              <a:rPr lang="en-US" dirty="0"/>
              <a:t>Ford and Gibbs have identified eight components of a mature professional infrastructure:</a:t>
            </a:r>
          </a:p>
          <a:p>
            <a:pPr marL="342900" indent="-342900">
              <a:buFont typeface="+mj-lt"/>
              <a:buAutoNum type="arabicPeriod"/>
            </a:pPr>
            <a:r>
              <a:rPr lang="en-US" b="1" dirty="0"/>
              <a:t>Initial Professional Education: </a:t>
            </a:r>
            <a:r>
              <a:rPr lang="en-US" dirty="0"/>
              <a:t>formal course work completed by candidates before they begin practicing the profession</a:t>
            </a:r>
          </a:p>
          <a:p>
            <a:pPr marL="342900" indent="-342900">
              <a:buFont typeface="+mj-lt"/>
              <a:buAutoNum type="arabicPeriod"/>
            </a:pPr>
            <a:r>
              <a:rPr lang="en-US" b="1" dirty="0"/>
              <a:t>Accreditation: </a:t>
            </a:r>
            <a:r>
              <a:rPr lang="en-US" dirty="0"/>
              <a:t>A means of assuring that the formal course work meets the standards of the profession</a:t>
            </a:r>
          </a:p>
          <a:p>
            <a:pPr marL="342900" indent="-342900">
              <a:buFont typeface="+mj-lt"/>
              <a:buAutoNum type="arabicPeriod"/>
            </a:pPr>
            <a:r>
              <a:rPr lang="en-US" b="1" dirty="0"/>
              <a:t>Skills Development: </a:t>
            </a:r>
            <a:r>
              <a:rPr lang="en-US" dirty="0"/>
              <a:t>Activities that provide candidates with the opportunity to gain practical skills needed to practice the profession.</a:t>
            </a:r>
          </a:p>
        </p:txBody>
      </p:sp>
    </p:spTree>
    <p:extLst>
      <p:ext uri="{BB962C8B-B14F-4D97-AF65-F5344CB8AC3E}">
        <p14:creationId xmlns:p14="http://schemas.microsoft.com/office/powerpoint/2010/main" val="2671824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B2519-6F0B-A1A9-8DD9-9BFFF9A70C33}"/>
              </a:ext>
            </a:extLst>
          </p:cNvPr>
          <p:cNvSpPr>
            <a:spLocks noGrp="1"/>
          </p:cNvSpPr>
          <p:nvPr>
            <p:ph type="title"/>
          </p:nvPr>
        </p:nvSpPr>
        <p:spPr/>
        <p:txBody>
          <a:bodyPr/>
          <a:lstStyle/>
          <a:p>
            <a:r>
              <a:rPr lang="en-US" dirty="0"/>
              <a:t>How Well Developed are the Computing Professions?</a:t>
            </a:r>
          </a:p>
        </p:txBody>
      </p:sp>
      <p:sp>
        <p:nvSpPr>
          <p:cNvPr id="3" name="Content Placeholder 2">
            <a:extLst>
              <a:ext uri="{FF2B5EF4-FFF2-40B4-BE49-F238E27FC236}">
                <a16:creationId xmlns:a16="http://schemas.microsoft.com/office/drawing/2014/main" id="{5F6B5585-00C7-0C9B-EC6F-EAAA6FFF1F67}"/>
              </a:ext>
            </a:extLst>
          </p:cNvPr>
          <p:cNvSpPr>
            <a:spLocks noGrp="1"/>
          </p:cNvSpPr>
          <p:nvPr>
            <p:ph idx="1"/>
          </p:nvPr>
        </p:nvSpPr>
        <p:spPr/>
        <p:txBody>
          <a:bodyPr/>
          <a:lstStyle/>
          <a:p>
            <a:pPr marL="342900" indent="-342900">
              <a:buFont typeface="+mj-lt"/>
              <a:buAutoNum type="arabicPeriod" startAt="4"/>
            </a:pPr>
            <a:r>
              <a:rPr lang="en-US" b="1" dirty="0"/>
              <a:t>Certification: </a:t>
            </a:r>
            <a:r>
              <a:rPr lang="en-US" dirty="0"/>
              <a:t>A process by which candidates are evaluated to determine their readiness to enter the profession.</a:t>
            </a:r>
          </a:p>
          <a:p>
            <a:pPr marL="342900" indent="-342900">
              <a:buFont typeface="+mj-lt"/>
              <a:buAutoNum type="arabicPeriod" startAt="4"/>
            </a:pPr>
            <a:r>
              <a:rPr lang="en-US" b="1" dirty="0"/>
              <a:t>Licensing: </a:t>
            </a:r>
            <a:r>
              <a:rPr lang="en-US" dirty="0"/>
              <a:t>The process giving candidates the legal right to practice the profession</a:t>
            </a:r>
          </a:p>
          <a:p>
            <a:pPr marL="342900" indent="-342900">
              <a:buFont typeface="+mj-lt"/>
              <a:buAutoNum type="arabicPeriod" startAt="4"/>
            </a:pPr>
            <a:r>
              <a:rPr lang="en-US" b="1" dirty="0"/>
              <a:t>Professional Development: </a:t>
            </a:r>
            <a:r>
              <a:rPr lang="en-US" dirty="0"/>
              <a:t>Formal coursework completed by professionals to maintain and develop their knowledge and skills.</a:t>
            </a:r>
          </a:p>
          <a:p>
            <a:pPr marL="342900" indent="-342900">
              <a:buFont typeface="+mj-lt"/>
              <a:buAutoNum type="arabicPeriod" startAt="4"/>
            </a:pPr>
            <a:r>
              <a:rPr lang="en-US" b="1" dirty="0"/>
              <a:t>Code of Ethics: </a:t>
            </a:r>
            <a:r>
              <a:rPr lang="en-US" dirty="0"/>
              <a:t>A mechanism by which a profession ensures that its members use their knowledge and skills for the benefit of society.</a:t>
            </a:r>
          </a:p>
          <a:p>
            <a:pPr marL="342900" indent="-342900">
              <a:buFont typeface="+mj-lt"/>
              <a:buAutoNum type="arabicPeriod" startAt="4"/>
            </a:pPr>
            <a:r>
              <a:rPr lang="en-US" b="1" dirty="0"/>
              <a:t>Professional Society: </a:t>
            </a:r>
            <a:r>
              <a:rPr lang="en-US" dirty="0"/>
              <a:t>An organization promoting the welfare of the profession, typically consisting of most, if not all, members of the profession. </a:t>
            </a:r>
          </a:p>
          <a:p>
            <a:pPr marL="342900" indent="-342900">
              <a:buFont typeface="+mj-lt"/>
              <a:buAutoNum type="arabicPeriod" startAt="4"/>
            </a:pPr>
            <a:endParaRPr lang="en-US" dirty="0"/>
          </a:p>
        </p:txBody>
      </p:sp>
    </p:spTree>
    <p:extLst>
      <p:ext uri="{BB962C8B-B14F-4D97-AF65-F5344CB8AC3E}">
        <p14:creationId xmlns:p14="http://schemas.microsoft.com/office/powerpoint/2010/main" val="385525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D2678-AD9C-E1A8-9F3A-B3BB0BAD664A}"/>
              </a:ext>
            </a:extLst>
          </p:cNvPr>
          <p:cNvSpPr>
            <a:spLocks noGrp="1"/>
          </p:cNvSpPr>
          <p:nvPr>
            <p:ph type="title"/>
          </p:nvPr>
        </p:nvSpPr>
        <p:spPr/>
        <p:txBody>
          <a:bodyPr/>
          <a:lstStyle/>
          <a:p>
            <a:r>
              <a:rPr lang="en-US" dirty="0"/>
              <a:t>How do Computer-related Careers Stack up?</a:t>
            </a:r>
          </a:p>
        </p:txBody>
      </p:sp>
      <p:sp>
        <p:nvSpPr>
          <p:cNvPr id="3" name="Content Placeholder 2">
            <a:extLst>
              <a:ext uri="{FF2B5EF4-FFF2-40B4-BE49-F238E27FC236}">
                <a16:creationId xmlns:a16="http://schemas.microsoft.com/office/drawing/2014/main" id="{138B346D-C641-7508-1937-F7F05F96C09D}"/>
              </a:ext>
            </a:extLst>
          </p:cNvPr>
          <p:cNvSpPr>
            <a:spLocks noGrp="1"/>
          </p:cNvSpPr>
          <p:nvPr>
            <p:ph idx="1"/>
          </p:nvPr>
        </p:nvSpPr>
        <p:spPr/>
        <p:txBody>
          <a:bodyPr>
            <a:normAutofit lnSpcReduction="10000"/>
          </a:bodyPr>
          <a:lstStyle/>
          <a:p>
            <a:r>
              <a:rPr lang="en-US" dirty="0"/>
              <a:t>People may write computer programs and maintain computer systems, either as consultants, sole proprietors, or members of larger firms, without being certified or having been granted a license.</a:t>
            </a:r>
          </a:p>
          <a:p>
            <a:r>
              <a:rPr lang="en-US" dirty="0"/>
              <a:t>A person does not have to complete college or serve an apprenticeship under the guidance of an experienced mentor in order to gain employment as a programmer, system administrator, or system analyst.</a:t>
            </a:r>
          </a:p>
          <a:p>
            <a:r>
              <a:rPr lang="en-US" dirty="0"/>
              <a:t>The vast majority of people who hold computer-related jobs do not belong to either of computing’s professional societies.</a:t>
            </a:r>
          </a:p>
          <a:p>
            <a:r>
              <a:rPr lang="en-US" dirty="0"/>
              <a:t>No professional organization has the authority to forbid someone from managing computer networks or writing computer programs</a:t>
            </a:r>
          </a:p>
          <a:p>
            <a:pPr marL="0" indent="0">
              <a:buNone/>
            </a:pPr>
            <a:endParaRPr lang="en-US" dirty="0"/>
          </a:p>
        </p:txBody>
      </p:sp>
    </p:spTree>
    <p:extLst>
      <p:ext uri="{BB962C8B-B14F-4D97-AF65-F5344CB8AC3E}">
        <p14:creationId xmlns:p14="http://schemas.microsoft.com/office/powerpoint/2010/main" val="2039897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12145F0-5149-412D-9A3F-1E3051B39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36D2678-AD9C-E1A8-9F3A-B3BB0BAD664A}"/>
              </a:ext>
            </a:extLst>
          </p:cNvPr>
          <p:cNvSpPr>
            <a:spLocks noGrp="1"/>
          </p:cNvSpPr>
          <p:nvPr>
            <p:ph type="title"/>
          </p:nvPr>
        </p:nvSpPr>
        <p:spPr>
          <a:xfrm>
            <a:off x="1090940" y="1097279"/>
            <a:ext cx="10529560" cy="1225587"/>
          </a:xfrm>
        </p:spPr>
        <p:txBody>
          <a:bodyPr>
            <a:normAutofit/>
          </a:bodyPr>
          <a:lstStyle/>
          <a:p>
            <a:r>
              <a:rPr lang="en-US" sz="4000" dirty="0"/>
              <a:t>How do Computer-related Careers Stack up?</a:t>
            </a:r>
          </a:p>
        </p:txBody>
      </p:sp>
      <p:cxnSp>
        <p:nvCxnSpPr>
          <p:cNvPr id="12" name="Straight Connector 1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38B346D-C641-7508-1937-F7F05F96C09D}"/>
              </a:ext>
            </a:extLst>
          </p:cNvPr>
          <p:cNvSpPr>
            <a:spLocks noGrp="1"/>
          </p:cNvSpPr>
          <p:nvPr>
            <p:ph idx="1"/>
          </p:nvPr>
        </p:nvSpPr>
        <p:spPr>
          <a:xfrm>
            <a:off x="1096684" y="2455816"/>
            <a:ext cx="5188110" cy="3830683"/>
          </a:xfrm>
        </p:spPr>
        <p:txBody>
          <a:bodyPr anchor="t">
            <a:normAutofit/>
          </a:bodyPr>
          <a:lstStyle/>
          <a:p>
            <a:r>
              <a:rPr lang="en-US" dirty="0"/>
              <a:t>Most computer programmers work inside a company as part of a team that includes many other programmers as well as managers.</a:t>
            </a:r>
          </a:p>
          <a:p>
            <a:r>
              <a:rPr lang="en-US" dirty="0"/>
              <a:t>The responsibility of an individual person is difficult to discern. Low-level decisions are made by groups, and final authority rests with management.</a:t>
            </a:r>
          </a:p>
        </p:txBody>
      </p:sp>
      <p:pic>
        <p:nvPicPr>
          <p:cNvPr id="7" name="Graphic 6" descr="Programmer">
            <a:extLst>
              <a:ext uri="{FF2B5EF4-FFF2-40B4-BE49-F238E27FC236}">
                <a16:creationId xmlns:a16="http://schemas.microsoft.com/office/drawing/2014/main" id="{12A7A991-5C0C-BA90-52DC-CF2722EC7BA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18674" y="2455816"/>
            <a:ext cx="3830684" cy="3830684"/>
          </a:xfrm>
          <a:prstGeom prst="rect">
            <a:avLst/>
          </a:prstGeom>
        </p:spPr>
      </p:pic>
    </p:spTree>
    <p:extLst>
      <p:ext uri="{BB962C8B-B14F-4D97-AF65-F5344CB8AC3E}">
        <p14:creationId xmlns:p14="http://schemas.microsoft.com/office/powerpoint/2010/main" val="27960863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40DC026F-444B-46C9-BCBE-329183BF5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2FDDDE-D958-8C6F-2CCD-0169F0BCE966}"/>
              </a:ext>
            </a:extLst>
          </p:cNvPr>
          <p:cNvSpPr>
            <a:spLocks noGrp="1"/>
          </p:cNvSpPr>
          <p:nvPr>
            <p:ph type="title"/>
          </p:nvPr>
        </p:nvSpPr>
        <p:spPr>
          <a:xfrm>
            <a:off x="1088136" y="1088136"/>
            <a:ext cx="10270671" cy="1188720"/>
          </a:xfrm>
        </p:spPr>
        <p:txBody>
          <a:bodyPr>
            <a:normAutofit/>
          </a:bodyPr>
          <a:lstStyle/>
          <a:p>
            <a:r>
              <a:rPr lang="en-US" sz="4000" dirty="0"/>
              <a:t>Ability to Harm the Public</a:t>
            </a:r>
          </a:p>
        </p:txBody>
      </p:sp>
      <p:cxnSp>
        <p:nvCxnSpPr>
          <p:cNvPr id="1043" name="Straight Connector 104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5BF481D-8165-A360-BB8F-6118CF6B7C80}"/>
              </a:ext>
            </a:extLst>
          </p:cNvPr>
          <p:cNvSpPr>
            <a:spLocks noGrp="1"/>
          </p:cNvSpPr>
          <p:nvPr>
            <p:ph idx="1"/>
          </p:nvPr>
        </p:nvSpPr>
        <p:spPr>
          <a:xfrm>
            <a:off x="1096684" y="2593181"/>
            <a:ext cx="4868347" cy="3693319"/>
          </a:xfrm>
        </p:spPr>
        <p:txBody>
          <a:bodyPr>
            <a:normAutofit/>
          </a:bodyPr>
          <a:lstStyle/>
          <a:p>
            <a:r>
              <a:rPr lang="en-US" dirty="0"/>
              <a:t>The computing “profession” may not be as well developed as the medical or legal professions, but in one key respect – the ability to harm members of the public – those who design, implement, and maintain computer hardware and software systems sometimes hold responsibilities similar to those held by members of mature professions</a:t>
            </a:r>
          </a:p>
        </p:txBody>
      </p:sp>
      <p:pic>
        <p:nvPicPr>
          <p:cNvPr id="1026" name="Picture 2" descr="Boeing's New 737 MAX is here: 5 Things You should know — Avgeekery.com ...">
            <a:extLst>
              <a:ext uri="{FF2B5EF4-FFF2-40B4-BE49-F238E27FC236}">
                <a16:creationId xmlns:a16="http://schemas.microsoft.com/office/drawing/2014/main" id="{3DBDBF0C-AE3B-7D76-269C-CE94D92C07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909" r="906" b="-2"/>
          <a:stretch/>
        </p:blipFill>
        <p:spPr bwMode="auto">
          <a:xfrm>
            <a:off x="6705600" y="2657475"/>
            <a:ext cx="5486401" cy="4200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02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882609-11C0-225A-F6BF-C03B114D9B87}"/>
              </a:ext>
            </a:extLst>
          </p:cNvPr>
          <p:cNvSpPr>
            <a:spLocks noGrp="1"/>
          </p:cNvSpPr>
          <p:nvPr>
            <p:ph type="title"/>
          </p:nvPr>
        </p:nvSpPr>
        <p:spPr>
          <a:xfrm>
            <a:off x="1091204" y="1095715"/>
            <a:ext cx="6330676" cy="2049620"/>
          </a:xfrm>
        </p:spPr>
        <p:txBody>
          <a:bodyPr>
            <a:noAutofit/>
          </a:bodyPr>
          <a:lstStyle/>
          <a:p>
            <a:r>
              <a:rPr lang="en-US" sz="4800" dirty="0"/>
              <a:t>ACM Code of Ethics and Professional Conduct</a:t>
            </a:r>
          </a:p>
        </p:txBody>
      </p:sp>
      <p:cxnSp>
        <p:nvCxnSpPr>
          <p:cNvPr id="25" name="Straight Connector 2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24"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Content Placeholder 13">
            <a:extLst>
              <a:ext uri="{FF2B5EF4-FFF2-40B4-BE49-F238E27FC236}">
                <a16:creationId xmlns:a16="http://schemas.microsoft.com/office/drawing/2014/main" id="{83B36E62-F6F9-C76A-06C5-042EA8AE6FA6}"/>
              </a:ext>
            </a:extLst>
          </p:cNvPr>
          <p:cNvSpPr>
            <a:spLocks noGrp="1"/>
          </p:cNvSpPr>
          <p:nvPr>
            <p:ph idx="1"/>
          </p:nvPr>
        </p:nvSpPr>
        <p:spPr>
          <a:xfrm>
            <a:off x="1120232" y="3180522"/>
            <a:ext cx="5694225" cy="3105978"/>
          </a:xfrm>
        </p:spPr>
        <p:txBody>
          <a:bodyPr>
            <a:normAutofit fontScale="92500" lnSpcReduction="20000"/>
          </a:bodyPr>
          <a:lstStyle/>
          <a:p>
            <a:r>
              <a:rPr lang="en-US" dirty="0"/>
              <a:t>Association for Computer Machinery (ACM): Founded in 1947 and considered the world’s largest scientific and educational computing society.</a:t>
            </a:r>
          </a:p>
          <a:p>
            <a:r>
              <a:rPr lang="en-US" dirty="0"/>
              <a:t>ACM is a non-profit professional membership group that is an umbrella organization for academic and scholarly interests in computer science and informatics.</a:t>
            </a:r>
          </a:p>
          <a:p>
            <a:r>
              <a:rPr lang="en-US" dirty="0"/>
              <a:t>The ACM adopted a Code of Ethics and Professional Conduct</a:t>
            </a:r>
            <a:r>
              <a:rPr lang="ar-BH" dirty="0"/>
              <a:t> </a:t>
            </a:r>
            <a:r>
              <a:rPr lang="en-US" dirty="0"/>
              <a:t>in 2018</a:t>
            </a:r>
          </a:p>
        </p:txBody>
      </p:sp>
      <p:pic>
        <p:nvPicPr>
          <p:cNvPr id="10" name="Content Placeholder 9" descr="A blue and white logo&#10;&#10;Description automatically generated">
            <a:extLst>
              <a:ext uri="{FF2B5EF4-FFF2-40B4-BE49-F238E27FC236}">
                <a16:creationId xmlns:a16="http://schemas.microsoft.com/office/drawing/2014/main" id="{4710257F-449C-DDB5-130D-9FB3925897D6}"/>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656" b="91875" l="10000" r="90000">
                        <a14:foregroundMark x1="50543" y1="91875" x2="50000" y2="83594"/>
                        <a14:foregroundMark x1="50870" y1="7656" x2="50543" y2="15625"/>
                      </a14:backgroundRemoval>
                    </a14:imgEffect>
                  </a14:imgLayer>
                </a14:imgProps>
              </a:ext>
              <a:ext uri="{28A0092B-C50C-407E-A947-70E740481C1C}">
                <a14:useLocalDpi xmlns:a14="http://schemas.microsoft.com/office/drawing/2010/main" val="0"/>
              </a:ext>
            </a:extLst>
          </a:blip>
          <a:stretch>
            <a:fillRect/>
          </a:stretch>
        </p:blipFill>
        <p:spPr>
          <a:xfrm>
            <a:off x="7837714" y="2182627"/>
            <a:ext cx="3583321" cy="2492745"/>
          </a:xfrm>
          <a:prstGeom prst="rect">
            <a:avLst/>
          </a:prstGeom>
        </p:spPr>
      </p:pic>
    </p:spTree>
    <p:extLst>
      <p:ext uri="{BB962C8B-B14F-4D97-AF65-F5344CB8AC3E}">
        <p14:creationId xmlns:p14="http://schemas.microsoft.com/office/powerpoint/2010/main" val="3175057112"/>
      </p:ext>
    </p:extLst>
  </p:cSld>
  <p:clrMapOvr>
    <a:masterClrMapping/>
  </p:clrMapOvr>
  <mc:AlternateContent xmlns:mc="http://schemas.openxmlformats.org/markup-compatibility/2006" xmlns:p14="http://schemas.microsoft.com/office/powerpoint/2010/main">
    <mc:Choice Requires="p14">
      <p:transition spd="slow" p14:dur="2000" advTm="145014"/>
    </mc:Choice>
    <mc:Fallback xmlns="">
      <p:transition spd="slow" advTm="14501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9B4B7E-952C-777F-3C62-408DC4F0F00B}"/>
              </a:ext>
            </a:extLst>
          </p:cNvPr>
          <p:cNvSpPr>
            <a:spLocks noGrp="1"/>
          </p:cNvSpPr>
          <p:nvPr>
            <p:ph type="title"/>
          </p:nvPr>
        </p:nvSpPr>
        <p:spPr>
          <a:xfrm>
            <a:off x="1091204" y="1095715"/>
            <a:ext cx="5723253" cy="2049620"/>
          </a:xfrm>
        </p:spPr>
        <p:txBody>
          <a:bodyPr>
            <a:normAutofit/>
          </a:bodyPr>
          <a:lstStyle/>
          <a:p>
            <a:r>
              <a:rPr lang="en-US" sz="4200" dirty="0"/>
              <a:t>ACM Code of Ethics and Professional Conduct</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24"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6710DD-7B6E-108D-9271-78EADDA5C506}"/>
              </a:ext>
            </a:extLst>
          </p:cNvPr>
          <p:cNvSpPr>
            <a:spLocks noGrp="1"/>
          </p:cNvSpPr>
          <p:nvPr>
            <p:ph idx="1"/>
          </p:nvPr>
        </p:nvSpPr>
        <p:spPr>
          <a:xfrm>
            <a:off x="1120232" y="3180522"/>
            <a:ext cx="5694225" cy="3105978"/>
          </a:xfrm>
        </p:spPr>
        <p:txBody>
          <a:bodyPr>
            <a:normAutofit/>
          </a:bodyPr>
          <a:lstStyle/>
          <a:p>
            <a:r>
              <a:rPr lang="en-US" dirty="0"/>
              <a:t>The Code of Ethics and Professional Conducts was designed to inspire and guide the ethical conduct of all computing professionals, including current and aspiring practitioners, instructors, students, influencers, and anyone who uses computer technology in an impactful way.</a:t>
            </a:r>
          </a:p>
          <a:p>
            <a:r>
              <a:rPr lang="en-US" dirty="0"/>
              <a:t>The code serves as a basis of remediation when violations occur</a:t>
            </a:r>
          </a:p>
        </p:txBody>
      </p:sp>
      <p:pic>
        <p:nvPicPr>
          <p:cNvPr id="4" name="Content Placeholder 9" descr="A blue and white logo&#10;&#10;Description automatically generated">
            <a:extLst>
              <a:ext uri="{FF2B5EF4-FFF2-40B4-BE49-F238E27FC236}">
                <a16:creationId xmlns:a16="http://schemas.microsoft.com/office/drawing/2014/main" id="{32A397D1-E715-64A3-C856-4EAC94BA266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656" b="91875" l="10000" r="90000">
                        <a14:foregroundMark x1="50543" y1="91875" x2="50000" y2="83594"/>
                        <a14:foregroundMark x1="50870" y1="7656" x2="50543" y2="15625"/>
                      </a14:backgroundRemoval>
                    </a14:imgEffect>
                  </a14:imgLayer>
                </a14:imgProps>
              </a:ext>
              <a:ext uri="{28A0092B-C50C-407E-A947-70E740481C1C}">
                <a14:useLocalDpi xmlns:a14="http://schemas.microsoft.com/office/drawing/2010/main" val="0"/>
              </a:ext>
            </a:extLst>
          </a:blip>
          <a:stretch>
            <a:fillRect/>
          </a:stretch>
        </p:blipFill>
        <p:spPr>
          <a:xfrm>
            <a:off x="7837714" y="2182627"/>
            <a:ext cx="3583321" cy="2492745"/>
          </a:xfrm>
          <a:prstGeom prst="rect">
            <a:avLst/>
          </a:prstGeom>
        </p:spPr>
      </p:pic>
    </p:spTree>
    <p:extLst>
      <p:ext uri="{BB962C8B-B14F-4D97-AF65-F5344CB8AC3E}">
        <p14:creationId xmlns:p14="http://schemas.microsoft.com/office/powerpoint/2010/main" val="3315132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1B1731-39D9-4145-8343-C209E1F09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9B4B7E-952C-777F-3C62-408DC4F0F00B}"/>
              </a:ext>
            </a:extLst>
          </p:cNvPr>
          <p:cNvSpPr>
            <a:spLocks noGrp="1"/>
          </p:cNvSpPr>
          <p:nvPr>
            <p:ph type="title"/>
          </p:nvPr>
        </p:nvSpPr>
        <p:spPr>
          <a:xfrm>
            <a:off x="1091204" y="1095715"/>
            <a:ext cx="5723253" cy="2049620"/>
          </a:xfrm>
        </p:spPr>
        <p:txBody>
          <a:bodyPr>
            <a:normAutofit/>
          </a:bodyPr>
          <a:lstStyle/>
          <a:p>
            <a:r>
              <a:rPr lang="en-US" sz="4200" dirty="0"/>
              <a:t>ACM Code of Ethics and Professional Conduct</a:t>
            </a:r>
          </a:p>
        </p:txBody>
      </p:sp>
      <p:cxnSp>
        <p:nvCxnSpPr>
          <p:cNvPr id="11" name="Straight Connector 10">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24" y="1186683"/>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66710DD-7B6E-108D-9271-78EADDA5C506}"/>
              </a:ext>
            </a:extLst>
          </p:cNvPr>
          <p:cNvSpPr>
            <a:spLocks noGrp="1"/>
          </p:cNvSpPr>
          <p:nvPr>
            <p:ph idx="1"/>
          </p:nvPr>
        </p:nvSpPr>
        <p:spPr>
          <a:xfrm>
            <a:off x="1120232" y="3180522"/>
            <a:ext cx="5694225" cy="3105978"/>
          </a:xfrm>
        </p:spPr>
        <p:txBody>
          <a:bodyPr>
            <a:normAutofit/>
          </a:bodyPr>
          <a:lstStyle/>
          <a:p>
            <a:r>
              <a:rPr lang="en-US" dirty="0"/>
              <a:t>The Code of Ethics consists of four sections:</a:t>
            </a:r>
          </a:p>
          <a:p>
            <a:pPr marL="342900" indent="-342900">
              <a:buFont typeface="+mj-lt"/>
              <a:buAutoNum type="arabicPeriod"/>
            </a:pPr>
            <a:r>
              <a:rPr lang="en-US" dirty="0"/>
              <a:t>Section 1: General Ethical Principles</a:t>
            </a:r>
          </a:p>
          <a:p>
            <a:pPr marL="342900" indent="-342900">
              <a:buFont typeface="+mj-lt"/>
              <a:buAutoNum type="arabicPeriod"/>
            </a:pPr>
            <a:r>
              <a:rPr lang="en-US" dirty="0"/>
              <a:t>Section 2: Professional Responsibility</a:t>
            </a:r>
          </a:p>
          <a:p>
            <a:pPr marL="342900" indent="-342900">
              <a:buFont typeface="+mj-lt"/>
              <a:buAutoNum type="arabicPeriod"/>
            </a:pPr>
            <a:r>
              <a:rPr lang="en-US" dirty="0"/>
              <a:t>Section 3: Professional Leadership Principles</a:t>
            </a:r>
          </a:p>
          <a:p>
            <a:pPr marL="342900" indent="-342900">
              <a:buFont typeface="+mj-lt"/>
              <a:buAutoNum type="arabicPeriod"/>
            </a:pPr>
            <a:r>
              <a:rPr lang="en-US" dirty="0"/>
              <a:t>Section 4: Compliance With The Code</a:t>
            </a:r>
          </a:p>
        </p:txBody>
      </p:sp>
      <p:pic>
        <p:nvPicPr>
          <p:cNvPr id="4" name="Content Placeholder 9" descr="A blue and white logo&#10;&#10;Description automatically generated">
            <a:extLst>
              <a:ext uri="{FF2B5EF4-FFF2-40B4-BE49-F238E27FC236}">
                <a16:creationId xmlns:a16="http://schemas.microsoft.com/office/drawing/2014/main" id="{32A397D1-E715-64A3-C856-4EAC94BA266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7656" b="91875" l="10000" r="90000">
                        <a14:foregroundMark x1="50543" y1="91875" x2="50000" y2="83594"/>
                        <a14:foregroundMark x1="50870" y1="7656" x2="50543" y2="15625"/>
                      </a14:backgroundRemoval>
                    </a14:imgEffect>
                  </a14:imgLayer>
                </a14:imgProps>
              </a:ext>
              <a:ext uri="{28A0092B-C50C-407E-A947-70E740481C1C}">
                <a14:useLocalDpi xmlns:a14="http://schemas.microsoft.com/office/drawing/2010/main" val="0"/>
              </a:ext>
            </a:extLst>
          </a:blip>
          <a:stretch>
            <a:fillRect/>
          </a:stretch>
        </p:blipFill>
        <p:spPr>
          <a:xfrm>
            <a:off x="7837714" y="2182627"/>
            <a:ext cx="3583321" cy="2492745"/>
          </a:xfrm>
          <a:prstGeom prst="rect">
            <a:avLst/>
          </a:prstGeom>
        </p:spPr>
      </p:pic>
    </p:spTree>
    <p:extLst>
      <p:ext uri="{BB962C8B-B14F-4D97-AF65-F5344CB8AC3E}">
        <p14:creationId xmlns:p14="http://schemas.microsoft.com/office/powerpoint/2010/main" val="3676984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BCC8E-C938-F378-8EB9-A64C627DA30B}"/>
              </a:ext>
            </a:extLst>
          </p:cNvPr>
          <p:cNvSpPr>
            <a:spLocks noGrp="1"/>
          </p:cNvSpPr>
          <p:nvPr>
            <p:ph type="title"/>
          </p:nvPr>
        </p:nvSpPr>
        <p:spPr/>
        <p:txBody>
          <a:bodyPr/>
          <a:lstStyle/>
          <a:p>
            <a:r>
              <a:rPr lang="en-US" dirty="0"/>
              <a:t>Section 1: General Ethical Principles</a:t>
            </a:r>
          </a:p>
        </p:txBody>
      </p:sp>
      <p:sp>
        <p:nvSpPr>
          <p:cNvPr id="3" name="Content Placeholder 2">
            <a:extLst>
              <a:ext uri="{FF2B5EF4-FFF2-40B4-BE49-F238E27FC236}">
                <a16:creationId xmlns:a16="http://schemas.microsoft.com/office/drawing/2014/main" id="{C8A64A97-1A42-8B20-63C9-573794A3F699}"/>
              </a:ext>
            </a:extLst>
          </p:cNvPr>
          <p:cNvSpPr>
            <a:spLocks noGrp="1"/>
          </p:cNvSpPr>
          <p:nvPr>
            <p:ph idx="1"/>
          </p:nvPr>
        </p:nvSpPr>
        <p:spPr/>
        <p:txBody>
          <a:bodyPr>
            <a:normAutofit lnSpcReduction="10000"/>
          </a:bodyPr>
          <a:lstStyle/>
          <a:p>
            <a:pPr marL="342900" indent="-342900">
              <a:buFont typeface="+mj-lt"/>
              <a:buAutoNum type="arabicPeriod"/>
            </a:pPr>
            <a:r>
              <a:rPr lang="en-US" dirty="0"/>
              <a:t>Contribute to society and to human well-being, acknowledging that all people are stakeholders in computing.</a:t>
            </a:r>
          </a:p>
          <a:p>
            <a:pPr marL="342900" indent="-342900">
              <a:buFont typeface="+mj-lt"/>
              <a:buAutoNum type="arabicPeriod"/>
            </a:pPr>
            <a:r>
              <a:rPr lang="en-US" dirty="0"/>
              <a:t>Avoid harm</a:t>
            </a:r>
          </a:p>
          <a:p>
            <a:pPr marL="342900" indent="-342900">
              <a:buFont typeface="+mj-lt"/>
              <a:buAutoNum type="arabicPeriod"/>
            </a:pPr>
            <a:r>
              <a:rPr lang="en-US" dirty="0"/>
              <a:t>Be honest and trustworthy</a:t>
            </a:r>
          </a:p>
          <a:p>
            <a:pPr marL="342900" indent="-342900">
              <a:buFont typeface="+mj-lt"/>
              <a:buAutoNum type="arabicPeriod"/>
            </a:pPr>
            <a:r>
              <a:rPr lang="en-US" dirty="0"/>
              <a:t>Be fair and take action not to discriminate</a:t>
            </a:r>
          </a:p>
          <a:p>
            <a:pPr marL="342900" indent="-342900">
              <a:buFont typeface="+mj-lt"/>
              <a:buAutoNum type="arabicPeriod"/>
            </a:pPr>
            <a:r>
              <a:rPr lang="en-US" dirty="0"/>
              <a:t>Respect the work required to produce new ideas, inventions, creative works, and computing artefacts</a:t>
            </a:r>
          </a:p>
          <a:p>
            <a:pPr marL="342900" indent="-342900">
              <a:buFont typeface="+mj-lt"/>
              <a:buAutoNum type="arabicPeriod"/>
            </a:pPr>
            <a:r>
              <a:rPr lang="en-US" dirty="0"/>
              <a:t>Respect privacy</a:t>
            </a:r>
          </a:p>
          <a:p>
            <a:pPr marL="342900" indent="-342900">
              <a:buFont typeface="+mj-lt"/>
              <a:buAutoNum type="arabicPeriod"/>
            </a:pPr>
            <a:r>
              <a:rPr lang="en-US" dirty="0" err="1"/>
              <a:t>Honour</a:t>
            </a:r>
            <a:r>
              <a:rPr lang="en-US" dirty="0"/>
              <a:t> confidentiality</a:t>
            </a:r>
          </a:p>
        </p:txBody>
      </p:sp>
    </p:spTree>
    <p:extLst>
      <p:ext uri="{BB962C8B-B14F-4D97-AF65-F5344CB8AC3E}">
        <p14:creationId xmlns:p14="http://schemas.microsoft.com/office/powerpoint/2010/main" val="3975378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46CB-9EA8-E83C-4472-CB469195C2A9}"/>
              </a:ext>
            </a:extLst>
          </p:cNvPr>
          <p:cNvSpPr>
            <a:spLocks noGrp="1"/>
          </p:cNvSpPr>
          <p:nvPr>
            <p:ph type="title"/>
          </p:nvPr>
        </p:nvSpPr>
        <p:spPr/>
        <p:txBody>
          <a:bodyPr/>
          <a:lstStyle/>
          <a:p>
            <a:r>
              <a:rPr lang="en-US" dirty="0"/>
              <a:t>Section 2: Professional Responsibilities</a:t>
            </a:r>
          </a:p>
        </p:txBody>
      </p:sp>
      <p:sp>
        <p:nvSpPr>
          <p:cNvPr id="3" name="Content Placeholder 2">
            <a:extLst>
              <a:ext uri="{FF2B5EF4-FFF2-40B4-BE49-F238E27FC236}">
                <a16:creationId xmlns:a16="http://schemas.microsoft.com/office/drawing/2014/main" id="{9103E927-8849-34B5-81BC-BDBE328E796B}"/>
              </a:ext>
            </a:extLst>
          </p:cNvPr>
          <p:cNvSpPr>
            <a:spLocks noGrp="1"/>
          </p:cNvSpPr>
          <p:nvPr>
            <p:ph idx="1"/>
          </p:nvPr>
        </p:nvSpPr>
        <p:spPr/>
        <p:txBody>
          <a:bodyPr>
            <a:normAutofit/>
          </a:bodyPr>
          <a:lstStyle/>
          <a:p>
            <a:pPr marL="342900" indent="-342900">
              <a:buFont typeface="+mj-lt"/>
              <a:buAutoNum type="arabicPeriod"/>
            </a:pPr>
            <a:r>
              <a:rPr lang="en-US" dirty="0"/>
              <a:t>Strive to achieve high quality in both the processes and products of professional work</a:t>
            </a:r>
          </a:p>
          <a:p>
            <a:pPr marL="342900" indent="-342900">
              <a:buFont typeface="+mj-lt"/>
              <a:buAutoNum type="arabicPeriod"/>
            </a:pPr>
            <a:r>
              <a:rPr lang="en-US" dirty="0"/>
              <a:t>Maintain high standards of professional competence, conduct, and ethical practice</a:t>
            </a:r>
          </a:p>
          <a:p>
            <a:pPr marL="342900" indent="-342900">
              <a:buFont typeface="+mj-lt"/>
              <a:buAutoNum type="arabicPeriod"/>
            </a:pPr>
            <a:r>
              <a:rPr lang="en-US" dirty="0"/>
              <a:t>Know and respect existing rules pertaining to professional work</a:t>
            </a:r>
          </a:p>
          <a:p>
            <a:pPr marL="342900" indent="-342900">
              <a:buFont typeface="+mj-lt"/>
              <a:buAutoNum type="arabicPeriod"/>
            </a:pPr>
            <a:r>
              <a:rPr lang="en-US" dirty="0"/>
              <a:t>Accept and provide appropriate professional review</a:t>
            </a:r>
          </a:p>
        </p:txBody>
      </p:sp>
    </p:spTree>
    <p:extLst>
      <p:ext uri="{BB962C8B-B14F-4D97-AF65-F5344CB8AC3E}">
        <p14:creationId xmlns:p14="http://schemas.microsoft.com/office/powerpoint/2010/main" val="2222551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746CB-9EA8-E83C-4472-CB469195C2A9}"/>
              </a:ext>
            </a:extLst>
          </p:cNvPr>
          <p:cNvSpPr>
            <a:spLocks noGrp="1"/>
          </p:cNvSpPr>
          <p:nvPr>
            <p:ph type="title"/>
          </p:nvPr>
        </p:nvSpPr>
        <p:spPr/>
        <p:txBody>
          <a:bodyPr/>
          <a:lstStyle/>
          <a:p>
            <a:r>
              <a:rPr lang="en-US" dirty="0"/>
              <a:t>Section 2: Professional Responsibilities</a:t>
            </a:r>
          </a:p>
        </p:txBody>
      </p:sp>
      <p:sp>
        <p:nvSpPr>
          <p:cNvPr id="3" name="Content Placeholder 2">
            <a:extLst>
              <a:ext uri="{FF2B5EF4-FFF2-40B4-BE49-F238E27FC236}">
                <a16:creationId xmlns:a16="http://schemas.microsoft.com/office/drawing/2014/main" id="{9103E927-8849-34B5-81BC-BDBE328E796B}"/>
              </a:ext>
            </a:extLst>
          </p:cNvPr>
          <p:cNvSpPr>
            <a:spLocks noGrp="1"/>
          </p:cNvSpPr>
          <p:nvPr>
            <p:ph idx="1"/>
          </p:nvPr>
        </p:nvSpPr>
        <p:spPr/>
        <p:txBody>
          <a:bodyPr>
            <a:normAutofit/>
          </a:bodyPr>
          <a:lstStyle/>
          <a:p>
            <a:pPr marL="342900" indent="-342900">
              <a:buFont typeface="+mj-lt"/>
              <a:buAutoNum type="arabicPeriod" startAt="5"/>
            </a:pPr>
            <a:r>
              <a:rPr lang="en-US" dirty="0"/>
              <a:t>Give comprehensive and thorough evaluations of computer systems and their impacts, including analysis of possible risks</a:t>
            </a:r>
          </a:p>
          <a:p>
            <a:pPr marL="342900" indent="-342900">
              <a:buFont typeface="+mj-lt"/>
              <a:buAutoNum type="arabicPeriod" startAt="5"/>
            </a:pPr>
            <a:r>
              <a:rPr lang="en-US" dirty="0"/>
              <a:t>Perform work only in areas of competence</a:t>
            </a:r>
          </a:p>
          <a:p>
            <a:pPr marL="342900" indent="-342900">
              <a:buFont typeface="+mj-lt"/>
              <a:buAutoNum type="arabicPeriod" startAt="5"/>
            </a:pPr>
            <a:r>
              <a:rPr lang="en-US" dirty="0"/>
              <a:t>Foster public awareness and understanding of computing, related technologies, and the consequences</a:t>
            </a:r>
          </a:p>
          <a:p>
            <a:pPr marL="342900" indent="-342900">
              <a:buFont typeface="+mj-lt"/>
              <a:buAutoNum type="arabicPeriod" startAt="5"/>
            </a:pPr>
            <a:r>
              <a:rPr lang="en-US" dirty="0"/>
              <a:t>Access computing and communication resources only when authorized or when compelled by the public good</a:t>
            </a:r>
          </a:p>
          <a:p>
            <a:pPr marL="342900" indent="-342900">
              <a:buFont typeface="+mj-lt"/>
              <a:buAutoNum type="arabicPeriod" startAt="5"/>
            </a:pPr>
            <a:r>
              <a:rPr lang="en-US" dirty="0"/>
              <a:t>Design and implement systems that are robustly and usably secure</a:t>
            </a:r>
          </a:p>
        </p:txBody>
      </p:sp>
    </p:spTree>
    <p:extLst>
      <p:ext uri="{BB962C8B-B14F-4D97-AF65-F5344CB8AC3E}">
        <p14:creationId xmlns:p14="http://schemas.microsoft.com/office/powerpoint/2010/main" val="1764159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8DBC-D3C3-59C8-37B6-95F6E64BC7FF}"/>
              </a:ext>
            </a:extLst>
          </p:cNvPr>
          <p:cNvSpPr>
            <a:spLocks noGrp="1"/>
          </p:cNvSpPr>
          <p:nvPr>
            <p:ph type="title"/>
          </p:nvPr>
        </p:nvSpPr>
        <p:spPr/>
        <p:txBody>
          <a:bodyPr/>
          <a:lstStyle/>
          <a:p>
            <a:r>
              <a:rPr lang="en-US" dirty="0"/>
              <a:t>Section 3: Professional Leadership Principles</a:t>
            </a:r>
          </a:p>
        </p:txBody>
      </p:sp>
      <p:sp>
        <p:nvSpPr>
          <p:cNvPr id="3" name="Content Placeholder 2">
            <a:extLst>
              <a:ext uri="{FF2B5EF4-FFF2-40B4-BE49-F238E27FC236}">
                <a16:creationId xmlns:a16="http://schemas.microsoft.com/office/drawing/2014/main" id="{F97E9B4F-E10A-A327-2E26-5E22D8B98957}"/>
              </a:ext>
            </a:extLst>
          </p:cNvPr>
          <p:cNvSpPr>
            <a:spLocks noGrp="1"/>
          </p:cNvSpPr>
          <p:nvPr>
            <p:ph idx="1"/>
          </p:nvPr>
        </p:nvSpPr>
        <p:spPr/>
        <p:txBody>
          <a:bodyPr>
            <a:normAutofit/>
          </a:bodyPr>
          <a:lstStyle/>
          <a:p>
            <a:pPr marL="342900" indent="-342900">
              <a:buFont typeface="+mj-lt"/>
              <a:buAutoNum type="arabicPeriod"/>
            </a:pPr>
            <a:r>
              <a:rPr lang="en-US" dirty="0"/>
              <a:t>Ensure that the public good is the central concern during all professional computing work</a:t>
            </a:r>
          </a:p>
          <a:p>
            <a:pPr marL="342900" indent="-342900">
              <a:buFont typeface="+mj-lt"/>
              <a:buAutoNum type="arabicPeriod"/>
            </a:pPr>
            <a:r>
              <a:rPr lang="en-US" dirty="0"/>
              <a:t>Articulate, encourage acceptance of, and evaluate fulfilment of social responsibilities by members of the </a:t>
            </a:r>
            <a:r>
              <a:rPr lang="en-US" dirty="0" err="1"/>
              <a:t>organisation</a:t>
            </a:r>
            <a:r>
              <a:rPr lang="en-US" dirty="0"/>
              <a:t> or group</a:t>
            </a:r>
          </a:p>
          <a:p>
            <a:pPr marL="342900" indent="-342900">
              <a:buFont typeface="+mj-lt"/>
              <a:buAutoNum type="arabicPeriod"/>
            </a:pPr>
            <a:r>
              <a:rPr lang="en-US" dirty="0"/>
              <a:t>Manage personnel and resources to enhance the quality of working life</a:t>
            </a:r>
          </a:p>
        </p:txBody>
      </p:sp>
    </p:spTree>
    <p:extLst>
      <p:ext uri="{BB962C8B-B14F-4D97-AF65-F5344CB8AC3E}">
        <p14:creationId xmlns:p14="http://schemas.microsoft.com/office/powerpoint/2010/main" val="167938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48DBC-D3C3-59C8-37B6-95F6E64BC7FF}"/>
              </a:ext>
            </a:extLst>
          </p:cNvPr>
          <p:cNvSpPr>
            <a:spLocks noGrp="1"/>
          </p:cNvSpPr>
          <p:nvPr>
            <p:ph type="title"/>
          </p:nvPr>
        </p:nvSpPr>
        <p:spPr/>
        <p:txBody>
          <a:bodyPr/>
          <a:lstStyle/>
          <a:p>
            <a:r>
              <a:rPr lang="en-US" dirty="0"/>
              <a:t>Section 3: Professional Leadership Principles</a:t>
            </a:r>
          </a:p>
        </p:txBody>
      </p:sp>
      <p:sp>
        <p:nvSpPr>
          <p:cNvPr id="3" name="Content Placeholder 2">
            <a:extLst>
              <a:ext uri="{FF2B5EF4-FFF2-40B4-BE49-F238E27FC236}">
                <a16:creationId xmlns:a16="http://schemas.microsoft.com/office/drawing/2014/main" id="{F97E9B4F-E10A-A327-2E26-5E22D8B98957}"/>
              </a:ext>
            </a:extLst>
          </p:cNvPr>
          <p:cNvSpPr>
            <a:spLocks noGrp="1"/>
          </p:cNvSpPr>
          <p:nvPr>
            <p:ph idx="1"/>
          </p:nvPr>
        </p:nvSpPr>
        <p:spPr/>
        <p:txBody>
          <a:bodyPr>
            <a:normAutofit/>
          </a:bodyPr>
          <a:lstStyle/>
          <a:p>
            <a:pPr marL="342900" indent="-342900">
              <a:buFont typeface="+mj-lt"/>
              <a:buAutoNum type="arabicPeriod" startAt="4"/>
            </a:pPr>
            <a:r>
              <a:rPr lang="en-US" dirty="0"/>
              <a:t>Articulate, apply, and support policies and processes that reflect the principles of the Code</a:t>
            </a:r>
          </a:p>
          <a:p>
            <a:pPr marL="342900" indent="-342900">
              <a:buFont typeface="+mj-lt"/>
              <a:buAutoNum type="arabicPeriod" startAt="4"/>
            </a:pPr>
            <a:r>
              <a:rPr lang="en-US" dirty="0"/>
              <a:t>Create opportunities for members of the </a:t>
            </a:r>
            <a:r>
              <a:rPr lang="en-US" dirty="0" err="1"/>
              <a:t>organisation</a:t>
            </a:r>
            <a:r>
              <a:rPr lang="en-US" dirty="0"/>
              <a:t> or group to grow as professionals</a:t>
            </a:r>
          </a:p>
          <a:p>
            <a:pPr marL="342900" indent="-342900">
              <a:buFont typeface="+mj-lt"/>
              <a:buAutoNum type="arabicPeriod" startAt="4"/>
            </a:pPr>
            <a:r>
              <a:rPr lang="en-US" dirty="0"/>
              <a:t>Use care when modifying or retiring systems</a:t>
            </a:r>
          </a:p>
          <a:p>
            <a:pPr marL="342900" indent="-342900">
              <a:buFont typeface="+mj-lt"/>
              <a:buAutoNum type="arabicPeriod" startAt="4"/>
            </a:pPr>
            <a:r>
              <a:rPr lang="en-US" dirty="0" err="1"/>
              <a:t>Recognise</a:t>
            </a:r>
            <a:r>
              <a:rPr lang="en-US" dirty="0"/>
              <a:t> and take special care of systems that become integrated into the infrastructure of society</a:t>
            </a:r>
          </a:p>
        </p:txBody>
      </p:sp>
    </p:spTree>
    <p:extLst>
      <p:ext uri="{BB962C8B-B14F-4D97-AF65-F5344CB8AC3E}">
        <p14:creationId xmlns:p14="http://schemas.microsoft.com/office/powerpoint/2010/main" val="18646019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28401-3BF3-8B7F-F750-F6DCD62CA4C5}"/>
              </a:ext>
            </a:extLst>
          </p:cNvPr>
          <p:cNvSpPr>
            <a:spLocks noGrp="1"/>
          </p:cNvSpPr>
          <p:nvPr>
            <p:ph type="title"/>
          </p:nvPr>
        </p:nvSpPr>
        <p:spPr/>
        <p:txBody>
          <a:bodyPr/>
          <a:lstStyle/>
          <a:p>
            <a:r>
              <a:rPr lang="en-US" dirty="0"/>
              <a:t>Section 4: Compliance with the Code</a:t>
            </a:r>
          </a:p>
        </p:txBody>
      </p:sp>
      <p:sp>
        <p:nvSpPr>
          <p:cNvPr id="3" name="Content Placeholder 2">
            <a:extLst>
              <a:ext uri="{FF2B5EF4-FFF2-40B4-BE49-F238E27FC236}">
                <a16:creationId xmlns:a16="http://schemas.microsoft.com/office/drawing/2014/main" id="{14D94F46-9502-41A6-B933-05939DA76D4F}"/>
              </a:ext>
            </a:extLst>
          </p:cNvPr>
          <p:cNvSpPr>
            <a:spLocks noGrp="1"/>
          </p:cNvSpPr>
          <p:nvPr>
            <p:ph idx="1"/>
          </p:nvPr>
        </p:nvSpPr>
        <p:spPr/>
        <p:txBody>
          <a:bodyPr/>
          <a:lstStyle/>
          <a:p>
            <a:pPr marL="342900" indent="-342900">
              <a:buFont typeface="+mj-lt"/>
              <a:buAutoNum type="arabicPeriod"/>
            </a:pPr>
            <a:r>
              <a:rPr lang="en-US" dirty="0"/>
              <a:t>Uphold, promote, and respect the principles of the code</a:t>
            </a:r>
          </a:p>
          <a:p>
            <a:pPr marL="342900" indent="-342900">
              <a:buFont typeface="+mj-lt"/>
              <a:buAutoNum type="arabicPeriod"/>
            </a:pPr>
            <a:r>
              <a:rPr lang="en-US" dirty="0"/>
              <a:t>Treat violations of the Code as inconsistent with membership in the ACM</a:t>
            </a:r>
          </a:p>
        </p:txBody>
      </p:sp>
    </p:spTree>
    <p:extLst>
      <p:ext uri="{BB962C8B-B14F-4D97-AF65-F5344CB8AC3E}">
        <p14:creationId xmlns:p14="http://schemas.microsoft.com/office/powerpoint/2010/main" val="844534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AF092-857C-4DA3-2F1A-6A4674EC3776}"/>
              </a:ext>
            </a:extLst>
          </p:cNvPr>
          <p:cNvSpPr>
            <a:spLocks noGrp="1"/>
          </p:cNvSpPr>
          <p:nvPr>
            <p:ph type="title"/>
          </p:nvPr>
        </p:nvSpPr>
        <p:spPr/>
        <p:txBody>
          <a:bodyPr/>
          <a:lstStyle/>
          <a:p>
            <a:r>
              <a:rPr lang="en-US" dirty="0"/>
              <a:t>Case Study: </a:t>
            </a:r>
            <a:r>
              <a:rPr lang="en-US" b="1" u="sng" dirty="0"/>
              <a:t>Malware Disruption</a:t>
            </a:r>
            <a:endParaRPr lang="en-US" dirty="0"/>
          </a:p>
        </p:txBody>
      </p:sp>
      <p:sp>
        <p:nvSpPr>
          <p:cNvPr id="3" name="Content Placeholder 2">
            <a:extLst>
              <a:ext uri="{FF2B5EF4-FFF2-40B4-BE49-F238E27FC236}">
                <a16:creationId xmlns:a16="http://schemas.microsoft.com/office/drawing/2014/main" id="{0C00957C-1FDE-7573-8972-79703F8976A3}"/>
              </a:ext>
            </a:extLst>
          </p:cNvPr>
          <p:cNvSpPr>
            <a:spLocks noGrp="1"/>
          </p:cNvSpPr>
          <p:nvPr>
            <p:ph idx="1"/>
          </p:nvPr>
        </p:nvSpPr>
        <p:spPr>
          <a:xfrm>
            <a:off x="1088136" y="1889760"/>
            <a:ext cx="10570464" cy="4632960"/>
          </a:xfrm>
        </p:spPr>
        <p:txBody>
          <a:bodyPr>
            <a:normAutofit fontScale="47500" lnSpcReduction="20000"/>
          </a:bodyPr>
          <a:lstStyle/>
          <a:p>
            <a:r>
              <a:rPr lang="en-US" sz="2900" dirty="0"/>
              <a:t>Rogue Services advertised its web hosting services as “cheap, guaranteed uptime, no matter what.” While some of Rogue’s clients were independent web-based retailers, the majority were focused on malware and spam. Several botnets used Rogue’s reliability guarantees to protect their command-and-control servers from take-down attempts. Spam and other fraudulent services leveraged Rogue for continuous delivery. Corrupted advertisements are often linked to code hosted on Rogue to exploit browser vulnerabilities to infect machines with ransomware.</a:t>
            </a:r>
          </a:p>
          <a:p>
            <a:r>
              <a:rPr lang="en-US" sz="2900" dirty="0"/>
              <a:t>Despite repeated requests from major ISPs and international organizations, Rogue refused to intervene with these services, citing their “no matter what” pledge to their customers. Furthermore, international pressure from other governments failed to induce national-level intervention, as Rogue was based in a country whose laws did not adequately proscribe such hosting activities.</a:t>
            </a:r>
          </a:p>
          <a:p>
            <a:r>
              <a:rPr lang="en-US" sz="2900" dirty="0"/>
              <a:t>Ultimately, Rogue was forcibly taken offline through a coordinated effort from multiple security vendors working with several government organizations. This effort consisted of a targeted worm that spread through Rogue’s network. This denial-of-service attack successfully took Rogue’s machines offline, destroying much of the data stored with the ISP in the process. All of Rogue’s clients were affected. No other ISPs reported any impact from the worm, as it included mechanisms to limit its spread. As a result of this action, spam and botnet traffic immediately dropped significantly. In addition, new infections of several forms of ransomware ceased.</a:t>
            </a:r>
          </a:p>
          <a:p>
            <a:endParaRPr lang="en-US" dirty="0"/>
          </a:p>
        </p:txBody>
      </p:sp>
    </p:spTree>
    <p:extLst>
      <p:ext uri="{BB962C8B-B14F-4D97-AF65-F5344CB8AC3E}">
        <p14:creationId xmlns:p14="http://schemas.microsoft.com/office/powerpoint/2010/main" val="3368016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56F8-A818-0859-9BE9-CC381C96F092}"/>
              </a:ext>
            </a:extLst>
          </p:cNvPr>
          <p:cNvSpPr>
            <a:spLocks noGrp="1"/>
          </p:cNvSpPr>
          <p:nvPr>
            <p:ph type="title"/>
          </p:nvPr>
        </p:nvSpPr>
        <p:spPr/>
        <p:txBody>
          <a:bodyPr/>
          <a:lstStyle/>
          <a:p>
            <a:r>
              <a:rPr lang="en-US" dirty="0"/>
              <a:t>Analysis: Malware Disruption</a:t>
            </a:r>
          </a:p>
        </p:txBody>
      </p:sp>
      <p:sp>
        <p:nvSpPr>
          <p:cNvPr id="3" name="Content Placeholder 2">
            <a:extLst>
              <a:ext uri="{FF2B5EF4-FFF2-40B4-BE49-F238E27FC236}">
                <a16:creationId xmlns:a16="http://schemas.microsoft.com/office/drawing/2014/main" id="{C6ACB501-A7C7-CB1F-EB49-E50F8089B584}"/>
              </a:ext>
            </a:extLst>
          </p:cNvPr>
          <p:cNvSpPr>
            <a:spLocks noGrp="1"/>
          </p:cNvSpPr>
          <p:nvPr>
            <p:ph idx="1"/>
          </p:nvPr>
        </p:nvSpPr>
        <p:spPr/>
        <p:txBody>
          <a:bodyPr>
            <a:normAutofit lnSpcReduction="10000"/>
          </a:bodyPr>
          <a:lstStyle/>
          <a:p>
            <a:r>
              <a:rPr lang="en-US" dirty="0"/>
              <a:t>Rogue violated the code by facilitating harm caused by their clients</a:t>
            </a:r>
          </a:p>
          <a:p>
            <a:pPr lvl="1"/>
            <a:r>
              <a:rPr lang="en-US" dirty="0"/>
              <a:t>1.1 Contribute to society and to human well-being, acknowledging that all people are stakeholders in computing</a:t>
            </a:r>
          </a:p>
          <a:p>
            <a:pPr lvl="1"/>
            <a:r>
              <a:rPr lang="en-US" dirty="0"/>
              <a:t>1.2  Avoid harm </a:t>
            </a:r>
          </a:p>
          <a:p>
            <a:r>
              <a:rPr lang="en-US" dirty="0"/>
              <a:t>Rogue was aware that their machines were used for unauthorized access to computing resources, in addition to not taking into account the public good, therefore violating:</a:t>
            </a:r>
          </a:p>
          <a:p>
            <a:pPr lvl="1"/>
            <a:r>
              <a:rPr lang="en-US" dirty="0"/>
              <a:t>2.8 Access computing and communication resources only when authorized or when compelled by the public good</a:t>
            </a:r>
          </a:p>
          <a:p>
            <a:pPr lvl="1"/>
            <a:r>
              <a:rPr lang="en-US" dirty="0"/>
              <a:t>3.1 Ensure that the public good is the central concern during all professional computing work</a:t>
            </a:r>
          </a:p>
          <a:p>
            <a:pPr lvl="1"/>
            <a:endParaRPr lang="en-US" dirty="0"/>
          </a:p>
        </p:txBody>
      </p:sp>
    </p:spTree>
    <p:extLst>
      <p:ext uri="{BB962C8B-B14F-4D97-AF65-F5344CB8AC3E}">
        <p14:creationId xmlns:p14="http://schemas.microsoft.com/office/powerpoint/2010/main" val="3463802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156F8-A818-0859-9BE9-CC381C96F092}"/>
              </a:ext>
            </a:extLst>
          </p:cNvPr>
          <p:cNvSpPr>
            <a:spLocks noGrp="1"/>
          </p:cNvSpPr>
          <p:nvPr>
            <p:ph type="title"/>
          </p:nvPr>
        </p:nvSpPr>
        <p:spPr/>
        <p:txBody>
          <a:bodyPr/>
          <a:lstStyle/>
          <a:p>
            <a:r>
              <a:rPr lang="en-US" dirty="0"/>
              <a:t>Analysis: Malware Disruption</a:t>
            </a:r>
          </a:p>
        </p:txBody>
      </p:sp>
      <p:sp>
        <p:nvSpPr>
          <p:cNvPr id="3" name="Content Placeholder 2">
            <a:extLst>
              <a:ext uri="{FF2B5EF4-FFF2-40B4-BE49-F238E27FC236}">
                <a16:creationId xmlns:a16="http://schemas.microsoft.com/office/drawing/2014/main" id="{C6ACB501-A7C7-CB1F-EB49-E50F8089B584}"/>
              </a:ext>
            </a:extLst>
          </p:cNvPr>
          <p:cNvSpPr>
            <a:spLocks noGrp="1"/>
          </p:cNvSpPr>
          <p:nvPr>
            <p:ph idx="1"/>
          </p:nvPr>
        </p:nvSpPr>
        <p:spPr/>
        <p:txBody>
          <a:bodyPr>
            <a:normAutofit/>
          </a:bodyPr>
          <a:lstStyle/>
          <a:p>
            <a:pPr lvl="1"/>
            <a:r>
              <a:rPr lang="en-US" dirty="0"/>
              <a:t>From the worm authors’ perspective, they violated:</a:t>
            </a:r>
          </a:p>
          <a:p>
            <a:pPr lvl="2"/>
            <a:r>
              <a:rPr lang="en-US" dirty="0"/>
              <a:t>1.2 Avoid Harm: The harm in this case is ethically justified, and they took steps to minimize the harm.  </a:t>
            </a:r>
          </a:p>
          <a:p>
            <a:pPr lvl="2"/>
            <a:r>
              <a:rPr lang="en-US" dirty="0"/>
              <a:t>However, Rogue’s retailer clients lost their data, meaning that the worm authors needed to provide a better solution that limited the unintentional harm</a:t>
            </a:r>
          </a:p>
          <a:p>
            <a:pPr lvl="1"/>
            <a:r>
              <a:rPr lang="en-US" dirty="0"/>
              <a:t>They adhered to the code in:</a:t>
            </a:r>
          </a:p>
          <a:p>
            <a:pPr lvl="2"/>
            <a:r>
              <a:rPr lang="en-US" dirty="0"/>
              <a:t>1.1 Contribute to society and to human well-being, acknowledging that all people are stakeholders in computing</a:t>
            </a:r>
          </a:p>
          <a:p>
            <a:pPr lvl="2"/>
            <a:r>
              <a:rPr lang="en-US" dirty="0"/>
              <a:t>2.8 Access computing and communication resources only when authorized or when compelled by the public good.</a:t>
            </a:r>
          </a:p>
          <a:p>
            <a:pPr lvl="2"/>
            <a:endParaRPr lang="en-US" dirty="0"/>
          </a:p>
        </p:txBody>
      </p:sp>
    </p:spTree>
    <p:extLst>
      <p:ext uri="{BB962C8B-B14F-4D97-AF65-F5344CB8AC3E}">
        <p14:creationId xmlns:p14="http://schemas.microsoft.com/office/powerpoint/2010/main" val="19517309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12145F0-5149-412D-9A3F-1E3051B39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156662-5DA4-06D9-60B1-90C7A52F7089}"/>
              </a:ext>
            </a:extLst>
          </p:cNvPr>
          <p:cNvSpPr>
            <a:spLocks noGrp="1"/>
          </p:cNvSpPr>
          <p:nvPr>
            <p:ph type="title"/>
          </p:nvPr>
        </p:nvSpPr>
        <p:spPr>
          <a:xfrm>
            <a:off x="1090940" y="1097279"/>
            <a:ext cx="10529560" cy="1225587"/>
          </a:xfrm>
        </p:spPr>
        <p:txBody>
          <a:bodyPr>
            <a:normAutofit/>
          </a:bodyPr>
          <a:lstStyle/>
          <a:p>
            <a:r>
              <a:rPr lang="en-US" sz="4000"/>
              <a:t>IEEE Code of Ethics</a:t>
            </a:r>
          </a:p>
        </p:txBody>
      </p:sp>
      <p:cxnSp>
        <p:nvCxnSpPr>
          <p:cNvPr id="12" name="Straight Connector 11">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5290930-D501-E5E4-50CD-77D0874B6975}"/>
              </a:ext>
            </a:extLst>
          </p:cNvPr>
          <p:cNvSpPr>
            <a:spLocks noGrp="1"/>
          </p:cNvSpPr>
          <p:nvPr>
            <p:ph idx="1"/>
          </p:nvPr>
        </p:nvSpPr>
        <p:spPr>
          <a:xfrm>
            <a:off x="1096684" y="2455816"/>
            <a:ext cx="7270076" cy="3830683"/>
          </a:xfrm>
        </p:spPr>
        <p:txBody>
          <a:bodyPr anchor="t">
            <a:normAutofit/>
          </a:bodyPr>
          <a:lstStyle/>
          <a:p>
            <a:pPr>
              <a:lnSpc>
                <a:spcPct val="120000"/>
              </a:lnSpc>
            </a:pPr>
            <a:r>
              <a:rPr lang="en-US" dirty="0"/>
              <a:t>The Institute of Electrical and Electronics Engineers (IEEE), founded in 1963, was the result of the merger between two organizations, the American Institute of Electrical Engineers (AIEE) founded in 1884, and the Institute of Radio Engineers (IRE), founded in 1912. </a:t>
            </a:r>
          </a:p>
          <a:p>
            <a:pPr>
              <a:lnSpc>
                <a:spcPct val="120000"/>
              </a:lnSpc>
            </a:pPr>
            <a:r>
              <a:rPr lang="en-US" dirty="0"/>
              <a:t>Considered the world’s largest technical professional organization, IEEE’s membership encompasses computer scientists, software developers, IT professionals, physicists, medical doctors, and electrical and electronics engineers.</a:t>
            </a:r>
          </a:p>
        </p:txBody>
      </p:sp>
      <p:pic>
        <p:nvPicPr>
          <p:cNvPr id="5" name="Picture 4" descr="A blue and white logo&#10;&#10;Description automatically generated">
            <a:extLst>
              <a:ext uri="{FF2B5EF4-FFF2-40B4-BE49-F238E27FC236}">
                <a16:creationId xmlns:a16="http://schemas.microsoft.com/office/drawing/2014/main" id="{90F188C6-A415-200A-6497-2CBEE4708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8715" y="2455816"/>
            <a:ext cx="3044115" cy="1704704"/>
          </a:xfrm>
          <a:prstGeom prst="rect">
            <a:avLst/>
          </a:prstGeom>
        </p:spPr>
      </p:pic>
    </p:spTree>
    <p:extLst>
      <p:ext uri="{BB962C8B-B14F-4D97-AF65-F5344CB8AC3E}">
        <p14:creationId xmlns:p14="http://schemas.microsoft.com/office/powerpoint/2010/main" val="337138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12145F0-5149-412D-9A3F-1E3051B39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8B33A4-2DE9-88C2-BCD7-CFA7059E7380}"/>
              </a:ext>
            </a:extLst>
          </p:cNvPr>
          <p:cNvSpPr>
            <a:spLocks noGrp="1"/>
          </p:cNvSpPr>
          <p:nvPr>
            <p:ph type="title"/>
          </p:nvPr>
        </p:nvSpPr>
        <p:spPr>
          <a:xfrm>
            <a:off x="1090940" y="1097279"/>
            <a:ext cx="10529560" cy="1225587"/>
          </a:xfrm>
        </p:spPr>
        <p:txBody>
          <a:bodyPr>
            <a:normAutofit/>
          </a:bodyPr>
          <a:lstStyle/>
          <a:p>
            <a:r>
              <a:rPr lang="en-US" sz="4000"/>
              <a:t>IEEE Code of Ethics</a:t>
            </a:r>
          </a:p>
        </p:txBody>
      </p:sp>
      <p:cxnSp>
        <p:nvCxnSpPr>
          <p:cNvPr id="23" name="Straight Connector 2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5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5EB8BC5-EB35-9D86-DC85-8231BE22E80B}"/>
              </a:ext>
            </a:extLst>
          </p:cNvPr>
          <p:cNvSpPr>
            <a:spLocks noGrp="1"/>
          </p:cNvSpPr>
          <p:nvPr>
            <p:ph idx="1"/>
          </p:nvPr>
        </p:nvSpPr>
        <p:spPr>
          <a:xfrm>
            <a:off x="1096684" y="2455816"/>
            <a:ext cx="6995756" cy="3830683"/>
          </a:xfrm>
        </p:spPr>
        <p:txBody>
          <a:bodyPr anchor="t">
            <a:normAutofit/>
          </a:bodyPr>
          <a:lstStyle/>
          <a:p>
            <a:pPr>
              <a:lnSpc>
                <a:spcPct val="120000"/>
              </a:lnSpc>
            </a:pPr>
            <a:r>
              <a:rPr lang="en-US" sz="1600" dirty="0"/>
              <a:t> The first version was adopted in 1974 and went through several iterations until its current version was adopted by the IEEE Board of Directors in June 2020. </a:t>
            </a:r>
          </a:p>
          <a:p>
            <a:pPr>
              <a:lnSpc>
                <a:spcPct val="120000"/>
              </a:lnSpc>
            </a:pPr>
            <a:r>
              <a:rPr lang="en-US" sz="1600" dirty="0"/>
              <a:t>It consists of 3 articles and 10 guidelines:</a:t>
            </a:r>
          </a:p>
          <a:p>
            <a:pPr marL="400050" indent="-400050">
              <a:lnSpc>
                <a:spcPct val="120000"/>
              </a:lnSpc>
              <a:buFont typeface="+mj-lt"/>
              <a:buAutoNum type="romanUcPeriod"/>
            </a:pPr>
            <a:r>
              <a:rPr lang="en-US" sz="1600" b="1" dirty="0"/>
              <a:t>To uphold the highest standards of integrity, responsible </a:t>
            </a:r>
            <a:r>
              <a:rPr lang="en-US" sz="1600" b="1" dirty="0" err="1"/>
              <a:t>behaviour</a:t>
            </a:r>
            <a:r>
              <a:rPr lang="en-US" sz="1600" b="1" dirty="0"/>
              <a:t>, and ethical conduct in professional activities</a:t>
            </a:r>
          </a:p>
          <a:p>
            <a:pPr marL="400050" indent="-400050">
              <a:lnSpc>
                <a:spcPct val="120000"/>
              </a:lnSpc>
              <a:buFont typeface="+mj-lt"/>
              <a:buAutoNum type="romanUcPeriod"/>
            </a:pPr>
            <a:r>
              <a:rPr lang="en-US" sz="1600" b="1" dirty="0"/>
              <a:t>To treat all persons fairly and with respect, to avoid harassment or discrimination, and to avoid injuring others.</a:t>
            </a:r>
          </a:p>
          <a:p>
            <a:pPr marL="400050" indent="-400050">
              <a:lnSpc>
                <a:spcPct val="120000"/>
              </a:lnSpc>
              <a:buFont typeface="+mj-lt"/>
              <a:buAutoNum type="romanUcPeriod"/>
            </a:pPr>
            <a:r>
              <a:rPr lang="en-US" sz="1600" b="1" dirty="0"/>
              <a:t>To strive to ensure this code is upheld by colleagues and co-workers</a:t>
            </a:r>
          </a:p>
        </p:txBody>
      </p:sp>
      <p:pic>
        <p:nvPicPr>
          <p:cNvPr id="4" name="Picture 3" descr="A blue and white logo&#10;&#10;Description automatically generated">
            <a:extLst>
              <a:ext uri="{FF2B5EF4-FFF2-40B4-BE49-F238E27FC236}">
                <a16:creationId xmlns:a16="http://schemas.microsoft.com/office/drawing/2014/main" id="{BE808F55-7522-861E-4D10-A9DA46D0B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8215" y="2455816"/>
            <a:ext cx="3234615" cy="1811384"/>
          </a:xfrm>
          <a:prstGeom prst="rect">
            <a:avLst/>
          </a:prstGeom>
        </p:spPr>
      </p:pic>
    </p:spTree>
    <p:extLst>
      <p:ext uri="{BB962C8B-B14F-4D97-AF65-F5344CB8AC3E}">
        <p14:creationId xmlns:p14="http://schemas.microsoft.com/office/powerpoint/2010/main" val="1794569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10C3-B352-DB20-CA63-C8F5E311CE86}"/>
              </a:ext>
            </a:extLst>
          </p:cNvPr>
          <p:cNvSpPr>
            <a:spLocks noGrp="1"/>
          </p:cNvSpPr>
          <p:nvPr>
            <p:ph type="title"/>
          </p:nvPr>
        </p:nvSpPr>
        <p:spPr/>
        <p:txBody>
          <a:bodyPr/>
          <a:lstStyle/>
          <a:p>
            <a:r>
              <a:rPr lang="en-US" dirty="0"/>
              <a:t>IEEE Code of Ethics: Article 1</a:t>
            </a:r>
          </a:p>
        </p:txBody>
      </p:sp>
      <p:sp>
        <p:nvSpPr>
          <p:cNvPr id="3" name="Content Placeholder 2">
            <a:extLst>
              <a:ext uri="{FF2B5EF4-FFF2-40B4-BE49-F238E27FC236}">
                <a16:creationId xmlns:a16="http://schemas.microsoft.com/office/drawing/2014/main" id="{2FCFAA4E-B1CD-7A06-5E65-CD92537658EE}"/>
              </a:ext>
            </a:extLst>
          </p:cNvPr>
          <p:cNvSpPr>
            <a:spLocks noGrp="1"/>
          </p:cNvSpPr>
          <p:nvPr>
            <p:ph idx="1"/>
          </p:nvPr>
        </p:nvSpPr>
        <p:spPr/>
        <p:txBody>
          <a:bodyPr>
            <a:normAutofit/>
          </a:bodyPr>
          <a:lstStyle/>
          <a:p>
            <a:pPr marL="342900" indent="-342900">
              <a:buFont typeface="+mj-lt"/>
              <a:buAutoNum type="arabicPeriod"/>
            </a:pPr>
            <a:r>
              <a:rPr lang="en-US" dirty="0"/>
              <a:t>To hold paramount the safety, health, and welfare of the public, to strive to comply with ethical design and sustainable development practices, to protect the privacy of others, and to disclose promptly factors that might endanger the public or the environment</a:t>
            </a:r>
          </a:p>
          <a:p>
            <a:pPr marL="342900" indent="-342900">
              <a:buFont typeface="+mj-lt"/>
              <a:buAutoNum type="arabicPeriod"/>
            </a:pPr>
            <a:r>
              <a:rPr lang="en-US" dirty="0"/>
              <a:t>To improve the understanding by individuals and society of the capabilities and societal implications of conventional and emerging technologies, including intelligent systems</a:t>
            </a:r>
          </a:p>
          <a:p>
            <a:pPr marL="342900" indent="-342900">
              <a:buFont typeface="+mj-lt"/>
              <a:buAutoNum type="arabicPeriod"/>
            </a:pPr>
            <a:r>
              <a:rPr lang="en-US" dirty="0"/>
              <a:t>To avoid real or perceived conflicts of interest whenever possible, and to disclose them to affected parties when they do exist</a:t>
            </a:r>
          </a:p>
        </p:txBody>
      </p:sp>
    </p:spTree>
    <p:extLst>
      <p:ext uri="{BB962C8B-B14F-4D97-AF65-F5344CB8AC3E}">
        <p14:creationId xmlns:p14="http://schemas.microsoft.com/office/powerpoint/2010/main" val="1559054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010C3-B352-DB20-CA63-C8F5E311CE86}"/>
              </a:ext>
            </a:extLst>
          </p:cNvPr>
          <p:cNvSpPr>
            <a:spLocks noGrp="1"/>
          </p:cNvSpPr>
          <p:nvPr>
            <p:ph type="title"/>
          </p:nvPr>
        </p:nvSpPr>
        <p:spPr/>
        <p:txBody>
          <a:bodyPr/>
          <a:lstStyle/>
          <a:p>
            <a:r>
              <a:rPr lang="en-US" dirty="0"/>
              <a:t>IEEE Code of Ethics: Article 1</a:t>
            </a:r>
          </a:p>
        </p:txBody>
      </p:sp>
      <p:sp>
        <p:nvSpPr>
          <p:cNvPr id="3" name="Content Placeholder 2">
            <a:extLst>
              <a:ext uri="{FF2B5EF4-FFF2-40B4-BE49-F238E27FC236}">
                <a16:creationId xmlns:a16="http://schemas.microsoft.com/office/drawing/2014/main" id="{2FCFAA4E-B1CD-7A06-5E65-CD92537658EE}"/>
              </a:ext>
            </a:extLst>
          </p:cNvPr>
          <p:cNvSpPr>
            <a:spLocks noGrp="1"/>
          </p:cNvSpPr>
          <p:nvPr>
            <p:ph idx="1"/>
          </p:nvPr>
        </p:nvSpPr>
        <p:spPr/>
        <p:txBody>
          <a:bodyPr>
            <a:normAutofit/>
          </a:bodyPr>
          <a:lstStyle/>
          <a:p>
            <a:pPr marL="342900" indent="-342900">
              <a:buFont typeface="+mj-lt"/>
              <a:buAutoNum type="arabicPeriod" startAt="4"/>
            </a:pPr>
            <a:r>
              <a:rPr lang="en-US" dirty="0"/>
              <a:t>To avoid unlawful conduct in professional activities, and to reject bribery in all its forms</a:t>
            </a:r>
          </a:p>
          <a:p>
            <a:pPr marL="342900" indent="-342900">
              <a:buFont typeface="+mj-lt"/>
              <a:buAutoNum type="arabicPeriod" startAt="4"/>
            </a:pPr>
            <a:r>
              <a:rPr lang="en-US" dirty="0"/>
              <a:t>To seek, accept, and offer honest criticism of technical work, to acknowledge and correct errors, to be honest, and realistic in stating claims or estimates based on available data, and to credit properly the contributions of others</a:t>
            </a:r>
          </a:p>
          <a:p>
            <a:pPr marL="342900" indent="-342900">
              <a:buFont typeface="+mj-lt"/>
              <a:buAutoNum type="arabicPeriod" startAt="4"/>
            </a:pPr>
            <a:r>
              <a:rPr lang="en-US" dirty="0"/>
              <a:t>To maintain and improve our technical competence and to undertake technological tasks from others only if qualified by training or experience, or after full disclosure of pertinent limitations</a:t>
            </a:r>
          </a:p>
        </p:txBody>
      </p:sp>
    </p:spTree>
    <p:extLst>
      <p:ext uri="{BB962C8B-B14F-4D97-AF65-F5344CB8AC3E}">
        <p14:creationId xmlns:p14="http://schemas.microsoft.com/office/powerpoint/2010/main" val="36157442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081CB-E81C-FF5A-D236-40E504616017}"/>
              </a:ext>
            </a:extLst>
          </p:cNvPr>
          <p:cNvSpPr>
            <a:spLocks noGrp="1"/>
          </p:cNvSpPr>
          <p:nvPr>
            <p:ph type="title"/>
          </p:nvPr>
        </p:nvSpPr>
        <p:spPr/>
        <p:txBody>
          <a:bodyPr/>
          <a:lstStyle/>
          <a:p>
            <a:r>
              <a:rPr lang="en-US" dirty="0"/>
              <a:t>IEEE Code of Ethics: Article 2</a:t>
            </a:r>
          </a:p>
        </p:txBody>
      </p:sp>
      <p:sp>
        <p:nvSpPr>
          <p:cNvPr id="3" name="Content Placeholder 2">
            <a:extLst>
              <a:ext uri="{FF2B5EF4-FFF2-40B4-BE49-F238E27FC236}">
                <a16:creationId xmlns:a16="http://schemas.microsoft.com/office/drawing/2014/main" id="{25645CC7-6562-BA99-4137-A63AFEBC1596}"/>
              </a:ext>
            </a:extLst>
          </p:cNvPr>
          <p:cNvSpPr>
            <a:spLocks noGrp="1"/>
          </p:cNvSpPr>
          <p:nvPr>
            <p:ph idx="1"/>
          </p:nvPr>
        </p:nvSpPr>
        <p:spPr/>
        <p:txBody>
          <a:bodyPr/>
          <a:lstStyle/>
          <a:p>
            <a:pPr marL="342900" indent="-342900">
              <a:buFont typeface="+mj-lt"/>
              <a:buAutoNum type="arabicPeriod" startAt="7"/>
            </a:pPr>
            <a:r>
              <a:rPr lang="en-US" dirty="0"/>
              <a:t>To treat all persons fairly and with respect, and not to engage in discrimination based on characteristics such as race, religion, gender, disability, age, national origin, etc. </a:t>
            </a:r>
          </a:p>
          <a:p>
            <a:pPr marL="342900" indent="-342900">
              <a:buFont typeface="+mj-lt"/>
              <a:buAutoNum type="arabicPeriod" startAt="7"/>
            </a:pPr>
            <a:r>
              <a:rPr lang="en-US" dirty="0"/>
              <a:t>To not engage in harassment of any kind, including sexual harassment or bullying </a:t>
            </a:r>
            <a:r>
              <a:rPr lang="en-US" dirty="0" err="1"/>
              <a:t>behaviour</a:t>
            </a:r>
            <a:endParaRPr lang="en-US" dirty="0"/>
          </a:p>
          <a:p>
            <a:pPr marL="342900" indent="-342900">
              <a:buFont typeface="+mj-lt"/>
              <a:buAutoNum type="arabicPeriod" startAt="7"/>
            </a:pPr>
            <a:r>
              <a:rPr lang="en-US" dirty="0"/>
              <a:t>To avoid injuring others, their property, reputation, or employment by false or malicious actions, </a:t>
            </a:r>
            <a:r>
              <a:rPr lang="en-US" dirty="0" err="1"/>
              <a:t>rumours</a:t>
            </a:r>
            <a:r>
              <a:rPr lang="en-US" dirty="0"/>
              <a:t>, or any other verbal or physical abuses.</a:t>
            </a:r>
          </a:p>
        </p:txBody>
      </p:sp>
    </p:spTree>
    <p:extLst>
      <p:ext uri="{BB962C8B-B14F-4D97-AF65-F5344CB8AC3E}">
        <p14:creationId xmlns:p14="http://schemas.microsoft.com/office/powerpoint/2010/main" val="438586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7315-0857-7172-4C76-D0C33D1C28A6}"/>
              </a:ext>
            </a:extLst>
          </p:cNvPr>
          <p:cNvSpPr>
            <a:spLocks noGrp="1"/>
          </p:cNvSpPr>
          <p:nvPr>
            <p:ph type="title"/>
          </p:nvPr>
        </p:nvSpPr>
        <p:spPr/>
        <p:txBody>
          <a:bodyPr/>
          <a:lstStyle/>
          <a:p>
            <a:r>
              <a:rPr lang="en-US" dirty="0"/>
              <a:t>IEEE Code of Ethics: Article 3</a:t>
            </a:r>
          </a:p>
        </p:txBody>
      </p:sp>
      <p:sp>
        <p:nvSpPr>
          <p:cNvPr id="3" name="Content Placeholder 2">
            <a:extLst>
              <a:ext uri="{FF2B5EF4-FFF2-40B4-BE49-F238E27FC236}">
                <a16:creationId xmlns:a16="http://schemas.microsoft.com/office/drawing/2014/main" id="{83EFDF5D-3A6B-0460-E07C-37BA1E9A03AF}"/>
              </a:ext>
            </a:extLst>
          </p:cNvPr>
          <p:cNvSpPr>
            <a:spLocks noGrp="1"/>
          </p:cNvSpPr>
          <p:nvPr>
            <p:ph idx="1"/>
          </p:nvPr>
        </p:nvSpPr>
        <p:spPr/>
        <p:txBody>
          <a:bodyPr/>
          <a:lstStyle/>
          <a:p>
            <a:r>
              <a:rPr lang="en-US" dirty="0"/>
              <a:t>To support colleagues and co-workers in following this code of ethics, to strive to ensure the code is upheld, and to not retaliate against individuals reporting a violation.</a:t>
            </a:r>
          </a:p>
        </p:txBody>
      </p:sp>
    </p:spTree>
    <p:extLst>
      <p:ext uri="{BB962C8B-B14F-4D97-AF65-F5344CB8AC3E}">
        <p14:creationId xmlns:p14="http://schemas.microsoft.com/office/powerpoint/2010/main" val="129796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AA6B4F65-EE0E-4A52-B5A5-85584D080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collage of two people&#10;&#10;Description automatically generated">
            <a:extLst>
              <a:ext uri="{FF2B5EF4-FFF2-40B4-BE49-F238E27FC236}">
                <a16:creationId xmlns:a16="http://schemas.microsoft.com/office/drawing/2014/main" id="{262BD057-7FAE-2BB6-8B67-0BC9BAD4EA0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6140" b="9591"/>
          <a:stretch/>
        </p:blipFill>
        <p:spPr>
          <a:xfrm>
            <a:off x="20" y="10"/>
            <a:ext cx="12191979" cy="6857989"/>
          </a:xfrm>
          <a:prstGeom prst="rect">
            <a:avLst/>
          </a:prstGeom>
        </p:spPr>
      </p:pic>
    </p:spTree>
    <p:extLst>
      <p:ext uri="{BB962C8B-B14F-4D97-AF65-F5344CB8AC3E}">
        <p14:creationId xmlns:p14="http://schemas.microsoft.com/office/powerpoint/2010/main" val="2911340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2D110-3C61-9544-3886-6DB8F15AEE1E}"/>
              </a:ext>
            </a:extLst>
          </p:cNvPr>
          <p:cNvSpPr>
            <a:spLocks noGrp="1"/>
          </p:cNvSpPr>
          <p:nvPr>
            <p:ph type="title"/>
          </p:nvPr>
        </p:nvSpPr>
        <p:spPr/>
        <p:txBody>
          <a:bodyPr/>
          <a:lstStyle/>
          <a:p>
            <a:r>
              <a:rPr lang="en-US"/>
              <a:t>Whistle-blowing</a:t>
            </a:r>
            <a:endParaRPr lang="en-US" dirty="0"/>
          </a:p>
        </p:txBody>
      </p:sp>
      <p:sp>
        <p:nvSpPr>
          <p:cNvPr id="3" name="Content Placeholder 2">
            <a:extLst>
              <a:ext uri="{FF2B5EF4-FFF2-40B4-BE49-F238E27FC236}">
                <a16:creationId xmlns:a16="http://schemas.microsoft.com/office/drawing/2014/main" id="{B6E5C650-D1F4-5A77-8F4A-7D7E4DDA8FE9}"/>
              </a:ext>
            </a:extLst>
          </p:cNvPr>
          <p:cNvSpPr>
            <a:spLocks noGrp="1"/>
          </p:cNvSpPr>
          <p:nvPr>
            <p:ph idx="1"/>
          </p:nvPr>
        </p:nvSpPr>
        <p:spPr/>
        <p:txBody>
          <a:bodyPr/>
          <a:lstStyle/>
          <a:p>
            <a:r>
              <a:rPr lang="en-US" b="1" dirty="0"/>
              <a:t>Whistle-blower: </a:t>
            </a:r>
            <a:r>
              <a:rPr lang="en-US" dirty="0"/>
              <a:t>Someone who breaks ranks with an organization in order to make an unauthorized disclosure of information about a harmful situation after attempts to report concerns through authorized organizational channels have been ignored or rebuffed.</a:t>
            </a:r>
          </a:p>
          <a:p>
            <a:r>
              <a:rPr lang="en-US" dirty="0"/>
              <a:t>Sometimes employees become whistle-blowers out of fear that actions taken by their employer may harm the public</a:t>
            </a:r>
          </a:p>
          <a:p>
            <a:r>
              <a:rPr lang="en-US" dirty="0"/>
              <a:t>Other times, they have identified fraudulent use of public funds/ resources</a:t>
            </a:r>
          </a:p>
        </p:txBody>
      </p:sp>
    </p:spTree>
    <p:extLst>
      <p:ext uri="{BB962C8B-B14F-4D97-AF65-F5344CB8AC3E}">
        <p14:creationId xmlns:p14="http://schemas.microsoft.com/office/powerpoint/2010/main" val="25726565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94E41-70E8-E60D-D9F3-9C396B2D9DE2}"/>
              </a:ext>
            </a:extLst>
          </p:cNvPr>
          <p:cNvSpPr>
            <a:spLocks noGrp="1"/>
          </p:cNvSpPr>
          <p:nvPr>
            <p:ph type="title"/>
          </p:nvPr>
        </p:nvSpPr>
        <p:spPr/>
        <p:txBody>
          <a:bodyPr/>
          <a:lstStyle/>
          <a:p>
            <a:r>
              <a:rPr lang="en-US" dirty="0"/>
              <a:t>Morality of Whistle-blowing</a:t>
            </a:r>
          </a:p>
        </p:txBody>
      </p:sp>
      <p:sp>
        <p:nvSpPr>
          <p:cNvPr id="3" name="Content Placeholder 2">
            <a:extLst>
              <a:ext uri="{FF2B5EF4-FFF2-40B4-BE49-F238E27FC236}">
                <a16:creationId xmlns:a16="http://schemas.microsoft.com/office/drawing/2014/main" id="{662FF7A0-B911-0CDA-DFA7-6E4F12091D38}"/>
              </a:ext>
            </a:extLst>
          </p:cNvPr>
          <p:cNvSpPr>
            <a:spLocks noGrp="1"/>
          </p:cNvSpPr>
          <p:nvPr>
            <p:ph idx="1"/>
          </p:nvPr>
        </p:nvSpPr>
        <p:spPr/>
        <p:txBody>
          <a:bodyPr/>
          <a:lstStyle/>
          <a:p>
            <a:r>
              <a:rPr lang="en-US" dirty="0"/>
              <a:t>We can evaluate the morality of whistle-blowing by considering whether the whistle-blower is motivated by a desire to help others or harm others.</a:t>
            </a:r>
          </a:p>
          <a:p>
            <a:r>
              <a:rPr lang="en-US" dirty="0"/>
              <a:t>There are three general reactions to altruistic whistle-blowing:</a:t>
            </a:r>
          </a:p>
          <a:p>
            <a:pPr lvl="1"/>
            <a:r>
              <a:rPr lang="en-US" dirty="0"/>
              <a:t>Whistle-blowers cause harm</a:t>
            </a:r>
          </a:p>
          <a:p>
            <a:pPr lvl="1"/>
            <a:r>
              <a:rPr lang="en-US" dirty="0"/>
              <a:t>Whistle-blowing is a sign of Organizational Failure</a:t>
            </a:r>
          </a:p>
          <a:p>
            <a:pPr lvl="1"/>
            <a:r>
              <a:rPr lang="en-US" dirty="0"/>
              <a:t>Whistle-blowing as a moral duty</a:t>
            </a:r>
            <a:endParaRPr lang="ar-BH" dirty="0"/>
          </a:p>
          <a:p>
            <a:pPr lvl="1"/>
            <a:endParaRPr lang="en-US" dirty="0"/>
          </a:p>
        </p:txBody>
      </p:sp>
    </p:spTree>
    <p:extLst>
      <p:ext uri="{BB962C8B-B14F-4D97-AF65-F5344CB8AC3E}">
        <p14:creationId xmlns:p14="http://schemas.microsoft.com/office/powerpoint/2010/main" val="21344352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7A03FC-E790-D47D-8CB3-0C52C0442ED2}"/>
              </a:ext>
            </a:extLst>
          </p:cNvPr>
          <p:cNvSpPr>
            <a:spLocks noGrp="1"/>
          </p:cNvSpPr>
          <p:nvPr>
            <p:ph type="title"/>
          </p:nvPr>
        </p:nvSpPr>
        <p:spPr>
          <a:xfrm>
            <a:off x="1088136" y="2235210"/>
            <a:ext cx="3807714" cy="3352789"/>
          </a:xfrm>
        </p:spPr>
        <p:txBody>
          <a:bodyPr anchor="t">
            <a:normAutofit/>
          </a:bodyPr>
          <a:lstStyle/>
          <a:p>
            <a:r>
              <a:rPr lang="en-US" sz="4000"/>
              <a:t>Whistle-blowers Cause Harm</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6730AA6-10EA-DCCF-7A80-02FBA71BC7CD}"/>
              </a:ext>
            </a:extLst>
          </p:cNvPr>
          <p:cNvGraphicFramePr>
            <a:graphicFrameLocks noGrp="1"/>
          </p:cNvGraphicFramePr>
          <p:nvPr>
            <p:ph idx="1"/>
            <p:extLst>
              <p:ext uri="{D42A27DB-BD31-4B8C-83A1-F6EECF244321}">
                <p14:modId xmlns:p14="http://schemas.microsoft.com/office/powerpoint/2010/main" val="713478922"/>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4995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27BDC9-FB18-487D-844E-9A6B39F8C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27FCAA-3268-A2F4-BBED-AEC5BC34AE4E}"/>
              </a:ext>
            </a:extLst>
          </p:cNvPr>
          <p:cNvSpPr>
            <a:spLocks noGrp="1"/>
          </p:cNvSpPr>
          <p:nvPr>
            <p:ph type="title"/>
          </p:nvPr>
        </p:nvSpPr>
        <p:spPr>
          <a:xfrm>
            <a:off x="1088136" y="2235210"/>
            <a:ext cx="3807714" cy="3352789"/>
          </a:xfrm>
        </p:spPr>
        <p:txBody>
          <a:bodyPr anchor="t">
            <a:normAutofit/>
          </a:bodyPr>
          <a:lstStyle/>
          <a:p>
            <a:r>
              <a:rPr lang="en-US" sz="4000"/>
              <a:t>Whistle-blowing is a Sign of Organizational Failure</a:t>
            </a:r>
          </a:p>
        </p:txBody>
      </p:sp>
      <p:cxnSp>
        <p:nvCxnSpPr>
          <p:cNvPr id="11" name="Straight Connector 10">
            <a:extLst>
              <a:ext uri="{FF2B5EF4-FFF2-40B4-BE49-F238E27FC236}">
                <a16:creationId xmlns:a16="http://schemas.microsoft.com/office/drawing/2014/main" id="{25BE18DF-459C-485A-834C-292AA6BB10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D24B646-982C-2614-9678-1D0DB0062B2A}"/>
              </a:ext>
            </a:extLst>
          </p:cNvPr>
          <p:cNvGraphicFramePr>
            <a:graphicFrameLocks noGrp="1"/>
          </p:cNvGraphicFramePr>
          <p:nvPr>
            <p:ph idx="1"/>
            <p:extLst>
              <p:ext uri="{D42A27DB-BD31-4B8C-83A1-F6EECF244321}">
                <p14:modId xmlns:p14="http://schemas.microsoft.com/office/powerpoint/2010/main" val="2502251445"/>
              </p:ext>
            </p:extLst>
          </p:nvPr>
        </p:nvGraphicFramePr>
        <p:xfrm>
          <a:off x="5524500" y="571500"/>
          <a:ext cx="6096000" cy="57149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74347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181EB-7B6A-AFB3-1E6C-E3E1CD526E98}"/>
              </a:ext>
            </a:extLst>
          </p:cNvPr>
          <p:cNvSpPr>
            <a:spLocks noGrp="1"/>
          </p:cNvSpPr>
          <p:nvPr>
            <p:ph type="title"/>
          </p:nvPr>
        </p:nvSpPr>
        <p:spPr/>
        <p:txBody>
          <a:bodyPr/>
          <a:lstStyle/>
          <a:p>
            <a:r>
              <a:rPr lang="en-US" dirty="0"/>
              <a:t>Whistle-blowing as a Moral Duty</a:t>
            </a:r>
          </a:p>
        </p:txBody>
      </p:sp>
      <p:sp>
        <p:nvSpPr>
          <p:cNvPr id="3" name="Content Placeholder 2">
            <a:extLst>
              <a:ext uri="{FF2B5EF4-FFF2-40B4-BE49-F238E27FC236}">
                <a16:creationId xmlns:a16="http://schemas.microsoft.com/office/drawing/2014/main" id="{4326EBEE-D2B1-1B4A-CF7B-61D00C8FF8DF}"/>
              </a:ext>
            </a:extLst>
          </p:cNvPr>
          <p:cNvSpPr>
            <a:spLocks noGrp="1"/>
          </p:cNvSpPr>
          <p:nvPr>
            <p:ph idx="1"/>
          </p:nvPr>
        </p:nvSpPr>
        <p:spPr/>
        <p:txBody>
          <a:bodyPr>
            <a:normAutofit fontScale="92500" lnSpcReduction="20000"/>
          </a:bodyPr>
          <a:lstStyle/>
          <a:p>
            <a:r>
              <a:rPr lang="en-US" dirty="0"/>
              <a:t>Richard De George believes whistle-blowers should ask themselves five questions:</a:t>
            </a:r>
          </a:p>
          <a:p>
            <a:pPr marL="342900" indent="-342900">
              <a:buFont typeface="+mj-lt"/>
              <a:buAutoNum type="arabicPeriod"/>
            </a:pPr>
            <a:r>
              <a:rPr lang="en-US" dirty="0"/>
              <a:t>Do you believe the problem may result in “serious and considerable harm to the public”?</a:t>
            </a:r>
          </a:p>
          <a:p>
            <a:pPr marL="342900" indent="-342900">
              <a:buFont typeface="+mj-lt"/>
              <a:buAutoNum type="arabicPeriod"/>
            </a:pPr>
            <a:r>
              <a:rPr lang="en-US" dirty="0"/>
              <a:t>Have you told your manager your concerns about the potential harm?</a:t>
            </a:r>
          </a:p>
          <a:p>
            <a:pPr marL="342900" indent="-342900">
              <a:buFont typeface="+mj-lt"/>
              <a:buAutoNum type="arabicPeriod"/>
            </a:pPr>
            <a:r>
              <a:rPr lang="en-US" dirty="0"/>
              <a:t>Have you tried every possible channel within the organization to resolve the problem?</a:t>
            </a:r>
          </a:p>
          <a:p>
            <a:pPr marL="342900" indent="-342900">
              <a:buFont typeface="+mj-lt"/>
              <a:buAutoNum type="arabicPeriod"/>
            </a:pPr>
            <a:r>
              <a:rPr lang="en-US" dirty="0"/>
              <a:t>Have you documented evidence that would persuade a neutral outsider that your view is correct?</a:t>
            </a:r>
          </a:p>
          <a:p>
            <a:pPr marL="342900" indent="-342900">
              <a:buFont typeface="+mj-lt"/>
              <a:buAutoNum type="arabicPeriod"/>
            </a:pPr>
            <a:r>
              <a:rPr lang="en-US" dirty="0"/>
              <a:t>Are you reasonably sure that if you do bring this matter to public attention, something can be done to prevent the anticipated harm?</a:t>
            </a:r>
          </a:p>
          <a:p>
            <a:r>
              <a:rPr lang="en-US" dirty="0"/>
              <a:t>According to De George, you have a right to whistle-blow if you answer yes to the first three questions, and a duty to whistle-blow if you answer yes to all five questions</a:t>
            </a:r>
          </a:p>
        </p:txBody>
      </p:sp>
    </p:spTree>
    <p:extLst>
      <p:ext uri="{BB962C8B-B14F-4D97-AF65-F5344CB8AC3E}">
        <p14:creationId xmlns:p14="http://schemas.microsoft.com/office/powerpoint/2010/main" val="2145305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11DE-E463-95FB-8AAC-FC3EB19666DF}"/>
              </a:ext>
            </a:extLst>
          </p:cNvPr>
          <p:cNvSpPr>
            <a:spLocks noGrp="1"/>
          </p:cNvSpPr>
          <p:nvPr>
            <p:ph type="title"/>
          </p:nvPr>
        </p:nvSpPr>
        <p:spPr/>
        <p:txBody>
          <a:bodyPr/>
          <a:lstStyle/>
          <a:p>
            <a:r>
              <a:rPr lang="en-US" dirty="0"/>
              <a:t>Moral Responsibility</a:t>
            </a:r>
          </a:p>
        </p:txBody>
      </p:sp>
      <p:sp>
        <p:nvSpPr>
          <p:cNvPr id="3" name="Content Placeholder 2">
            <a:extLst>
              <a:ext uri="{FF2B5EF4-FFF2-40B4-BE49-F238E27FC236}">
                <a16:creationId xmlns:a16="http://schemas.microsoft.com/office/drawing/2014/main" id="{BCFE9D3B-A53E-ECEB-59D4-13D11F21D616}"/>
              </a:ext>
            </a:extLst>
          </p:cNvPr>
          <p:cNvSpPr>
            <a:spLocks noGrp="1"/>
          </p:cNvSpPr>
          <p:nvPr>
            <p:ph idx="1"/>
          </p:nvPr>
        </p:nvSpPr>
        <p:spPr/>
        <p:txBody>
          <a:bodyPr/>
          <a:lstStyle/>
          <a:p>
            <a:r>
              <a:rPr lang="en-US" dirty="0"/>
              <a:t> People must bear moral responsibility</a:t>
            </a:r>
          </a:p>
          <a:p>
            <a:r>
              <a:rPr lang="en-US" dirty="0"/>
              <a:t>We cannot assign moral responsibility to a corporation or any other organization</a:t>
            </a:r>
          </a:p>
          <a:p>
            <a:r>
              <a:rPr lang="en-US" b="1" dirty="0"/>
              <a:t>Role Responsibility</a:t>
            </a:r>
            <a:r>
              <a:rPr lang="en-US" dirty="0"/>
              <a:t>: responsibility borne because of a person’s assigned duties.</a:t>
            </a:r>
          </a:p>
          <a:p>
            <a:r>
              <a:rPr lang="en-US" b="1" dirty="0"/>
              <a:t>Causal responsibility</a:t>
            </a:r>
            <a:r>
              <a:rPr lang="en-US" dirty="0"/>
              <a:t>: Responsibility assigned to people because they did something (or failed to do something) that caused something to happen.</a:t>
            </a:r>
          </a:p>
          <a:p>
            <a:r>
              <a:rPr lang="en-US" b="1" dirty="0"/>
              <a:t>Legal responsibility</a:t>
            </a:r>
            <a:r>
              <a:rPr lang="en-US" dirty="0"/>
              <a:t>: responsibility assigned by law. </a:t>
            </a:r>
          </a:p>
          <a:p>
            <a:r>
              <a:rPr lang="en-US" dirty="0"/>
              <a:t>Moral Responsibility is not exclusive. Example: Parents are responsible for the baby’s well-being</a:t>
            </a:r>
          </a:p>
        </p:txBody>
      </p:sp>
    </p:spTree>
    <p:extLst>
      <p:ext uri="{BB962C8B-B14F-4D97-AF65-F5344CB8AC3E}">
        <p14:creationId xmlns:p14="http://schemas.microsoft.com/office/powerpoint/2010/main" val="24242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1" name="Straight Connector 1030">
            <a:extLst>
              <a:ext uri="{FF2B5EF4-FFF2-40B4-BE49-F238E27FC236}">
                <a16:creationId xmlns:a16="http://schemas.microsoft.com/office/drawing/2014/main" id="{D8689CE0-64D2-447C-9C1F-872D111D8AC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033" name="Rectangle 1032">
            <a:extLst>
              <a:ext uri="{FF2B5EF4-FFF2-40B4-BE49-F238E27FC236}">
                <a16:creationId xmlns:a16="http://schemas.microsoft.com/office/drawing/2014/main" id="{3CE54A2A-DF49-4800-82E7-3AF9353F8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hatever Happened to the Ford Pinto?">
            <a:extLst>
              <a:ext uri="{FF2B5EF4-FFF2-40B4-BE49-F238E27FC236}">
                <a16:creationId xmlns:a16="http://schemas.microsoft.com/office/drawing/2014/main" id="{4DBDF0BC-C6AE-7077-82A3-2DB0DBD43201}"/>
              </a:ext>
            </a:extLst>
          </p:cNvPr>
          <p:cNvPicPr>
            <a:picLocks noGrp="1" noChangeAspect="1" noChangeArrowheads="1"/>
          </p:cNvPicPr>
          <p:nvPr>
            <p:ph idx="1"/>
          </p:nvPr>
        </p:nvPicPr>
        <p:blipFill>
          <a:blip r:embed="rId3">
            <a:alphaModFix/>
            <a:extLst>
              <a:ext uri="{28A0092B-C50C-407E-A947-70E740481C1C}">
                <a14:useLocalDpi xmlns:a14="http://schemas.microsoft.com/office/drawing/2010/main" val="0"/>
              </a:ext>
            </a:extLst>
          </a:blip>
          <a:srcRect t="16045"/>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836D1C3F-3B56-4607-9BE3-5611009C2B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571999"/>
            <a:ext cx="12192000" cy="2296389"/>
          </a:xfrm>
          <a:prstGeom prst="rect">
            <a:avLst/>
          </a:prstGeom>
          <a:gradFill>
            <a:gsLst>
              <a:gs pos="0">
                <a:srgbClr val="000000">
                  <a:alpha val="50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89F20272-3B4F-6A3B-D2BA-5C9FE5E57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3429001"/>
          </a:xfrm>
          <a:prstGeom prst="rect">
            <a:avLst/>
          </a:prstGeom>
          <a:gradFill>
            <a:gsLst>
              <a:gs pos="0">
                <a:srgbClr val="000000">
                  <a:alpha val="36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7B8BEF-1243-39FC-093B-A1F44CB9EC2E}"/>
              </a:ext>
            </a:extLst>
          </p:cNvPr>
          <p:cNvSpPr>
            <a:spLocks noGrp="1"/>
          </p:cNvSpPr>
          <p:nvPr>
            <p:ph type="title"/>
          </p:nvPr>
        </p:nvSpPr>
        <p:spPr>
          <a:xfrm>
            <a:off x="1052146" y="1077626"/>
            <a:ext cx="9958754" cy="3317443"/>
          </a:xfrm>
        </p:spPr>
        <p:txBody>
          <a:bodyPr vert="horz" lIns="91440" tIns="45720" rIns="91440" bIns="45720" rtlCol="0" anchor="t">
            <a:normAutofit/>
          </a:bodyPr>
          <a:lstStyle/>
          <a:p>
            <a:endParaRPr lang="en-US" sz="8000" cap="all">
              <a:solidFill>
                <a:srgbClr val="FFFFFF"/>
              </a:solidFill>
            </a:endParaRPr>
          </a:p>
        </p:txBody>
      </p:sp>
      <p:cxnSp>
        <p:nvCxnSpPr>
          <p:cNvPr id="1039" name="Straight Connector 1038">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06934"/>
            <a:ext cx="804195" cy="0"/>
          </a:xfrm>
          <a:prstGeom prst="line">
            <a:avLst/>
          </a:prstGeom>
          <a:ln w="120650">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9734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6108-186F-51F2-089E-A56808BE6FCA}"/>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BE7A693E-EA46-E8E4-08B1-85FEA0D06587}"/>
              </a:ext>
            </a:extLst>
          </p:cNvPr>
          <p:cNvSpPr>
            <a:spLocks noGrp="1"/>
          </p:cNvSpPr>
          <p:nvPr>
            <p:ph idx="1"/>
          </p:nvPr>
        </p:nvSpPr>
        <p:spPr/>
        <p:txBody>
          <a:bodyPr/>
          <a:lstStyle/>
          <a:p>
            <a:r>
              <a:rPr lang="en-US" dirty="0"/>
              <a:t>Computing is not a fully mature profession, yet has a </a:t>
            </a:r>
            <a:r>
              <a:rPr lang="en-US" b="1" dirty="0"/>
              <a:t>high capacity to harm the public</a:t>
            </a:r>
            <a:r>
              <a:rPr lang="en-US" dirty="0"/>
              <a:t>.</a:t>
            </a:r>
          </a:p>
          <a:p>
            <a:r>
              <a:rPr lang="en-US" dirty="0"/>
              <a:t>Ethical guidance is provided through </a:t>
            </a:r>
            <a:r>
              <a:rPr lang="en-US" b="1" dirty="0"/>
              <a:t>ACM and IEEE Codes of Ethics</a:t>
            </a:r>
            <a:r>
              <a:rPr lang="en-US" dirty="0"/>
              <a:t>.</a:t>
            </a:r>
          </a:p>
          <a:p>
            <a:r>
              <a:rPr lang="en-US" dirty="0"/>
              <a:t>Whistleblowing may be a </a:t>
            </a:r>
            <a:r>
              <a:rPr lang="en-US" b="1" dirty="0"/>
              <a:t>right or duty</a:t>
            </a:r>
            <a:r>
              <a:rPr lang="en-US" dirty="0"/>
              <a:t> under specific moral conditions.</a:t>
            </a:r>
          </a:p>
          <a:p>
            <a:r>
              <a:rPr lang="en-US" dirty="0"/>
              <a:t>Responsibility is </a:t>
            </a:r>
            <a:r>
              <a:rPr lang="en-US" b="1" dirty="0"/>
              <a:t>shared</a:t>
            </a:r>
            <a:r>
              <a:rPr lang="en-US" dirty="0"/>
              <a:t>: role-based, causal, legal, and moral.</a:t>
            </a:r>
          </a:p>
          <a:p>
            <a:r>
              <a:rPr lang="en-US" b="1" dirty="0"/>
              <a:t>Critical Reflection</a:t>
            </a:r>
            <a:endParaRPr lang="en-US" dirty="0"/>
          </a:p>
          <a:p>
            <a:r>
              <a:rPr lang="en-US" dirty="0"/>
              <a:t>Should computing require licensing like medicine or law?</a:t>
            </a:r>
          </a:p>
          <a:p>
            <a:r>
              <a:rPr lang="en-US" dirty="0"/>
              <a:t>Is loyalty to an employer weaker than duty to society?</a:t>
            </a:r>
          </a:p>
          <a:p>
            <a:endParaRPr lang="en-US" dirty="0"/>
          </a:p>
        </p:txBody>
      </p:sp>
    </p:spTree>
    <p:extLst>
      <p:ext uri="{BB962C8B-B14F-4D97-AF65-F5344CB8AC3E}">
        <p14:creationId xmlns:p14="http://schemas.microsoft.com/office/powerpoint/2010/main" val="1961382115"/>
      </p:ext>
    </p:extLst>
  </p:cSld>
  <p:clrMapOvr>
    <a:masterClrMapping/>
  </p:clrMapOvr>
</p:sld>
</file>

<file path=ppt/theme/theme1.xml><?xml version="1.0" encoding="utf-8"?>
<a:theme xmlns:a="http://schemas.openxmlformats.org/drawingml/2006/main" name="BjornVTI">
  <a:themeElements>
    <a:clrScheme name="AnalogousFromDarkSeedLeftStep">
      <a:dk1>
        <a:srgbClr val="000000"/>
      </a:dk1>
      <a:lt1>
        <a:srgbClr val="FFFFFF"/>
      </a:lt1>
      <a:dk2>
        <a:srgbClr val="251D38"/>
      </a:dk2>
      <a:lt2>
        <a:srgbClr val="E2E8E2"/>
      </a:lt2>
      <a:accent1>
        <a:srgbClr val="DE31D1"/>
      </a:accent1>
      <a:accent2>
        <a:srgbClr val="9120CD"/>
      </a:accent2>
      <a:accent3>
        <a:srgbClr val="5B31DE"/>
      </a:accent3>
      <a:accent4>
        <a:srgbClr val="203ECD"/>
      </a:accent4>
      <a:accent5>
        <a:srgbClr val="3198DE"/>
      </a:accent5>
      <a:accent6>
        <a:srgbClr val="1CB4B3"/>
      </a:accent6>
      <a:hlink>
        <a:srgbClr val="3F75BF"/>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38588</TotalTime>
  <Words>2568</Words>
  <Application>Microsoft Office PowerPoint</Application>
  <PresentationFormat>Widescreen</PresentationFormat>
  <Paragraphs>172</Paragraphs>
  <Slides>37</Slides>
  <Notes>4</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Aptos</vt:lpstr>
      <vt:lpstr>Arial</vt:lpstr>
      <vt:lpstr>Neue Haas Grotesk Text Pro</vt:lpstr>
      <vt:lpstr>BjornVTI</vt:lpstr>
      <vt:lpstr>Chapter 2: Professionalism and responsibility</vt:lpstr>
      <vt:lpstr>PowerPoint Presentation</vt:lpstr>
      <vt:lpstr>Overview</vt:lpstr>
      <vt:lpstr>Introduction</vt:lpstr>
      <vt:lpstr>PowerPoint Presentation</vt:lpstr>
      <vt:lpstr>How Well Developed are the Computing Professions?</vt:lpstr>
      <vt:lpstr>How Well Developed are the Computing Professions?</vt:lpstr>
      <vt:lpstr>How do Computer-related Careers Stack up?</vt:lpstr>
      <vt:lpstr>How do Computer-related Careers Stack up?</vt:lpstr>
      <vt:lpstr>Ability to Harm the Public</vt:lpstr>
      <vt:lpstr>ACM Code of Ethics and Professional Conduct</vt:lpstr>
      <vt:lpstr>ACM Code of Ethics and Professional Conduct</vt:lpstr>
      <vt:lpstr>ACM Code of Ethics and Professional Conduct</vt:lpstr>
      <vt:lpstr>Section 1: General Ethical Principles</vt:lpstr>
      <vt:lpstr>Section 2: Professional Responsibilities</vt:lpstr>
      <vt:lpstr>Section 2: Professional Responsibilities</vt:lpstr>
      <vt:lpstr>Section 3: Professional Leadership Principles</vt:lpstr>
      <vt:lpstr>Section 3: Professional Leadership Principles</vt:lpstr>
      <vt:lpstr>Section 4: Compliance with the Code</vt:lpstr>
      <vt:lpstr>Case Study: Malware Disruption</vt:lpstr>
      <vt:lpstr>Analysis: Malware Disruption</vt:lpstr>
      <vt:lpstr>Analysis: Malware Disruption</vt:lpstr>
      <vt:lpstr>IEEE Code of Ethics</vt:lpstr>
      <vt:lpstr>IEEE Code of Ethics</vt:lpstr>
      <vt:lpstr>IEEE Code of Ethics: Article 1</vt:lpstr>
      <vt:lpstr>IEEE Code of Ethics: Article 1</vt:lpstr>
      <vt:lpstr>IEEE Code of Ethics: Article 2</vt:lpstr>
      <vt:lpstr>IEEE Code of Ethics: Article 3</vt:lpstr>
      <vt:lpstr>PowerPoint Presentation</vt:lpstr>
      <vt:lpstr>Whistle-blowing</vt:lpstr>
      <vt:lpstr>Morality of Whistle-blowing</vt:lpstr>
      <vt:lpstr>Whistle-blowers Cause Harm</vt:lpstr>
      <vt:lpstr>Whistle-blowing is a Sign of Organizational Failure</vt:lpstr>
      <vt:lpstr>Whistle-blowing as a Moral Duty</vt:lpstr>
      <vt:lpstr>Moral Responsibility</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 YAQOOB SALMAN MOHAMED ALSLAIS</dc:creator>
  <cp:lastModifiedBy>Dr. YAQOOB SALMAN MOHAMED ALSLAIS</cp:lastModifiedBy>
  <cp:revision>7</cp:revision>
  <dcterms:created xsi:type="dcterms:W3CDTF">2024-08-29T08:11:27Z</dcterms:created>
  <dcterms:modified xsi:type="dcterms:W3CDTF">2026-02-02T10:25:57Z</dcterms:modified>
</cp:coreProperties>
</file>