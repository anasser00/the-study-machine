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55"/>
  </p:notesMasterIdLst>
  <p:sldIdLst>
    <p:sldId id="256" r:id="rId2"/>
    <p:sldId id="264" r:id="rId3"/>
    <p:sldId id="265" r:id="rId4"/>
    <p:sldId id="266" r:id="rId5"/>
    <p:sldId id="267" r:id="rId6"/>
    <p:sldId id="268" r:id="rId7"/>
    <p:sldId id="269" r:id="rId8"/>
    <p:sldId id="270" r:id="rId9"/>
    <p:sldId id="272" r:id="rId10"/>
    <p:sldId id="273" r:id="rId11"/>
    <p:sldId id="274" r:id="rId12"/>
    <p:sldId id="275" r:id="rId13"/>
    <p:sldId id="276" r:id="rId14"/>
    <p:sldId id="291" r:id="rId15"/>
    <p:sldId id="278" r:id="rId16"/>
    <p:sldId id="279" r:id="rId17"/>
    <p:sldId id="280" r:id="rId18"/>
    <p:sldId id="281" r:id="rId19"/>
    <p:sldId id="282" r:id="rId20"/>
    <p:sldId id="283" r:id="rId21"/>
    <p:sldId id="285" r:id="rId22"/>
    <p:sldId id="286" r:id="rId23"/>
    <p:sldId id="287" r:id="rId24"/>
    <p:sldId id="288" r:id="rId25"/>
    <p:sldId id="292" r:id="rId26"/>
    <p:sldId id="294" r:id="rId27"/>
    <p:sldId id="295" r:id="rId28"/>
    <p:sldId id="296" r:id="rId29"/>
    <p:sldId id="298" r:id="rId30"/>
    <p:sldId id="297" r:id="rId31"/>
    <p:sldId id="299" r:id="rId32"/>
    <p:sldId id="309" r:id="rId33"/>
    <p:sldId id="310" r:id="rId34"/>
    <p:sldId id="312" r:id="rId35"/>
    <p:sldId id="336" r:id="rId36"/>
    <p:sldId id="313" r:id="rId37"/>
    <p:sldId id="314" r:id="rId38"/>
    <p:sldId id="311" r:id="rId39"/>
    <p:sldId id="316" r:id="rId40"/>
    <p:sldId id="317" r:id="rId41"/>
    <p:sldId id="318" r:id="rId42"/>
    <p:sldId id="315" r:id="rId43"/>
    <p:sldId id="319" r:id="rId44"/>
    <p:sldId id="320" r:id="rId45"/>
    <p:sldId id="321" r:id="rId46"/>
    <p:sldId id="322" r:id="rId47"/>
    <p:sldId id="324" r:id="rId48"/>
    <p:sldId id="323" r:id="rId49"/>
    <p:sldId id="325" r:id="rId50"/>
    <p:sldId id="328" r:id="rId51"/>
    <p:sldId id="326" r:id="rId52"/>
    <p:sldId id="327" r:id="rId53"/>
    <p:sldId id="33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BE284B-C580-4709-83FF-FDB170AAC404}" v="4" dt="2026-02-02T10:26:35.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288" autoAdjust="0"/>
  </p:normalViewPr>
  <p:slideViewPr>
    <p:cSldViewPr snapToGrid="0">
      <p:cViewPr varScale="1">
        <p:scale>
          <a:sx n="48" d="100"/>
          <a:sy n="48" d="100"/>
        </p:scale>
        <p:origin x="67" y="667"/>
      </p:cViewPr>
      <p:guideLst/>
    </p:cSldViewPr>
  </p:slideViewPr>
  <p:outlineViewPr>
    <p:cViewPr>
      <p:scale>
        <a:sx n="33" d="100"/>
        <a:sy n="33" d="100"/>
      </p:scale>
      <p:origin x="0" y="-121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YAQOOB SALMAN MOHAMED ALSLAIS" userId="3b843498-0d2f-436b-9cfb-0641998d3142" providerId="ADAL" clId="{14E12B48-7A42-4907-9A13-F7839ACECA24}"/>
    <pc:docChg chg="custSel addSld delSld modSld">
      <pc:chgData name="Dr. YAQOOB SALMAN MOHAMED ALSLAIS" userId="3b843498-0d2f-436b-9cfb-0641998d3142" providerId="ADAL" clId="{14E12B48-7A42-4907-9A13-F7839ACECA24}" dt="2026-02-02T10:26:39.086" v="1092" actId="20577"/>
      <pc:docMkLst>
        <pc:docMk/>
      </pc:docMkLst>
      <pc:sldChg chg="modSp mod">
        <pc:chgData name="Dr. YAQOOB SALMAN MOHAMED ALSLAIS" userId="3b843498-0d2f-436b-9cfb-0641998d3142" providerId="ADAL" clId="{14E12B48-7A42-4907-9A13-F7839ACECA24}" dt="2026-02-02T10:21:20.971" v="1082" actId="20577"/>
        <pc:sldMkLst>
          <pc:docMk/>
          <pc:sldMk cId="3483390232" sldId="299"/>
        </pc:sldMkLst>
        <pc:spChg chg="mod">
          <ac:chgData name="Dr. YAQOOB SALMAN MOHAMED ALSLAIS" userId="3b843498-0d2f-436b-9cfb-0641998d3142" providerId="ADAL" clId="{14E12B48-7A42-4907-9A13-F7839ACECA24}" dt="2026-02-02T10:21:20.971" v="1082" actId="20577"/>
          <ac:spMkLst>
            <pc:docMk/>
            <pc:sldMk cId="3483390232" sldId="299"/>
            <ac:spMk id="3" creationId="{8480DFFB-F596-388E-2B8D-FE198E916BA7}"/>
          </ac:spMkLst>
        </pc:spChg>
      </pc:sldChg>
      <pc:sldChg chg="modSp mod">
        <pc:chgData name="Dr. YAQOOB SALMAN MOHAMED ALSLAIS" userId="3b843498-0d2f-436b-9cfb-0641998d3142" providerId="ADAL" clId="{14E12B48-7A42-4907-9A13-F7839ACECA24}" dt="2026-02-02T09:28:28.261" v="373" actId="20577"/>
        <pc:sldMkLst>
          <pc:docMk/>
          <pc:sldMk cId="4035613819" sldId="312"/>
        </pc:sldMkLst>
        <pc:spChg chg="mod">
          <ac:chgData name="Dr. YAQOOB SALMAN MOHAMED ALSLAIS" userId="3b843498-0d2f-436b-9cfb-0641998d3142" providerId="ADAL" clId="{14E12B48-7A42-4907-9A13-F7839ACECA24}" dt="2026-02-02T09:28:28.261" v="373" actId="20577"/>
          <ac:spMkLst>
            <pc:docMk/>
            <pc:sldMk cId="4035613819" sldId="312"/>
            <ac:spMk id="17" creationId="{DF5B5D59-FD5B-100D-3911-6BB53B62F769}"/>
          </ac:spMkLst>
        </pc:spChg>
      </pc:sldChg>
      <pc:sldChg chg="modSp">
        <pc:chgData name="Dr. YAQOOB SALMAN MOHAMED ALSLAIS" userId="3b843498-0d2f-436b-9cfb-0641998d3142" providerId="ADAL" clId="{14E12B48-7A42-4907-9A13-F7839ACECA24}" dt="2026-02-02T09:28:45.327" v="374"/>
        <pc:sldMkLst>
          <pc:docMk/>
          <pc:sldMk cId="2700914913" sldId="321"/>
        </pc:sldMkLst>
        <pc:spChg chg="mod">
          <ac:chgData name="Dr. YAQOOB SALMAN MOHAMED ALSLAIS" userId="3b843498-0d2f-436b-9cfb-0641998d3142" providerId="ADAL" clId="{14E12B48-7A42-4907-9A13-F7839ACECA24}" dt="2026-02-02T09:28:45.327" v="374"/>
          <ac:spMkLst>
            <pc:docMk/>
            <pc:sldMk cId="2700914913" sldId="321"/>
            <ac:spMk id="3" creationId="{39D1D00C-A082-A144-D645-D99AE86B6C63}"/>
          </ac:spMkLst>
        </pc:spChg>
      </pc:sldChg>
      <pc:sldChg chg="modSp mod">
        <pc:chgData name="Dr. YAQOOB SALMAN MOHAMED ALSLAIS" userId="3b843498-0d2f-436b-9cfb-0641998d3142" providerId="ADAL" clId="{14E12B48-7A42-4907-9A13-F7839ACECA24}" dt="2026-02-02T09:35:38.027" v="427" actId="20577"/>
        <pc:sldMkLst>
          <pc:docMk/>
          <pc:sldMk cId="33840737" sldId="325"/>
        </pc:sldMkLst>
        <pc:spChg chg="mod">
          <ac:chgData name="Dr. YAQOOB SALMAN MOHAMED ALSLAIS" userId="3b843498-0d2f-436b-9cfb-0641998d3142" providerId="ADAL" clId="{14E12B48-7A42-4907-9A13-F7839ACECA24}" dt="2026-02-02T09:35:38.027" v="427" actId="20577"/>
          <ac:spMkLst>
            <pc:docMk/>
            <pc:sldMk cId="33840737" sldId="325"/>
            <ac:spMk id="3" creationId="{DD38FD2B-C223-4F50-9F66-795DA19553AD}"/>
          </ac:spMkLst>
        </pc:spChg>
      </pc:sldChg>
      <pc:sldChg chg="modSp">
        <pc:chgData name="Dr. YAQOOB SALMAN MOHAMED ALSLAIS" userId="3b843498-0d2f-436b-9cfb-0641998d3142" providerId="ADAL" clId="{14E12B48-7A42-4907-9A13-F7839ACECA24}" dt="2026-02-02T09:28:45.327" v="374"/>
        <pc:sldMkLst>
          <pc:docMk/>
          <pc:sldMk cId="2463980254" sldId="328"/>
        </pc:sldMkLst>
        <pc:spChg chg="mod">
          <ac:chgData name="Dr. YAQOOB SALMAN MOHAMED ALSLAIS" userId="3b843498-0d2f-436b-9cfb-0641998d3142" providerId="ADAL" clId="{14E12B48-7A42-4907-9A13-F7839ACECA24}" dt="2026-02-02T09:28:45.327" v="374"/>
          <ac:spMkLst>
            <pc:docMk/>
            <pc:sldMk cId="2463980254" sldId="328"/>
            <ac:spMk id="3" creationId="{DD38FD2B-C223-4F50-9F66-795DA19553AD}"/>
          </ac:spMkLst>
        </pc:spChg>
      </pc:sldChg>
      <pc:sldChg chg="modSp new del mod">
        <pc:chgData name="Dr. YAQOOB SALMAN MOHAMED ALSLAIS" userId="3b843498-0d2f-436b-9cfb-0641998d3142" providerId="ADAL" clId="{14E12B48-7A42-4907-9A13-F7839ACECA24}" dt="2026-02-02T10:26:15.296" v="1083" actId="47"/>
        <pc:sldMkLst>
          <pc:docMk/>
          <pc:sldMk cId="2413468516" sldId="329"/>
        </pc:sldMkLst>
      </pc:sldChg>
      <pc:sldChg chg="modSp add del mod">
        <pc:chgData name="Dr. YAQOOB SALMAN MOHAMED ALSLAIS" userId="3b843498-0d2f-436b-9cfb-0641998d3142" providerId="ADAL" clId="{14E12B48-7A42-4907-9A13-F7839ACECA24}" dt="2026-02-02T10:26:15.296" v="1083" actId="47"/>
        <pc:sldMkLst>
          <pc:docMk/>
          <pc:sldMk cId="2480832381" sldId="330"/>
        </pc:sldMkLst>
      </pc:sldChg>
      <pc:sldChg chg="modSp add del mod">
        <pc:chgData name="Dr. YAQOOB SALMAN MOHAMED ALSLAIS" userId="3b843498-0d2f-436b-9cfb-0641998d3142" providerId="ADAL" clId="{14E12B48-7A42-4907-9A13-F7839ACECA24}" dt="2026-02-02T10:26:15.296" v="1083" actId="47"/>
        <pc:sldMkLst>
          <pc:docMk/>
          <pc:sldMk cId="586228598" sldId="331"/>
        </pc:sldMkLst>
      </pc:sldChg>
      <pc:sldChg chg="modSp new del mod">
        <pc:chgData name="Dr. YAQOOB SALMAN MOHAMED ALSLAIS" userId="3b843498-0d2f-436b-9cfb-0641998d3142" providerId="ADAL" clId="{14E12B48-7A42-4907-9A13-F7839ACECA24}" dt="2026-02-02T10:26:15.296" v="1083" actId="47"/>
        <pc:sldMkLst>
          <pc:docMk/>
          <pc:sldMk cId="387375590" sldId="332"/>
        </pc:sldMkLst>
      </pc:sldChg>
      <pc:sldChg chg="modSp new del mod">
        <pc:chgData name="Dr. YAQOOB SALMAN MOHAMED ALSLAIS" userId="3b843498-0d2f-436b-9cfb-0641998d3142" providerId="ADAL" clId="{14E12B48-7A42-4907-9A13-F7839ACECA24}" dt="2026-02-02T10:26:15.296" v="1083" actId="47"/>
        <pc:sldMkLst>
          <pc:docMk/>
          <pc:sldMk cId="439422781" sldId="333"/>
        </pc:sldMkLst>
      </pc:sldChg>
      <pc:sldChg chg="modSp add del mod">
        <pc:chgData name="Dr. YAQOOB SALMAN MOHAMED ALSLAIS" userId="3b843498-0d2f-436b-9cfb-0641998d3142" providerId="ADAL" clId="{14E12B48-7A42-4907-9A13-F7839ACECA24}" dt="2026-02-02T10:26:15.296" v="1083" actId="47"/>
        <pc:sldMkLst>
          <pc:docMk/>
          <pc:sldMk cId="3176388189" sldId="334"/>
        </pc:sldMkLst>
      </pc:sldChg>
      <pc:sldChg chg="modSp add del mod">
        <pc:chgData name="Dr. YAQOOB SALMAN MOHAMED ALSLAIS" userId="3b843498-0d2f-436b-9cfb-0641998d3142" providerId="ADAL" clId="{14E12B48-7A42-4907-9A13-F7839ACECA24}" dt="2026-02-02T10:26:15.296" v="1083" actId="47"/>
        <pc:sldMkLst>
          <pc:docMk/>
          <pc:sldMk cId="137363659" sldId="335"/>
        </pc:sldMkLst>
      </pc:sldChg>
      <pc:sldChg chg="modSp new mod">
        <pc:chgData name="Dr. YAQOOB SALMAN MOHAMED ALSLAIS" userId="3b843498-0d2f-436b-9cfb-0641998d3142" providerId="ADAL" clId="{14E12B48-7A42-4907-9A13-F7839ACECA24}" dt="2026-02-02T09:38:15.768" v="699" actId="20577"/>
        <pc:sldMkLst>
          <pc:docMk/>
          <pc:sldMk cId="2852902216" sldId="336"/>
        </pc:sldMkLst>
        <pc:spChg chg="mod">
          <ac:chgData name="Dr. YAQOOB SALMAN MOHAMED ALSLAIS" userId="3b843498-0d2f-436b-9cfb-0641998d3142" providerId="ADAL" clId="{14E12B48-7A42-4907-9A13-F7839ACECA24}" dt="2026-02-02T09:29:30.918" v="409" actId="20577"/>
          <ac:spMkLst>
            <pc:docMk/>
            <pc:sldMk cId="2852902216" sldId="336"/>
            <ac:spMk id="2" creationId="{59109371-8474-FAEC-1C7E-F16B5BCA8584}"/>
          </ac:spMkLst>
        </pc:spChg>
        <pc:spChg chg="mod">
          <ac:chgData name="Dr. YAQOOB SALMAN MOHAMED ALSLAIS" userId="3b843498-0d2f-436b-9cfb-0641998d3142" providerId="ADAL" clId="{14E12B48-7A42-4907-9A13-F7839ACECA24}" dt="2026-02-02T09:38:15.768" v="699" actId="20577"/>
          <ac:spMkLst>
            <pc:docMk/>
            <pc:sldMk cId="2852902216" sldId="336"/>
            <ac:spMk id="3" creationId="{586E1044-F202-38CA-CBA8-AE8BC4EB1025}"/>
          </ac:spMkLst>
        </pc:spChg>
      </pc:sldChg>
      <pc:sldChg chg="modSp new mod">
        <pc:chgData name="Dr. YAQOOB SALMAN MOHAMED ALSLAIS" userId="3b843498-0d2f-436b-9cfb-0641998d3142" providerId="ADAL" clId="{14E12B48-7A42-4907-9A13-F7839ACECA24}" dt="2026-02-02T10:26:39.086" v="1092" actId="20577"/>
        <pc:sldMkLst>
          <pc:docMk/>
          <pc:sldMk cId="3415167970" sldId="337"/>
        </pc:sldMkLst>
        <pc:spChg chg="mod">
          <ac:chgData name="Dr. YAQOOB SALMAN MOHAMED ALSLAIS" userId="3b843498-0d2f-436b-9cfb-0641998d3142" providerId="ADAL" clId="{14E12B48-7A42-4907-9A13-F7839ACECA24}" dt="2026-02-02T10:26:39.086" v="1092" actId="20577"/>
          <ac:spMkLst>
            <pc:docMk/>
            <pc:sldMk cId="3415167970" sldId="337"/>
            <ac:spMk id="2" creationId="{BCBDAA67-72A2-A034-C314-AE0EAD2C8860}"/>
          </ac:spMkLst>
        </pc:spChg>
        <pc:spChg chg="mod">
          <ac:chgData name="Dr. YAQOOB SALMAN MOHAMED ALSLAIS" userId="3b843498-0d2f-436b-9cfb-0641998d3142" providerId="ADAL" clId="{14E12B48-7A42-4907-9A13-F7839ACECA24}" dt="2026-02-02T10:26:35.950" v="1085"/>
          <ac:spMkLst>
            <pc:docMk/>
            <pc:sldMk cId="3415167970" sldId="337"/>
            <ac:spMk id="3" creationId="{64240F30-6214-421F-7B5D-33785364AE1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EBE96D-FACE-4E1D-8412-4C5BAE6BD78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ED6D489-7FAD-4509-B711-06B4953F72E2}">
      <dgm:prSet phldrT="[Text]"/>
      <dgm:spPr/>
      <dgm:t>
        <a:bodyPr/>
        <a:lstStyle/>
        <a:p>
          <a:r>
            <a:rPr lang="en-US" dirty="0"/>
            <a:t>Name and Date of Birth</a:t>
          </a:r>
        </a:p>
      </dgm:t>
    </dgm:pt>
    <dgm:pt modelId="{6FDA7351-B23F-4F2C-B21D-14E4CA14DE35}" type="parTrans" cxnId="{24A01113-F68A-48C3-82B3-F7852D615E4C}">
      <dgm:prSet/>
      <dgm:spPr/>
      <dgm:t>
        <a:bodyPr/>
        <a:lstStyle/>
        <a:p>
          <a:endParaRPr lang="en-US"/>
        </a:p>
      </dgm:t>
    </dgm:pt>
    <dgm:pt modelId="{D86749E6-72DD-4AC6-AE81-390F549A2C2F}" type="sibTrans" cxnId="{24A01113-F68A-48C3-82B3-F7852D615E4C}">
      <dgm:prSet/>
      <dgm:spPr/>
      <dgm:t>
        <a:bodyPr/>
        <a:lstStyle/>
        <a:p>
          <a:endParaRPr lang="en-US"/>
        </a:p>
      </dgm:t>
    </dgm:pt>
    <dgm:pt modelId="{4C0F1026-51B7-4E9B-BF13-9D0102BEC86A}">
      <dgm:prSet phldrT="[Text]"/>
      <dgm:spPr/>
      <dgm:t>
        <a:bodyPr/>
        <a:lstStyle/>
        <a:p>
          <a:r>
            <a:rPr lang="en-US" dirty="0"/>
            <a:t>Address</a:t>
          </a:r>
        </a:p>
      </dgm:t>
    </dgm:pt>
    <dgm:pt modelId="{5B01BA6B-BDDC-41BD-A700-8C2EFC21BA15}" type="parTrans" cxnId="{4244F9AB-6658-4F78-8DB5-F6AA6F0B331E}">
      <dgm:prSet/>
      <dgm:spPr/>
      <dgm:t>
        <a:bodyPr/>
        <a:lstStyle/>
        <a:p>
          <a:endParaRPr lang="en-US"/>
        </a:p>
      </dgm:t>
    </dgm:pt>
    <dgm:pt modelId="{499FDA28-8EA9-44B6-93AB-3D422769D4E5}" type="sibTrans" cxnId="{4244F9AB-6658-4F78-8DB5-F6AA6F0B331E}">
      <dgm:prSet/>
      <dgm:spPr/>
      <dgm:t>
        <a:bodyPr/>
        <a:lstStyle/>
        <a:p>
          <a:endParaRPr lang="en-US"/>
        </a:p>
      </dgm:t>
    </dgm:pt>
    <dgm:pt modelId="{FA39DADE-7558-42A1-B808-521ACEB5D6A5}">
      <dgm:prSet phldrT="[Text]"/>
      <dgm:spPr/>
      <dgm:t>
        <a:bodyPr/>
        <a:lstStyle/>
        <a:p>
          <a:r>
            <a:rPr lang="en-US" dirty="0"/>
            <a:t>Phone number</a:t>
          </a:r>
        </a:p>
      </dgm:t>
    </dgm:pt>
    <dgm:pt modelId="{54C0F8F1-F7C5-431E-9921-D0A3E3FD5181}" type="parTrans" cxnId="{3AE2755B-105B-4FA6-A45E-3E99C56B510C}">
      <dgm:prSet/>
      <dgm:spPr/>
      <dgm:t>
        <a:bodyPr/>
        <a:lstStyle/>
        <a:p>
          <a:endParaRPr lang="en-US"/>
        </a:p>
      </dgm:t>
    </dgm:pt>
    <dgm:pt modelId="{B3BC3C59-D0E2-498D-BA98-F10E872A9866}" type="sibTrans" cxnId="{3AE2755B-105B-4FA6-A45E-3E99C56B510C}">
      <dgm:prSet/>
      <dgm:spPr/>
      <dgm:t>
        <a:bodyPr/>
        <a:lstStyle/>
        <a:p>
          <a:endParaRPr lang="en-US"/>
        </a:p>
      </dgm:t>
    </dgm:pt>
    <dgm:pt modelId="{7C4466E8-F86E-4C77-B997-477F0BC67A47}">
      <dgm:prSet phldrT="[Text]"/>
      <dgm:spPr/>
      <dgm:t>
        <a:bodyPr/>
        <a:lstStyle/>
        <a:p>
          <a:r>
            <a:rPr lang="en-US" dirty="0"/>
            <a:t>Email Address</a:t>
          </a:r>
        </a:p>
      </dgm:t>
    </dgm:pt>
    <dgm:pt modelId="{4243862B-19F0-439F-96C2-6D182C6644CF}" type="parTrans" cxnId="{865A3DBC-AC94-4319-A050-B839D1A2476D}">
      <dgm:prSet/>
      <dgm:spPr/>
      <dgm:t>
        <a:bodyPr/>
        <a:lstStyle/>
        <a:p>
          <a:endParaRPr lang="en-US"/>
        </a:p>
      </dgm:t>
    </dgm:pt>
    <dgm:pt modelId="{87444F69-B766-425F-9051-83B794BFA1CC}" type="sibTrans" cxnId="{865A3DBC-AC94-4319-A050-B839D1A2476D}">
      <dgm:prSet/>
      <dgm:spPr/>
      <dgm:t>
        <a:bodyPr/>
        <a:lstStyle/>
        <a:p>
          <a:endParaRPr lang="en-US"/>
        </a:p>
      </dgm:t>
    </dgm:pt>
    <dgm:pt modelId="{932E8CB1-3387-4444-906B-212003F86B99}">
      <dgm:prSet phldrT="[Text]"/>
      <dgm:spPr/>
      <dgm:t>
        <a:bodyPr/>
        <a:lstStyle/>
        <a:p>
          <a:r>
            <a:rPr lang="en-US" dirty="0"/>
            <a:t>Images (Still or Video from CCTV)</a:t>
          </a:r>
        </a:p>
      </dgm:t>
    </dgm:pt>
    <dgm:pt modelId="{761B458D-5BC8-4B80-8858-BF448D17D209}" type="parTrans" cxnId="{3CD3DB9B-A2AB-4AFC-A675-3BBE8E65988A}">
      <dgm:prSet/>
      <dgm:spPr/>
      <dgm:t>
        <a:bodyPr/>
        <a:lstStyle/>
        <a:p>
          <a:endParaRPr lang="en-US"/>
        </a:p>
      </dgm:t>
    </dgm:pt>
    <dgm:pt modelId="{D65AC038-675F-4F59-AD79-54D199A537EC}" type="sibTrans" cxnId="{3CD3DB9B-A2AB-4AFC-A675-3BBE8E65988A}">
      <dgm:prSet/>
      <dgm:spPr/>
      <dgm:t>
        <a:bodyPr/>
        <a:lstStyle/>
        <a:p>
          <a:endParaRPr lang="en-US"/>
        </a:p>
      </dgm:t>
    </dgm:pt>
    <dgm:pt modelId="{49471692-D935-4FE2-A662-4D14F59273E4}">
      <dgm:prSet phldrT="[Text]"/>
      <dgm:spPr/>
      <dgm:t>
        <a:bodyPr/>
        <a:lstStyle/>
        <a:p>
          <a:r>
            <a:rPr lang="en-US" dirty="0"/>
            <a:t>Cookies and IP address</a:t>
          </a:r>
        </a:p>
      </dgm:t>
    </dgm:pt>
    <dgm:pt modelId="{1F62853D-E1CE-4F93-8733-1B5C69408ECD}" type="parTrans" cxnId="{1D196DFF-349D-403F-A720-44C7250BF9AA}">
      <dgm:prSet/>
      <dgm:spPr/>
      <dgm:t>
        <a:bodyPr/>
        <a:lstStyle/>
        <a:p>
          <a:endParaRPr lang="en-US"/>
        </a:p>
      </dgm:t>
    </dgm:pt>
    <dgm:pt modelId="{86E50556-C6DB-41ED-994F-161E85F541FC}" type="sibTrans" cxnId="{1D196DFF-349D-403F-A720-44C7250BF9AA}">
      <dgm:prSet/>
      <dgm:spPr/>
      <dgm:t>
        <a:bodyPr/>
        <a:lstStyle/>
        <a:p>
          <a:endParaRPr lang="en-US"/>
        </a:p>
      </dgm:t>
    </dgm:pt>
    <dgm:pt modelId="{5AA3A931-0661-4D7B-A3AF-19B4D0ADF61A}">
      <dgm:prSet phldrT="[Text]"/>
      <dgm:spPr/>
      <dgm:t>
        <a:bodyPr/>
        <a:lstStyle/>
        <a:p>
          <a:r>
            <a:rPr lang="en-US" dirty="0"/>
            <a:t>Financial information (Bank statements and credit cards)</a:t>
          </a:r>
        </a:p>
      </dgm:t>
    </dgm:pt>
    <dgm:pt modelId="{A9D38825-8252-4DE5-B003-19C60FABE68C}" type="parTrans" cxnId="{666D60AE-B7B3-4231-923D-6B9B81E23D95}">
      <dgm:prSet/>
      <dgm:spPr/>
      <dgm:t>
        <a:bodyPr/>
        <a:lstStyle/>
        <a:p>
          <a:endParaRPr lang="en-US"/>
        </a:p>
      </dgm:t>
    </dgm:pt>
    <dgm:pt modelId="{9FE93E61-2A60-4046-A523-8609DB17F88F}" type="sibTrans" cxnId="{666D60AE-B7B3-4231-923D-6B9B81E23D95}">
      <dgm:prSet/>
      <dgm:spPr/>
      <dgm:t>
        <a:bodyPr/>
        <a:lstStyle/>
        <a:p>
          <a:endParaRPr lang="en-US"/>
        </a:p>
      </dgm:t>
    </dgm:pt>
    <dgm:pt modelId="{C2550B1F-46CD-4900-8B1F-C9D0D0A43944}" type="pres">
      <dgm:prSet presAssocID="{0FEBE96D-FACE-4E1D-8412-4C5BAE6BD782}" presName="diagram" presStyleCnt="0">
        <dgm:presLayoutVars>
          <dgm:dir/>
          <dgm:resizeHandles val="exact"/>
        </dgm:presLayoutVars>
      </dgm:prSet>
      <dgm:spPr/>
    </dgm:pt>
    <dgm:pt modelId="{EF687A1C-0A02-46B5-8C46-F84671F2E3F6}" type="pres">
      <dgm:prSet presAssocID="{8ED6D489-7FAD-4509-B711-06B4953F72E2}" presName="node" presStyleLbl="node1" presStyleIdx="0" presStyleCnt="7">
        <dgm:presLayoutVars>
          <dgm:bulletEnabled val="1"/>
        </dgm:presLayoutVars>
      </dgm:prSet>
      <dgm:spPr/>
    </dgm:pt>
    <dgm:pt modelId="{8CD48971-A046-4696-80BF-2FDC9036989F}" type="pres">
      <dgm:prSet presAssocID="{D86749E6-72DD-4AC6-AE81-390F549A2C2F}" presName="sibTrans" presStyleCnt="0"/>
      <dgm:spPr/>
    </dgm:pt>
    <dgm:pt modelId="{2B7840A9-3AA8-4103-AE65-6A8C1924BF89}" type="pres">
      <dgm:prSet presAssocID="{4C0F1026-51B7-4E9B-BF13-9D0102BEC86A}" presName="node" presStyleLbl="node1" presStyleIdx="1" presStyleCnt="7">
        <dgm:presLayoutVars>
          <dgm:bulletEnabled val="1"/>
        </dgm:presLayoutVars>
      </dgm:prSet>
      <dgm:spPr/>
    </dgm:pt>
    <dgm:pt modelId="{98B58CB8-36A3-4BCF-95A6-6668DC838541}" type="pres">
      <dgm:prSet presAssocID="{499FDA28-8EA9-44B6-93AB-3D422769D4E5}" presName="sibTrans" presStyleCnt="0"/>
      <dgm:spPr/>
    </dgm:pt>
    <dgm:pt modelId="{8D654BCA-5FE7-4E1F-850F-D3D11E5021E4}" type="pres">
      <dgm:prSet presAssocID="{FA39DADE-7558-42A1-B808-521ACEB5D6A5}" presName="node" presStyleLbl="node1" presStyleIdx="2" presStyleCnt="7">
        <dgm:presLayoutVars>
          <dgm:bulletEnabled val="1"/>
        </dgm:presLayoutVars>
      </dgm:prSet>
      <dgm:spPr/>
    </dgm:pt>
    <dgm:pt modelId="{D63CF082-33E0-483A-A5C8-3346956747E6}" type="pres">
      <dgm:prSet presAssocID="{B3BC3C59-D0E2-498D-BA98-F10E872A9866}" presName="sibTrans" presStyleCnt="0"/>
      <dgm:spPr/>
    </dgm:pt>
    <dgm:pt modelId="{0C4BBFDE-5D77-467F-8CAF-F19B8AB69011}" type="pres">
      <dgm:prSet presAssocID="{7C4466E8-F86E-4C77-B997-477F0BC67A47}" presName="node" presStyleLbl="node1" presStyleIdx="3" presStyleCnt="7">
        <dgm:presLayoutVars>
          <dgm:bulletEnabled val="1"/>
        </dgm:presLayoutVars>
      </dgm:prSet>
      <dgm:spPr/>
    </dgm:pt>
    <dgm:pt modelId="{B331CCDA-78C1-4F33-AD45-BA517C73D0F8}" type="pres">
      <dgm:prSet presAssocID="{87444F69-B766-425F-9051-83B794BFA1CC}" presName="sibTrans" presStyleCnt="0"/>
      <dgm:spPr/>
    </dgm:pt>
    <dgm:pt modelId="{96BA3846-35CB-44B9-9E54-C8DDFD3E5E26}" type="pres">
      <dgm:prSet presAssocID="{932E8CB1-3387-4444-906B-212003F86B99}" presName="node" presStyleLbl="node1" presStyleIdx="4" presStyleCnt="7">
        <dgm:presLayoutVars>
          <dgm:bulletEnabled val="1"/>
        </dgm:presLayoutVars>
      </dgm:prSet>
      <dgm:spPr/>
    </dgm:pt>
    <dgm:pt modelId="{4A6816A2-D6C0-4B6C-B4D9-1276D348D65C}" type="pres">
      <dgm:prSet presAssocID="{D65AC038-675F-4F59-AD79-54D199A537EC}" presName="sibTrans" presStyleCnt="0"/>
      <dgm:spPr/>
    </dgm:pt>
    <dgm:pt modelId="{035CE4CE-EE28-416E-AC21-405F6F483011}" type="pres">
      <dgm:prSet presAssocID="{49471692-D935-4FE2-A662-4D14F59273E4}" presName="node" presStyleLbl="node1" presStyleIdx="5" presStyleCnt="7">
        <dgm:presLayoutVars>
          <dgm:bulletEnabled val="1"/>
        </dgm:presLayoutVars>
      </dgm:prSet>
      <dgm:spPr/>
    </dgm:pt>
    <dgm:pt modelId="{C0EA9223-A04E-495F-8C96-8F54CD421516}" type="pres">
      <dgm:prSet presAssocID="{86E50556-C6DB-41ED-994F-161E85F541FC}" presName="sibTrans" presStyleCnt="0"/>
      <dgm:spPr/>
    </dgm:pt>
    <dgm:pt modelId="{D0279EE1-F104-49B2-A3C2-7603E1624350}" type="pres">
      <dgm:prSet presAssocID="{5AA3A931-0661-4D7B-A3AF-19B4D0ADF61A}" presName="node" presStyleLbl="node1" presStyleIdx="6" presStyleCnt="7">
        <dgm:presLayoutVars>
          <dgm:bulletEnabled val="1"/>
        </dgm:presLayoutVars>
      </dgm:prSet>
      <dgm:spPr/>
    </dgm:pt>
  </dgm:ptLst>
  <dgm:cxnLst>
    <dgm:cxn modelId="{7A718D0A-F336-43EE-BED8-502CF4F9AEF9}" type="presOf" srcId="{5AA3A931-0661-4D7B-A3AF-19B4D0ADF61A}" destId="{D0279EE1-F104-49B2-A3C2-7603E1624350}" srcOrd="0" destOrd="0" presId="urn:microsoft.com/office/officeart/2005/8/layout/default"/>
    <dgm:cxn modelId="{24A01113-F68A-48C3-82B3-F7852D615E4C}" srcId="{0FEBE96D-FACE-4E1D-8412-4C5BAE6BD782}" destId="{8ED6D489-7FAD-4509-B711-06B4953F72E2}" srcOrd="0" destOrd="0" parTransId="{6FDA7351-B23F-4F2C-B21D-14E4CA14DE35}" sibTransId="{D86749E6-72DD-4AC6-AE81-390F549A2C2F}"/>
    <dgm:cxn modelId="{E045412B-AB38-47EE-BCF0-5340EF7AFCF9}" type="presOf" srcId="{7C4466E8-F86E-4C77-B997-477F0BC67A47}" destId="{0C4BBFDE-5D77-467F-8CAF-F19B8AB69011}" srcOrd="0" destOrd="0" presId="urn:microsoft.com/office/officeart/2005/8/layout/default"/>
    <dgm:cxn modelId="{3AE2755B-105B-4FA6-A45E-3E99C56B510C}" srcId="{0FEBE96D-FACE-4E1D-8412-4C5BAE6BD782}" destId="{FA39DADE-7558-42A1-B808-521ACEB5D6A5}" srcOrd="2" destOrd="0" parTransId="{54C0F8F1-F7C5-431E-9921-D0A3E3FD5181}" sibTransId="{B3BC3C59-D0E2-498D-BA98-F10E872A9866}"/>
    <dgm:cxn modelId="{64F3D35E-6370-4AB1-86B8-4DEB7142C0F9}" type="presOf" srcId="{4C0F1026-51B7-4E9B-BF13-9D0102BEC86A}" destId="{2B7840A9-3AA8-4103-AE65-6A8C1924BF89}" srcOrd="0" destOrd="0" presId="urn:microsoft.com/office/officeart/2005/8/layout/default"/>
    <dgm:cxn modelId="{D64AB66A-B85F-4D0B-A842-947949828217}" type="presOf" srcId="{49471692-D935-4FE2-A662-4D14F59273E4}" destId="{035CE4CE-EE28-416E-AC21-405F6F483011}" srcOrd="0" destOrd="0" presId="urn:microsoft.com/office/officeart/2005/8/layout/default"/>
    <dgm:cxn modelId="{C867DE73-B7FA-4DE2-8568-2BE18D15C9A2}" type="presOf" srcId="{932E8CB1-3387-4444-906B-212003F86B99}" destId="{96BA3846-35CB-44B9-9E54-C8DDFD3E5E26}" srcOrd="0" destOrd="0" presId="urn:microsoft.com/office/officeart/2005/8/layout/default"/>
    <dgm:cxn modelId="{00EAA45A-F425-4435-B801-B6F36CE6F1FA}" type="presOf" srcId="{0FEBE96D-FACE-4E1D-8412-4C5BAE6BD782}" destId="{C2550B1F-46CD-4900-8B1F-C9D0D0A43944}" srcOrd="0" destOrd="0" presId="urn:microsoft.com/office/officeart/2005/8/layout/default"/>
    <dgm:cxn modelId="{3CD3DB9B-A2AB-4AFC-A675-3BBE8E65988A}" srcId="{0FEBE96D-FACE-4E1D-8412-4C5BAE6BD782}" destId="{932E8CB1-3387-4444-906B-212003F86B99}" srcOrd="4" destOrd="0" parTransId="{761B458D-5BC8-4B80-8858-BF448D17D209}" sibTransId="{D65AC038-675F-4F59-AD79-54D199A537EC}"/>
    <dgm:cxn modelId="{4244F9AB-6658-4F78-8DB5-F6AA6F0B331E}" srcId="{0FEBE96D-FACE-4E1D-8412-4C5BAE6BD782}" destId="{4C0F1026-51B7-4E9B-BF13-9D0102BEC86A}" srcOrd="1" destOrd="0" parTransId="{5B01BA6B-BDDC-41BD-A700-8C2EFC21BA15}" sibTransId="{499FDA28-8EA9-44B6-93AB-3D422769D4E5}"/>
    <dgm:cxn modelId="{666D60AE-B7B3-4231-923D-6B9B81E23D95}" srcId="{0FEBE96D-FACE-4E1D-8412-4C5BAE6BD782}" destId="{5AA3A931-0661-4D7B-A3AF-19B4D0ADF61A}" srcOrd="6" destOrd="0" parTransId="{A9D38825-8252-4DE5-B003-19C60FABE68C}" sibTransId="{9FE93E61-2A60-4046-A523-8609DB17F88F}"/>
    <dgm:cxn modelId="{4094C5B9-B91A-4CD4-A332-8517F42ADC34}" type="presOf" srcId="{8ED6D489-7FAD-4509-B711-06B4953F72E2}" destId="{EF687A1C-0A02-46B5-8C46-F84671F2E3F6}" srcOrd="0" destOrd="0" presId="urn:microsoft.com/office/officeart/2005/8/layout/default"/>
    <dgm:cxn modelId="{865A3DBC-AC94-4319-A050-B839D1A2476D}" srcId="{0FEBE96D-FACE-4E1D-8412-4C5BAE6BD782}" destId="{7C4466E8-F86E-4C77-B997-477F0BC67A47}" srcOrd="3" destOrd="0" parTransId="{4243862B-19F0-439F-96C2-6D182C6644CF}" sibTransId="{87444F69-B766-425F-9051-83B794BFA1CC}"/>
    <dgm:cxn modelId="{5D50C1C5-C5C7-4F96-B726-0D4C9663C691}" type="presOf" srcId="{FA39DADE-7558-42A1-B808-521ACEB5D6A5}" destId="{8D654BCA-5FE7-4E1F-850F-D3D11E5021E4}" srcOrd="0" destOrd="0" presId="urn:microsoft.com/office/officeart/2005/8/layout/default"/>
    <dgm:cxn modelId="{1D196DFF-349D-403F-A720-44C7250BF9AA}" srcId="{0FEBE96D-FACE-4E1D-8412-4C5BAE6BD782}" destId="{49471692-D935-4FE2-A662-4D14F59273E4}" srcOrd="5" destOrd="0" parTransId="{1F62853D-E1CE-4F93-8733-1B5C69408ECD}" sibTransId="{86E50556-C6DB-41ED-994F-161E85F541FC}"/>
    <dgm:cxn modelId="{09D88743-2683-480A-A5BF-E00223011E51}" type="presParOf" srcId="{C2550B1F-46CD-4900-8B1F-C9D0D0A43944}" destId="{EF687A1C-0A02-46B5-8C46-F84671F2E3F6}" srcOrd="0" destOrd="0" presId="urn:microsoft.com/office/officeart/2005/8/layout/default"/>
    <dgm:cxn modelId="{6AA345D2-8D82-4A0D-8F4B-97203CF93A42}" type="presParOf" srcId="{C2550B1F-46CD-4900-8B1F-C9D0D0A43944}" destId="{8CD48971-A046-4696-80BF-2FDC9036989F}" srcOrd="1" destOrd="0" presId="urn:microsoft.com/office/officeart/2005/8/layout/default"/>
    <dgm:cxn modelId="{69C84EED-1BB7-41F0-9DC7-693EADEFD8F5}" type="presParOf" srcId="{C2550B1F-46CD-4900-8B1F-C9D0D0A43944}" destId="{2B7840A9-3AA8-4103-AE65-6A8C1924BF89}" srcOrd="2" destOrd="0" presId="urn:microsoft.com/office/officeart/2005/8/layout/default"/>
    <dgm:cxn modelId="{2AF55D59-E5DC-43CB-A958-635FC4D98A6C}" type="presParOf" srcId="{C2550B1F-46CD-4900-8B1F-C9D0D0A43944}" destId="{98B58CB8-36A3-4BCF-95A6-6668DC838541}" srcOrd="3" destOrd="0" presId="urn:microsoft.com/office/officeart/2005/8/layout/default"/>
    <dgm:cxn modelId="{32EEB563-9D02-49B6-99C8-A05910DB95AC}" type="presParOf" srcId="{C2550B1F-46CD-4900-8B1F-C9D0D0A43944}" destId="{8D654BCA-5FE7-4E1F-850F-D3D11E5021E4}" srcOrd="4" destOrd="0" presId="urn:microsoft.com/office/officeart/2005/8/layout/default"/>
    <dgm:cxn modelId="{DA10EBF2-ABC3-4031-9994-2DD56EDC4787}" type="presParOf" srcId="{C2550B1F-46CD-4900-8B1F-C9D0D0A43944}" destId="{D63CF082-33E0-483A-A5C8-3346956747E6}" srcOrd="5" destOrd="0" presId="urn:microsoft.com/office/officeart/2005/8/layout/default"/>
    <dgm:cxn modelId="{3A8EE5C2-2BBF-4BF1-8FB1-63E9B87DBF44}" type="presParOf" srcId="{C2550B1F-46CD-4900-8B1F-C9D0D0A43944}" destId="{0C4BBFDE-5D77-467F-8CAF-F19B8AB69011}" srcOrd="6" destOrd="0" presId="urn:microsoft.com/office/officeart/2005/8/layout/default"/>
    <dgm:cxn modelId="{5E71C370-A47F-4DD2-A0A2-899A9F1D804B}" type="presParOf" srcId="{C2550B1F-46CD-4900-8B1F-C9D0D0A43944}" destId="{B331CCDA-78C1-4F33-AD45-BA517C73D0F8}" srcOrd="7" destOrd="0" presId="urn:microsoft.com/office/officeart/2005/8/layout/default"/>
    <dgm:cxn modelId="{3A3A11EF-321B-48E6-98B8-82080D169A1A}" type="presParOf" srcId="{C2550B1F-46CD-4900-8B1F-C9D0D0A43944}" destId="{96BA3846-35CB-44B9-9E54-C8DDFD3E5E26}" srcOrd="8" destOrd="0" presId="urn:microsoft.com/office/officeart/2005/8/layout/default"/>
    <dgm:cxn modelId="{9B776D63-9BF3-4B70-9106-EA290CFCA7DC}" type="presParOf" srcId="{C2550B1F-46CD-4900-8B1F-C9D0D0A43944}" destId="{4A6816A2-D6C0-4B6C-B4D9-1276D348D65C}" srcOrd="9" destOrd="0" presId="urn:microsoft.com/office/officeart/2005/8/layout/default"/>
    <dgm:cxn modelId="{C2958F78-7598-4572-9D7E-8CEB70AFD8D5}" type="presParOf" srcId="{C2550B1F-46CD-4900-8B1F-C9D0D0A43944}" destId="{035CE4CE-EE28-416E-AC21-405F6F483011}" srcOrd="10" destOrd="0" presId="urn:microsoft.com/office/officeart/2005/8/layout/default"/>
    <dgm:cxn modelId="{E5FE30B4-5BBA-4BF2-AD9F-998D6515E8CA}" type="presParOf" srcId="{C2550B1F-46CD-4900-8B1F-C9D0D0A43944}" destId="{C0EA9223-A04E-495F-8C96-8F54CD421516}" srcOrd="11" destOrd="0" presId="urn:microsoft.com/office/officeart/2005/8/layout/default"/>
    <dgm:cxn modelId="{36814D7B-D23E-4959-A331-3D6364598127}" type="presParOf" srcId="{C2550B1F-46CD-4900-8B1F-C9D0D0A43944}" destId="{D0279EE1-F104-49B2-A3C2-7603E1624350}"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94528F-2CA4-4EF0-8582-0560F1E1E02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C2E5C1B-2247-4009-8693-86E0A4A36AC4}">
      <dgm:prSet phldrT="[Text]"/>
      <dgm:spPr/>
      <dgm:t>
        <a:bodyPr/>
        <a:lstStyle/>
        <a:p>
          <a:pPr>
            <a:buFont typeface="Arial" panose="020B0604020202020204" pitchFamily="34" charset="0"/>
            <a:buChar char="•"/>
          </a:pPr>
          <a:r>
            <a:rPr lang="en-GB" dirty="0"/>
            <a:t>racial or ethnic origin</a:t>
          </a:r>
          <a:endParaRPr lang="en-US" dirty="0"/>
        </a:p>
      </dgm:t>
    </dgm:pt>
    <dgm:pt modelId="{94BCD036-EBC3-4D1C-8190-C9A6B081988D}" type="parTrans" cxnId="{30A514EC-B2A6-43F4-93E7-484DCFC7A96B}">
      <dgm:prSet/>
      <dgm:spPr/>
      <dgm:t>
        <a:bodyPr/>
        <a:lstStyle/>
        <a:p>
          <a:endParaRPr lang="en-US"/>
        </a:p>
      </dgm:t>
    </dgm:pt>
    <dgm:pt modelId="{A7FB5367-8690-4741-A6A8-875163D6DE4E}" type="sibTrans" cxnId="{30A514EC-B2A6-43F4-93E7-484DCFC7A96B}">
      <dgm:prSet/>
      <dgm:spPr/>
      <dgm:t>
        <a:bodyPr/>
        <a:lstStyle/>
        <a:p>
          <a:endParaRPr lang="en-US"/>
        </a:p>
      </dgm:t>
    </dgm:pt>
    <dgm:pt modelId="{591F3147-B731-4AA6-8A8B-1303848FF8F5}">
      <dgm:prSet/>
      <dgm:spPr/>
      <dgm:t>
        <a:bodyPr/>
        <a:lstStyle/>
        <a:p>
          <a:r>
            <a:rPr lang="en-GB" dirty="0"/>
            <a:t>private life </a:t>
          </a:r>
          <a:r>
            <a:rPr lang="en-GB"/>
            <a:t>and s*xual</a:t>
          </a:r>
          <a:r>
            <a:rPr lang="en-GB" dirty="0"/>
            <a:t> orientation</a:t>
          </a:r>
          <a:endParaRPr lang="en-US" dirty="0"/>
        </a:p>
      </dgm:t>
    </dgm:pt>
    <dgm:pt modelId="{523186DF-75F9-4995-BC93-499E6087A90D}" type="parTrans" cxnId="{ADF25074-E867-43FF-9AD2-C0635663CBFD}">
      <dgm:prSet/>
      <dgm:spPr/>
      <dgm:t>
        <a:bodyPr/>
        <a:lstStyle/>
        <a:p>
          <a:endParaRPr lang="en-US"/>
        </a:p>
      </dgm:t>
    </dgm:pt>
    <dgm:pt modelId="{6664A274-F547-462B-B350-E748222203AE}" type="sibTrans" cxnId="{ADF25074-E867-43FF-9AD2-C0635663CBFD}">
      <dgm:prSet/>
      <dgm:spPr/>
      <dgm:t>
        <a:bodyPr/>
        <a:lstStyle/>
        <a:p>
          <a:endParaRPr lang="en-US"/>
        </a:p>
      </dgm:t>
    </dgm:pt>
    <dgm:pt modelId="{0BA18ACC-39CC-4DF5-BA8A-E082C9D5FDA7}">
      <dgm:prSet/>
      <dgm:spPr/>
      <dgm:t>
        <a:bodyPr/>
        <a:lstStyle/>
        <a:p>
          <a:r>
            <a:rPr lang="en-GB" dirty="0"/>
            <a:t>political opinions</a:t>
          </a:r>
        </a:p>
      </dgm:t>
    </dgm:pt>
    <dgm:pt modelId="{AAACD35C-79C1-40F2-A914-11AAA2CCC07D}" type="parTrans" cxnId="{6DDBD595-E12F-481D-908F-2CF68F243A8A}">
      <dgm:prSet/>
      <dgm:spPr/>
      <dgm:t>
        <a:bodyPr/>
        <a:lstStyle/>
        <a:p>
          <a:endParaRPr lang="en-US"/>
        </a:p>
      </dgm:t>
    </dgm:pt>
    <dgm:pt modelId="{8D6B0BCF-A156-45F2-8BF2-85F3FC5EDC77}" type="sibTrans" cxnId="{6DDBD595-E12F-481D-908F-2CF68F243A8A}">
      <dgm:prSet/>
      <dgm:spPr/>
      <dgm:t>
        <a:bodyPr/>
        <a:lstStyle/>
        <a:p>
          <a:endParaRPr lang="en-US"/>
        </a:p>
      </dgm:t>
    </dgm:pt>
    <dgm:pt modelId="{DB69A364-9B05-45A9-8000-D841A245203B}">
      <dgm:prSet/>
      <dgm:spPr/>
      <dgm:t>
        <a:bodyPr/>
        <a:lstStyle/>
        <a:p>
          <a:r>
            <a:rPr lang="en-GB" dirty="0"/>
            <a:t>religious or philosophical beliefs</a:t>
          </a:r>
        </a:p>
      </dgm:t>
    </dgm:pt>
    <dgm:pt modelId="{090E935E-9EB2-4360-AC52-F9CA254078D8}" type="parTrans" cxnId="{95B2968A-ACD6-454E-871E-D3F0CDD51501}">
      <dgm:prSet/>
      <dgm:spPr/>
      <dgm:t>
        <a:bodyPr/>
        <a:lstStyle/>
        <a:p>
          <a:endParaRPr lang="en-US"/>
        </a:p>
      </dgm:t>
    </dgm:pt>
    <dgm:pt modelId="{8299FD3A-16E9-4E20-822C-060D9A05D5E8}" type="sibTrans" cxnId="{95B2968A-ACD6-454E-871E-D3F0CDD51501}">
      <dgm:prSet/>
      <dgm:spPr/>
      <dgm:t>
        <a:bodyPr/>
        <a:lstStyle/>
        <a:p>
          <a:endParaRPr lang="en-US"/>
        </a:p>
      </dgm:t>
    </dgm:pt>
    <dgm:pt modelId="{72FBC113-2F20-46CE-B6A9-63D6A3A7FEC1}">
      <dgm:prSet/>
      <dgm:spPr/>
      <dgm:t>
        <a:bodyPr/>
        <a:lstStyle/>
        <a:p>
          <a:r>
            <a:rPr lang="en-GB" dirty="0"/>
            <a:t>trade union membership</a:t>
          </a:r>
        </a:p>
      </dgm:t>
    </dgm:pt>
    <dgm:pt modelId="{49AE836D-43FF-4E3B-BED4-8A9B99EBD344}" type="parTrans" cxnId="{AF83DBAD-D959-4820-B208-82A405186D11}">
      <dgm:prSet/>
      <dgm:spPr/>
      <dgm:t>
        <a:bodyPr/>
        <a:lstStyle/>
        <a:p>
          <a:endParaRPr lang="en-US"/>
        </a:p>
      </dgm:t>
    </dgm:pt>
    <dgm:pt modelId="{78AD1103-4EDC-4E9E-9ECB-1B5D66494453}" type="sibTrans" cxnId="{AF83DBAD-D959-4820-B208-82A405186D11}">
      <dgm:prSet/>
      <dgm:spPr/>
      <dgm:t>
        <a:bodyPr/>
        <a:lstStyle/>
        <a:p>
          <a:endParaRPr lang="en-US"/>
        </a:p>
      </dgm:t>
    </dgm:pt>
    <dgm:pt modelId="{7D1E3838-BF10-46C7-BAE3-DFDAB27C5CA5}">
      <dgm:prSet/>
      <dgm:spPr/>
      <dgm:t>
        <a:bodyPr/>
        <a:lstStyle/>
        <a:p>
          <a:r>
            <a:rPr lang="en-GB" dirty="0"/>
            <a:t>Health data (chronic diseases etc)</a:t>
          </a:r>
        </a:p>
      </dgm:t>
    </dgm:pt>
    <dgm:pt modelId="{EAFF8747-9BB9-439E-8654-DB0D44FF98EC}" type="parTrans" cxnId="{4649AF09-D065-4212-A24C-6D9CFB252C75}">
      <dgm:prSet/>
      <dgm:spPr/>
      <dgm:t>
        <a:bodyPr/>
        <a:lstStyle/>
        <a:p>
          <a:endParaRPr lang="en-US"/>
        </a:p>
      </dgm:t>
    </dgm:pt>
    <dgm:pt modelId="{204B4047-ED17-4FC0-A05D-B8E98031D98C}" type="sibTrans" cxnId="{4649AF09-D065-4212-A24C-6D9CFB252C75}">
      <dgm:prSet/>
      <dgm:spPr/>
      <dgm:t>
        <a:bodyPr/>
        <a:lstStyle/>
        <a:p>
          <a:endParaRPr lang="en-US"/>
        </a:p>
      </dgm:t>
    </dgm:pt>
    <dgm:pt modelId="{C76ABABA-7217-4E66-BFD3-3CA63A5C3CB4}">
      <dgm:prSet/>
      <dgm:spPr/>
      <dgm:t>
        <a:bodyPr/>
        <a:lstStyle/>
        <a:p>
          <a:r>
            <a:rPr lang="en-GB" i="1" dirty="0"/>
            <a:t>genetic data</a:t>
          </a:r>
        </a:p>
      </dgm:t>
    </dgm:pt>
    <dgm:pt modelId="{BD9AB09D-CA91-4D83-A92D-C341C8DCA216}" type="parTrans" cxnId="{00026D59-700B-45AD-927A-1731F616C19F}">
      <dgm:prSet/>
      <dgm:spPr/>
      <dgm:t>
        <a:bodyPr/>
        <a:lstStyle/>
        <a:p>
          <a:endParaRPr lang="en-US"/>
        </a:p>
      </dgm:t>
    </dgm:pt>
    <dgm:pt modelId="{A663BE1A-BBAF-459E-9C8D-F449F6DB5313}" type="sibTrans" cxnId="{00026D59-700B-45AD-927A-1731F616C19F}">
      <dgm:prSet/>
      <dgm:spPr/>
      <dgm:t>
        <a:bodyPr/>
        <a:lstStyle/>
        <a:p>
          <a:endParaRPr lang="en-US"/>
        </a:p>
      </dgm:t>
    </dgm:pt>
    <dgm:pt modelId="{2CA21466-6176-4030-900B-77FDCB004B7C}">
      <dgm:prSet/>
      <dgm:spPr/>
      <dgm:t>
        <a:bodyPr/>
        <a:lstStyle/>
        <a:p>
          <a:r>
            <a:rPr lang="en-GB" i="1" dirty="0"/>
            <a:t>biometric data where processed to uniquely identify a person</a:t>
          </a:r>
        </a:p>
      </dgm:t>
    </dgm:pt>
    <dgm:pt modelId="{AD28846D-7A92-40E0-BBEA-C73C9E1BEBF0}" type="parTrans" cxnId="{7F83783A-3EAD-4F1F-86FA-00DFFD86E7A5}">
      <dgm:prSet/>
      <dgm:spPr/>
      <dgm:t>
        <a:bodyPr/>
        <a:lstStyle/>
        <a:p>
          <a:endParaRPr lang="en-US"/>
        </a:p>
      </dgm:t>
    </dgm:pt>
    <dgm:pt modelId="{6B04E084-80A8-49F2-A991-76FEB503FA73}" type="sibTrans" cxnId="{7F83783A-3EAD-4F1F-86FA-00DFFD86E7A5}">
      <dgm:prSet/>
      <dgm:spPr/>
      <dgm:t>
        <a:bodyPr/>
        <a:lstStyle/>
        <a:p>
          <a:endParaRPr lang="en-US"/>
        </a:p>
      </dgm:t>
    </dgm:pt>
    <dgm:pt modelId="{57DCB943-DA9E-467A-A2A0-1F922125517E}" type="pres">
      <dgm:prSet presAssocID="{8994528F-2CA4-4EF0-8582-0560F1E1E025}" presName="diagram" presStyleCnt="0">
        <dgm:presLayoutVars>
          <dgm:dir/>
          <dgm:resizeHandles val="exact"/>
        </dgm:presLayoutVars>
      </dgm:prSet>
      <dgm:spPr/>
    </dgm:pt>
    <dgm:pt modelId="{ECFF9013-49B9-4A74-B040-89D02DBA6237}" type="pres">
      <dgm:prSet presAssocID="{FC2E5C1B-2247-4009-8693-86E0A4A36AC4}" presName="node" presStyleLbl="node1" presStyleIdx="0" presStyleCnt="8">
        <dgm:presLayoutVars>
          <dgm:bulletEnabled val="1"/>
        </dgm:presLayoutVars>
      </dgm:prSet>
      <dgm:spPr/>
    </dgm:pt>
    <dgm:pt modelId="{55CBB250-4A78-4ACF-9EB3-25CEC8628BD2}" type="pres">
      <dgm:prSet presAssocID="{A7FB5367-8690-4741-A6A8-875163D6DE4E}" presName="sibTrans" presStyleCnt="0"/>
      <dgm:spPr/>
    </dgm:pt>
    <dgm:pt modelId="{3577BBE1-5E91-431C-A473-5CB2DDEEB893}" type="pres">
      <dgm:prSet presAssocID="{0BA18ACC-39CC-4DF5-BA8A-E082C9D5FDA7}" presName="node" presStyleLbl="node1" presStyleIdx="1" presStyleCnt="8">
        <dgm:presLayoutVars>
          <dgm:bulletEnabled val="1"/>
        </dgm:presLayoutVars>
      </dgm:prSet>
      <dgm:spPr/>
    </dgm:pt>
    <dgm:pt modelId="{50E0C917-0788-4F6B-A6BD-CF4667EDA09D}" type="pres">
      <dgm:prSet presAssocID="{8D6B0BCF-A156-45F2-8BF2-85F3FC5EDC77}" presName="sibTrans" presStyleCnt="0"/>
      <dgm:spPr/>
    </dgm:pt>
    <dgm:pt modelId="{6DF81A80-A2C2-4DA0-A312-5BB0C3FCBEF5}" type="pres">
      <dgm:prSet presAssocID="{DB69A364-9B05-45A9-8000-D841A245203B}" presName="node" presStyleLbl="node1" presStyleIdx="2" presStyleCnt="8">
        <dgm:presLayoutVars>
          <dgm:bulletEnabled val="1"/>
        </dgm:presLayoutVars>
      </dgm:prSet>
      <dgm:spPr/>
    </dgm:pt>
    <dgm:pt modelId="{5B3B2C21-7E5E-4B35-81BB-D81BCA9B1AEB}" type="pres">
      <dgm:prSet presAssocID="{8299FD3A-16E9-4E20-822C-060D9A05D5E8}" presName="sibTrans" presStyleCnt="0"/>
      <dgm:spPr/>
    </dgm:pt>
    <dgm:pt modelId="{246C24B7-903F-4886-9889-B1BBBD6754B2}" type="pres">
      <dgm:prSet presAssocID="{72FBC113-2F20-46CE-B6A9-63D6A3A7FEC1}" presName="node" presStyleLbl="node1" presStyleIdx="3" presStyleCnt="8">
        <dgm:presLayoutVars>
          <dgm:bulletEnabled val="1"/>
        </dgm:presLayoutVars>
      </dgm:prSet>
      <dgm:spPr/>
    </dgm:pt>
    <dgm:pt modelId="{1D8A8B71-2DB3-4164-A538-E260BBD4EAFE}" type="pres">
      <dgm:prSet presAssocID="{78AD1103-4EDC-4E9E-9ECB-1B5D66494453}" presName="sibTrans" presStyleCnt="0"/>
      <dgm:spPr/>
    </dgm:pt>
    <dgm:pt modelId="{6EFB97AC-0E5C-41CF-8892-8EED76208F71}" type="pres">
      <dgm:prSet presAssocID="{7D1E3838-BF10-46C7-BAE3-DFDAB27C5CA5}" presName="node" presStyleLbl="node1" presStyleIdx="4" presStyleCnt="8">
        <dgm:presLayoutVars>
          <dgm:bulletEnabled val="1"/>
        </dgm:presLayoutVars>
      </dgm:prSet>
      <dgm:spPr/>
    </dgm:pt>
    <dgm:pt modelId="{0276F4F7-7935-43C2-9FF5-7C56FB402CE4}" type="pres">
      <dgm:prSet presAssocID="{204B4047-ED17-4FC0-A05D-B8E98031D98C}" presName="sibTrans" presStyleCnt="0"/>
      <dgm:spPr/>
    </dgm:pt>
    <dgm:pt modelId="{7CB018D9-A9C3-4585-9BFC-377F64C7DDD2}" type="pres">
      <dgm:prSet presAssocID="{C76ABABA-7217-4E66-BFD3-3CA63A5C3CB4}" presName="node" presStyleLbl="node1" presStyleIdx="5" presStyleCnt="8">
        <dgm:presLayoutVars>
          <dgm:bulletEnabled val="1"/>
        </dgm:presLayoutVars>
      </dgm:prSet>
      <dgm:spPr/>
    </dgm:pt>
    <dgm:pt modelId="{3672B719-CFB0-4A0C-990C-8377F98EC939}" type="pres">
      <dgm:prSet presAssocID="{A663BE1A-BBAF-459E-9C8D-F449F6DB5313}" presName="sibTrans" presStyleCnt="0"/>
      <dgm:spPr/>
    </dgm:pt>
    <dgm:pt modelId="{5504F85C-FEC0-4C22-97B4-40D382218A0D}" type="pres">
      <dgm:prSet presAssocID="{2CA21466-6176-4030-900B-77FDCB004B7C}" presName="node" presStyleLbl="node1" presStyleIdx="6" presStyleCnt="8">
        <dgm:presLayoutVars>
          <dgm:bulletEnabled val="1"/>
        </dgm:presLayoutVars>
      </dgm:prSet>
      <dgm:spPr/>
    </dgm:pt>
    <dgm:pt modelId="{9461EDCF-92CB-4B98-A3C4-8BF02A64BCA3}" type="pres">
      <dgm:prSet presAssocID="{6B04E084-80A8-49F2-A991-76FEB503FA73}" presName="sibTrans" presStyleCnt="0"/>
      <dgm:spPr/>
    </dgm:pt>
    <dgm:pt modelId="{3F566EBF-27E5-4896-9E6B-ACBB9B19DE44}" type="pres">
      <dgm:prSet presAssocID="{591F3147-B731-4AA6-8A8B-1303848FF8F5}" presName="node" presStyleLbl="node1" presStyleIdx="7" presStyleCnt="8">
        <dgm:presLayoutVars>
          <dgm:bulletEnabled val="1"/>
        </dgm:presLayoutVars>
      </dgm:prSet>
      <dgm:spPr/>
    </dgm:pt>
  </dgm:ptLst>
  <dgm:cxnLst>
    <dgm:cxn modelId="{4649AF09-D065-4212-A24C-6D9CFB252C75}" srcId="{8994528F-2CA4-4EF0-8582-0560F1E1E025}" destId="{7D1E3838-BF10-46C7-BAE3-DFDAB27C5CA5}" srcOrd="4" destOrd="0" parTransId="{EAFF8747-9BB9-439E-8654-DB0D44FF98EC}" sibTransId="{204B4047-ED17-4FC0-A05D-B8E98031D98C}"/>
    <dgm:cxn modelId="{5A449A34-2B2D-4CC7-B92F-975E109AEB16}" type="presOf" srcId="{C76ABABA-7217-4E66-BFD3-3CA63A5C3CB4}" destId="{7CB018D9-A9C3-4585-9BFC-377F64C7DDD2}" srcOrd="0" destOrd="0" presId="urn:microsoft.com/office/officeart/2005/8/layout/default"/>
    <dgm:cxn modelId="{8F68C537-E5E4-40DB-8114-8AB01EE0E260}" type="presOf" srcId="{7D1E3838-BF10-46C7-BAE3-DFDAB27C5CA5}" destId="{6EFB97AC-0E5C-41CF-8892-8EED76208F71}" srcOrd="0" destOrd="0" presId="urn:microsoft.com/office/officeart/2005/8/layout/default"/>
    <dgm:cxn modelId="{7F83783A-3EAD-4F1F-86FA-00DFFD86E7A5}" srcId="{8994528F-2CA4-4EF0-8582-0560F1E1E025}" destId="{2CA21466-6176-4030-900B-77FDCB004B7C}" srcOrd="6" destOrd="0" parTransId="{AD28846D-7A92-40E0-BBEA-C73C9E1BEBF0}" sibTransId="{6B04E084-80A8-49F2-A991-76FEB503FA73}"/>
    <dgm:cxn modelId="{5741BE40-C485-4507-9D14-08F94918A301}" type="presOf" srcId="{72FBC113-2F20-46CE-B6A9-63D6A3A7FEC1}" destId="{246C24B7-903F-4886-9889-B1BBBD6754B2}" srcOrd="0" destOrd="0" presId="urn:microsoft.com/office/officeart/2005/8/layout/default"/>
    <dgm:cxn modelId="{874CC562-294F-42E2-8E62-47C6813CCF3A}" type="presOf" srcId="{0BA18ACC-39CC-4DF5-BA8A-E082C9D5FDA7}" destId="{3577BBE1-5E91-431C-A473-5CB2DDEEB893}" srcOrd="0" destOrd="0" presId="urn:microsoft.com/office/officeart/2005/8/layout/default"/>
    <dgm:cxn modelId="{7BA40F72-F976-44FF-BAAA-DE88E1E572D9}" type="presOf" srcId="{2CA21466-6176-4030-900B-77FDCB004B7C}" destId="{5504F85C-FEC0-4C22-97B4-40D382218A0D}" srcOrd="0" destOrd="0" presId="urn:microsoft.com/office/officeart/2005/8/layout/default"/>
    <dgm:cxn modelId="{ADF25074-E867-43FF-9AD2-C0635663CBFD}" srcId="{8994528F-2CA4-4EF0-8582-0560F1E1E025}" destId="{591F3147-B731-4AA6-8A8B-1303848FF8F5}" srcOrd="7" destOrd="0" parTransId="{523186DF-75F9-4995-BC93-499E6087A90D}" sibTransId="{6664A274-F547-462B-B350-E748222203AE}"/>
    <dgm:cxn modelId="{00026D59-700B-45AD-927A-1731F616C19F}" srcId="{8994528F-2CA4-4EF0-8582-0560F1E1E025}" destId="{C76ABABA-7217-4E66-BFD3-3CA63A5C3CB4}" srcOrd="5" destOrd="0" parTransId="{BD9AB09D-CA91-4D83-A92D-C341C8DCA216}" sibTransId="{A663BE1A-BBAF-459E-9C8D-F449F6DB5313}"/>
    <dgm:cxn modelId="{BA3A4A7E-9704-444C-83B2-952A776227D0}" type="presOf" srcId="{591F3147-B731-4AA6-8A8B-1303848FF8F5}" destId="{3F566EBF-27E5-4896-9E6B-ACBB9B19DE44}" srcOrd="0" destOrd="0" presId="urn:microsoft.com/office/officeart/2005/8/layout/default"/>
    <dgm:cxn modelId="{95B2968A-ACD6-454E-871E-D3F0CDD51501}" srcId="{8994528F-2CA4-4EF0-8582-0560F1E1E025}" destId="{DB69A364-9B05-45A9-8000-D841A245203B}" srcOrd="2" destOrd="0" parTransId="{090E935E-9EB2-4360-AC52-F9CA254078D8}" sibTransId="{8299FD3A-16E9-4E20-822C-060D9A05D5E8}"/>
    <dgm:cxn modelId="{6DDBD595-E12F-481D-908F-2CF68F243A8A}" srcId="{8994528F-2CA4-4EF0-8582-0560F1E1E025}" destId="{0BA18ACC-39CC-4DF5-BA8A-E082C9D5FDA7}" srcOrd="1" destOrd="0" parTransId="{AAACD35C-79C1-40F2-A914-11AAA2CCC07D}" sibTransId="{8D6B0BCF-A156-45F2-8BF2-85F3FC5EDC77}"/>
    <dgm:cxn modelId="{EC6E37AA-84C1-4446-9203-6141B369F76C}" type="presOf" srcId="{8994528F-2CA4-4EF0-8582-0560F1E1E025}" destId="{57DCB943-DA9E-467A-A2A0-1F922125517E}" srcOrd="0" destOrd="0" presId="urn:microsoft.com/office/officeart/2005/8/layout/default"/>
    <dgm:cxn modelId="{AF83DBAD-D959-4820-B208-82A405186D11}" srcId="{8994528F-2CA4-4EF0-8582-0560F1E1E025}" destId="{72FBC113-2F20-46CE-B6A9-63D6A3A7FEC1}" srcOrd="3" destOrd="0" parTransId="{49AE836D-43FF-4E3B-BED4-8A9B99EBD344}" sibTransId="{78AD1103-4EDC-4E9E-9ECB-1B5D66494453}"/>
    <dgm:cxn modelId="{57854ECE-373F-4276-B39B-C713A8EBE9AE}" type="presOf" srcId="{FC2E5C1B-2247-4009-8693-86E0A4A36AC4}" destId="{ECFF9013-49B9-4A74-B040-89D02DBA6237}" srcOrd="0" destOrd="0" presId="urn:microsoft.com/office/officeart/2005/8/layout/default"/>
    <dgm:cxn modelId="{948EAAD5-DB6C-4123-A198-6FA83F2782E3}" type="presOf" srcId="{DB69A364-9B05-45A9-8000-D841A245203B}" destId="{6DF81A80-A2C2-4DA0-A312-5BB0C3FCBEF5}" srcOrd="0" destOrd="0" presId="urn:microsoft.com/office/officeart/2005/8/layout/default"/>
    <dgm:cxn modelId="{30A514EC-B2A6-43F4-93E7-484DCFC7A96B}" srcId="{8994528F-2CA4-4EF0-8582-0560F1E1E025}" destId="{FC2E5C1B-2247-4009-8693-86E0A4A36AC4}" srcOrd="0" destOrd="0" parTransId="{94BCD036-EBC3-4D1C-8190-C9A6B081988D}" sibTransId="{A7FB5367-8690-4741-A6A8-875163D6DE4E}"/>
    <dgm:cxn modelId="{E81F18D1-24AF-490A-9810-21B2452DFA77}" type="presParOf" srcId="{57DCB943-DA9E-467A-A2A0-1F922125517E}" destId="{ECFF9013-49B9-4A74-B040-89D02DBA6237}" srcOrd="0" destOrd="0" presId="urn:microsoft.com/office/officeart/2005/8/layout/default"/>
    <dgm:cxn modelId="{EC46BFC7-9090-4D9F-B1C5-0F9469A7C23D}" type="presParOf" srcId="{57DCB943-DA9E-467A-A2A0-1F922125517E}" destId="{55CBB250-4A78-4ACF-9EB3-25CEC8628BD2}" srcOrd="1" destOrd="0" presId="urn:microsoft.com/office/officeart/2005/8/layout/default"/>
    <dgm:cxn modelId="{0613CEEE-D209-4964-A0B4-B35945823FF8}" type="presParOf" srcId="{57DCB943-DA9E-467A-A2A0-1F922125517E}" destId="{3577BBE1-5E91-431C-A473-5CB2DDEEB893}" srcOrd="2" destOrd="0" presId="urn:microsoft.com/office/officeart/2005/8/layout/default"/>
    <dgm:cxn modelId="{FC06C43B-3F4C-4195-B16B-22FBFB9F9147}" type="presParOf" srcId="{57DCB943-DA9E-467A-A2A0-1F922125517E}" destId="{50E0C917-0788-4F6B-A6BD-CF4667EDA09D}" srcOrd="3" destOrd="0" presId="urn:microsoft.com/office/officeart/2005/8/layout/default"/>
    <dgm:cxn modelId="{54D287AF-68C6-4EEA-A8AA-69837DA5FF38}" type="presParOf" srcId="{57DCB943-DA9E-467A-A2A0-1F922125517E}" destId="{6DF81A80-A2C2-4DA0-A312-5BB0C3FCBEF5}" srcOrd="4" destOrd="0" presId="urn:microsoft.com/office/officeart/2005/8/layout/default"/>
    <dgm:cxn modelId="{81FC8635-3D5F-450F-8877-E11FE74441CE}" type="presParOf" srcId="{57DCB943-DA9E-467A-A2A0-1F922125517E}" destId="{5B3B2C21-7E5E-4B35-81BB-D81BCA9B1AEB}" srcOrd="5" destOrd="0" presId="urn:microsoft.com/office/officeart/2005/8/layout/default"/>
    <dgm:cxn modelId="{FD09A8CA-D36E-44E6-873A-074F2D929458}" type="presParOf" srcId="{57DCB943-DA9E-467A-A2A0-1F922125517E}" destId="{246C24B7-903F-4886-9889-B1BBBD6754B2}" srcOrd="6" destOrd="0" presId="urn:microsoft.com/office/officeart/2005/8/layout/default"/>
    <dgm:cxn modelId="{7B22EC88-D80D-4968-80B7-E832DA5559FB}" type="presParOf" srcId="{57DCB943-DA9E-467A-A2A0-1F922125517E}" destId="{1D8A8B71-2DB3-4164-A538-E260BBD4EAFE}" srcOrd="7" destOrd="0" presId="urn:microsoft.com/office/officeart/2005/8/layout/default"/>
    <dgm:cxn modelId="{179D1B10-51EF-4F00-BCEC-5377E66B8CE5}" type="presParOf" srcId="{57DCB943-DA9E-467A-A2A0-1F922125517E}" destId="{6EFB97AC-0E5C-41CF-8892-8EED76208F71}" srcOrd="8" destOrd="0" presId="urn:microsoft.com/office/officeart/2005/8/layout/default"/>
    <dgm:cxn modelId="{451FD9C7-68BC-409A-BE46-DB17613D92E9}" type="presParOf" srcId="{57DCB943-DA9E-467A-A2A0-1F922125517E}" destId="{0276F4F7-7935-43C2-9FF5-7C56FB402CE4}" srcOrd="9" destOrd="0" presId="urn:microsoft.com/office/officeart/2005/8/layout/default"/>
    <dgm:cxn modelId="{BB1E6D14-CBBF-4819-963F-49E983553A1D}" type="presParOf" srcId="{57DCB943-DA9E-467A-A2A0-1F922125517E}" destId="{7CB018D9-A9C3-4585-9BFC-377F64C7DDD2}" srcOrd="10" destOrd="0" presId="urn:microsoft.com/office/officeart/2005/8/layout/default"/>
    <dgm:cxn modelId="{C1B2A5AD-1F89-4919-ADB1-54CF1DFB9C53}" type="presParOf" srcId="{57DCB943-DA9E-467A-A2A0-1F922125517E}" destId="{3672B719-CFB0-4A0C-990C-8377F98EC939}" srcOrd="11" destOrd="0" presId="urn:microsoft.com/office/officeart/2005/8/layout/default"/>
    <dgm:cxn modelId="{B25A2AAA-D829-4947-BD46-D4C6B4612CED}" type="presParOf" srcId="{57DCB943-DA9E-467A-A2A0-1F922125517E}" destId="{5504F85C-FEC0-4C22-97B4-40D382218A0D}" srcOrd="12" destOrd="0" presId="urn:microsoft.com/office/officeart/2005/8/layout/default"/>
    <dgm:cxn modelId="{A2160442-F2C2-4040-AA21-F9CB1082DA7E}" type="presParOf" srcId="{57DCB943-DA9E-467A-A2A0-1F922125517E}" destId="{9461EDCF-92CB-4B98-A3C4-8BF02A64BCA3}" srcOrd="13" destOrd="0" presId="urn:microsoft.com/office/officeart/2005/8/layout/default"/>
    <dgm:cxn modelId="{43DA87DA-120A-4544-8F9B-05C7B68BBB93}" type="presParOf" srcId="{57DCB943-DA9E-467A-A2A0-1F922125517E}" destId="{3F566EBF-27E5-4896-9E6B-ACBB9B19DE44}"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A57668-A50C-46B8-8C81-8A4BD4049652}" type="doc">
      <dgm:prSet loTypeId="urn:microsoft.com/office/officeart/2016/7/layout/LinearBlockProcessNumbered" loCatId="process" qsTypeId="urn:microsoft.com/office/officeart/2005/8/quickstyle/simple1" qsCatId="simple" csTypeId="urn:microsoft.com/office/officeart/2005/8/colors/colorful5" csCatId="colorful"/>
      <dgm:spPr/>
      <dgm:t>
        <a:bodyPr/>
        <a:lstStyle/>
        <a:p>
          <a:endParaRPr lang="en-US"/>
        </a:p>
      </dgm:t>
    </dgm:pt>
    <dgm:pt modelId="{297E913C-E9E4-4387-8395-8645B5AA43B5}">
      <dgm:prSet/>
      <dgm:spPr/>
      <dgm:t>
        <a:bodyPr/>
        <a:lstStyle/>
        <a:p>
          <a:r>
            <a:rPr lang="en-US" dirty="0"/>
            <a:t>“She asked me to remove her information from our systems – but it’s required for regulatory reasons, so I refused”</a:t>
          </a:r>
        </a:p>
      </dgm:t>
    </dgm:pt>
    <dgm:pt modelId="{68F7B2D8-4B45-4B56-9A6C-5BABB13E8789}" type="parTrans" cxnId="{BE077624-B9A4-424A-AC61-62CC06ED6AB3}">
      <dgm:prSet/>
      <dgm:spPr/>
      <dgm:t>
        <a:bodyPr/>
        <a:lstStyle/>
        <a:p>
          <a:endParaRPr lang="en-US"/>
        </a:p>
      </dgm:t>
    </dgm:pt>
    <dgm:pt modelId="{0FECA4BC-9DBA-4252-9885-2B44E5A87398}" type="sibTrans" cxnId="{BE077624-B9A4-424A-AC61-62CC06ED6AB3}">
      <dgm:prSet phldrT="01" phldr="0"/>
      <dgm:spPr/>
      <dgm:t>
        <a:bodyPr/>
        <a:lstStyle/>
        <a:p>
          <a:r>
            <a:rPr lang="en-US"/>
            <a:t>01</a:t>
          </a:r>
        </a:p>
      </dgm:t>
    </dgm:pt>
    <dgm:pt modelId="{715EB291-2524-4411-827D-87D933D911AF}">
      <dgm:prSet/>
      <dgm:spPr/>
      <dgm:t>
        <a:bodyPr/>
        <a:lstStyle/>
        <a:p>
          <a:r>
            <a:rPr lang="en-US" dirty="0"/>
            <a:t>“At first, he gave us his consent to use his data but then he changed his mind – I told him that it wasn’t allowed”</a:t>
          </a:r>
        </a:p>
      </dgm:t>
    </dgm:pt>
    <dgm:pt modelId="{69616E12-D2BF-45D7-8D37-A8756A799428}" type="parTrans" cxnId="{3A261DA8-9BE1-4AD5-A484-8A0D1C39513D}">
      <dgm:prSet/>
      <dgm:spPr/>
      <dgm:t>
        <a:bodyPr/>
        <a:lstStyle/>
        <a:p>
          <a:endParaRPr lang="en-US"/>
        </a:p>
      </dgm:t>
    </dgm:pt>
    <dgm:pt modelId="{11F6A8CB-AFC4-4109-877F-0A0E288026A6}" type="sibTrans" cxnId="{3A261DA8-9BE1-4AD5-A484-8A0D1C39513D}">
      <dgm:prSet phldrT="02" phldr="0"/>
      <dgm:spPr/>
      <dgm:t>
        <a:bodyPr/>
        <a:lstStyle/>
        <a:p>
          <a:r>
            <a:rPr lang="en-US"/>
            <a:t>02</a:t>
          </a:r>
        </a:p>
      </dgm:t>
    </dgm:pt>
    <dgm:pt modelId="{DEC07B94-A0E6-4342-BBCE-192B8585E501}">
      <dgm:prSet/>
      <dgm:spPr/>
      <dgm:t>
        <a:bodyPr/>
        <a:lstStyle/>
        <a:p>
          <a:r>
            <a:rPr lang="en-US" dirty="0"/>
            <a:t>“We assumed she gave us her consent because she placed an order with us and friended us on social media”</a:t>
          </a:r>
        </a:p>
      </dgm:t>
    </dgm:pt>
    <dgm:pt modelId="{056EF198-CD68-4D63-9495-946F902FD15B}" type="parTrans" cxnId="{957A8560-F1E9-4887-9F7A-5FA810E2A3A4}">
      <dgm:prSet/>
      <dgm:spPr/>
      <dgm:t>
        <a:bodyPr/>
        <a:lstStyle/>
        <a:p>
          <a:endParaRPr lang="en-US"/>
        </a:p>
      </dgm:t>
    </dgm:pt>
    <dgm:pt modelId="{163956BC-1A48-4B46-960B-BB5DA9F6B708}" type="sibTrans" cxnId="{957A8560-F1E9-4887-9F7A-5FA810E2A3A4}">
      <dgm:prSet phldrT="03" phldr="0"/>
      <dgm:spPr/>
      <dgm:t>
        <a:bodyPr/>
        <a:lstStyle/>
        <a:p>
          <a:r>
            <a:rPr lang="en-US"/>
            <a:t>03</a:t>
          </a:r>
        </a:p>
      </dgm:t>
    </dgm:pt>
    <dgm:pt modelId="{52DEB30C-5953-4AD1-A868-DAD90C8625AD}" type="pres">
      <dgm:prSet presAssocID="{9EA57668-A50C-46B8-8C81-8A4BD4049652}" presName="Name0" presStyleCnt="0">
        <dgm:presLayoutVars>
          <dgm:animLvl val="lvl"/>
          <dgm:resizeHandles val="exact"/>
        </dgm:presLayoutVars>
      </dgm:prSet>
      <dgm:spPr/>
    </dgm:pt>
    <dgm:pt modelId="{CD2FA670-99DF-4B02-8DF4-4523F77C054C}" type="pres">
      <dgm:prSet presAssocID="{297E913C-E9E4-4387-8395-8645B5AA43B5}" presName="compositeNode" presStyleCnt="0">
        <dgm:presLayoutVars>
          <dgm:bulletEnabled val="1"/>
        </dgm:presLayoutVars>
      </dgm:prSet>
      <dgm:spPr/>
    </dgm:pt>
    <dgm:pt modelId="{238130EF-52FB-4085-981B-12DB6EE469A2}" type="pres">
      <dgm:prSet presAssocID="{297E913C-E9E4-4387-8395-8645B5AA43B5}" presName="bgRect" presStyleLbl="alignNode1" presStyleIdx="0" presStyleCnt="3"/>
      <dgm:spPr/>
    </dgm:pt>
    <dgm:pt modelId="{104B9156-6DA7-4B9E-8373-4A6F7C138969}" type="pres">
      <dgm:prSet presAssocID="{0FECA4BC-9DBA-4252-9885-2B44E5A87398}" presName="sibTransNodeRect" presStyleLbl="alignNode1" presStyleIdx="0" presStyleCnt="3">
        <dgm:presLayoutVars>
          <dgm:chMax val="0"/>
          <dgm:bulletEnabled val="1"/>
        </dgm:presLayoutVars>
      </dgm:prSet>
      <dgm:spPr/>
    </dgm:pt>
    <dgm:pt modelId="{4267780E-2B57-4E9A-AC58-C3B961CBB49D}" type="pres">
      <dgm:prSet presAssocID="{297E913C-E9E4-4387-8395-8645B5AA43B5}" presName="nodeRect" presStyleLbl="alignNode1" presStyleIdx="0" presStyleCnt="3">
        <dgm:presLayoutVars>
          <dgm:bulletEnabled val="1"/>
        </dgm:presLayoutVars>
      </dgm:prSet>
      <dgm:spPr/>
    </dgm:pt>
    <dgm:pt modelId="{011C4FC1-8566-4C50-8FF5-D5349A7D8752}" type="pres">
      <dgm:prSet presAssocID="{0FECA4BC-9DBA-4252-9885-2B44E5A87398}" presName="sibTrans" presStyleCnt="0"/>
      <dgm:spPr/>
    </dgm:pt>
    <dgm:pt modelId="{53C48552-DB9F-41F9-A665-84D39E214AAC}" type="pres">
      <dgm:prSet presAssocID="{715EB291-2524-4411-827D-87D933D911AF}" presName="compositeNode" presStyleCnt="0">
        <dgm:presLayoutVars>
          <dgm:bulletEnabled val="1"/>
        </dgm:presLayoutVars>
      </dgm:prSet>
      <dgm:spPr/>
    </dgm:pt>
    <dgm:pt modelId="{0663762F-E48E-409B-889B-C4FE4B963988}" type="pres">
      <dgm:prSet presAssocID="{715EB291-2524-4411-827D-87D933D911AF}" presName="bgRect" presStyleLbl="alignNode1" presStyleIdx="1" presStyleCnt="3"/>
      <dgm:spPr/>
    </dgm:pt>
    <dgm:pt modelId="{BD6665EC-63CD-4714-BEBD-5A3D23FF5970}" type="pres">
      <dgm:prSet presAssocID="{11F6A8CB-AFC4-4109-877F-0A0E288026A6}" presName="sibTransNodeRect" presStyleLbl="alignNode1" presStyleIdx="1" presStyleCnt="3">
        <dgm:presLayoutVars>
          <dgm:chMax val="0"/>
          <dgm:bulletEnabled val="1"/>
        </dgm:presLayoutVars>
      </dgm:prSet>
      <dgm:spPr/>
    </dgm:pt>
    <dgm:pt modelId="{EBE90282-987F-44FC-851E-777DFA733755}" type="pres">
      <dgm:prSet presAssocID="{715EB291-2524-4411-827D-87D933D911AF}" presName="nodeRect" presStyleLbl="alignNode1" presStyleIdx="1" presStyleCnt="3">
        <dgm:presLayoutVars>
          <dgm:bulletEnabled val="1"/>
        </dgm:presLayoutVars>
      </dgm:prSet>
      <dgm:spPr/>
    </dgm:pt>
    <dgm:pt modelId="{D93D8CC1-EB3B-49D1-AC2A-30D81BE244CB}" type="pres">
      <dgm:prSet presAssocID="{11F6A8CB-AFC4-4109-877F-0A0E288026A6}" presName="sibTrans" presStyleCnt="0"/>
      <dgm:spPr/>
    </dgm:pt>
    <dgm:pt modelId="{8A2698AA-838E-41FF-BD44-7D388B057158}" type="pres">
      <dgm:prSet presAssocID="{DEC07B94-A0E6-4342-BBCE-192B8585E501}" presName="compositeNode" presStyleCnt="0">
        <dgm:presLayoutVars>
          <dgm:bulletEnabled val="1"/>
        </dgm:presLayoutVars>
      </dgm:prSet>
      <dgm:spPr/>
    </dgm:pt>
    <dgm:pt modelId="{03FFFE18-CADD-4D91-8D82-CB3A154DBC63}" type="pres">
      <dgm:prSet presAssocID="{DEC07B94-A0E6-4342-BBCE-192B8585E501}" presName="bgRect" presStyleLbl="alignNode1" presStyleIdx="2" presStyleCnt="3"/>
      <dgm:spPr/>
    </dgm:pt>
    <dgm:pt modelId="{1DC7ED64-08F9-49BE-9ADA-F206EBC07751}" type="pres">
      <dgm:prSet presAssocID="{163956BC-1A48-4B46-960B-BB5DA9F6B708}" presName="sibTransNodeRect" presStyleLbl="alignNode1" presStyleIdx="2" presStyleCnt="3">
        <dgm:presLayoutVars>
          <dgm:chMax val="0"/>
          <dgm:bulletEnabled val="1"/>
        </dgm:presLayoutVars>
      </dgm:prSet>
      <dgm:spPr/>
    </dgm:pt>
    <dgm:pt modelId="{23135ADB-B095-4D87-ADBF-5C40B2FFDFB7}" type="pres">
      <dgm:prSet presAssocID="{DEC07B94-A0E6-4342-BBCE-192B8585E501}" presName="nodeRect" presStyleLbl="alignNode1" presStyleIdx="2" presStyleCnt="3">
        <dgm:presLayoutVars>
          <dgm:bulletEnabled val="1"/>
        </dgm:presLayoutVars>
      </dgm:prSet>
      <dgm:spPr/>
    </dgm:pt>
  </dgm:ptLst>
  <dgm:cxnLst>
    <dgm:cxn modelId="{125EDB06-0133-405F-ACDA-E3CA5492B202}" type="presOf" srcId="{11F6A8CB-AFC4-4109-877F-0A0E288026A6}" destId="{BD6665EC-63CD-4714-BEBD-5A3D23FF5970}" srcOrd="0" destOrd="0" presId="urn:microsoft.com/office/officeart/2016/7/layout/LinearBlockProcessNumbered"/>
    <dgm:cxn modelId="{BE077624-B9A4-424A-AC61-62CC06ED6AB3}" srcId="{9EA57668-A50C-46B8-8C81-8A4BD4049652}" destId="{297E913C-E9E4-4387-8395-8645B5AA43B5}" srcOrd="0" destOrd="0" parTransId="{68F7B2D8-4B45-4B56-9A6C-5BABB13E8789}" sibTransId="{0FECA4BC-9DBA-4252-9885-2B44E5A87398}"/>
    <dgm:cxn modelId="{957A8560-F1E9-4887-9F7A-5FA810E2A3A4}" srcId="{9EA57668-A50C-46B8-8C81-8A4BD4049652}" destId="{DEC07B94-A0E6-4342-BBCE-192B8585E501}" srcOrd="2" destOrd="0" parTransId="{056EF198-CD68-4D63-9495-946F902FD15B}" sibTransId="{163956BC-1A48-4B46-960B-BB5DA9F6B708}"/>
    <dgm:cxn modelId="{F6F39C43-66C3-48E6-A579-1C0782B9077B}" type="presOf" srcId="{DEC07B94-A0E6-4342-BBCE-192B8585E501}" destId="{23135ADB-B095-4D87-ADBF-5C40B2FFDFB7}" srcOrd="1" destOrd="0" presId="urn:microsoft.com/office/officeart/2016/7/layout/LinearBlockProcessNumbered"/>
    <dgm:cxn modelId="{8B606D49-D908-46F0-A4E7-11EC88B2043B}" type="presOf" srcId="{715EB291-2524-4411-827D-87D933D911AF}" destId="{0663762F-E48E-409B-889B-C4FE4B963988}" srcOrd="0" destOrd="0" presId="urn:microsoft.com/office/officeart/2016/7/layout/LinearBlockProcessNumbered"/>
    <dgm:cxn modelId="{9C03E693-D3E5-4030-BA90-CCBFC6A61806}" type="presOf" srcId="{DEC07B94-A0E6-4342-BBCE-192B8585E501}" destId="{03FFFE18-CADD-4D91-8D82-CB3A154DBC63}" srcOrd="0" destOrd="0" presId="urn:microsoft.com/office/officeart/2016/7/layout/LinearBlockProcessNumbered"/>
    <dgm:cxn modelId="{8EC50F9D-A126-40B3-90A0-5D6AACEF047D}" type="presOf" srcId="{163956BC-1A48-4B46-960B-BB5DA9F6B708}" destId="{1DC7ED64-08F9-49BE-9ADA-F206EBC07751}" srcOrd="0" destOrd="0" presId="urn:microsoft.com/office/officeart/2016/7/layout/LinearBlockProcessNumbered"/>
    <dgm:cxn modelId="{36F9B89D-7A80-4317-B7D6-F8B10B10E794}" type="presOf" srcId="{9EA57668-A50C-46B8-8C81-8A4BD4049652}" destId="{52DEB30C-5953-4AD1-A868-DAD90C8625AD}" srcOrd="0" destOrd="0" presId="urn:microsoft.com/office/officeart/2016/7/layout/LinearBlockProcessNumbered"/>
    <dgm:cxn modelId="{3A261DA8-9BE1-4AD5-A484-8A0D1C39513D}" srcId="{9EA57668-A50C-46B8-8C81-8A4BD4049652}" destId="{715EB291-2524-4411-827D-87D933D911AF}" srcOrd="1" destOrd="0" parTransId="{69616E12-D2BF-45D7-8D37-A8756A799428}" sibTransId="{11F6A8CB-AFC4-4109-877F-0A0E288026A6}"/>
    <dgm:cxn modelId="{E7D866A9-BA42-4BAB-9F56-6D31E46AED6A}" type="presOf" srcId="{297E913C-E9E4-4387-8395-8645B5AA43B5}" destId="{4267780E-2B57-4E9A-AC58-C3B961CBB49D}" srcOrd="1" destOrd="0" presId="urn:microsoft.com/office/officeart/2016/7/layout/LinearBlockProcessNumbered"/>
    <dgm:cxn modelId="{ADCC45B4-52F4-426C-8DC4-78DE737BFF37}" type="presOf" srcId="{0FECA4BC-9DBA-4252-9885-2B44E5A87398}" destId="{104B9156-6DA7-4B9E-8373-4A6F7C138969}" srcOrd="0" destOrd="0" presId="urn:microsoft.com/office/officeart/2016/7/layout/LinearBlockProcessNumbered"/>
    <dgm:cxn modelId="{F5634CB6-EFC3-4B8D-BE40-AC7970F8CF80}" type="presOf" srcId="{297E913C-E9E4-4387-8395-8645B5AA43B5}" destId="{238130EF-52FB-4085-981B-12DB6EE469A2}" srcOrd="0" destOrd="0" presId="urn:microsoft.com/office/officeart/2016/7/layout/LinearBlockProcessNumbered"/>
    <dgm:cxn modelId="{344F9BEF-F1AC-4059-9387-3D6A073F5E58}" type="presOf" srcId="{715EB291-2524-4411-827D-87D933D911AF}" destId="{EBE90282-987F-44FC-851E-777DFA733755}" srcOrd="1" destOrd="0" presId="urn:microsoft.com/office/officeart/2016/7/layout/LinearBlockProcessNumbered"/>
    <dgm:cxn modelId="{A926356D-9025-4828-BB9A-E4FFE4C431BD}" type="presParOf" srcId="{52DEB30C-5953-4AD1-A868-DAD90C8625AD}" destId="{CD2FA670-99DF-4B02-8DF4-4523F77C054C}" srcOrd="0" destOrd="0" presId="urn:microsoft.com/office/officeart/2016/7/layout/LinearBlockProcessNumbered"/>
    <dgm:cxn modelId="{C4B48090-E6CF-45C1-B8DE-AB0814F635A9}" type="presParOf" srcId="{CD2FA670-99DF-4B02-8DF4-4523F77C054C}" destId="{238130EF-52FB-4085-981B-12DB6EE469A2}" srcOrd="0" destOrd="0" presId="urn:microsoft.com/office/officeart/2016/7/layout/LinearBlockProcessNumbered"/>
    <dgm:cxn modelId="{1A663B5B-5C77-4C62-AD4D-40F74F67107D}" type="presParOf" srcId="{CD2FA670-99DF-4B02-8DF4-4523F77C054C}" destId="{104B9156-6DA7-4B9E-8373-4A6F7C138969}" srcOrd="1" destOrd="0" presId="urn:microsoft.com/office/officeart/2016/7/layout/LinearBlockProcessNumbered"/>
    <dgm:cxn modelId="{7CDE1869-9C83-4E24-AB86-7C1DAB29CF47}" type="presParOf" srcId="{CD2FA670-99DF-4B02-8DF4-4523F77C054C}" destId="{4267780E-2B57-4E9A-AC58-C3B961CBB49D}" srcOrd="2" destOrd="0" presId="urn:microsoft.com/office/officeart/2016/7/layout/LinearBlockProcessNumbered"/>
    <dgm:cxn modelId="{FEF05A9D-9A3A-44DE-800D-FC2F4CA19A95}" type="presParOf" srcId="{52DEB30C-5953-4AD1-A868-DAD90C8625AD}" destId="{011C4FC1-8566-4C50-8FF5-D5349A7D8752}" srcOrd="1" destOrd="0" presId="urn:microsoft.com/office/officeart/2016/7/layout/LinearBlockProcessNumbered"/>
    <dgm:cxn modelId="{1CE8B5AB-E92F-4E4D-B46E-3F4DA794CA06}" type="presParOf" srcId="{52DEB30C-5953-4AD1-A868-DAD90C8625AD}" destId="{53C48552-DB9F-41F9-A665-84D39E214AAC}" srcOrd="2" destOrd="0" presId="urn:microsoft.com/office/officeart/2016/7/layout/LinearBlockProcessNumbered"/>
    <dgm:cxn modelId="{2BA35698-9EAA-49BA-B511-960FD42E89E3}" type="presParOf" srcId="{53C48552-DB9F-41F9-A665-84D39E214AAC}" destId="{0663762F-E48E-409B-889B-C4FE4B963988}" srcOrd="0" destOrd="0" presId="urn:microsoft.com/office/officeart/2016/7/layout/LinearBlockProcessNumbered"/>
    <dgm:cxn modelId="{DFD9501F-D406-4D95-A519-2E95FB9D12EE}" type="presParOf" srcId="{53C48552-DB9F-41F9-A665-84D39E214AAC}" destId="{BD6665EC-63CD-4714-BEBD-5A3D23FF5970}" srcOrd="1" destOrd="0" presId="urn:microsoft.com/office/officeart/2016/7/layout/LinearBlockProcessNumbered"/>
    <dgm:cxn modelId="{E6AC6768-A54B-4C30-8A45-B9DAF82DA8F1}" type="presParOf" srcId="{53C48552-DB9F-41F9-A665-84D39E214AAC}" destId="{EBE90282-987F-44FC-851E-777DFA733755}" srcOrd="2" destOrd="0" presId="urn:microsoft.com/office/officeart/2016/7/layout/LinearBlockProcessNumbered"/>
    <dgm:cxn modelId="{83C2466A-4906-40DE-A65F-E50FA1B48CF6}" type="presParOf" srcId="{52DEB30C-5953-4AD1-A868-DAD90C8625AD}" destId="{D93D8CC1-EB3B-49D1-AC2A-30D81BE244CB}" srcOrd="3" destOrd="0" presId="urn:microsoft.com/office/officeart/2016/7/layout/LinearBlockProcessNumbered"/>
    <dgm:cxn modelId="{FD0C4C94-A0F6-4D3E-AC2A-FDD347122EDC}" type="presParOf" srcId="{52DEB30C-5953-4AD1-A868-DAD90C8625AD}" destId="{8A2698AA-838E-41FF-BD44-7D388B057158}" srcOrd="4" destOrd="0" presId="urn:microsoft.com/office/officeart/2016/7/layout/LinearBlockProcessNumbered"/>
    <dgm:cxn modelId="{525D33CC-548A-49F1-9C54-094F53B0D2CA}" type="presParOf" srcId="{8A2698AA-838E-41FF-BD44-7D388B057158}" destId="{03FFFE18-CADD-4D91-8D82-CB3A154DBC63}" srcOrd="0" destOrd="0" presId="urn:microsoft.com/office/officeart/2016/7/layout/LinearBlockProcessNumbered"/>
    <dgm:cxn modelId="{9E6CD144-955E-4AA9-9477-2FE223652B80}" type="presParOf" srcId="{8A2698AA-838E-41FF-BD44-7D388B057158}" destId="{1DC7ED64-08F9-49BE-9ADA-F206EBC07751}" srcOrd="1" destOrd="0" presId="urn:microsoft.com/office/officeart/2016/7/layout/LinearBlockProcessNumbered"/>
    <dgm:cxn modelId="{9B8F5AC9-50ED-49CD-B6BB-4239E8D6FD22}" type="presParOf" srcId="{8A2698AA-838E-41FF-BD44-7D388B057158}" destId="{23135ADB-B095-4D87-ADBF-5C40B2FFDFB7}"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A57668-A50C-46B8-8C81-8A4BD4049652}"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297E913C-E9E4-4387-8395-8645B5AA43B5}">
      <dgm:prSet/>
      <dgm:spPr/>
      <dgm:t>
        <a:bodyPr/>
        <a:lstStyle/>
        <a:p>
          <a:r>
            <a:rPr lang="en-GB" dirty="0">
              <a:ea typeface="Source Sans Pro" charset="0"/>
              <a:cs typeface="Source Sans Pro" charset="0"/>
            </a:rPr>
            <a:t>“There’s a pre-checked box when customers place their order. It gives us consent for future marketing”.</a:t>
          </a:r>
          <a:endParaRPr lang="en-US" dirty="0"/>
        </a:p>
      </dgm:t>
    </dgm:pt>
    <dgm:pt modelId="{68F7B2D8-4B45-4B56-9A6C-5BABB13E8789}" type="parTrans" cxnId="{BE077624-B9A4-424A-AC61-62CC06ED6AB3}">
      <dgm:prSet/>
      <dgm:spPr/>
      <dgm:t>
        <a:bodyPr/>
        <a:lstStyle/>
        <a:p>
          <a:endParaRPr lang="en-US"/>
        </a:p>
      </dgm:t>
    </dgm:pt>
    <dgm:pt modelId="{0FECA4BC-9DBA-4252-9885-2B44E5A87398}" type="sibTrans" cxnId="{BE077624-B9A4-424A-AC61-62CC06ED6AB3}">
      <dgm:prSet phldrT="01" phldr="0"/>
      <dgm:spPr/>
      <dgm:t>
        <a:bodyPr/>
        <a:lstStyle/>
        <a:p>
          <a:r>
            <a:rPr lang="en-US"/>
            <a:t>01</a:t>
          </a:r>
          <a:endParaRPr lang="en-US" dirty="0"/>
        </a:p>
      </dgm:t>
    </dgm:pt>
    <dgm:pt modelId="{715EB291-2524-4411-827D-87D933D911AF}">
      <dgm:prSet/>
      <dgm:spPr/>
      <dgm:t>
        <a:bodyPr/>
        <a:lstStyle/>
        <a:p>
          <a:r>
            <a:rPr lang="en-US" dirty="0"/>
            <a:t>“</a:t>
          </a:r>
          <a:r>
            <a:rPr lang="en-GB" dirty="0">
              <a:ea typeface="Source Sans Pro" charset="0"/>
              <a:cs typeface="Source Sans Pro" charset="0"/>
            </a:rPr>
            <a:t>We’ve got a US firm helping us process customer data. It’s all big-data analytics wizardry”.</a:t>
          </a:r>
          <a:endParaRPr lang="en-US" dirty="0"/>
        </a:p>
      </dgm:t>
    </dgm:pt>
    <dgm:pt modelId="{69616E12-D2BF-45D7-8D37-A8756A799428}" type="parTrans" cxnId="{3A261DA8-9BE1-4AD5-A484-8A0D1C39513D}">
      <dgm:prSet/>
      <dgm:spPr/>
      <dgm:t>
        <a:bodyPr/>
        <a:lstStyle/>
        <a:p>
          <a:endParaRPr lang="en-US"/>
        </a:p>
      </dgm:t>
    </dgm:pt>
    <dgm:pt modelId="{11F6A8CB-AFC4-4109-877F-0A0E288026A6}" type="sibTrans" cxnId="{3A261DA8-9BE1-4AD5-A484-8A0D1C39513D}">
      <dgm:prSet phldrT="02" phldr="0"/>
      <dgm:spPr/>
      <dgm:t>
        <a:bodyPr/>
        <a:lstStyle/>
        <a:p>
          <a:r>
            <a:rPr lang="en-US"/>
            <a:t>02</a:t>
          </a:r>
        </a:p>
      </dgm:t>
    </dgm:pt>
    <dgm:pt modelId="{DEC07B94-A0E6-4342-BBCE-192B8585E501}">
      <dgm:prSet/>
      <dgm:spPr/>
      <dgm:t>
        <a:bodyPr/>
        <a:lstStyle/>
        <a:p>
          <a:r>
            <a:rPr lang="en-US" dirty="0"/>
            <a:t>“We faced a cyberattack on our customers’ data, but after investigation, we saw that no data was affected. We didn’t tell our customers. ”</a:t>
          </a:r>
        </a:p>
      </dgm:t>
    </dgm:pt>
    <dgm:pt modelId="{056EF198-CD68-4D63-9495-946F902FD15B}" type="parTrans" cxnId="{957A8560-F1E9-4887-9F7A-5FA810E2A3A4}">
      <dgm:prSet/>
      <dgm:spPr/>
      <dgm:t>
        <a:bodyPr/>
        <a:lstStyle/>
        <a:p>
          <a:endParaRPr lang="en-US"/>
        </a:p>
      </dgm:t>
    </dgm:pt>
    <dgm:pt modelId="{163956BC-1A48-4B46-960B-BB5DA9F6B708}" type="sibTrans" cxnId="{957A8560-F1E9-4887-9F7A-5FA810E2A3A4}">
      <dgm:prSet phldrT="03" phldr="0"/>
      <dgm:spPr/>
      <dgm:t>
        <a:bodyPr/>
        <a:lstStyle/>
        <a:p>
          <a:r>
            <a:rPr lang="en-US"/>
            <a:t>03</a:t>
          </a:r>
        </a:p>
      </dgm:t>
    </dgm:pt>
    <dgm:pt modelId="{52DEB30C-5953-4AD1-A868-DAD90C8625AD}" type="pres">
      <dgm:prSet presAssocID="{9EA57668-A50C-46B8-8C81-8A4BD4049652}" presName="Name0" presStyleCnt="0">
        <dgm:presLayoutVars>
          <dgm:animLvl val="lvl"/>
          <dgm:resizeHandles val="exact"/>
        </dgm:presLayoutVars>
      </dgm:prSet>
      <dgm:spPr/>
    </dgm:pt>
    <dgm:pt modelId="{CD2FA670-99DF-4B02-8DF4-4523F77C054C}" type="pres">
      <dgm:prSet presAssocID="{297E913C-E9E4-4387-8395-8645B5AA43B5}" presName="compositeNode" presStyleCnt="0">
        <dgm:presLayoutVars>
          <dgm:bulletEnabled val="1"/>
        </dgm:presLayoutVars>
      </dgm:prSet>
      <dgm:spPr/>
    </dgm:pt>
    <dgm:pt modelId="{238130EF-52FB-4085-981B-12DB6EE469A2}" type="pres">
      <dgm:prSet presAssocID="{297E913C-E9E4-4387-8395-8645B5AA43B5}" presName="bgRect" presStyleLbl="alignNode1" presStyleIdx="0" presStyleCnt="3"/>
      <dgm:spPr/>
    </dgm:pt>
    <dgm:pt modelId="{104B9156-6DA7-4B9E-8373-4A6F7C138969}" type="pres">
      <dgm:prSet presAssocID="{0FECA4BC-9DBA-4252-9885-2B44E5A87398}" presName="sibTransNodeRect" presStyleLbl="alignNode1" presStyleIdx="0" presStyleCnt="3">
        <dgm:presLayoutVars>
          <dgm:chMax val="0"/>
          <dgm:bulletEnabled val="1"/>
        </dgm:presLayoutVars>
      </dgm:prSet>
      <dgm:spPr/>
    </dgm:pt>
    <dgm:pt modelId="{4267780E-2B57-4E9A-AC58-C3B961CBB49D}" type="pres">
      <dgm:prSet presAssocID="{297E913C-E9E4-4387-8395-8645B5AA43B5}" presName="nodeRect" presStyleLbl="alignNode1" presStyleIdx="0" presStyleCnt="3">
        <dgm:presLayoutVars>
          <dgm:bulletEnabled val="1"/>
        </dgm:presLayoutVars>
      </dgm:prSet>
      <dgm:spPr/>
    </dgm:pt>
    <dgm:pt modelId="{011C4FC1-8566-4C50-8FF5-D5349A7D8752}" type="pres">
      <dgm:prSet presAssocID="{0FECA4BC-9DBA-4252-9885-2B44E5A87398}" presName="sibTrans" presStyleCnt="0"/>
      <dgm:spPr/>
    </dgm:pt>
    <dgm:pt modelId="{53C48552-DB9F-41F9-A665-84D39E214AAC}" type="pres">
      <dgm:prSet presAssocID="{715EB291-2524-4411-827D-87D933D911AF}" presName="compositeNode" presStyleCnt="0">
        <dgm:presLayoutVars>
          <dgm:bulletEnabled val="1"/>
        </dgm:presLayoutVars>
      </dgm:prSet>
      <dgm:spPr/>
    </dgm:pt>
    <dgm:pt modelId="{0663762F-E48E-409B-889B-C4FE4B963988}" type="pres">
      <dgm:prSet presAssocID="{715EB291-2524-4411-827D-87D933D911AF}" presName="bgRect" presStyleLbl="alignNode1" presStyleIdx="1" presStyleCnt="3"/>
      <dgm:spPr/>
    </dgm:pt>
    <dgm:pt modelId="{BD6665EC-63CD-4714-BEBD-5A3D23FF5970}" type="pres">
      <dgm:prSet presAssocID="{11F6A8CB-AFC4-4109-877F-0A0E288026A6}" presName="sibTransNodeRect" presStyleLbl="alignNode1" presStyleIdx="1" presStyleCnt="3">
        <dgm:presLayoutVars>
          <dgm:chMax val="0"/>
          <dgm:bulletEnabled val="1"/>
        </dgm:presLayoutVars>
      </dgm:prSet>
      <dgm:spPr/>
    </dgm:pt>
    <dgm:pt modelId="{EBE90282-987F-44FC-851E-777DFA733755}" type="pres">
      <dgm:prSet presAssocID="{715EB291-2524-4411-827D-87D933D911AF}" presName="nodeRect" presStyleLbl="alignNode1" presStyleIdx="1" presStyleCnt="3">
        <dgm:presLayoutVars>
          <dgm:bulletEnabled val="1"/>
        </dgm:presLayoutVars>
      </dgm:prSet>
      <dgm:spPr/>
    </dgm:pt>
    <dgm:pt modelId="{D93D8CC1-EB3B-49D1-AC2A-30D81BE244CB}" type="pres">
      <dgm:prSet presAssocID="{11F6A8CB-AFC4-4109-877F-0A0E288026A6}" presName="sibTrans" presStyleCnt="0"/>
      <dgm:spPr/>
    </dgm:pt>
    <dgm:pt modelId="{8A2698AA-838E-41FF-BD44-7D388B057158}" type="pres">
      <dgm:prSet presAssocID="{DEC07B94-A0E6-4342-BBCE-192B8585E501}" presName="compositeNode" presStyleCnt="0">
        <dgm:presLayoutVars>
          <dgm:bulletEnabled val="1"/>
        </dgm:presLayoutVars>
      </dgm:prSet>
      <dgm:spPr/>
    </dgm:pt>
    <dgm:pt modelId="{03FFFE18-CADD-4D91-8D82-CB3A154DBC63}" type="pres">
      <dgm:prSet presAssocID="{DEC07B94-A0E6-4342-BBCE-192B8585E501}" presName="bgRect" presStyleLbl="alignNode1" presStyleIdx="2" presStyleCnt="3"/>
      <dgm:spPr/>
    </dgm:pt>
    <dgm:pt modelId="{1DC7ED64-08F9-49BE-9ADA-F206EBC07751}" type="pres">
      <dgm:prSet presAssocID="{163956BC-1A48-4B46-960B-BB5DA9F6B708}" presName="sibTransNodeRect" presStyleLbl="alignNode1" presStyleIdx="2" presStyleCnt="3">
        <dgm:presLayoutVars>
          <dgm:chMax val="0"/>
          <dgm:bulletEnabled val="1"/>
        </dgm:presLayoutVars>
      </dgm:prSet>
      <dgm:spPr/>
    </dgm:pt>
    <dgm:pt modelId="{23135ADB-B095-4D87-ADBF-5C40B2FFDFB7}" type="pres">
      <dgm:prSet presAssocID="{DEC07B94-A0E6-4342-BBCE-192B8585E501}" presName="nodeRect" presStyleLbl="alignNode1" presStyleIdx="2" presStyleCnt="3">
        <dgm:presLayoutVars>
          <dgm:bulletEnabled val="1"/>
        </dgm:presLayoutVars>
      </dgm:prSet>
      <dgm:spPr/>
    </dgm:pt>
  </dgm:ptLst>
  <dgm:cxnLst>
    <dgm:cxn modelId="{125EDB06-0133-405F-ACDA-E3CA5492B202}" type="presOf" srcId="{11F6A8CB-AFC4-4109-877F-0A0E288026A6}" destId="{BD6665EC-63CD-4714-BEBD-5A3D23FF5970}" srcOrd="0" destOrd="0" presId="urn:microsoft.com/office/officeart/2016/7/layout/LinearBlockProcessNumbered"/>
    <dgm:cxn modelId="{BE077624-B9A4-424A-AC61-62CC06ED6AB3}" srcId="{9EA57668-A50C-46B8-8C81-8A4BD4049652}" destId="{297E913C-E9E4-4387-8395-8645B5AA43B5}" srcOrd="0" destOrd="0" parTransId="{68F7B2D8-4B45-4B56-9A6C-5BABB13E8789}" sibTransId="{0FECA4BC-9DBA-4252-9885-2B44E5A87398}"/>
    <dgm:cxn modelId="{957A8560-F1E9-4887-9F7A-5FA810E2A3A4}" srcId="{9EA57668-A50C-46B8-8C81-8A4BD4049652}" destId="{DEC07B94-A0E6-4342-BBCE-192B8585E501}" srcOrd="2" destOrd="0" parTransId="{056EF198-CD68-4D63-9495-946F902FD15B}" sibTransId="{163956BC-1A48-4B46-960B-BB5DA9F6B708}"/>
    <dgm:cxn modelId="{F6F39C43-66C3-48E6-A579-1C0782B9077B}" type="presOf" srcId="{DEC07B94-A0E6-4342-BBCE-192B8585E501}" destId="{23135ADB-B095-4D87-ADBF-5C40B2FFDFB7}" srcOrd="1" destOrd="0" presId="urn:microsoft.com/office/officeart/2016/7/layout/LinearBlockProcessNumbered"/>
    <dgm:cxn modelId="{8B606D49-D908-46F0-A4E7-11EC88B2043B}" type="presOf" srcId="{715EB291-2524-4411-827D-87D933D911AF}" destId="{0663762F-E48E-409B-889B-C4FE4B963988}" srcOrd="0" destOrd="0" presId="urn:microsoft.com/office/officeart/2016/7/layout/LinearBlockProcessNumbered"/>
    <dgm:cxn modelId="{9C03E693-D3E5-4030-BA90-CCBFC6A61806}" type="presOf" srcId="{DEC07B94-A0E6-4342-BBCE-192B8585E501}" destId="{03FFFE18-CADD-4D91-8D82-CB3A154DBC63}" srcOrd="0" destOrd="0" presId="urn:microsoft.com/office/officeart/2016/7/layout/LinearBlockProcessNumbered"/>
    <dgm:cxn modelId="{8EC50F9D-A126-40B3-90A0-5D6AACEF047D}" type="presOf" srcId="{163956BC-1A48-4B46-960B-BB5DA9F6B708}" destId="{1DC7ED64-08F9-49BE-9ADA-F206EBC07751}" srcOrd="0" destOrd="0" presId="urn:microsoft.com/office/officeart/2016/7/layout/LinearBlockProcessNumbered"/>
    <dgm:cxn modelId="{36F9B89D-7A80-4317-B7D6-F8B10B10E794}" type="presOf" srcId="{9EA57668-A50C-46B8-8C81-8A4BD4049652}" destId="{52DEB30C-5953-4AD1-A868-DAD90C8625AD}" srcOrd="0" destOrd="0" presId="urn:microsoft.com/office/officeart/2016/7/layout/LinearBlockProcessNumbered"/>
    <dgm:cxn modelId="{3A261DA8-9BE1-4AD5-A484-8A0D1C39513D}" srcId="{9EA57668-A50C-46B8-8C81-8A4BD4049652}" destId="{715EB291-2524-4411-827D-87D933D911AF}" srcOrd="1" destOrd="0" parTransId="{69616E12-D2BF-45D7-8D37-A8756A799428}" sibTransId="{11F6A8CB-AFC4-4109-877F-0A0E288026A6}"/>
    <dgm:cxn modelId="{E7D866A9-BA42-4BAB-9F56-6D31E46AED6A}" type="presOf" srcId="{297E913C-E9E4-4387-8395-8645B5AA43B5}" destId="{4267780E-2B57-4E9A-AC58-C3B961CBB49D}" srcOrd="1" destOrd="0" presId="urn:microsoft.com/office/officeart/2016/7/layout/LinearBlockProcessNumbered"/>
    <dgm:cxn modelId="{ADCC45B4-52F4-426C-8DC4-78DE737BFF37}" type="presOf" srcId="{0FECA4BC-9DBA-4252-9885-2B44E5A87398}" destId="{104B9156-6DA7-4B9E-8373-4A6F7C138969}" srcOrd="0" destOrd="0" presId="urn:microsoft.com/office/officeart/2016/7/layout/LinearBlockProcessNumbered"/>
    <dgm:cxn modelId="{F5634CB6-EFC3-4B8D-BE40-AC7970F8CF80}" type="presOf" srcId="{297E913C-E9E4-4387-8395-8645B5AA43B5}" destId="{238130EF-52FB-4085-981B-12DB6EE469A2}" srcOrd="0" destOrd="0" presId="urn:microsoft.com/office/officeart/2016/7/layout/LinearBlockProcessNumbered"/>
    <dgm:cxn modelId="{344F9BEF-F1AC-4059-9387-3D6A073F5E58}" type="presOf" srcId="{715EB291-2524-4411-827D-87D933D911AF}" destId="{EBE90282-987F-44FC-851E-777DFA733755}" srcOrd="1" destOrd="0" presId="urn:microsoft.com/office/officeart/2016/7/layout/LinearBlockProcessNumbered"/>
    <dgm:cxn modelId="{A926356D-9025-4828-BB9A-E4FFE4C431BD}" type="presParOf" srcId="{52DEB30C-5953-4AD1-A868-DAD90C8625AD}" destId="{CD2FA670-99DF-4B02-8DF4-4523F77C054C}" srcOrd="0" destOrd="0" presId="urn:microsoft.com/office/officeart/2016/7/layout/LinearBlockProcessNumbered"/>
    <dgm:cxn modelId="{C4B48090-E6CF-45C1-B8DE-AB0814F635A9}" type="presParOf" srcId="{CD2FA670-99DF-4B02-8DF4-4523F77C054C}" destId="{238130EF-52FB-4085-981B-12DB6EE469A2}" srcOrd="0" destOrd="0" presId="urn:microsoft.com/office/officeart/2016/7/layout/LinearBlockProcessNumbered"/>
    <dgm:cxn modelId="{1A663B5B-5C77-4C62-AD4D-40F74F67107D}" type="presParOf" srcId="{CD2FA670-99DF-4B02-8DF4-4523F77C054C}" destId="{104B9156-6DA7-4B9E-8373-4A6F7C138969}" srcOrd="1" destOrd="0" presId="urn:microsoft.com/office/officeart/2016/7/layout/LinearBlockProcessNumbered"/>
    <dgm:cxn modelId="{7CDE1869-9C83-4E24-AB86-7C1DAB29CF47}" type="presParOf" srcId="{CD2FA670-99DF-4B02-8DF4-4523F77C054C}" destId="{4267780E-2B57-4E9A-AC58-C3B961CBB49D}" srcOrd="2" destOrd="0" presId="urn:microsoft.com/office/officeart/2016/7/layout/LinearBlockProcessNumbered"/>
    <dgm:cxn modelId="{FEF05A9D-9A3A-44DE-800D-FC2F4CA19A95}" type="presParOf" srcId="{52DEB30C-5953-4AD1-A868-DAD90C8625AD}" destId="{011C4FC1-8566-4C50-8FF5-D5349A7D8752}" srcOrd="1" destOrd="0" presId="urn:microsoft.com/office/officeart/2016/7/layout/LinearBlockProcessNumbered"/>
    <dgm:cxn modelId="{1CE8B5AB-E92F-4E4D-B46E-3F4DA794CA06}" type="presParOf" srcId="{52DEB30C-5953-4AD1-A868-DAD90C8625AD}" destId="{53C48552-DB9F-41F9-A665-84D39E214AAC}" srcOrd="2" destOrd="0" presId="urn:microsoft.com/office/officeart/2016/7/layout/LinearBlockProcessNumbered"/>
    <dgm:cxn modelId="{2BA35698-9EAA-49BA-B511-960FD42E89E3}" type="presParOf" srcId="{53C48552-DB9F-41F9-A665-84D39E214AAC}" destId="{0663762F-E48E-409B-889B-C4FE4B963988}" srcOrd="0" destOrd="0" presId="urn:microsoft.com/office/officeart/2016/7/layout/LinearBlockProcessNumbered"/>
    <dgm:cxn modelId="{DFD9501F-D406-4D95-A519-2E95FB9D12EE}" type="presParOf" srcId="{53C48552-DB9F-41F9-A665-84D39E214AAC}" destId="{BD6665EC-63CD-4714-BEBD-5A3D23FF5970}" srcOrd="1" destOrd="0" presId="urn:microsoft.com/office/officeart/2016/7/layout/LinearBlockProcessNumbered"/>
    <dgm:cxn modelId="{E6AC6768-A54B-4C30-8A45-B9DAF82DA8F1}" type="presParOf" srcId="{53C48552-DB9F-41F9-A665-84D39E214AAC}" destId="{EBE90282-987F-44FC-851E-777DFA733755}" srcOrd="2" destOrd="0" presId="urn:microsoft.com/office/officeart/2016/7/layout/LinearBlockProcessNumbered"/>
    <dgm:cxn modelId="{83C2466A-4906-40DE-A65F-E50FA1B48CF6}" type="presParOf" srcId="{52DEB30C-5953-4AD1-A868-DAD90C8625AD}" destId="{D93D8CC1-EB3B-49D1-AC2A-30D81BE244CB}" srcOrd="3" destOrd="0" presId="urn:microsoft.com/office/officeart/2016/7/layout/LinearBlockProcessNumbered"/>
    <dgm:cxn modelId="{FD0C4C94-A0F6-4D3E-AC2A-FDD347122EDC}" type="presParOf" srcId="{52DEB30C-5953-4AD1-A868-DAD90C8625AD}" destId="{8A2698AA-838E-41FF-BD44-7D388B057158}" srcOrd="4" destOrd="0" presId="urn:microsoft.com/office/officeart/2016/7/layout/LinearBlockProcessNumbered"/>
    <dgm:cxn modelId="{525D33CC-548A-49F1-9C54-094F53B0D2CA}" type="presParOf" srcId="{8A2698AA-838E-41FF-BD44-7D388B057158}" destId="{03FFFE18-CADD-4D91-8D82-CB3A154DBC63}" srcOrd="0" destOrd="0" presId="urn:microsoft.com/office/officeart/2016/7/layout/LinearBlockProcessNumbered"/>
    <dgm:cxn modelId="{9E6CD144-955E-4AA9-9477-2FE223652B80}" type="presParOf" srcId="{8A2698AA-838E-41FF-BD44-7D388B057158}" destId="{1DC7ED64-08F9-49BE-9ADA-F206EBC07751}" srcOrd="1" destOrd="0" presId="urn:microsoft.com/office/officeart/2016/7/layout/LinearBlockProcessNumbered"/>
    <dgm:cxn modelId="{9B8F5AC9-50ED-49CD-B6BB-4239E8D6FD22}" type="presParOf" srcId="{8A2698AA-838E-41FF-BD44-7D388B057158}" destId="{23135ADB-B095-4D87-ADBF-5C40B2FFDFB7}"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87A1C-0A02-46B5-8C46-F84671F2E3F6}">
      <dsp:nvSpPr>
        <dsp:cNvPr id="0" name=""/>
        <dsp:cNvSpPr/>
      </dsp:nvSpPr>
      <dsp:spPr>
        <a:xfrm>
          <a:off x="2403" y="27067"/>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Name and Date of Birth</a:t>
          </a:r>
        </a:p>
      </dsp:txBody>
      <dsp:txXfrm>
        <a:off x="2403" y="27067"/>
        <a:ext cx="1907039" cy="1144223"/>
      </dsp:txXfrm>
    </dsp:sp>
    <dsp:sp modelId="{2B7840A9-3AA8-4103-AE65-6A8C1924BF89}">
      <dsp:nvSpPr>
        <dsp:cNvPr id="0" name=""/>
        <dsp:cNvSpPr/>
      </dsp:nvSpPr>
      <dsp:spPr>
        <a:xfrm>
          <a:off x="2100146" y="27067"/>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Address</a:t>
          </a:r>
        </a:p>
      </dsp:txBody>
      <dsp:txXfrm>
        <a:off x="2100146" y="27067"/>
        <a:ext cx="1907039" cy="1144223"/>
      </dsp:txXfrm>
    </dsp:sp>
    <dsp:sp modelId="{8D654BCA-5FE7-4E1F-850F-D3D11E5021E4}">
      <dsp:nvSpPr>
        <dsp:cNvPr id="0" name=""/>
        <dsp:cNvSpPr/>
      </dsp:nvSpPr>
      <dsp:spPr>
        <a:xfrm>
          <a:off x="4197889" y="27067"/>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Phone number</a:t>
          </a:r>
        </a:p>
      </dsp:txBody>
      <dsp:txXfrm>
        <a:off x="4197889" y="27067"/>
        <a:ext cx="1907039" cy="1144223"/>
      </dsp:txXfrm>
    </dsp:sp>
    <dsp:sp modelId="{0C4BBFDE-5D77-467F-8CAF-F19B8AB69011}">
      <dsp:nvSpPr>
        <dsp:cNvPr id="0" name=""/>
        <dsp:cNvSpPr/>
      </dsp:nvSpPr>
      <dsp:spPr>
        <a:xfrm>
          <a:off x="6295633" y="27067"/>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Email Address</a:t>
          </a:r>
        </a:p>
      </dsp:txBody>
      <dsp:txXfrm>
        <a:off x="6295633" y="27067"/>
        <a:ext cx="1907039" cy="1144223"/>
      </dsp:txXfrm>
    </dsp:sp>
    <dsp:sp modelId="{96BA3846-35CB-44B9-9E54-C8DDFD3E5E26}">
      <dsp:nvSpPr>
        <dsp:cNvPr id="0" name=""/>
        <dsp:cNvSpPr/>
      </dsp:nvSpPr>
      <dsp:spPr>
        <a:xfrm>
          <a:off x="1051275" y="1361994"/>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Images (Still or Video from CCTV)</a:t>
          </a:r>
        </a:p>
      </dsp:txBody>
      <dsp:txXfrm>
        <a:off x="1051275" y="1361994"/>
        <a:ext cx="1907039" cy="1144223"/>
      </dsp:txXfrm>
    </dsp:sp>
    <dsp:sp modelId="{035CE4CE-EE28-416E-AC21-405F6F483011}">
      <dsp:nvSpPr>
        <dsp:cNvPr id="0" name=""/>
        <dsp:cNvSpPr/>
      </dsp:nvSpPr>
      <dsp:spPr>
        <a:xfrm>
          <a:off x="3149018" y="1361994"/>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Cookies and IP address</a:t>
          </a:r>
        </a:p>
      </dsp:txBody>
      <dsp:txXfrm>
        <a:off x="3149018" y="1361994"/>
        <a:ext cx="1907039" cy="1144223"/>
      </dsp:txXfrm>
    </dsp:sp>
    <dsp:sp modelId="{D0279EE1-F104-49B2-A3C2-7603E1624350}">
      <dsp:nvSpPr>
        <dsp:cNvPr id="0" name=""/>
        <dsp:cNvSpPr/>
      </dsp:nvSpPr>
      <dsp:spPr>
        <a:xfrm>
          <a:off x="5246761" y="1361994"/>
          <a:ext cx="1907039" cy="11442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Financial information (Bank statements and credit cards)</a:t>
          </a:r>
        </a:p>
      </dsp:txBody>
      <dsp:txXfrm>
        <a:off x="5246761" y="1361994"/>
        <a:ext cx="1907039" cy="1144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F9013-49B9-4A74-B040-89D02DBA6237}">
      <dsp:nvSpPr>
        <dsp:cNvPr id="0" name=""/>
        <dsp:cNvSpPr/>
      </dsp:nvSpPr>
      <dsp:spPr>
        <a:xfrm>
          <a:off x="2471" y="80158"/>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GB" sz="1800" kern="1200" dirty="0"/>
            <a:t>racial or ethnic origin</a:t>
          </a:r>
          <a:endParaRPr lang="en-US" sz="1800" kern="1200" dirty="0"/>
        </a:p>
      </dsp:txBody>
      <dsp:txXfrm>
        <a:off x="2471" y="80158"/>
        <a:ext cx="1960781" cy="1176468"/>
      </dsp:txXfrm>
    </dsp:sp>
    <dsp:sp modelId="{3577BBE1-5E91-431C-A473-5CB2DDEEB893}">
      <dsp:nvSpPr>
        <dsp:cNvPr id="0" name=""/>
        <dsp:cNvSpPr/>
      </dsp:nvSpPr>
      <dsp:spPr>
        <a:xfrm>
          <a:off x="2159331" y="80158"/>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political opinions</a:t>
          </a:r>
        </a:p>
      </dsp:txBody>
      <dsp:txXfrm>
        <a:off x="2159331" y="80158"/>
        <a:ext cx="1960781" cy="1176468"/>
      </dsp:txXfrm>
    </dsp:sp>
    <dsp:sp modelId="{6DF81A80-A2C2-4DA0-A312-5BB0C3FCBEF5}">
      <dsp:nvSpPr>
        <dsp:cNvPr id="0" name=""/>
        <dsp:cNvSpPr/>
      </dsp:nvSpPr>
      <dsp:spPr>
        <a:xfrm>
          <a:off x="4316190" y="80158"/>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religious or philosophical beliefs</a:t>
          </a:r>
        </a:p>
      </dsp:txBody>
      <dsp:txXfrm>
        <a:off x="4316190" y="80158"/>
        <a:ext cx="1960781" cy="1176468"/>
      </dsp:txXfrm>
    </dsp:sp>
    <dsp:sp modelId="{246C24B7-903F-4886-9889-B1BBBD6754B2}">
      <dsp:nvSpPr>
        <dsp:cNvPr id="0" name=""/>
        <dsp:cNvSpPr/>
      </dsp:nvSpPr>
      <dsp:spPr>
        <a:xfrm>
          <a:off x="6473050" y="80158"/>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trade union membership</a:t>
          </a:r>
        </a:p>
      </dsp:txBody>
      <dsp:txXfrm>
        <a:off x="6473050" y="80158"/>
        <a:ext cx="1960781" cy="1176468"/>
      </dsp:txXfrm>
    </dsp:sp>
    <dsp:sp modelId="{6EFB97AC-0E5C-41CF-8892-8EED76208F71}">
      <dsp:nvSpPr>
        <dsp:cNvPr id="0" name=""/>
        <dsp:cNvSpPr/>
      </dsp:nvSpPr>
      <dsp:spPr>
        <a:xfrm>
          <a:off x="2471" y="1452705"/>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Health data (chronic diseases etc)</a:t>
          </a:r>
        </a:p>
      </dsp:txBody>
      <dsp:txXfrm>
        <a:off x="2471" y="1452705"/>
        <a:ext cx="1960781" cy="1176468"/>
      </dsp:txXfrm>
    </dsp:sp>
    <dsp:sp modelId="{7CB018D9-A9C3-4585-9BFC-377F64C7DDD2}">
      <dsp:nvSpPr>
        <dsp:cNvPr id="0" name=""/>
        <dsp:cNvSpPr/>
      </dsp:nvSpPr>
      <dsp:spPr>
        <a:xfrm>
          <a:off x="2159331" y="1452705"/>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i="1" kern="1200" dirty="0"/>
            <a:t>genetic data</a:t>
          </a:r>
        </a:p>
      </dsp:txBody>
      <dsp:txXfrm>
        <a:off x="2159331" y="1452705"/>
        <a:ext cx="1960781" cy="1176468"/>
      </dsp:txXfrm>
    </dsp:sp>
    <dsp:sp modelId="{5504F85C-FEC0-4C22-97B4-40D382218A0D}">
      <dsp:nvSpPr>
        <dsp:cNvPr id="0" name=""/>
        <dsp:cNvSpPr/>
      </dsp:nvSpPr>
      <dsp:spPr>
        <a:xfrm>
          <a:off x="4316190" y="1452705"/>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i="1" kern="1200" dirty="0"/>
            <a:t>biometric data where processed to uniquely identify a person</a:t>
          </a:r>
        </a:p>
      </dsp:txBody>
      <dsp:txXfrm>
        <a:off x="4316190" y="1452705"/>
        <a:ext cx="1960781" cy="1176468"/>
      </dsp:txXfrm>
    </dsp:sp>
    <dsp:sp modelId="{3F566EBF-27E5-4896-9E6B-ACBB9B19DE44}">
      <dsp:nvSpPr>
        <dsp:cNvPr id="0" name=""/>
        <dsp:cNvSpPr/>
      </dsp:nvSpPr>
      <dsp:spPr>
        <a:xfrm>
          <a:off x="6473050" y="1452705"/>
          <a:ext cx="1960781" cy="11764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private life </a:t>
          </a:r>
          <a:r>
            <a:rPr lang="en-GB" sz="1800" kern="1200"/>
            <a:t>and s*xual</a:t>
          </a:r>
          <a:r>
            <a:rPr lang="en-GB" sz="1800" kern="1200" dirty="0"/>
            <a:t> orientation</a:t>
          </a:r>
          <a:endParaRPr lang="en-US" sz="1800" kern="1200" dirty="0"/>
        </a:p>
      </dsp:txBody>
      <dsp:txXfrm>
        <a:off x="6473050" y="1452705"/>
        <a:ext cx="1960781" cy="11764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130EF-52FB-4085-981B-12DB6EE469A2}">
      <dsp:nvSpPr>
        <dsp:cNvPr id="0" name=""/>
        <dsp:cNvSpPr/>
      </dsp:nvSpPr>
      <dsp:spPr>
        <a:xfrm>
          <a:off x="799" y="794458"/>
          <a:ext cx="3239138" cy="3886966"/>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955" tIns="0" rIns="319955" bIns="330200" numCol="1" spcCol="1270" anchor="t" anchorCtr="0">
          <a:noAutofit/>
        </a:bodyPr>
        <a:lstStyle/>
        <a:p>
          <a:pPr marL="0" lvl="0" indent="0" algn="l" defTabSz="889000">
            <a:lnSpc>
              <a:spcPct val="90000"/>
            </a:lnSpc>
            <a:spcBef>
              <a:spcPct val="0"/>
            </a:spcBef>
            <a:spcAft>
              <a:spcPct val="35000"/>
            </a:spcAft>
            <a:buNone/>
          </a:pPr>
          <a:r>
            <a:rPr lang="en-US" sz="2000" kern="1200" dirty="0"/>
            <a:t>“She asked me to remove her information from our systems – but it’s required for regulatory reasons, so I refused”</a:t>
          </a:r>
        </a:p>
      </dsp:txBody>
      <dsp:txXfrm>
        <a:off x="799" y="2349244"/>
        <a:ext cx="3239138" cy="2332179"/>
      </dsp:txXfrm>
    </dsp:sp>
    <dsp:sp modelId="{104B9156-6DA7-4B9E-8373-4A6F7C138969}">
      <dsp:nvSpPr>
        <dsp:cNvPr id="0" name=""/>
        <dsp:cNvSpPr/>
      </dsp:nvSpPr>
      <dsp:spPr>
        <a:xfrm>
          <a:off x="799" y="794458"/>
          <a:ext cx="3239138" cy="155478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9955" tIns="165100" rIns="319955"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99" y="794458"/>
        <a:ext cx="3239138" cy="1554786"/>
      </dsp:txXfrm>
    </dsp:sp>
    <dsp:sp modelId="{0663762F-E48E-409B-889B-C4FE4B963988}">
      <dsp:nvSpPr>
        <dsp:cNvPr id="0" name=""/>
        <dsp:cNvSpPr/>
      </dsp:nvSpPr>
      <dsp:spPr>
        <a:xfrm>
          <a:off x="3499069" y="794458"/>
          <a:ext cx="3239138" cy="3886966"/>
        </a:xfrm>
        <a:prstGeom prst="rect">
          <a:avLst/>
        </a:prstGeom>
        <a:solidFill>
          <a:schemeClr val="accent5">
            <a:hueOff val="-740139"/>
            <a:satOff val="347"/>
            <a:lumOff val="-6176"/>
            <a:alphaOff val="0"/>
          </a:schemeClr>
        </a:solidFill>
        <a:ln w="12700" cap="flat" cmpd="sng" algn="ctr">
          <a:solidFill>
            <a:schemeClr val="accent5">
              <a:hueOff val="-740139"/>
              <a:satOff val="347"/>
              <a:lumOff val="-6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955" tIns="0" rIns="319955" bIns="330200" numCol="1" spcCol="1270" anchor="t" anchorCtr="0">
          <a:noAutofit/>
        </a:bodyPr>
        <a:lstStyle/>
        <a:p>
          <a:pPr marL="0" lvl="0" indent="0" algn="l" defTabSz="889000">
            <a:lnSpc>
              <a:spcPct val="90000"/>
            </a:lnSpc>
            <a:spcBef>
              <a:spcPct val="0"/>
            </a:spcBef>
            <a:spcAft>
              <a:spcPct val="35000"/>
            </a:spcAft>
            <a:buNone/>
          </a:pPr>
          <a:r>
            <a:rPr lang="en-US" sz="2000" kern="1200" dirty="0"/>
            <a:t>“At first, he gave us his consent to use his data but then he changed his mind – I told him that it wasn’t allowed”</a:t>
          </a:r>
        </a:p>
      </dsp:txBody>
      <dsp:txXfrm>
        <a:off x="3499069" y="2349244"/>
        <a:ext cx="3239138" cy="2332179"/>
      </dsp:txXfrm>
    </dsp:sp>
    <dsp:sp modelId="{BD6665EC-63CD-4714-BEBD-5A3D23FF5970}">
      <dsp:nvSpPr>
        <dsp:cNvPr id="0" name=""/>
        <dsp:cNvSpPr/>
      </dsp:nvSpPr>
      <dsp:spPr>
        <a:xfrm>
          <a:off x="3499069" y="794458"/>
          <a:ext cx="3239138" cy="155478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9955" tIns="165100" rIns="319955"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499069" y="794458"/>
        <a:ext cx="3239138" cy="1554786"/>
      </dsp:txXfrm>
    </dsp:sp>
    <dsp:sp modelId="{03FFFE18-CADD-4D91-8D82-CB3A154DBC63}">
      <dsp:nvSpPr>
        <dsp:cNvPr id="0" name=""/>
        <dsp:cNvSpPr/>
      </dsp:nvSpPr>
      <dsp:spPr>
        <a:xfrm>
          <a:off x="6997338" y="794458"/>
          <a:ext cx="3239138" cy="3886966"/>
        </a:xfrm>
        <a:prstGeom prst="rect">
          <a:avLst/>
        </a:prstGeom>
        <a:solidFill>
          <a:schemeClr val="accent5">
            <a:hueOff val="-1480278"/>
            <a:satOff val="695"/>
            <a:lumOff val="-12353"/>
            <a:alphaOff val="0"/>
          </a:schemeClr>
        </a:solidFill>
        <a:ln w="12700" cap="flat" cmpd="sng" algn="ctr">
          <a:solidFill>
            <a:schemeClr val="accent5">
              <a:hueOff val="-1480278"/>
              <a:satOff val="695"/>
              <a:lumOff val="-1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955" tIns="0" rIns="319955" bIns="330200" numCol="1" spcCol="1270" anchor="t" anchorCtr="0">
          <a:noAutofit/>
        </a:bodyPr>
        <a:lstStyle/>
        <a:p>
          <a:pPr marL="0" lvl="0" indent="0" algn="l" defTabSz="889000">
            <a:lnSpc>
              <a:spcPct val="90000"/>
            </a:lnSpc>
            <a:spcBef>
              <a:spcPct val="0"/>
            </a:spcBef>
            <a:spcAft>
              <a:spcPct val="35000"/>
            </a:spcAft>
            <a:buNone/>
          </a:pPr>
          <a:r>
            <a:rPr lang="en-US" sz="2000" kern="1200" dirty="0"/>
            <a:t>“We assumed she gave us her consent because she placed an order with us and friended us on social media”</a:t>
          </a:r>
        </a:p>
      </dsp:txBody>
      <dsp:txXfrm>
        <a:off x="6997338" y="2349244"/>
        <a:ext cx="3239138" cy="2332179"/>
      </dsp:txXfrm>
    </dsp:sp>
    <dsp:sp modelId="{1DC7ED64-08F9-49BE-9ADA-F206EBC07751}">
      <dsp:nvSpPr>
        <dsp:cNvPr id="0" name=""/>
        <dsp:cNvSpPr/>
      </dsp:nvSpPr>
      <dsp:spPr>
        <a:xfrm>
          <a:off x="6997338" y="794458"/>
          <a:ext cx="3239138" cy="155478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9955" tIns="165100" rIns="319955"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997338" y="794458"/>
        <a:ext cx="3239138" cy="15547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130EF-52FB-4085-981B-12DB6EE469A2}">
      <dsp:nvSpPr>
        <dsp:cNvPr id="0" name=""/>
        <dsp:cNvSpPr/>
      </dsp:nvSpPr>
      <dsp:spPr>
        <a:xfrm>
          <a:off x="799" y="794458"/>
          <a:ext cx="3239138" cy="3886966"/>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955" tIns="0" rIns="319955" bIns="330200" numCol="1" spcCol="1270" anchor="t" anchorCtr="0">
          <a:noAutofit/>
        </a:bodyPr>
        <a:lstStyle/>
        <a:p>
          <a:pPr marL="0" lvl="0" indent="0" algn="l" defTabSz="889000">
            <a:lnSpc>
              <a:spcPct val="90000"/>
            </a:lnSpc>
            <a:spcBef>
              <a:spcPct val="0"/>
            </a:spcBef>
            <a:spcAft>
              <a:spcPct val="35000"/>
            </a:spcAft>
            <a:buNone/>
          </a:pPr>
          <a:r>
            <a:rPr lang="en-GB" sz="2000" kern="1200" dirty="0">
              <a:ea typeface="Source Sans Pro" charset="0"/>
              <a:cs typeface="Source Sans Pro" charset="0"/>
            </a:rPr>
            <a:t>“There’s a pre-checked box when customers place their order. It gives us consent for future marketing”.</a:t>
          </a:r>
          <a:endParaRPr lang="en-US" sz="2000" kern="1200" dirty="0"/>
        </a:p>
      </dsp:txBody>
      <dsp:txXfrm>
        <a:off x="799" y="2349244"/>
        <a:ext cx="3239138" cy="2332179"/>
      </dsp:txXfrm>
    </dsp:sp>
    <dsp:sp modelId="{104B9156-6DA7-4B9E-8373-4A6F7C138969}">
      <dsp:nvSpPr>
        <dsp:cNvPr id="0" name=""/>
        <dsp:cNvSpPr/>
      </dsp:nvSpPr>
      <dsp:spPr>
        <a:xfrm>
          <a:off x="799" y="794458"/>
          <a:ext cx="3239138" cy="155478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9955" tIns="165100" rIns="319955"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799" y="794458"/>
        <a:ext cx="3239138" cy="1554786"/>
      </dsp:txXfrm>
    </dsp:sp>
    <dsp:sp modelId="{0663762F-E48E-409B-889B-C4FE4B963988}">
      <dsp:nvSpPr>
        <dsp:cNvPr id="0" name=""/>
        <dsp:cNvSpPr/>
      </dsp:nvSpPr>
      <dsp:spPr>
        <a:xfrm>
          <a:off x="3499069" y="794458"/>
          <a:ext cx="3239138" cy="3886966"/>
        </a:xfrm>
        <a:prstGeom prst="rect">
          <a:avLst/>
        </a:prstGeom>
        <a:solidFill>
          <a:schemeClr val="accent5">
            <a:hueOff val="-740139"/>
            <a:satOff val="347"/>
            <a:lumOff val="-6176"/>
            <a:alphaOff val="0"/>
          </a:schemeClr>
        </a:solidFill>
        <a:ln w="12700" cap="flat" cmpd="sng" algn="ctr">
          <a:solidFill>
            <a:schemeClr val="accent5">
              <a:hueOff val="-740139"/>
              <a:satOff val="347"/>
              <a:lumOff val="-6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955" tIns="0" rIns="319955" bIns="330200" numCol="1" spcCol="1270" anchor="t" anchorCtr="0">
          <a:noAutofit/>
        </a:bodyPr>
        <a:lstStyle/>
        <a:p>
          <a:pPr marL="0" lvl="0" indent="0" algn="l" defTabSz="889000">
            <a:lnSpc>
              <a:spcPct val="90000"/>
            </a:lnSpc>
            <a:spcBef>
              <a:spcPct val="0"/>
            </a:spcBef>
            <a:spcAft>
              <a:spcPct val="35000"/>
            </a:spcAft>
            <a:buNone/>
          </a:pPr>
          <a:r>
            <a:rPr lang="en-US" sz="2000" kern="1200" dirty="0"/>
            <a:t>“</a:t>
          </a:r>
          <a:r>
            <a:rPr lang="en-GB" sz="2000" kern="1200" dirty="0">
              <a:ea typeface="Source Sans Pro" charset="0"/>
              <a:cs typeface="Source Sans Pro" charset="0"/>
            </a:rPr>
            <a:t>We’ve got a US firm helping us process customer data. It’s all big-data analytics wizardry”.</a:t>
          </a:r>
          <a:endParaRPr lang="en-US" sz="2000" kern="1200" dirty="0"/>
        </a:p>
      </dsp:txBody>
      <dsp:txXfrm>
        <a:off x="3499069" y="2349244"/>
        <a:ext cx="3239138" cy="2332179"/>
      </dsp:txXfrm>
    </dsp:sp>
    <dsp:sp modelId="{BD6665EC-63CD-4714-BEBD-5A3D23FF5970}">
      <dsp:nvSpPr>
        <dsp:cNvPr id="0" name=""/>
        <dsp:cNvSpPr/>
      </dsp:nvSpPr>
      <dsp:spPr>
        <a:xfrm>
          <a:off x="3499069" y="794458"/>
          <a:ext cx="3239138" cy="155478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9955" tIns="165100" rIns="319955"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499069" y="794458"/>
        <a:ext cx="3239138" cy="1554786"/>
      </dsp:txXfrm>
    </dsp:sp>
    <dsp:sp modelId="{03FFFE18-CADD-4D91-8D82-CB3A154DBC63}">
      <dsp:nvSpPr>
        <dsp:cNvPr id="0" name=""/>
        <dsp:cNvSpPr/>
      </dsp:nvSpPr>
      <dsp:spPr>
        <a:xfrm>
          <a:off x="6997338" y="794458"/>
          <a:ext cx="3239138" cy="3886966"/>
        </a:xfrm>
        <a:prstGeom prst="rect">
          <a:avLst/>
        </a:prstGeom>
        <a:solidFill>
          <a:schemeClr val="accent5">
            <a:hueOff val="-1480278"/>
            <a:satOff val="695"/>
            <a:lumOff val="-12353"/>
            <a:alphaOff val="0"/>
          </a:schemeClr>
        </a:solidFill>
        <a:ln w="12700" cap="flat" cmpd="sng" algn="ctr">
          <a:solidFill>
            <a:schemeClr val="accent5">
              <a:hueOff val="-1480278"/>
              <a:satOff val="695"/>
              <a:lumOff val="-1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955" tIns="0" rIns="319955" bIns="330200" numCol="1" spcCol="1270" anchor="t" anchorCtr="0">
          <a:noAutofit/>
        </a:bodyPr>
        <a:lstStyle/>
        <a:p>
          <a:pPr marL="0" lvl="0" indent="0" algn="l" defTabSz="889000">
            <a:lnSpc>
              <a:spcPct val="90000"/>
            </a:lnSpc>
            <a:spcBef>
              <a:spcPct val="0"/>
            </a:spcBef>
            <a:spcAft>
              <a:spcPct val="35000"/>
            </a:spcAft>
            <a:buNone/>
          </a:pPr>
          <a:r>
            <a:rPr lang="en-US" sz="2000" kern="1200" dirty="0"/>
            <a:t>“We faced a cyberattack on our customers’ data, but after investigation, we saw that no data was affected. We didn’t tell our customers. ”</a:t>
          </a:r>
        </a:p>
      </dsp:txBody>
      <dsp:txXfrm>
        <a:off x="6997338" y="2349244"/>
        <a:ext cx="3239138" cy="2332179"/>
      </dsp:txXfrm>
    </dsp:sp>
    <dsp:sp modelId="{1DC7ED64-08F9-49BE-9ADA-F206EBC07751}">
      <dsp:nvSpPr>
        <dsp:cNvPr id="0" name=""/>
        <dsp:cNvSpPr/>
      </dsp:nvSpPr>
      <dsp:spPr>
        <a:xfrm>
          <a:off x="6997338" y="794458"/>
          <a:ext cx="3239138" cy="155478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9955" tIns="165100" rIns="319955"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997338" y="794458"/>
        <a:ext cx="3239138" cy="155478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2E32C-32DB-4552-AAEB-2DCC35C9D5B4}"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7CB5-9293-4180-A4E6-97F6D0FE5715}" type="slidenum">
              <a:rPr lang="en-US" smtClean="0"/>
              <a:t>‹#›</a:t>
            </a:fld>
            <a:endParaRPr lang="en-US"/>
          </a:p>
        </p:txBody>
      </p:sp>
    </p:spTree>
    <p:extLst>
      <p:ext uri="{BB962C8B-B14F-4D97-AF65-F5344CB8AC3E}">
        <p14:creationId xmlns:p14="http://schemas.microsoft.com/office/powerpoint/2010/main" val="251772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1</a:t>
            </a:fld>
            <a:endParaRPr lang="en-US"/>
          </a:p>
        </p:txBody>
      </p:sp>
    </p:spTree>
    <p:extLst>
      <p:ext uri="{BB962C8B-B14F-4D97-AF65-F5344CB8AC3E}">
        <p14:creationId xmlns:p14="http://schemas.microsoft.com/office/powerpoint/2010/main" val="872094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51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239029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94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05881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6973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28162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85000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9170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18904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08663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44189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toriedabirreria.blogspot.com/2018/"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pdp.gov.bh/index.html"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DF5DF-70C8-1CEA-D39E-C34728BD6BDD}"/>
              </a:ext>
            </a:extLst>
          </p:cNvPr>
          <p:cNvSpPr>
            <a:spLocks noGrp="1"/>
          </p:cNvSpPr>
          <p:nvPr>
            <p:ph type="ctrTitle"/>
          </p:nvPr>
        </p:nvSpPr>
        <p:spPr>
          <a:xfrm>
            <a:off x="1080789" y="2457319"/>
            <a:ext cx="5015211" cy="3495365"/>
          </a:xfrm>
        </p:spPr>
        <p:txBody>
          <a:bodyPr anchor="b">
            <a:normAutofit/>
          </a:bodyPr>
          <a:lstStyle/>
          <a:p>
            <a:r>
              <a:rPr lang="en-US" sz="3600" dirty="0"/>
              <a:t>Chapter 5: Data Protection laws – Local And International</a:t>
            </a:r>
          </a:p>
        </p:txBody>
      </p:sp>
      <p:sp>
        <p:nvSpPr>
          <p:cNvPr id="3" name="Subtitle 2">
            <a:extLst>
              <a:ext uri="{FF2B5EF4-FFF2-40B4-BE49-F238E27FC236}">
                <a16:creationId xmlns:a16="http://schemas.microsoft.com/office/drawing/2014/main" id="{CECE0DD2-D7D9-8145-6C15-D59E2A99FC7D}"/>
              </a:ext>
            </a:extLst>
          </p:cNvPr>
          <p:cNvSpPr>
            <a:spLocks noGrp="1"/>
          </p:cNvSpPr>
          <p:nvPr>
            <p:ph type="subTitle" idx="1"/>
          </p:nvPr>
        </p:nvSpPr>
        <p:spPr>
          <a:xfrm>
            <a:off x="1094716" y="1022130"/>
            <a:ext cx="5001284" cy="1268361"/>
          </a:xfrm>
        </p:spPr>
        <p:txBody>
          <a:bodyPr anchor="t">
            <a:normAutofit/>
          </a:bodyPr>
          <a:lstStyle/>
          <a:p>
            <a:endParaRPr lang="en-US"/>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purple and white sky&#10;&#10;Description automatically generated">
            <a:extLst>
              <a:ext uri="{FF2B5EF4-FFF2-40B4-BE49-F238E27FC236}">
                <a16:creationId xmlns:a16="http://schemas.microsoft.com/office/drawing/2014/main" id="{E633B07B-028F-BDD4-8CF6-7210973F3E09}"/>
              </a:ext>
            </a:extLst>
          </p:cNvPr>
          <p:cNvPicPr>
            <a:picLocks noChangeAspect="1"/>
          </p:cNvPicPr>
          <p:nvPr/>
        </p:nvPicPr>
        <p:blipFill>
          <a:blip r:embed="rId3"/>
          <a:srcRect l="5687" r="14313"/>
          <a:stretch/>
        </p:blipFill>
        <p:spPr>
          <a:xfrm>
            <a:off x="6705594" y="1"/>
            <a:ext cx="5486407" cy="6857999"/>
          </a:xfrm>
          <a:prstGeom prst="rect">
            <a:avLst/>
          </a:prstGeom>
        </p:spPr>
      </p:pic>
    </p:spTree>
    <p:extLst>
      <p:ext uri="{BB962C8B-B14F-4D97-AF65-F5344CB8AC3E}">
        <p14:creationId xmlns:p14="http://schemas.microsoft.com/office/powerpoint/2010/main" val="230566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7A6ACE-A9C5-47FE-8B87-BB64849E66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DD701-EE1C-710B-74F9-5D04AFCEC1AD}"/>
              </a:ext>
            </a:extLst>
          </p:cNvPr>
          <p:cNvSpPr>
            <a:spLocks noGrp="1"/>
          </p:cNvSpPr>
          <p:nvPr>
            <p:ph type="title"/>
          </p:nvPr>
        </p:nvSpPr>
        <p:spPr>
          <a:xfrm>
            <a:off x="1090105" y="1084943"/>
            <a:ext cx="3786696" cy="5083939"/>
          </a:xfrm>
        </p:spPr>
        <p:txBody>
          <a:bodyPr>
            <a:normAutofit/>
          </a:bodyPr>
          <a:lstStyle/>
          <a:p>
            <a:r>
              <a:rPr lang="en-US" sz="4000" dirty="0"/>
              <a:t>European Union’s General Data Protection Regulation (GDPR)</a:t>
            </a:r>
          </a:p>
        </p:txBody>
      </p:sp>
      <p:cxnSp>
        <p:nvCxnSpPr>
          <p:cNvPr id="10" name="Straight Connector 9">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79420"/>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F30FEC55-CF33-3AD4-9738-590062304CCD}"/>
              </a:ext>
            </a:extLst>
          </p:cNvPr>
          <p:cNvSpPr>
            <a:spLocks noGrp="1"/>
          </p:cNvSpPr>
          <p:nvPr>
            <p:ph idx="1"/>
          </p:nvPr>
        </p:nvSpPr>
        <p:spPr>
          <a:xfrm>
            <a:off x="5524500" y="1020395"/>
            <a:ext cx="5486399" cy="5148492"/>
          </a:xfrm>
        </p:spPr>
        <p:txBody>
          <a:bodyPr>
            <a:normAutofit/>
          </a:bodyPr>
          <a:lstStyle/>
          <a:p>
            <a:pPr>
              <a:lnSpc>
                <a:spcPct val="120000"/>
              </a:lnSpc>
            </a:pPr>
            <a:r>
              <a:rPr lang="en-US" sz="1500" dirty="0"/>
              <a:t>At the end of 2015, the European Parliament and Council agreed on a final draft of the General Data Protection Regulation, which became officially enforced on 25 May 2018.</a:t>
            </a:r>
          </a:p>
          <a:p>
            <a:pPr>
              <a:lnSpc>
                <a:spcPct val="120000"/>
              </a:lnSpc>
            </a:pPr>
            <a:r>
              <a:rPr lang="en-US" sz="1500" dirty="0"/>
              <a:t>The GDPR lays down rules relating to the protection of fundamental rights and freedoms of natural persons, and in particular their right to the protection of personal data. </a:t>
            </a:r>
          </a:p>
          <a:p>
            <a:pPr>
              <a:lnSpc>
                <a:spcPct val="120000"/>
              </a:lnSpc>
            </a:pPr>
            <a:r>
              <a:rPr lang="en-US" sz="1500" dirty="0"/>
              <a:t>It aims to improve consumer protection and general levels of privacy for individuals, includes mandatory reporting of data protection breaches and has an increased emphasis on gaining explicit consent to process information. </a:t>
            </a:r>
          </a:p>
          <a:p>
            <a:pPr>
              <a:lnSpc>
                <a:spcPct val="120000"/>
              </a:lnSpc>
            </a:pPr>
            <a:r>
              <a:rPr lang="en-US" sz="1500" dirty="0"/>
              <a:t>Governs how personal data is collected, processed, and protected for EU citizens.</a:t>
            </a:r>
          </a:p>
          <a:p>
            <a:pPr>
              <a:lnSpc>
                <a:spcPct val="120000"/>
              </a:lnSpc>
            </a:pPr>
            <a:r>
              <a:rPr lang="en-US" sz="1500" dirty="0"/>
              <a:t>Applicable globally to any organization dealing with EU residents' data.</a:t>
            </a:r>
          </a:p>
        </p:txBody>
      </p:sp>
      <p:pic>
        <p:nvPicPr>
          <p:cNvPr id="4" name="Picture 3" descr="A blue background with yellow stars and a lock&#10;&#10;Description automatically generated">
            <a:extLst>
              <a:ext uri="{FF2B5EF4-FFF2-40B4-BE49-F238E27FC236}">
                <a16:creationId xmlns:a16="http://schemas.microsoft.com/office/drawing/2014/main" id="{E2900923-EF6C-31EF-A745-0332FFC24B4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03420" y="4404607"/>
            <a:ext cx="4669246" cy="2222561"/>
          </a:xfrm>
          <a:prstGeom prst="rect">
            <a:avLst/>
          </a:prstGeom>
        </p:spPr>
      </p:pic>
      <p:sp>
        <p:nvSpPr>
          <p:cNvPr id="5" name="TextBox 4">
            <a:extLst>
              <a:ext uri="{FF2B5EF4-FFF2-40B4-BE49-F238E27FC236}">
                <a16:creationId xmlns:a16="http://schemas.microsoft.com/office/drawing/2014/main" id="{E8FA8D06-4A20-085E-ACAC-085D236F2B4B}"/>
              </a:ext>
            </a:extLst>
          </p:cNvPr>
          <p:cNvSpPr txBox="1"/>
          <p:nvPr/>
        </p:nvSpPr>
        <p:spPr>
          <a:xfrm>
            <a:off x="585926" y="6674078"/>
            <a:ext cx="4386740" cy="230832"/>
          </a:xfrm>
          <a:prstGeom prst="rect">
            <a:avLst/>
          </a:prstGeom>
          <a:noFill/>
        </p:spPr>
        <p:txBody>
          <a:bodyPr wrap="square" rtlCol="0">
            <a:spAutoFit/>
          </a:bodyPr>
          <a:lstStyle/>
          <a:p>
            <a:r>
              <a:rPr lang="en-US" sz="900" dirty="0">
                <a:hlinkClick r:id="rId3" tooltip="https://storiedabirreria.blogspot.com/2018/"/>
              </a:rPr>
              <a:t>This Photo</a:t>
            </a:r>
            <a:r>
              <a:rPr lang="en-US" sz="900" dirty="0"/>
              <a:t> by Unknown Author is licensed under </a:t>
            </a:r>
            <a:r>
              <a:rPr lang="en-US" sz="900" dirty="0">
                <a:hlinkClick r:id="rId4" tooltip="https://creativecommons.org/licenses/by-nd/3.0/"/>
              </a:rPr>
              <a:t>CC BY-ND</a:t>
            </a:r>
            <a:endParaRPr lang="en-US" sz="900" dirty="0"/>
          </a:p>
        </p:txBody>
      </p:sp>
    </p:spTree>
    <p:extLst>
      <p:ext uri="{BB962C8B-B14F-4D97-AF65-F5344CB8AC3E}">
        <p14:creationId xmlns:p14="http://schemas.microsoft.com/office/powerpoint/2010/main" val="175497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5D35-7E70-768C-A6C9-3B3069883861}"/>
              </a:ext>
            </a:extLst>
          </p:cNvPr>
          <p:cNvSpPr>
            <a:spLocks noGrp="1"/>
          </p:cNvSpPr>
          <p:nvPr>
            <p:ph type="title"/>
          </p:nvPr>
        </p:nvSpPr>
        <p:spPr/>
        <p:txBody>
          <a:bodyPr/>
          <a:lstStyle/>
          <a:p>
            <a:r>
              <a:rPr lang="en-US" dirty="0"/>
              <a:t>Personal Data</a:t>
            </a:r>
          </a:p>
        </p:txBody>
      </p:sp>
      <p:sp>
        <p:nvSpPr>
          <p:cNvPr id="3" name="Content Placeholder 2">
            <a:extLst>
              <a:ext uri="{FF2B5EF4-FFF2-40B4-BE49-F238E27FC236}">
                <a16:creationId xmlns:a16="http://schemas.microsoft.com/office/drawing/2014/main" id="{4E8E07AB-1FB9-718B-8228-7B8A60C12F6F}"/>
              </a:ext>
            </a:extLst>
          </p:cNvPr>
          <p:cNvSpPr>
            <a:spLocks noGrp="1"/>
          </p:cNvSpPr>
          <p:nvPr>
            <p:ph idx="1"/>
          </p:nvPr>
        </p:nvSpPr>
        <p:spPr/>
        <p:txBody>
          <a:bodyPr/>
          <a:lstStyle/>
          <a:p>
            <a:r>
              <a:rPr lang="en-US" dirty="0"/>
              <a:t>Personal Data: Information that relates to an identified or identifiable living individual.</a:t>
            </a:r>
          </a:p>
          <a:p>
            <a:endParaRPr lang="en-US" dirty="0"/>
          </a:p>
        </p:txBody>
      </p:sp>
      <p:graphicFrame>
        <p:nvGraphicFramePr>
          <p:cNvPr id="4" name="Diagram 3">
            <a:extLst>
              <a:ext uri="{FF2B5EF4-FFF2-40B4-BE49-F238E27FC236}">
                <a16:creationId xmlns:a16="http://schemas.microsoft.com/office/drawing/2014/main" id="{D0384520-F154-E545-7B46-A8EAF028FA87}"/>
              </a:ext>
            </a:extLst>
          </p:cNvPr>
          <p:cNvGraphicFramePr/>
          <p:nvPr>
            <p:extLst>
              <p:ext uri="{D42A27DB-BD31-4B8C-83A1-F6EECF244321}">
                <p14:modId xmlns:p14="http://schemas.microsoft.com/office/powerpoint/2010/main" val="2195502890"/>
              </p:ext>
            </p:extLst>
          </p:nvPr>
        </p:nvGraphicFramePr>
        <p:xfrm>
          <a:off x="1779752" y="3234470"/>
          <a:ext cx="8205076" cy="2533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126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62570-D119-9052-B6C6-C9F55509EF79}"/>
              </a:ext>
            </a:extLst>
          </p:cNvPr>
          <p:cNvSpPr>
            <a:spLocks noGrp="1"/>
          </p:cNvSpPr>
          <p:nvPr>
            <p:ph type="title"/>
          </p:nvPr>
        </p:nvSpPr>
        <p:spPr/>
        <p:txBody>
          <a:bodyPr/>
          <a:lstStyle/>
          <a:p>
            <a:r>
              <a:rPr lang="en-US" dirty="0"/>
              <a:t>Personal Data: Special Categories</a:t>
            </a:r>
          </a:p>
        </p:txBody>
      </p:sp>
      <p:sp>
        <p:nvSpPr>
          <p:cNvPr id="3" name="Content Placeholder 2">
            <a:extLst>
              <a:ext uri="{FF2B5EF4-FFF2-40B4-BE49-F238E27FC236}">
                <a16:creationId xmlns:a16="http://schemas.microsoft.com/office/drawing/2014/main" id="{95543D1F-5D64-FF5A-90B8-42D02B72F4EE}"/>
              </a:ext>
            </a:extLst>
          </p:cNvPr>
          <p:cNvSpPr>
            <a:spLocks noGrp="1"/>
          </p:cNvSpPr>
          <p:nvPr>
            <p:ph idx="1"/>
          </p:nvPr>
        </p:nvSpPr>
        <p:spPr/>
        <p:txBody>
          <a:bodyPr/>
          <a:lstStyle/>
          <a:p>
            <a:r>
              <a:rPr lang="en-US" dirty="0"/>
              <a:t>The GDPR’s Special Category of data is for particularly sensitive personal data that can be potentially taken advantage of to commit discrimination and other high crimes.</a:t>
            </a:r>
          </a:p>
          <a:p>
            <a:endParaRPr lang="en-US" dirty="0"/>
          </a:p>
        </p:txBody>
      </p:sp>
      <p:graphicFrame>
        <p:nvGraphicFramePr>
          <p:cNvPr id="4" name="Diagram 3">
            <a:extLst>
              <a:ext uri="{FF2B5EF4-FFF2-40B4-BE49-F238E27FC236}">
                <a16:creationId xmlns:a16="http://schemas.microsoft.com/office/drawing/2014/main" id="{DF3F6311-8195-013F-050F-197F7A1DDE0A}"/>
              </a:ext>
            </a:extLst>
          </p:cNvPr>
          <p:cNvGraphicFramePr/>
          <p:nvPr>
            <p:extLst>
              <p:ext uri="{D42A27DB-BD31-4B8C-83A1-F6EECF244321}">
                <p14:modId xmlns:p14="http://schemas.microsoft.com/office/powerpoint/2010/main" val="536704231"/>
              </p:ext>
            </p:extLst>
          </p:nvPr>
        </p:nvGraphicFramePr>
        <p:xfrm>
          <a:off x="1877848" y="3452648"/>
          <a:ext cx="8436303" cy="2709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5409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CBE862-5718-4CFC-BB09-6FBF659BAD77}"/>
              </a:ext>
            </a:extLst>
          </p:cNvPr>
          <p:cNvSpPr>
            <a:spLocks noGrp="1"/>
          </p:cNvSpPr>
          <p:nvPr>
            <p:ph type="title"/>
          </p:nvPr>
        </p:nvSpPr>
        <p:spPr>
          <a:xfrm>
            <a:off x="1091203" y="1069848"/>
            <a:ext cx="6308775" cy="2049620"/>
          </a:xfrm>
        </p:spPr>
        <p:txBody>
          <a:bodyPr>
            <a:normAutofit/>
          </a:bodyPr>
          <a:lstStyle/>
          <a:p>
            <a:r>
              <a:rPr lang="en-US" sz="6000"/>
              <a:t>Data processing</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218C8FF-58C2-89CE-AD6B-03FAFE4FC339}"/>
              </a:ext>
            </a:extLst>
          </p:cNvPr>
          <p:cNvSpPr>
            <a:spLocks noGrp="1"/>
          </p:cNvSpPr>
          <p:nvPr>
            <p:ph idx="1"/>
          </p:nvPr>
        </p:nvSpPr>
        <p:spPr>
          <a:xfrm>
            <a:off x="1097280" y="3180522"/>
            <a:ext cx="6223996" cy="3105978"/>
          </a:xfrm>
        </p:spPr>
        <p:txBody>
          <a:bodyPr>
            <a:normAutofit/>
          </a:bodyPr>
          <a:lstStyle/>
          <a:p>
            <a:r>
              <a:rPr lang="en-GB" dirty="0"/>
              <a:t>Taking any action with someone’s personal data. This includes recording it, keeping it, changing it, using it and deleting it.</a:t>
            </a:r>
          </a:p>
          <a:p>
            <a:endParaRPr lang="en-GB" dirty="0"/>
          </a:p>
          <a:p>
            <a:endParaRPr lang="en-US" dirty="0"/>
          </a:p>
        </p:txBody>
      </p:sp>
      <p:pic>
        <p:nvPicPr>
          <p:cNvPr id="5" name="Picture 4">
            <a:extLst>
              <a:ext uri="{FF2B5EF4-FFF2-40B4-BE49-F238E27FC236}">
                <a16:creationId xmlns:a16="http://schemas.microsoft.com/office/drawing/2014/main" id="{B46BB45D-AC4E-B73A-F46A-7AE7C776CC66}"/>
              </a:ext>
            </a:extLst>
          </p:cNvPr>
          <p:cNvPicPr>
            <a:picLocks noChangeAspect="1"/>
          </p:cNvPicPr>
          <p:nvPr/>
        </p:nvPicPr>
        <p:blipFill>
          <a:blip r:embed="rId2"/>
          <a:srcRect l="32630" r="37370"/>
          <a:stretch/>
        </p:blipFill>
        <p:spPr>
          <a:xfrm>
            <a:off x="8534400" y="10"/>
            <a:ext cx="3657601" cy="6857990"/>
          </a:xfrm>
          <a:prstGeom prst="rect">
            <a:avLst/>
          </a:prstGeom>
        </p:spPr>
      </p:pic>
    </p:spTree>
    <p:extLst>
      <p:ext uri="{BB962C8B-B14F-4D97-AF65-F5344CB8AC3E}">
        <p14:creationId xmlns:p14="http://schemas.microsoft.com/office/powerpoint/2010/main" val="3501836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fontScale="92500" lnSpcReduction="10000"/>
          </a:bodyPr>
          <a:lstStyle/>
          <a:p>
            <a:r>
              <a:rPr lang="en-US" dirty="0"/>
              <a:t>Personal Data should:</a:t>
            </a:r>
          </a:p>
          <a:p>
            <a:r>
              <a:rPr lang="en-US" dirty="0"/>
              <a:t>Be processed lawfully, fairly and transparently</a:t>
            </a:r>
          </a:p>
          <a:p>
            <a:r>
              <a:rPr lang="en-US" dirty="0"/>
              <a:t>Be used for a specific purpose</a:t>
            </a:r>
          </a:p>
          <a:p>
            <a:r>
              <a:rPr lang="en-US" dirty="0"/>
              <a:t>Be relevant to that purpose</a:t>
            </a:r>
          </a:p>
          <a:p>
            <a:r>
              <a:rPr lang="en-US" dirty="0"/>
              <a:t>Be accurate</a:t>
            </a:r>
          </a:p>
          <a:p>
            <a:r>
              <a:rPr lang="en-US" dirty="0"/>
              <a:t>Be kept no longer than necessary</a:t>
            </a:r>
          </a:p>
          <a:p>
            <a:r>
              <a:rPr lang="en-US" dirty="0"/>
              <a:t>Be kept securely</a:t>
            </a:r>
          </a:p>
          <a:p>
            <a:r>
              <a:rPr lang="en-US" dirty="0"/>
              <a:t>And lastly, that you should be accountable for what you do with Personal Data and how you comply with the other principles. </a:t>
            </a:r>
          </a:p>
          <a:p>
            <a:endParaRPr lang="en-US" dirty="0"/>
          </a:p>
        </p:txBody>
      </p:sp>
    </p:spTree>
    <p:extLst>
      <p:ext uri="{BB962C8B-B14F-4D97-AF65-F5344CB8AC3E}">
        <p14:creationId xmlns:p14="http://schemas.microsoft.com/office/powerpoint/2010/main" val="3009262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fontScale="77500" lnSpcReduction="20000"/>
          </a:bodyPr>
          <a:lstStyle/>
          <a:p>
            <a:pPr marL="0" indent="0">
              <a:buNone/>
            </a:pPr>
            <a:r>
              <a:rPr lang="en-US" b="1" dirty="0"/>
              <a:t>1. Lawfulness, Fairness, and Transparency</a:t>
            </a:r>
          </a:p>
          <a:p>
            <a:pPr marL="0" indent="0">
              <a:buNone/>
            </a:pPr>
            <a:r>
              <a:rPr lang="en-US" dirty="0"/>
              <a:t>This principle requires that personal data must be processed lawfully, fairly, and in a transparent manner. Organizations need to provide individuals with clear information about how their data will be used and ensure that the processing aligns with legal requirements.</a:t>
            </a:r>
          </a:p>
          <a:p>
            <a:r>
              <a:rPr lang="en-US" dirty="0"/>
              <a:t>  </a:t>
            </a:r>
            <a:r>
              <a:rPr lang="en-US" b="1" dirty="0"/>
              <a:t>  Lawfulness: </a:t>
            </a:r>
            <a:r>
              <a:rPr lang="en-US" dirty="0"/>
              <a:t>means that data processing must have a legal basis (such as consent, contract, or legitimate interest).</a:t>
            </a:r>
          </a:p>
          <a:p>
            <a:r>
              <a:rPr lang="en-US" dirty="0"/>
              <a:t>    </a:t>
            </a:r>
            <a:r>
              <a:rPr lang="en-US" b="1" dirty="0"/>
              <a:t>Fairness: </a:t>
            </a:r>
            <a:r>
              <a:rPr lang="en-US" dirty="0"/>
              <a:t>means that data subjects should not be misled or deceived.</a:t>
            </a:r>
          </a:p>
          <a:p>
            <a:r>
              <a:rPr lang="en-US" dirty="0"/>
              <a:t>   </a:t>
            </a:r>
            <a:r>
              <a:rPr lang="en-US" b="1" dirty="0"/>
              <a:t> Transparency: </a:t>
            </a:r>
            <a:r>
              <a:rPr lang="en-US" dirty="0"/>
              <a:t>means organizations must be open about how they handle data.</a:t>
            </a:r>
          </a:p>
          <a:p>
            <a:endParaRPr lang="en-US" dirty="0"/>
          </a:p>
          <a:p>
            <a:r>
              <a:rPr lang="en-US" b="1" dirty="0"/>
              <a:t>Example: </a:t>
            </a:r>
            <a:r>
              <a:rPr lang="en-US" dirty="0"/>
              <a:t>An e-commerce company collects users' email addresses to send them marketing emails. The company asks for the user’s consent during account registration and provides clear information about how the email will be used. Users can also easily access the privacy policy to understand how their data is processed.</a:t>
            </a:r>
          </a:p>
        </p:txBody>
      </p:sp>
    </p:spTree>
    <p:extLst>
      <p:ext uri="{BB962C8B-B14F-4D97-AF65-F5344CB8AC3E}">
        <p14:creationId xmlns:p14="http://schemas.microsoft.com/office/powerpoint/2010/main" val="137715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a:bodyPr>
          <a:lstStyle/>
          <a:p>
            <a:pPr marL="0" indent="0">
              <a:buNone/>
            </a:pPr>
            <a:r>
              <a:rPr lang="en-US" b="1" dirty="0"/>
              <a:t>2. Purpose Limitation</a:t>
            </a:r>
          </a:p>
          <a:p>
            <a:pPr marL="0" indent="0">
              <a:buNone/>
            </a:pPr>
            <a:r>
              <a:rPr lang="en-US" dirty="0"/>
              <a:t>Personal data must be collected for specific, explicit, and legitimate purposes and not processed in a manner that is incompatible with those purposes. This means that organizations cannot collect data for one reason and later decide to use it for an unrelated purpose.</a:t>
            </a:r>
          </a:p>
          <a:p>
            <a:pPr marL="0" indent="0">
              <a:buNone/>
            </a:pPr>
            <a:r>
              <a:rPr lang="en-US" b="1" dirty="0"/>
              <a:t>Example: </a:t>
            </a:r>
            <a:r>
              <a:rPr lang="en-US" dirty="0"/>
              <a:t>A university collects personal information from students to process their admission and academic records. Later, the university wants to use this data to send promotional materials for unrelated university events. Under GDPR, this would violate the principle unless the university obtains new consent for this secondary purpose.</a:t>
            </a:r>
          </a:p>
        </p:txBody>
      </p:sp>
    </p:spTree>
    <p:extLst>
      <p:ext uri="{BB962C8B-B14F-4D97-AF65-F5344CB8AC3E}">
        <p14:creationId xmlns:p14="http://schemas.microsoft.com/office/powerpoint/2010/main" val="1435945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a:bodyPr>
          <a:lstStyle/>
          <a:p>
            <a:pPr marL="0" indent="0">
              <a:buNone/>
            </a:pPr>
            <a:r>
              <a:rPr lang="en-US" b="1" dirty="0"/>
              <a:t>3. Data Minimization</a:t>
            </a:r>
          </a:p>
          <a:p>
            <a:pPr marL="0" indent="0">
              <a:buNone/>
            </a:pPr>
            <a:r>
              <a:rPr lang="en-US" dirty="0" err="1"/>
              <a:t>Organisations</a:t>
            </a:r>
            <a:r>
              <a:rPr lang="en-US" dirty="0"/>
              <a:t> should only collect the personal data that is necessary for the purposes for which they are processing it. This prevents excessive or irrelevant data collection.</a:t>
            </a:r>
          </a:p>
          <a:p>
            <a:r>
              <a:rPr lang="en-US" b="1" dirty="0"/>
              <a:t>Example:</a:t>
            </a:r>
            <a:r>
              <a:rPr lang="en-US" dirty="0"/>
              <a:t> A fitness app asks users for their age, weight, and height to create personalized workout plans. Asking for information such as the user’s home address or income would not be necessary for this purpose and would violate the data minimization principle.</a:t>
            </a:r>
          </a:p>
        </p:txBody>
      </p:sp>
    </p:spTree>
    <p:extLst>
      <p:ext uri="{BB962C8B-B14F-4D97-AF65-F5344CB8AC3E}">
        <p14:creationId xmlns:p14="http://schemas.microsoft.com/office/powerpoint/2010/main" val="423712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a:bodyPr>
          <a:lstStyle/>
          <a:p>
            <a:pPr marL="0" indent="0">
              <a:buNone/>
            </a:pPr>
            <a:r>
              <a:rPr lang="en-US" b="1" dirty="0"/>
              <a:t>4. Accuracy</a:t>
            </a:r>
          </a:p>
          <a:p>
            <a:pPr marL="0" indent="0">
              <a:buNone/>
            </a:pPr>
            <a:r>
              <a:rPr lang="en-US" dirty="0"/>
              <a:t>Personal data must be accurate and kept up to date. Inaccurate data should be corrected or deleted without delay.</a:t>
            </a:r>
          </a:p>
          <a:p>
            <a:r>
              <a:rPr lang="en-US" b="1" dirty="0"/>
              <a:t>Example: </a:t>
            </a:r>
            <a:r>
              <a:rPr lang="en-US" dirty="0"/>
              <a:t>A healthcare provider stores patients’ contact details. One of the patients moves to a new address but the old address is still on file. The patient contacts the provider to update their address. The healthcare provider updates the data immediately to comply with the accuracy principle.</a:t>
            </a:r>
          </a:p>
        </p:txBody>
      </p:sp>
    </p:spTree>
    <p:extLst>
      <p:ext uri="{BB962C8B-B14F-4D97-AF65-F5344CB8AC3E}">
        <p14:creationId xmlns:p14="http://schemas.microsoft.com/office/powerpoint/2010/main" val="308170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a:bodyPr>
          <a:lstStyle/>
          <a:p>
            <a:pPr marL="0" indent="0">
              <a:buNone/>
            </a:pPr>
            <a:r>
              <a:rPr lang="en-US" b="1" dirty="0"/>
              <a:t>5. Storage Limitation</a:t>
            </a:r>
          </a:p>
          <a:p>
            <a:r>
              <a:rPr lang="en-US" dirty="0"/>
              <a:t>Personal data should only be kept for as long as necessary to fulfill the purposes for which it was collected. Once the data is no longer needed, it should be securely deleted or anonymized.</a:t>
            </a:r>
          </a:p>
          <a:p>
            <a:r>
              <a:rPr lang="en-US" b="1" dirty="0"/>
              <a:t>Example:</a:t>
            </a:r>
            <a:r>
              <a:rPr lang="en-US" dirty="0"/>
              <a:t> A job recruitment company keeps applicants’ data only until the end of the recruitment process. After this, the company securely deletes the data of candidates who were not hired, unless they have specific permission to keep the data for future openings.</a:t>
            </a:r>
          </a:p>
        </p:txBody>
      </p:sp>
    </p:spTree>
    <p:extLst>
      <p:ext uri="{BB962C8B-B14F-4D97-AF65-F5344CB8AC3E}">
        <p14:creationId xmlns:p14="http://schemas.microsoft.com/office/powerpoint/2010/main" val="172638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a:bodyPr>
          <a:lstStyle/>
          <a:p>
            <a:pPr marL="0" indent="0">
              <a:buNone/>
            </a:pPr>
            <a:r>
              <a:rPr lang="en-US" b="1" dirty="0"/>
              <a:t>6. Integrity and Confidentiality (Security)</a:t>
            </a:r>
          </a:p>
          <a:p>
            <a:pPr marL="0" indent="0">
              <a:buNone/>
            </a:pPr>
            <a:r>
              <a:rPr lang="en-US" dirty="0"/>
              <a:t>Personal data must be processed in a way that ensures its security. This includes protecting the data from unauthorized or unlawful access, loss, destruction, or damage, using appropriate technical and organizational measures.</a:t>
            </a:r>
          </a:p>
          <a:p>
            <a:r>
              <a:rPr lang="en-US" b="1" dirty="0"/>
              <a:t>Example:</a:t>
            </a:r>
            <a:r>
              <a:rPr lang="en-US" dirty="0"/>
              <a:t> An online retailer uses encryption to protect customer data during online transactions. In addition, the retailer implements strong access controls so that only authorized personnel can access personal data stored in their system. Regular security audits ensure compliance with the integrity and confidentiality principle.</a:t>
            </a:r>
          </a:p>
        </p:txBody>
      </p:sp>
    </p:spTree>
    <p:extLst>
      <p:ext uri="{BB962C8B-B14F-4D97-AF65-F5344CB8AC3E}">
        <p14:creationId xmlns:p14="http://schemas.microsoft.com/office/powerpoint/2010/main" val="2156320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DAA6-B0CD-69C8-C7BD-13B8A9288257}"/>
              </a:ext>
            </a:extLst>
          </p:cNvPr>
          <p:cNvSpPr>
            <a:spLocks noGrp="1"/>
          </p:cNvSpPr>
          <p:nvPr>
            <p:ph type="title"/>
          </p:nvPr>
        </p:nvSpPr>
        <p:spPr/>
        <p:txBody>
          <a:bodyPr/>
          <a:lstStyle/>
          <a:p>
            <a:r>
              <a:rPr lang="en-US" dirty="0"/>
              <a:t>The Seven Data Protection Principles of GDPR</a:t>
            </a:r>
          </a:p>
        </p:txBody>
      </p:sp>
      <p:sp>
        <p:nvSpPr>
          <p:cNvPr id="3" name="Content Placeholder 2">
            <a:extLst>
              <a:ext uri="{FF2B5EF4-FFF2-40B4-BE49-F238E27FC236}">
                <a16:creationId xmlns:a16="http://schemas.microsoft.com/office/drawing/2014/main" id="{E1B83939-75B7-75BD-D234-9E77ED89F408}"/>
              </a:ext>
            </a:extLst>
          </p:cNvPr>
          <p:cNvSpPr>
            <a:spLocks noGrp="1"/>
          </p:cNvSpPr>
          <p:nvPr>
            <p:ph idx="1"/>
          </p:nvPr>
        </p:nvSpPr>
        <p:spPr/>
        <p:txBody>
          <a:bodyPr>
            <a:normAutofit lnSpcReduction="10000"/>
          </a:bodyPr>
          <a:lstStyle/>
          <a:p>
            <a:pPr marL="0" indent="0">
              <a:buNone/>
            </a:pPr>
            <a:r>
              <a:rPr lang="en-US" b="1" dirty="0"/>
              <a:t>7. Accountability</a:t>
            </a:r>
          </a:p>
          <a:p>
            <a:pPr marL="0" indent="0">
              <a:buNone/>
            </a:pPr>
            <a:r>
              <a:rPr lang="en-US" dirty="0"/>
              <a:t>This principle requires that </a:t>
            </a:r>
            <a:r>
              <a:rPr lang="en-US" dirty="0" err="1"/>
              <a:t>organisations</a:t>
            </a:r>
            <a:r>
              <a:rPr lang="en-US" dirty="0"/>
              <a:t> take responsibility for complying with the GDPR principles and be able to demonstrate their compliance. This involves keeping records of data processing activities, conducting Data Protection Impact Assessments (DPIAs) when necessary, and having clear processes in place to handle personal data properly.</a:t>
            </a:r>
          </a:p>
          <a:p>
            <a:r>
              <a:rPr lang="en-US" b="1" dirty="0"/>
              <a:t>Example:</a:t>
            </a:r>
            <a:r>
              <a:rPr lang="en-US" dirty="0"/>
              <a:t> A company that processes personal data keeps detailed records of how it handles and protects this data. It also appoints a Data Protection Officer (DPO) to ensure GDPR compliance and conducts regular internal audits to verify that all processing activities follow the data protection regulations. If required by law, it can demonstrate its compliance with regulatory authorities.</a:t>
            </a:r>
          </a:p>
        </p:txBody>
      </p:sp>
    </p:spTree>
    <p:extLst>
      <p:ext uri="{BB962C8B-B14F-4D97-AF65-F5344CB8AC3E}">
        <p14:creationId xmlns:p14="http://schemas.microsoft.com/office/powerpoint/2010/main" val="2124343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fontScale="85000" lnSpcReduction="20000"/>
          </a:bodyPr>
          <a:lstStyle/>
          <a:p>
            <a:pPr marL="342900" indent="-342900">
              <a:buAutoNum type="arabicPeriod"/>
            </a:pPr>
            <a:r>
              <a:rPr lang="en-US" b="1" dirty="0"/>
              <a:t>The Right to be Informed</a:t>
            </a:r>
          </a:p>
          <a:p>
            <a:pPr marL="342900" indent="-342900">
              <a:buFont typeface="Neue Haas Grotesk Text Pro" panose="020B0504020202020204" pitchFamily="34" charset="0"/>
              <a:buAutoNum type="arabicPeriod"/>
            </a:pPr>
            <a:r>
              <a:rPr lang="en-US" b="1" dirty="0"/>
              <a:t>The Right of Access</a:t>
            </a:r>
          </a:p>
          <a:p>
            <a:pPr marL="342900" indent="-342900">
              <a:buFont typeface="Neue Haas Grotesk Text Pro" panose="020B0504020202020204" pitchFamily="34" charset="0"/>
              <a:buAutoNum type="arabicPeriod"/>
            </a:pPr>
            <a:r>
              <a:rPr lang="en-US" b="1" dirty="0"/>
              <a:t>The Right to Rectification</a:t>
            </a:r>
          </a:p>
          <a:p>
            <a:pPr marL="342900" indent="-342900">
              <a:buFont typeface="Neue Haas Grotesk Text Pro" panose="020B0504020202020204" pitchFamily="34" charset="0"/>
              <a:buAutoNum type="arabicPeriod"/>
            </a:pPr>
            <a:r>
              <a:rPr lang="en-US" sz="1800" b="1" kern="1200" dirty="0">
                <a:solidFill>
                  <a:schemeClr val="tx1"/>
                </a:solidFill>
                <a:effectLst/>
                <a:latin typeface="+mn-lt"/>
                <a:ea typeface="+mn-ea"/>
                <a:cs typeface="+mn-cs"/>
              </a:rPr>
              <a:t>The Right to Erasure (Right to be Forgotten)</a:t>
            </a: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Restrict Processing</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Data Portability</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Object</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Rights Related to Automated Decision-Making and Profiling</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Withdraw Consent</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Lodge a Complaint with a Supervisory Authority</a:t>
            </a:r>
            <a:endParaRPr lang="en-US" dirty="0">
              <a:effectLst/>
            </a:endParaRPr>
          </a:p>
          <a:p>
            <a:pPr marL="342900" indent="-342900">
              <a:buFont typeface="Neue Haas Grotesk Text Pro" panose="020B0504020202020204" pitchFamily="34" charset="0"/>
              <a:buAutoNum type="arabicPeriod"/>
            </a:pPr>
            <a:endParaRPr lang="en-US" sz="1800" dirty="0">
              <a:effectLst/>
            </a:endParaRPr>
          </a:p>
          <a:p>
            <a:pPr marL="342900" indent="-342900">
              <a:buFont typeface="Neue Haas Grotesk Text Pro" panose="020B0504020202020204" pitchFamily="34" charset="0"/>
              <a:buAutoNum type="arabicPeriod"/>
            </a:pPr>
            <a:endParaRPr lang="en-US" b="1" dirty="0"/>
          </a:p>
          <a:p>
            <a:pPr marL="342900" indent="-342900">
              <a:buFont typeface="Neue Haas Grotesk Text Pro" panose="020B0504020202020204" pitchFamily="34" charset="0"/>
              <a:buAutoNum type="arabicPeriod"/>
            </a:pPr>
            <a:endParaRPr lang="en-US" b="1" dirty="0"/>
          </a:p>
          <a:p>
            <a:pPr marL="342900" indent="-342900">
              <a:buFont typeface="Neue Haas Grotesk Text Pro" panose="020B0504020202020204" pitchFamily="34" charset="0"/>
              <a:buAutoNum type="arabicPeriod"/>
            </a:pPr>
            <a:endParaRPr lang="en-US" b="1" dirty="0"/>
          </a:p>
          <a:p>
            <a:pPr marL="342900" indent="-342900">
              <a:buAutoNum type="arabicPeriod"/>
            </a:pPr>
            <a:endParaRPr lang="en-US" b="1" dirty="0"/>
          </a:p>
          <a:p>
            <a:endParaRPr lang="en-US" dirty="0"/>
          </a:p>
        </p:txBody>
      </p:sp>
    </p:spTree>
    <p:extLst>
      <p:ext uri="{BB962C8B-B14F-4D97-AF65-F5344CB8AC3E}">
        <p14:creationId xmlns:p14="http://schemas.microsoft.com/office/powerpoint/2010/main" val="4236005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lstStyle/>
          <a:p>
            <a:pPr marL="0" indent="0">
              <a:buNone/>
            </a:pPr>
            <a:r>
              <a:rPr lang="en-US" b="1" dirty="0"/>
              <a:t>1. The Right to be Informed</a:t>
            </a:r>
          </a:p>
          <a:p>
            <a:pPr marL="0" indent="0">
              <a:buNone/>
            </a:pPr>
            <a:r>
              <a:rPr lang="en-US" dirty="0"/>
              <a:t>This right ensures that individuals are informed about how their personal data is being collected, used, stored, and shared. Organizations must provide this information in a clear and easily accessible format, typically via privacy policies or notices.</a:t>
            </a:r>
          </a:p>
          <a:p>
            <a:r>
              <a:rPr lang="en-US" b="1" dirty="0"/>
              <a:t>Example:</a:t>
            </a:r>
            <a:r>
              <a:rPr lang="en-US" dirty="0"/>
              <a:t> A user signs up for an online newsletter. Before subscribing, they are presented with a privacy notice that explains how their email address will be used, who will have access to it, how long it will be stored, and the user’s rights to opt-out at any time. The notice is clear and easy to understand.</a:t>
            </a:r>
          </a:p>
          <a:p>
            <a:endParaRPr lang="en-US" dirty="0"/>
          </a:p>
        </p:txBody>
      </p:sp>
    </p:spTree>
    <p:extLst>
      <p:ext uri="{BB962C8B-B14F-4D97-AF65-F5344CB8AC3E}">
        <p14:creationId xmlns:p14="http://schemas.microsoft.com/office/powerpoint/2010/main" val="2013990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lstStyle/>
          <a:p>
            <a:pPr marL="0" indent="0">
              <a:buNone/>
            </a:pPr>
            <a:r>
              <a:rPr lang="en-US" b="1" dirty="0"/>
              <a:t>2. The Right of Access</a:t>
            </a:r>
          </a:p>
          <a:p>
            <a:pPr marL="0" indent="0">
              <a:buNone/>
            </a:pPr>
            <a:r>
              <a:rPr lang="en-US" dirty="0"/>
              <a:t>Individuals can request access to the personal data a company holds about them. This includes obtaining a copy of the data and understanding how it is processed and shared.</a:t>
            </a:r>
          </a:p>
          <a:p>
            <a:r>
              <a:rPr lang="en-US" b="1" dirty="0"/>
              <a:t>Example:</a:t>
            </a:r>
            <a:r>
              <a:rPr lang="en-US" dirty="0"/>
              <a:t> A customer requests to know what personal data a social media platform has on them. The platform provides the customer with a copy of all the personal data it holds, including messages, profile information, and usage logs, along with details on how the data is used and shared.</a:t>
            </a:r>
          </a:p>
          <a:p>
            <a:endParaRPr lang="en-US" dirty="0"/>
          </a:p>
        </p:txBody>
      </p:sp>
    </p:spTree>
    <p:extLst>
      <p:ext uri="{BB962C8B-B14F-4D97-AF65-F5344CB8AC3E}">
        <p14:creationId xmlns:p14="http://schemas.microsoft.com/office/powerpoint/2010/main" val="2469844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a:buNone/>
            </a:pPr>
            <a:r>
              <a:rPr lang="en-US" b="1" dirty="0"/>
              <a:t>3. The Right to Rectification</a:t>
            </a:r>
          </a:p>
          <a:p>
            <a:pPr marL="0" indent="0">
              <a:buNone/>
            </a:pPr>
            <a:r>
              <a:rPr lang="en-US" dirty="0"/>
              <a:t>Individuals have the right to have inaccurate or incomplete personal data corrected or updated by the organization processing it.</a:t>
            </a:r>
          </a:p>
          <a:p>
            <a:r>
              <a:rPr lang="en-US" b="1" dirty="0"/>
              <a:t>Example:</a:t>
            </a:r>
            <a:r>
              <a:rPr lang="en-US" dirty="0"/>
              <a:t> A bank customer notices that their address on file is incorrect after moving to a new home. They contact the bank and request that their address be updated. The bank makes the necessary correction and confirms the update with the customer.</a:t>
            </a:r>
          </a:p>
          <a:p>
            <a:endParaRPr lang="en-US" dirty="0"/>
          </a:p>
        </p:txBody>
      </p:sp>
    </p:spTree>
    <p:extLst>
      <p:ext uri="{BB962C8B-B14F-4D97-AF65-F5344CB8AC3E}">
        <p14:creationId xmlns:p14="http://schemas.microsoft.com/office/powerpoint/2010/main" val="3345587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4. The Right to Erasure (Right to be Forgotten)</a:t>
            </a:r>
            <a:endParaRPr lang="en-US" sz="1800" dirty="0">
              <a:effectLst/>
            </a:endParaRPr>
          </a:p>
          <a:p>
            <a:pPr marL="0" indent="0" rtl="0" eaLnBrk="1" latinLnBrk="0" hangingPunct="1">
              <a:buNone/>
            </a:pPr>
            <a:r>
              <a:rPr lang="en-US" sz="1800" kern="1200" dirty="0">
                <a:solidFill>
                  <a:schemeClr val="tx1"/>
                </a:solidFill>
                <a:effectLst/>
                <a:latin typeface="+mn-lt"/>
                <a:ea typeface="+mn-ea"/>
                <a:cs typeface="+mn-cs"/>
              </a:rPr>
              <a:t>Under certain conditions, individuals can request the deletion of their personal data. This applies when the data is no longer necessary for the original purpose, the individual withdraws consent, or if the data was processed unlawfully.</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 user who had previously created an account on a photo-sharing website decides they no longer want their information stored by the company. They request the deletion of their account and all associated personal data. The company complies with the request and erases the user’s data from its systems unless there are legal reasons to retain some data, such as financial transactions.</a:t>
            </a:r>
          </a:p>
          <a:p>
            <a:pPr rtl="0" eaLnBrk="1" latinLnBrk="0" hangingPunct="1"/>
            <a:endParaRPr lang="en-US" dirty="0">
              <a:effectLst/>
            </a:endParaRPr>
          </a:p>
        </p:txBody>
      </p:sp>
    </p:spTree>
    <p:extLst>
      <p:ext uri="{BB962C8B-B14F-4D97-AF65-F5344CB8AC3E}">
        <p14:creationId xmlns:p14="http://schemas.microsoft.com/office/powerpoint/2010/main" val="2770402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5. The Right to Restrict Processing</a:t>
            </a:r>
            <a:endParaRPr lang="en-US" sz="1800" dirty="0">
              <a:effectLst/>
            </a:endParaRPr>
          </a:p>
          <a:p>
            <a:pPr marL="0" indent="0" rtl="0" eaLnBrk="1" latinLnBrk="0" hangingPunct="1">
              <a:buNone/>
            </a:pPr>
            <a:r>
              <a:rPr lang="en-US" sz="1800" kern="1200" dirty="0">
                <a:solidFill>
                  <a:schemeClr val="tx1"/>
                </a:solidFill>
                <a:effectLst/>
                <a:latin typeface="+mn-lt"/>
                <a:ea typeface="+mn-ea"/>
                <a:cs typeface="+mn-cs"/>
              </a:rPr>
              <a:t>Individuals can request the restriction of their personal data being processed, for instance, if they believe their data is inaccurate or if they object to the processing.</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 customer disputes the accuracy of their personal information held by a credit reporting agency. While the dispute is under investigation, the individual requests that the agency restrict any further processing of their data. The agency complies and suspends all data processing activities until the issue is resolved.</a:t>
            </a:r>
          </a:p>
        </p:txBody>
      </p:sp>
    </p:spTree>
    <p:extLst>
      <p:ext uri="{BB962C8B-B14F-4D97-AF65-F5344CB8AC3E}">
        <p14:creationId xmlns:p14="http://schemas.microsoft.com/office/powerpoint/2010/main" val="389562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6. The Right to Data Portability</a:t>
            </a:r>
            <a:endParaRPr lang="en-US" sz="1800" dirty="0">
              <a:effectLst/>
            </a:endParaRPr>
          </a:p>
          <a:p>
            <a:pPr marL="0" indent="0">
              <a:buNone/>
            </a:pPr>
            <a:r>
              <a:rPr lang="en-US" sz="1800" kern="1200" dirty="0">
                <a:solidFill>
                  <a:schemeClr val="tx1"/>
                </a:solidFill>
                <a:effectLst/>
                <a:latin typeface="+mn-lt"/>
                <a:ea typeface="+mn-ea"/>
                <a:cs typeface="+mn-cs"/>
              </a:rPr>
              <a:t>This right allows individuals to obtain their personal data in a structured, machine-readable format and transfer it to another service provider. It is designed to </a:t>
            </a:r>
            <a:r>
              <a:rPr lang="en-US" dirty="0"/>
              <a:t>facilitate easier switching between services</a:t>
            </a:r>
            <a:r>
              <a:rPr lang="en-US" sz="1800" kern="1200" dirty="0">
                <a:solidFill>
                  <a:schemeClr val="tx1"/>
                </a:solidFill>
                <a:effectLst/>
                <a:latin typeface="+mn-lt"/>
                <a:ea typeface="+mn-ea"/>
                <a:cs typeface="+mn-cs"/>
              </a:rPr>
              <a:t>.</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 user switches from one music streaming service to another. They request a copy of all their playlists and listening history from the first service in a machine-readable format, such as a CSV file. The first service provides the data, allowing the user to easily upload it to the new streaming service.</a:t>
            </a:r>
            <a:endParaRPr lang="en-US" dirty="0">
              <a:effectLst/>
            </a:endParaRPr>
          </a:p>
          <a:p>
            <a:endParaRPr lang="en-US" dirty="0"/>
          </a:p>
        </p:txBody>
      </p:sp>
    </p:spTree>
    <p:extLst>
      <p:ext uri="{BB962C8B-B14F-4D97-AF65-F5344CB8AC3E}">
        <p14:creationId xmlns:p14="http://schemas.microsoft.com/office/powerpoint/2010/main" val="1135565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7. The Right to Object</a:t>
            </a:r>
            <a:endParaRPr lang="en-US" sz="1800" dirty="0">
              <a:effectLst/>
            </a:endParaRPr>
          </a:p>
          <a:p>
            <a:pPr marL="0" indent="0">
              <a:buNone/>
            </a:pPr>
            <a:r>
              <a:rPr lang="en-US" sz="1800" kern="1200" dirty="0">
                <a:solidFill>
                  <a:schemeClr val="tx1"/>
                </a:solidFill>
                <a:effectLst/>
                <a:latin typeface="+mn-lt"/>
                <a:ea typeface="+mn-ea"/>
                <a:cs typeface="+mn-cs"/>
              </a:rPr>
              <a:t>Individuals can object to the processing of their personal data for specific purposes, such as direct marketing or profiling. The </a:t>
            </a:r>
            <a:r>
              <a:rPr lang="en-US" dirty="0" err="1"/>
              <a:t>organisation</a:t>
            </a:r>
            <a:r>
              <a:rPr lang="en-US" dirty="0"/>
              <a:t> must stop processing unless it can provide compelling,</a:t>
            </a:r>
            <a:r>
              <a:rPr lang="en-US" sz="1800" kern="1200" dirty="0">
                <a:solidFill>
                  <a:schemeClr val="tx1"/>
                </a:solidFill>
                <a:effectLst/>
                <a:latin typeface="+mn-lt"/>
                <a:ea typeface="+mn-ea"/>
                <a:cs typeface="+mn-cs"/>
              </a:rPr>
              <a:t> legitimate grounds.</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 person receives targeted advertisements from an e-commerce company. They contact the company and object to the use of their personal data for direct marketing purposes. The company must stop sending the individual marketing communications unless it can demonstrate a legitimate reason to continue.</a:t>
            </a:r>
            <a:endParaRPr lang="en-US" dirty="0">
              <a:effectLst/>
            </a:endParaRPr>
          </a:p>
          <a:p>
            <a:endParaRPr lang="en-US" dirty="0"/>
          </a:p>
        </p:txBody>
      </p:sp>
    </p:spTree>
    <p:extLst>
      <p:ext uri="{BB962C8B-B14F-4D97-AF65-F5344CB8AC3E}">
        <p14:creationId xmlns:p14="http://schemas.microsoft.com/office/powerpoint/2010/main" val="2986988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8. Rights Related to Automated Decision-Making and Profiling</a:t>
            </a:r>
            <a:endParaRPr lang="en-US" sz="1800" dirty="0">
              <a:effectLst/>
            </a:endParaRPr>
          </a:p>
          <a:p>
            <a:pPr marL="0" indent="0" rtl="0" eaLnBrk="1" latinLnBrk="0" hangingPunct="1">
              <a:buNone/>
            </a:pPr>
            <a:r>
              <a:rPr lang="en-US" sz="1800" kern="1200" dirty="0">
                <a:solidFill>
                  <a:schemeClr val="tx1"/>
                </a:solidFill>
                <a:effectLst/>
                <a:latin typeface="+mn-lt"/>
                <a:ea typeface="+mn-ea"/>
                <a:cs typeface="+mn-cs"/>
              </a:rPr>
              <a:t>Individuals have the right not to be subject to decisions made solely by automated processing, including profiling, if these decisions have legal or significant effects on them. They can request human intervention or challenge the decision.</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An individual applies for a loan through an online lender, and the application is automatically rejected based on an algorithmic assessment of their financial data. The individual requests a manual review of the decision, and a human employee reassesses their loan application and provides an explanation.</a:t>
            </a:r>
          </a:p>
          <a:p>
            <a:endParaRPr lang="en-US" dirty="0"/>
          </a:p>
        </p:txBody>
      </p:sp>
    </p:spTree>
    <p:extLst>
      <p:ext uri="{BB962C8B-B14F-4D97-AF65-F5344CB8AC3E}">
        <p14:creationId xmlns:p14="http://schemas.microsoft.com/office/powerpoint/2010/main" val="4081905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9. The Right to Withdraw Consent</a:t>
            </a:r>
            <a:endParaRPr lang="en-US" sz="1800" dirty="0">
              <a:effectLst/>
            </a:endParaRPr>
          </a:p>
          <a:p>
            <a:pPr marL="0" indent="0" rtl="0" eaLnBrk="1" latinLnBrk="0" hangingPunct="1">
              <a:buNone/>
            </a:pPr>
            <a:r>
              <a:rPr lang="en-US" sz="1800" kern="1200" dirty="0">
                <a:solidFill>
                  <a:schemeClr val="tx1"/>
                </a:solidFill>
                <a:effectLst/>
                <a:latin typeface="+mn-lt"/>
                <a:ea typeface="+mn-ea"/>
                <a:cs typeface="+mn-cs"/>
              </a:rPr>
              <a:t>If the processing of personal data is based on consent, individuals have the right to withdraw that consent at any time. The withdrawal must be as easy as giving consent.</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 user consents to receive promotional emails from an online retailer when making a purchase. Later, the user decides they no longer want to receive these emails and withdraws their consent by clicking the "unsubscribe" link at the bottom of one of the emails. The retailer stops sending promotional content immediately.</a:t>
            </a:r>
            <a:endParaRPr lang="en-US" dirty="0">
              <a:effectLst/>
            </a:endParaRPr>
          </a:p>
          <a:p>
            <a:endParaRPr lang="en-US" dirty="0"/>
          </a:p>
        </p:txBody>
      </p:sp>
    </p:spTree>
    <p:extLst>
      <p:ext uri="{BB962C8B-B14F-4D97-AF65-F5344CB8AC3E}">
        <p14:creationId xmlns:p14="http://schemas.microsoft.com/office/powerpoint/2010/main" val="4165840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C478-7C31-A0B6-3200-C9A1D9DF7CF8}"/>
              </a:ext>
            </a:extLst>
          </p:cNvPr>
          <p:cNvSpPr>
            <a:spLocks noGrp="1"/>
          </p:cNvSpPr>
          <p:nvPr>
            <p:ph type="title"/>
          </p:nvPr>
        </p:nvSpPr>
        <p:spPr/>
        <p:txBody>
          <a:bodyPr/>
          <a:lstStyle/>
          <a:p>
            <a:r>
              <a:rPr lang="en-US" dirty="0"/>
              <a:t>The Rights of Individuals under GDPR</a:t>
            </a:r>
          </a:p>
        </p:txBody>
      </p:sp>
      <p:sp>
        <p:nvSpPr>
          <p:cNvPr id="3" name="Content Placeholder 2">
            <a:extLst>
              <a:ext uri="{FF2B5EF4-FFF2-40B4-BE49-F238E27FC236}">
                <a16:creationId xmlns:a16="http://schemas.microsoft.com/office/drawing/2014/main" id="{A0A3642C-31DF-2739-6FA1-FB7BC3CA7156}"/>
              </a:ext>
            </a:extLst>
          </p:cNvPr>
          <p:cNvSpPr>
            <a:spLocks noGrp="1"/>
          </p:cNvSpPr>
          <p:nvPr>
            <p:ph idx="1"/>
          </p:nvPr>
        </p:nvSpPr>
        <p:spPr/>
        <p:txBody>
          <a:bodyPr>
            <a:normAutofit/>
          </a:bodyPr>
          <a:lstStyle/>
          <a:p>
            <a:pPr marL="0" indent="0" rtl="0" eaLnBrk="1" latinLnBrk="0" hangingPunct="1">
              <a:buNone/>
            </a:pPr>
            <a:r>
              <a:rPr lang="en-US" sz="1800" b="1" kern="1200" dirty="0">
                <a:solidFill>
                  <a:schemeClr val="tx1"/>
                </a:solidFill>
                <a:effectLst/>
                <a:latin typeface="+mn-lt"/>
                <a:ea typeface="+mn-ea"/>
                <a:cs typeface="+mn-cs"/>
              </a:rPr>
              <a:t>10. The Right to Lodge a Complaint with a Supervisory Authority</a:t>
            </a:r>
            <a:endParaRPr lang="en-US" sz="1800" dirty="0">
              <a:effectLst/>
            </a:endParaRPr>
          </a:p>
          <a:p>
            <a:pPr marL="0" indent="0" rtl="0" eaLnBrk="1" latinLnBrk="0" hangingPunct="1">
              <a:buNone/>
            </a:pPr>
            <a:r>
              <a:rPr lang="en-US" sz="1800" kern="1200" dirty="0">
                <a:solidFill>
                  <a:schemeClr val="tx1"/>
                </a:solidFill>
                <a:effectLst/>
                <a:latin typeface="+mn-lt"/>
                <a:ea typeface="+mn-ea"/>
                <a:cs typeface="+mn-cs"/>
              </a:rPr>
              <a:t>If individuals believe their rights under the GDPR have been violated, they have the right to file a complaint with a supervisory authority in their country, seeking an investigation and resolution.</a:t>
            </a:r>
            <a:endParaRPr lang="en-US" dirty="0">
              <a:effectLst/>
            </a:endParaRPr>
          </a:p>
          <a:p>
            <a:pPr rtl="0" eaLnBrk="1" latinLnBrk="0" hangingPunct="1"/>
            <a:r>
              <a:rPr lang="en-US" sz="1800" b="1" kern="1200" dirty="0">
                <a:solidFill>
                  <a:schemeClr val="tx1"/>
                </a:solidFill>
                <a:effectLst/>
                <a:latin typeface="+mn-lt"/>
                <a:ea typeface="+mn-ea"/>
                <a:cs typeface="+mn-cs"/>
              </a:rPr>
              <a:t>Example:</a:t>
            </a:r>
            <a:r>
              <a:rPr lang="en-US" sz="1800" kern="1200" dirty="0">
                <a:solidFill>
                  <a:schemeClr val="tx1"/>
                </a:solidFill>
                <a:effectLst/>
                <a:latin typeface="+mn-lt"/>
                <a:ea typeface="+mn-ea"/>
                <a:cs typeface="+mn-cs"/>
              </a:rPr>
              <a:t> A user discovers that their personal data was shared with third parties without their consent by a shopping app. After contacting the app with no resolution, the user lodges a complaint with the relevant Data Protection Authority (DPA) in their country, seeking an investigation into the potential violation of their data rights.</a:t>
            </a:r>
            <a:endParaRPr lang="en-US" dirty="0">
              <a:effectLst/>
            </a:endParaRPr>
          </a:p>
          <a:p>
            <a:endParaRPr lang="en-US" dirty="0"/>
          </a:p>
        </p:txBody>
      </p:sp>
    </p:spTree>
    <p:extLst>
      <p:ext uri="{BB962C8B-B14F-4D97-AF65-F5344CB8AC3E}">
        <p14:creationId xmlns:p14="http://schemas.microsoft.com/office/powerpoint/2010/main" val="301110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AA6A2E0-18A1-4B22-8F61-5E162B674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E6C83A-D2BA-3EDF-6558-24F8EEFF843A}"/>
              </a:ext>
            </a:extLst>
          </p:cNvPr>
          <p:cNvSpPr>
            <a:spLocks noGrp="1"/>
          </p:cNvSpPr>
          <p:nvPr>
            <p:ph type="title"/>
          </p:nvPr>
        </p:nvSpPr>
        <p:spPr>
          <a:xfrm>
            <a:off x="1088136" y="1090244"/>
            <a:ext cx="3763693" cy="2338756"/>
          </a:xfrm>
        </p:spPr>
        <p:txBody>
          <a:bodyPr anchor="t">
            <a:normAutofit/>
          </a:bodyPr>
          <a:lstStyle/>
          <a:p>
            <a:r>
              <a:rPr lang="en-US" sz="4000"/>
              <a:t>Maru Batsu ⭕ ❌</a:t>
            </a:r>
          </a:p>
        </p:txBody>
      </p:sp>
      <p:cxnSp>
        <p:nvCxnSpPr>
          <p:cNvPr id="21" name="Straight Connector 20">
            <a:extLst>
              <a:ext uri="{FF2B5EF4-FFF2-40B4-BE49-F238E27FC236}">
                <a16:creationId xmlns:a16="http://schemas.microsoft.com/office/drawing/2014/main" id="{8F5909CB-6CD3-45DF-9920-8D81824854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724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5">
            <a:extLst>
              <a:ext uri="{FF2B5EF4-FFF2-40B4-BE49-F238E27FC236}">
                <a16:creationId xmlns:a16="http://schemas.microsoft.com/office/drawing/2014/main" id="{5D552848-503C-C38F-18BB-31F7EA9DB523}"/>
              </a:ext>
            </a:extLst>
          </p:cNvPr>
          <p:cNvGraphicFramePr>
            <a:graphicFrameLocks noGrp="1"/>
          </p:cNvGraphicFramePr>
          <p:nvPr>
            <p:ph idx="1"/>
            <p:extLst>
              <p:ext uri="{D42A27DB-BD31-4B8C-83A1-F6EECF244321}">
                <p14:modId xmlns:p14="http://schemas.microsoft.com/office/powerpoint/2010/main" val="26036638"/>
              </p:ext>
            </p:extLst>
          </p:nvPr>
        </p:nvGraphicFramePr>
        <p:xfrm>
          <a:off x="1088136" y="1471448"/>
          <a:ext cx="10237277" cy="5475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5455352"/>
      </p:ext>
    </p:extLst>
  </p:cSld>
  <p:clrMapOvr>
    <a:masterClrMapping/>
  </p:clrMapOvr>
  <mc:AlternateContent xmlns:mc="http://schemas.openxmlformats.org/markup-compatibility/2006" xmlns:p14="http://schemas.microsoft.com/office/powerpoint/2010/main">
    <mc:Choice Requires="p14">
      <p:transition spd="slow" p14:dur="2000" advTm="419365"/>
    </mc:Choice>
    <mc:Fallback xmlns="">
      <p:transition spd="slow" advTm="4193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B84A55-C295-76DA-0628-3143A3E03D5C}"/>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D444C70-9C13-9B94-CD9B-3595C1929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F3672-494E-84CC-25EE-6973864A61B5}"/>
              </a:ext>
            </a:extLst>
          </p:cNvPr>
          <p:cNvSpPr>
            <a:spLocks noGrp="1"/>
          </p:cNvSpPr>
          <p:nvPr>
            <p:ph type="title"/>
          </p:nvPr>
        </p:nvSpPr>
        <p:spPr>
          <a:xfrm>
            <a:off x="1088136" y="1090244"/>
            <a:ext cx="3763693" cy="2338756"/>
          </a:xfrm>
        </p:spPr>
        <p:txBody>
          <a:bodyPr anchor="t">
            <a:normAutofit/>
          </a:bodyPr>
          <a:lstStyle/>
          <a:p>
            <a:r>
              <a:rPr lang="en-US" sz="4000"/>
              <a:t>Maru Batsu ⭕ ❌</a:t>
            </a:r>
          </a:p>
        </p:txBody>
      </p:sp>
      <p:cxnSp>
        <p:nvCxnSpPr>
          <p:cNvPr id="21" name="Straight Connector 20">
            <a:extLst>
              <a:ext uri="{FF2B5EF4-FFF2-40B4-BE49-F238E27FC236}">
                <a16:creationId xmlns:a16="http://schemas.microsoft.com/office/drawing/2014/main" id="{433CDEBB-8466-59F3-46E5-AED1A36923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724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5">
            <a:extLst>
              <a:ext uri="{FF2B5EF4-FFF2-40B4-BE49-F238E27FC236}">
                <a16:creationId xmlns:a16="http://schemas.microsoft.com/office/drawing/2014/main" id="{4B8F875C-FD9B-12E1-D70F-EBFA642F999E}"/>
              </a:ext>
            </a:extLst>
          </p:cNvPr>
          <p:cNvGraphicFramePr>
            <a:graphicFrameLocks noGrp="1"/>
          </p:cNvGraphicFramePr>
          <p:nvPr>
            <p:ph idx="1"/>
            <p:extLst>
              <p:ext uri="{D42A27DB-BD31-4B8C-83A1-F6EECF244321}">
                <p14:modId xmlns:p14="http://schemas.microsoft.com/office/powerpoint/2010/main" val="3775684726"/>
              </p:ext>
            </p:extLst>
          </p:nvPr>
        </p:nvGraphicFramePr>
        <p:xfrm>
          <a:off x="1088136" y="1471448"/>
          <a:ext cx="10237277" cy="5475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0766717"/>
      </p:ext>
    </p:extLst>
  </p:cSld>
  <p:clrMapOvr>
    <a:masterClrMapping/>
  </p:clrMapOvr>
  <mc:AlternateContent xmlns:mc="http://schemas.openxmlformats.org/markup-compatibility/2006" xmlns:p14="http://schemas.microsoft.com/office/powerpoint/2010/main">
    <mc:Choice Requires="p14">
      <p:transition spd="slow" p14:dur="2000" advTm="419365"/>
    </mc:Choice>
    <mc:Fallback xmlns="">
      <p:transition spd="slow" advTm="4193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947E-D23D-13D5-0210-4004C8BDE2FD}"/>
              </a:ext>
            </a:extLst>
          </p:cNvPr>
          <p:cNvSpPr>
            <a:spLocks noGrp="1"/>
          </p:cNvSpPr>
          <p:nvPr>
            <p:ph type="title"/>
          </p:nvPr>
        </p:nvSpPr>
        <p:spPr/>
        <p:txBody>
          <a:bodyPr/>
          <a:lstStyle/>
          <a:p>
            <a:r>
              <a:rPr lang="en-US" dirty="0"/>
              <a:t>Data breaches</a:t>
            </a:r>
          </a:p>
        </p:txBody>
      </p:sp>
      <p:sp>
        <p:nvSpPr>
          <p:cNvPr id="3" name="Content Placeholder 2">
            <a:extLst>
              <a:ext uri="{FF2B5EF4-FFF2-40B4-BE49-F238E27FC236}">
                <a16:creationId xmlns:a16="http://schemas.microsoft.com/office/drawing/2014/main" id="{A1850A29-1ED7-07B4-4AC3-FD4917F98DA5}"/>
              </a:ext>
            </a:extLst>
          </p:cNvPr>
          <p:cNvSpPr>
            <a:spLocks noGrp="1"/>
          </p:cNvSpPr>
          <p:nvPr>
            <p:ph idx="1"/>
          </p:nvPr>
        </p:nvSpPr>
        <p:spPr/>
        <p:txBody>
          <a:bodyPr/>
          <a:lstStyle/>
          <a:p>
            <a:r>
              <a:rPr lang="en-US" dirty="0"/>
              <a:t>A </a:t>
            </a:r>
            <a:r>
              <a:rPr lang="en-US" b="1" dirty="0"/>
              <a:t>data breach</a:t>
            </a:r>
            <a:r>
              <a:rPr lang="en-US" dirty="0"/>
              <a:t> under the GDPR (General Data Protection Regulation) occurs when there is a security incident that leads to:</a:t>
            </a:r>
          </a:p>
          <a:p>
            <a:r>
              <a:rPr lang="en-US" dirty="0"/>
              <a:t> Accidental or unlawful destruction</a:t>
            </a:r>
          </a:p>
          <a:p>
            <a:r>
              <a:rPr lang="en-US" dirty="0"/>
              <a:t>Loss of data</a:t>
            </a:r>
          </a:p>
          <a:p>
            <a:r>
              <a:rPr lang="en-US" dirty="0"/>
              <a:t> Alteration of data </a:t>
            </a:r>
          </a:p>
          <a:p>
            <a:r>
              <a:rPr lang="en-US" dirty="0"/>
              <a:t> </a:t>
            </a:r>
            <a:r>
              <a:rPr lang="en-US" dirty="0" err="1"/>
              <a:t>Unauthorised</a:t>
            </a:r>
            <a:r>
              <a:rPr lang="en-US" dirty="0"/>
              <a:t> disclosure of, or access to, personal data. </a:t>
            </a:r>
          </a:p>
          <a:p>
            <a:r>
              <a:rPr lang="en-US" dirty="0"/>
              <a:t>This can include physical breaches (such as theft of devices), cyberattacks (like hacking), or internal misuse (like employees accessing data without permission).</a:t>
            </a:r>
          </a:p>
        </p:txBody>
      </p:sp>
    </p:spTree>
    <p:extLst>
      <p:ext uri="{BB962C8B-B14F-4D97-AF65-F5344CB8AC3E}">
        <p14:creationId xmlns:p14="http://schemas.microsoft.com/office/powerpoint/2010/main" val="4252724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7313-B685-CE57-2375-A2DD463274F1}"/>
              </a:ext>
            </a:extLst>
          </p:cNvPr>
          <p:cNvSpPr>
            <a:spLocks noGrp="1"/>
          </p:cNvSpPr>
          <p:nvPr>
            <p:ph type="title"/>
          </p:nvPr>
        </p:nvSpPr>
        <p:spPr/>
        <p:txBody>
          <a:bodyPr/>
          <a:lstStyle/>
          <a:p>
            <a:r>
              <a:rPr lang="en-US" dirty="0"/>
              <a:t>Penalties under GDPR</a:t>
            </a:r>
          </a:p>
        </p:txBody>
      </p:sp>
      <p:sp>
        <p:nvSpPr>
          <p:cNvPr id="3" name="Content Placeholder 2">
            <a:extLst>
              <a:ext uri="{FF2B5EF4-FFF2-40B4-BE49-F238E27FC236}">
                <a16:creationId xmlns:a16="http://schemas.microsoft.com/office/drawing/2014/main" id="{B26464D2-40C8-D611-F540-247099FF82B7}"/>
              </a:ext>
            </a:extLst>
          </p:cNvPr>
          <p:cNvSpPr>
            <a:spLocks noGrp="1"/>
          </p:cNvSpPr>
          <p:nvPr>
            <p:ph idx="1"/>
          </p:nvPr>
        </p:nvSpPr>
        <p:spPr/>
        <p:txBody>
          <a:bodyPr>
            <a:normAutofit/>
          </a:bodyPr>
          <a:lstStyle/>
          <a:p>
            <a:r>
              <a:rPr lang="en-US" dirty="0"/>
              <a:t>Under the GDPR (General Data Protection Regulation), organizations that fail to comply with its rules can face significant penalties. </a:t>
            </a:r>
          </a:p>
          <a:p>
            <a:r>
              <a:rPr lang="en-US" dirty="0"/>
              <a:t>These penalties are designed to encourage strict adherence to data protection laws and safeguard individuals' personal data. </a:t>
            </a:r>
          </a:p>
          <a:p>
            <a:r>
              <a:rPr lang="en-US" dirty="0"/>
              <a:t>GDPR sets two levels of fines based on the severity of the violation, along with other possible sanctions. </a:t>
            </a:r>
          </a:p>
        </p:txBody>
      </p:sp>
    </p:spTree>
    <p:extLst>
      <p:ext uri="{BB962C8B-B14F-4D97-AF65-F5344CB8AC3E}">
        <p14:creationId xmlns:p14="http://schemas.microsoft.com/office/powerpoint/2010/main" val="2015744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7313-B685-CE57-2375-A2DD463274F1}"/>
              </a:ext>
            </a:extLst>
          </p:cNvPr>
          <p:cNvSpPr>
            <a:spLocks noGrp="1"/>
          </p:cNvSpPr>
          <p:nvPr>
            <p:ph type="title"/>
          </p:nvPr>
        </p:nvSpPr>
        <p:spPr/>
        <p:txBody>
          <a:bodyPr/>
          <a:lstStyle/>
          <a:p>
            <a:r>
              <a:rPr lang="en-US" dirty="0"/>
              <a:t>Penalties under GDPR</a:t>
            </a:r>
          </a:p>
        </p:txBody>
      </p:sp>
      <p:sp>
        <p:nvSpPr>
          <p:cNvPr id="3" name="Content Placeholder 2">
            <a:extLst>
              <a:ext uri="{FF2B5EF4-FFF2-40B4-BE49-F238E27FC236}">
                <a16:creationId xmlns:a16="http://schemas.microsoft.com/office/drawing/2014/main" id="{B26464D2-40C8-D611-F540-247099FF82B7}"/>
              </a:ext>
            </a:extLst>
          </p:cNvPr>
          <p:cNvSpPr>
            <a:spLocks noGrp="1"/>
          </p:cNvSpPr>
          <p:nvPr>
            <p:ph idx="1"/>
          </p:nvPr>
        </p:nvSpPr>
        <p:spPr/>
        <p:txBody>
          <a:bodyPr>
            <a:normAutofit/>
          </a:bodyPr>
          <a:lstStyle/>
          <a:p>
            <a:r>
              <a:rPr lang="en-US" b="1" dirty="0"/>
              <a:t>Lower Tier Fines</a:t>
            </a:r>
          </a:p>
          <a:p>
            <a:r>
              <a:rPr lang="en-US" dirty="0"/>
              <a:t>Organizations can be fined up to €10 million or 2% of their global annual revenue (whichever is higher) for less severe breaches of GDPR provisions, such as:</a:t>
            </a:r>
          </a:p>
          <a:p>
            <a:pPr lvl="1">
              <a:buFont typeface="Arial" panose="020B0604020202020204" pitchFamily="34" charset="0"/>
              <a:buChar char="•"/>
            </a:pPr>
            <a:r>
              <a:rPr lang="en-US" dirty="0"/>
              <a:t>Failing to report a data breach in time (within 72 hours).</a:t>
            </a:r>
          </a:p>
          <a:p>
            <a:pPr lvl="1">
              <a:buFont typeface="Arial" panose="020B0604020202020204" pitchFamily="34" charset="0"/>
              <a:buChar char="•"/>
            </a:pPr>
            <a:r>
              <a:rPr lang="en-US" dirty="0"/>
              <a:t>Failing to have proper record-keeping for data processing activities.</a:t>
            </a:r>
          </a:p>
          <a:p>
            <a:pPr lvl="1">
              <a:buFont typeface="Arial" panose="020B0604020202020204" pitchFamily="34" charset="0"/>
              <a:buChar char="•"/>
            </a:pPr>
            <a:r>
              <a:rPr lang="en-US" dirty="0"/>
              <a:t>Failing to notify users or the Data Protection Authority (DPA) when collecting personal data.</a:t>
            </a:r>
          </a:p>
          <a:p>
            <a:pPr lvl="1">
              <a:buFont typeface="Arial" panose="020B0604020202020204" pitchFamily="34" charset="0"/>
              <a:buChar char="•"/>
            </a:pPr>
            <a:r>
              <a:rPr lang="en-US" dirty="0"/>
              <a:t>Failing to appoint a Data Protection Officer (DPO) when required.</a:t>
            </a:r>
          </a:p>
        </p:txBody>
      </p:sp>
    </p:spTree>
    <p:extLst>
      <p:ext uri="{BB962C8B-B14F-4D97-AF65-F5344CB8AC3E}">
        <p14:creationId xmlns:p14="http://schemas.microsoft.com/office/powerpoint/2010/main" val="1148339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7313-B685-CE57-2375-A2DD463274F1}"/>
              </a:ext>
            </a:extLst>
          </p:cNvPr>
          <p:cNvSpPr>
            <a:spLocks noGrp="1"/>
          </p:cNvSpPr>
          <p:nvPr>
            <p:ph type="title"/>
          </p:nvPr>
        </p:nvSpPr>
        <p:spPr/>
        <p:txBody>
          <a:bodyPr/>
          <a:lstStyle/>
          <a:p>
            <a:r>
              <a:rPr lang="en-US" dirty="0"/>
              <a:t>Penalties under GDPR</a:t>
            </a:r>
          </a:p>
        </p:txBody>
      </p:sp>
      <p:sp>
        <p:nvSpPr>
          <p:cNvPr id="3" name="Content Placeholder 2">
            <a:extLst>
              <a:ext uri="{FF2B5EF4-FFF2-40B4-BE49-F238E27FC236}">
                <a16:creationId xmlns:a16="http://schemas.microsoft.com/office/drawing/2014/main" id="{B26464D2-40C8-D611-F540-247099FF82B7}"/>
              </a:ext>
            </a:extLst>
          </p:cNvPr>
          <p:cNvSpPr>
            <a:spLocks noGrp="1"/>
          </p:cNvSpPr>
          <p:nvPr>
            <p:ph idx="1"/>
          </p:nvPr>
        </p:nvSpPr>
        <p:spPr/>
        <p:txBody>
          <a:bodyPr>
            <a:normAutofit fontScale="92500" lnSpcReduction="10000"/>
          </a:bodyPr>
          <a:lstStyle/>
          <a:p>
            <a:r>
              <a:rPr lang="en-US" b="1" dirty="0"/>
              <a:t>Higher Tier Fines:</a:t>
            </a:r>
          </a:p>
          <a:p>
            <a:r>
              <a:rPr lang="en-US" dirty="0"/>
              <a:t>For more serious violations, the fines can be up to </a:t>
            </a:r>
            <a:r>
              <a:rPr lang="en-US" b="1" dirty="0"/>
              <a:t>€20 million</a:t>
            </a:r>
            <a:r>
              <a:rPr lang="en-US" dirty="0"/>
              <a:t> or </a:t>
            </a:r>
            <a:r>
              <a:rPr lang="en-US" b="1" dirty="0"/>
              <a:t>4% of the organization's global annual revenue</a:t>
            </a:r>
            <a:r>
              <a:rPr lang="en-US" dirty="0"/>
              <a:t> (whichever is higher). These fines are typically issued for violations involving:</a:t>
            </a:r>
          </a:p>
          <a:p>
            <a:pPr lvl="1">
              <a:buFont typeface="Arial" panose="020B0604020202020204" pitchFamily="34" charset="0"/>
              <a:buChar char="•"/>
            </a:pPr>
            <a:r>
              <a:rPr lang="en-US" dirty="0"/>
              <a:t>Ignoring or violating the individuals' rights under GDPR (e.g., ignoring the right to access or erasure).</a:t>
            </a:r>
          </a:p>
          <a:p>
            <a:pPr lvl="1">
              <a:buFont typeface="Arial" panose="020B0604020202020204" pitchFamily="34" charset="0"/>
              <a:buChar char="•"/>
            </a:pPr>
            <a:r>
              <a:rPr lang="en-US" dirty="0"/>
              <a:t>Processing personal data without a legal basis (e.g., no consent, legitimate interest, or contract).</a:t>
            </a:r>
          </a:p>
          <a:p>
            <a:pPr lvl="1">
              <a:buFont typeface="Arial" panose="020B0604020202020204" pitchFamily="34" charset="0"/>
              <a:buChar char="•"/>
            </a:pPr>
            <a:r>
              <a:rPr lang="en-US" dirty="0"/>
              <a:t>Failing to implement necessary security measures for data protection.</a:t>
            </a:r>
          </a:p>
          <a:p>
            <a:pPr lvl="1">
              <a:buFont typeface="Arial" panose="020B0604020202020204" pitchFamily="34" charset="0"/>
              <a:buChar char="•"/>
            </a:pPr>
            <a:r>
              <a:rPr lang="en-US" dirty="0"/>
              <a:t>Non-compliance with transfers of data to third countries without proper safeguards.</a:t>
            </a:r>
          </a:p>
          <a:p>
            <a:endParaRPr lang="en-US" dirty="0"/>
          </a:p>
        </p:txBody>
      </p:sp>
    </p:spTree>
    <p:extLst>
      <p:ext uri="{BB962C8B-B14F-4D97-AF65-F5344CB8AC3E}">
        <p14:creationId xmlns:p14="http://schemas.microsoft.com/office/powerpoint/2010/main" val="870943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777E9-B69E-F726-8963-646B6929B960}"/>
              </a:ext>
            </a:extLst>
          </p:cNvPr>
          <p:cNvSpPr>
            <a:spLocks noGrp="1"/>
          </p:cNvSpPr>
          <p:nvPr>
            <p:ph type="title"/>
          </p:nvPr>
        </p:nvSpPr>
        <p:spPr/>
        <p:txBody>
          <a:bodyPr/>
          <a:lstStyle/>
          <a:p>
            <a:r>
              <a:rPr lang="en-US" dirty="0"/>
              <a:t>Penalties under GDPR</a:t>
            </a:r>
          </a:p>
        </p:txBody>
      </p:sp>
      <p:sp>
        <p:nvSpPr>
          <p:cNvPr id="3" name="Content Placeholder 2">
            <a:extLst>
              <a:ext uri="{FF2B5EF4-FFF2-40B4-BE49-F238E27FC236}">
                <a16:creationId xmlns:a16="http://schemas.microsoft.com/office/drawing/2014/main" id="{8480DFFB-F596-388E-2B8D-FE198E916BA7}"/>
              </a:ext>
            </a:extLst>
          </p:cNvPr>
          <p:cNvSpPr>
            <a:spLocks noGrp="1"/>
          </p:cNvSpPr>
          <p:nvPr>
            <p:ph idx="1"/>
          </p:nvPr>
        </p:nvSpPr>
        <p:spPr/>
        <p:txBody>
          <a:bodyPr>
            <a:normAutofit fontScale="92500" lnSpcReduction="10000"/>
          </a:bodyPr>
          <a:lstStyle/>
          <a:p>
            <a:r>
              <a:rPr lang="en-US" dirty="0"/>
              <a:t>Several high-profile fines have been issued since GDPR came into effect in May 2018. Some examples include:</a:t>
            </a:r>
          </a:p>
          <a:p>
            <a:pPr>
              <a:buFont typeface="Arial" panose="020B0604020202020204" pitchFamily="34" charset="0"/>
              <a:buChar char="•"/>
            </a:pPr>
            <a:r>
              <a:rPr lang="en-US" b="1" dirty="0"/>
              <a:t>Meta</a:t>
            </a:r>
            <a:r>
              <a:rPr lang="en-US" dirty="0"/>
              <a:t>: Fined 1.2 Billion Euros in 2023 for unlawful transfer of EU users’ personal data to the United States.</a:t>
            </a:r>
          </a:p>
          <a:p>
            <a:pPr>
              <a:buFont typeface="Arial" panose="020B0604020202020204" pitchFamily="34" charset="0"/>
              <a:buChar char="•"/>
            </a:pPr>
            <a:r>
              <a:rPr lang="en-US" b="1" dirty="0"/>
              <a:t>Amazon</a:t>
            </a:r>
            <a:r>
              <a:rPr lang="en-US" dirty="0"/>
              <a:t>: Fined 746 million Euros in 2021 for processing personal data for targeted advertising without a valid legal basis.</a:t>
            </a:r>
          </a:p>
          <a:p>
            <a:pPr>
              <a:buFont typeface="Arial" panose="020B0604020202020204" pitchFamily="34" charset="0"/>
              <a:buChar char="•"/>
            </a:pPr>
            <a:r>
              <a:rPr lang="en-US" b="1" dirty="0"/>
              <a:t>H&amp;M</a:t>
            </a:r>
            <a:r>
              <a:rPr lang="en-US" dirty="0"/>
              <a:t>: Fined €35.3 million by the German authorities for illegally monitoring employees' personal details, including sensitive information such as religious beliefs and family issues.</a:t>
            </a:r>
          </a:p>
          <a:p>
            <a:pPr>
              <a:buFont typeface="Arial" panose="020B0604020202020204" pitchFamily="34" charset="0"/>
              <a:buChar char="•"/>
            </a:pPr>
            <a:r>
              <a:rPr lang="en-US" b="1" dirty="0"/>
              <a:t>British Airways: </a:t>
            </a:r>
            <a:r>
              <a:rPr lang="en-US" dirty="0"/>
              <a:t>Fined £20 million for poor security, leading to the leaking of 400,000 customers’ personal data.</a:t>
            </a:r>
          </a:p>
          <a:p>
            <a:endParaRPr lang="en-US" dirty="0"/>
          </a:p>
        </p:txBody>
      </p:sp>
    </p:spTree>
    <p:extLst>
      <p:ext uri="{BB962C8B-B14F-4D97-AF65-F5344CB8AC3E}">
        <p14:creationId xmlns:p14="http://schemas.microsoft.com/office/powerpoint/2010/main" val="3483390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0E651-097E-EE13-CCF8-638B4E8DAA0C}"/>
              </a:ext>
            </a:extLst>
          </p:cNvPr>
          <p:cNvSpPr>
            <a:spLocks noGrp="1"/>
          </p:cNvSpPr>
          <p:nvPr>
            <p:ph type="title"/>
          </p:nvPr>
        </p:nvSpPr>
        <p:spPr/>
        <p:txBody>
          <a:bodyPr/>
          <a:lstStyle/>
          <a:p>
            <a:r>
              <a:rPr lang="en-US" dirty="0"/>
              <a:t>Law No. 30 of 2018 regarding Personal Data Protection </a:t>
            </a:r>
          </a:p>
        </p:txBody>
      </p:sp>
      <p:sp>
        <p:nvSpPr>
          <p:cNvPr id="3" name="Content Placeholder 2">
            <a:extLst>
              <a:ext uri="{FF2B5EF4-FFF2-40B4-BE49-F238E27FC236}">
                <a16:creationId xmlns:a16="http://schemas.microsoft.com/office/drawing/2014/main" id="{588BB11B-D650-1633-0B7D-A27DB46326B7}"/>
              </a:ext>
            </a:extLst>
          </p:cNvPr>
          <p:cNvSpPr>
            <a:spLocks noGrp="1"/>
          </p:cNvSpPr>
          <p:nvPr>
            <p:ph idx="1"/>
          </p:nvPr>
        </p:nvSpPr>
        <p:spPr/>
        <p:txBody>
          <a:bodyPr/>
          <a:lstStyle/>
          <a:p>
            <a:r>
              <a:rPr lang="en-US" dirty="0"/>
              <a:t>Chapter One: Provisions of Processing</a:t>
            </a:r>
          </a:p>
          <a:p>
            <a:r>
              <a:rPr lang="en-US" dirty="0"/>
              <a:t>Chapter Two: General Rules for Lawful Processing</a:t>
            </a:r>
          </a:p>
          <a:p>
            <a:r>
              <a:rPr lang="en-US" dirty="0"/>
              <a:t>Chapter Three: Transfer of Personal Data Outside the Kingdom</a:t>
            </a:r>
          </a:p>
          <a:p>
            <a:r>
              <a:rPr lang="en-US" dirty="0"/>
              <a:t>Chapter Four: Notifications and Authorizations</a:t>
            </a:r>
          </a:p>
          <a:p>
            <a:r>
              <a:rPr lang="en-US" dirty="0"/>
              <a:t>Chapter Five: Rights of the Data Subject</a:t>
            </a:r>
          </a:p>
          <a:p>
            <a:r>
              <a:rPr lang="en-US" dirty="0"/>
              <a:t>Chapter Six: Personal Data Protection Authority (PDPA)</a:t>
            </a:r>
          </a:p>
          <a:p>
            <a:r>
              <a:rPr lang="en-US" dirty="0"/>
              <a:t>Additional Provisions</a:t>
            </a:r>
          </a:p>
        </p:txBody>
      </p:sp>
    </p:spTree>
    <p:extLst>
      <p:ext uri="{BB962C8B-B14F-4D97-AF65-F5344CB8AC3E}">
        <p14:creationId xmlns:p14="http://schemas.microsoft.com/office/powerpoint/2010/main" val="2192155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9F51-0FE5-0770-6956-6AC8F3F2FC42}"/>
              </a:ext>
            </a:extLst>
          </p:cNvPr>
          <p:cNvSpPr>
            <a:spLocks noGrp="1"/>
          </p:cNvSpPr>
          <p:nvPr>
            <p:ph type="title"/>
          </p:nvPr>
        </p:nvSpPr>
        <p:spPr/>
        <p:txBody>
          <a:bodyPr>
            <a:normAutofit fontScale="90000"/>
          </a:bodyPr>
          <a:lstStyle/>
          <a:p>
            <a:r>
              <a:rPr lang="en-US" dirty="0"/>
              <a:t>Chapter One: Provisions of Processing</a:t>
            </a:r>
            <a:br>
              <a:rPr lang="en-US" dirty="0"/>
            </a:br>
            <a:r>
              <a:rPr lang="en-US" dirty="0"/>
              <a:t>Article (1): Definitions</a:t>
            </a:r>
          </a:p>
        </p:txBody>
      </p:sp>
      <p:sp>
        <p:nvSpPr>
          <p:cNvPr id="3" name="Content Placeholder 2">
            <a:extLst>
              <a:ext uri="{FF2B5EF4-FFF2-40B4-BE49-F238E27FC236}">
                <a16:creationId xmlns:a16="http://schemas.microsoft.com/office/drawing/2014/main" id="{6C637D42-C3B3-267D-6D15-9545388B10D7}"/>
              </a:ext>
            </a:extLst>
          </p:cNvPr>
          <p:cNvSpPr>
            <a:spLocks noGrp="1"/>
          </p:cNvSpPr>
          <p:nvPr>
            <p:ph idx="1"/>
          </p:nvPr>
        </p:nvSpPr>
        <p:spPr/>
        <p:txBody>
          <a:bodyPr/>
          <a:lstStyle/>
          <a:p>
            <a:r>
              <a:rPr lang="en-US" b="1" dirty="0"/>
              <a:t>Personal Data: </a:t>
            </a:r>
            <a:r>
              <a:rPr lang="en-US" dirty="0"/>
              <a:t>Any information related to an identified or identifiable individual, directly or indirectly, especially by reference to an identification number or specific characteristics of their physical, physiological, mental, cultural, economic, or social identity. All means used by the data controller or others that could identify the individual are considered.</a:t>
            </a:r>
            <a:br>
              <a:rPr lang="en-US" dirty="0"/>
            </a:br>
            <a:endParaRPr lang="en-US" dirty="0"/>
          </a:p>
          <a:p>
            <a:r>
              <a:rPr lang="en-US" b="1" dirty="0"/>
              <a:t>Sensitive Personal Data: </a:t>
            </a:r>
            <a:r>
              <a:rPr lang="en-US" dirty="0"/>
              <a:t>Personal information revealing racial or ethnic origin, political or philosophical opinions, religious beliefs, trade union membership, criminal records, or data related to health or sexual status.</a:t>
            </a:r>
          </a:p>
        </p:txBody>
      </p:sp>
    </p:spTree>
    <p:extLst>
      <p:ext uri="{BB962C8B-B14F-4D97-AF65-F5344CB8AC3E}">
        <p14:creationId xmlns:p14="http://schemas.microsoft.com/office/powerpoint/2010/main" val="3029571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F367E6-9897-BC1C-628C-7BA7B2E0B9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7A6ACE-A9C5-47FE-8B87-BB64849E66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5B299-1950-48F7-D232-9BC6BA58EE0D}"/>
              </a:ext>
            </a:extLst>
          </p:cNvPr>
          <p:cNvSpPr>
            <a:spLocks noGrp="1"/>
          </p:cNvSpPr>
          <p:nvPr>
            <p:ph type="title"/>
          </p:nvPr>
        </p:nvSpPr>
        <p:spPr>
          <a:xfrm>
            <a:off x="1090105" y="1084943"/>
            <a:ext cx="3786696" cy="5083939"/>
          </a:xfrm>
        </p:spPr>
        <p:txBody>
          <a:bodyPr>
            <a:normAutofit/>
          </a:bodyPr>
          <a:lstStyle/>
          <a:p>
            <a:r>
              <a:rPr lang="en-US" sz="4000" dirty="0"/>
              <a:t>Chapter One: Provisions of Processing</a:t>
            </a:r>
            <a:br>
              <a:rPr lang="en-US" sz="4000" dirty="0"/>
            </a:br>
            <a:r>
              <a:rPr lang="en-US" sz="4000" dirty="0"/>
              <a:t>Article (1): Definitions</a:t>
            </a:r>
          </a:p>
        </p:txBody>
      </p:sp>
      <p:cxnSp>
        <p:nvCxnSpPr>
          <p:cNvPr id="10" name="Straight Connector 9">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79420"/>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DF5B5D59-FD5B-100D-3911-6BB53B62F769}"/>
              </a:ext>
            </a:extLst>
          </p:cNvPr>
          <p:cNvSpPr>
            <a:spLocks noGrp="1"/>
          </p:cNvSpPr>
          <p:nvPr>
            <p:ph idx="1"/>
          </p:nvPr>
        </p:nvSpPr>
        <p:spPr>
          <a:xfrm>
            <a:off x="5524500" y="1020395"/>
            <a:ext cx="5486399" cy="5148492"/>
          </a:xfrm>
        </p:spPr>
        <p:txBody>
          <a:bodyPr>
            <a:normAutofit/>
          </a:bodyPr>
          <a:lstStyle/>
          <a:p>
            <a:pPr>
              <a:lnSpc>
                <a:spcPct val="120000"/>
              </a:lnSpc>
            </a:pPr>
            <a:r>
              <a:rPr lang="en-US" sz="1500" b="1" dirty="0"/>
              <a:t>Data Controller: </a:t>
            </a:r>
            <a:r>
              <a:rPr lang="en-US" sz="1500" dirty="0"/>
              <a:t>The person who determines, alone or jointly with others, the purposes and means of processing personal data</a:t>
            </a:r>
            <a:r>
              <a:rPr lang="en-US" sz="1500" b="1" dirty="0"/>
              <a:t>.</a:t>
            </a:r>
          </a:p>
          <a:p>
            <a:pPr>
              <a:lnSpc>
                <a:spcPct val="120000"/>
              </a:lnSpc>
            </a:pPr>
            <a:r>
              <a:rPr lang="en-US" sz="1500" b="1" dirty="0"/>
              <a:t>Data Processor: </a:t>
            </a:r>
            <a:r>
              <a:rPr lang="en-US" sz="1500" dirty="0"/>
              <a:t>A person who processes personal data on behalf of the data controller, excluding employees of the controller or processor.</a:t>
            </a:r>
          </a:p>
          <a:p>
            <a:pPr>
              <a:lnSpc>
                <a:spcPct val="120000"/>
              </a:lnSpc>
            </a:pPr>
            <a:r>
              <a:rPr lang="en-US" sz="1500" b="1" dirty="0"/>
              <a:t>Data Protection Officer : </a:t>
            </a:r>
            <a:r>
              <a:rPr lang="en-US" sz="1500" dirty="0"/>
              <a:t>A person authorized by the Authority to assist the data controller in complying with the law.</a:t>
            </a:r>
            <a:endParaRPr lang="en-US" sz="1500" b="1" dirty="0"/>
          </a:p>
          <a:p>
            <a:pPr>
              <a:lnSpc>
                <a:spcPct val="120000"/>
              </a:lnSpc>
            </a:pPr>
            <a:r>
              <a:rPr lang="en-US" sz="1500" b="1" dirty="0"/>
              <a:t>Data Subject: </a:t>
            </a:r>
            <a:r>
              <a:rPr lang="en-US" sz="1500" dirty="0"/>
              <a:t>The individual to whom the personal data relates.</a:t>
            </a:r>
            <a:endParaRPr lang="en-US" sz="1500" b="1" dirty="0"/>
          </a:p>
          <a:p>
            <a:pPr>
              <a:lnSpc>
                <a:spcPct val="120000"/>
              </a:lnSpc>
            </a:pPr>
            <a:r>
              <a:rPr lang="en-US" sz="1500" b="1" dirty="0"/>
              <a:t>Third Party: </a:t>
            </a:r>
            <a:r>
              <a:rPr lang="en-US" sz="1500" dirty="0"/>
              <a:t>Any person other than the data subject, data controller, data processor, or those authorized to process data under the controller's authority.</a:t>
            </a:r>
          </a:p>
        </p:txBody>
      </p:sp>
    </p:spTree>
    <p:extLst>
      <p:ext uri="{BB962C8B-B14F-4D97-AF65-F5344CB8AC3E}">
        <p14:creationId xmlns:p14="http://schemas.microsoft.com/office/powerpoint/2010/main" val="4035613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9371-8474-FAEC-1C7E-F16B5BCA8584}"/>
              </a:ext>
            </a:extLst>
          </p:cNvPr>
          <p:cNvSpPr>
            <a:spLocks noGrp="1"/>
          </p:cNvSpPr>
          <p:nvPr>
            <p:ph type="title"/>
          </p:nvPr>
        </p:nvSpPr>
        <p:spPr/>
        <p:txBody>
          <a:bodyPr/>
          <a:lstStyle/>
          <a:p>
            <a:r>
              <a:rPr lang="en-US" dirty="0"/>
              <a:t>Roles of a Data Protection Officer</a:t>
            </a:r>
          </a:p>
        </p:txBody>
      </p:sp>
      <p:sp>
        <p:nvSpPr>
          <p:cNvPr id="3" name="Content Placeholder 2">
            <a:extLst>
              <a:ext uri="{FF2B5EF4-FFF2-40B4-BE49-F238E27FC236}">
                <a16:creationId xmlns:a16="http://schemas.microsoft.com/office/drawing/2014/main" id="{586E1044-F202-38CA-CBA8-AE8BC4EB1025}"/>
              </a:ext>
            </a:extLst>
          </p:cNvPr>
          <p:cNvSpPr>
            <a:spLocks noGrp="1"/>
          </p:cNvSpPr>
          <p:nvPr>
            <p:ph idx="1"/>
          </p:nvPr>
        </p:nvSpPr>
        <p:spPr/>
        <p:txBody>
          <a:bodyPr/>
          <a:lstStyle/>
          <a:p>
            <a:r>
              <a:rPr lang="en-US" dirty="0"/>
              <a:t>Maintain the Register of Processing Activity (ROPA)</a:t>
            </a:r>
          </a:p>
          <a:p>
            <a:r>
              <a:rPr lang="en-US" dirty="0"/>
              <a:t>Assist the data controller in exercising rights and complying with obligations under the PDPL</a:t>
            </a:r>
          </a:p>
          <a:p>
            <a:r>
              <a:rPr lang="en-US" dirty="0"/>
              <a:t>Act as the primary liaison between the data controller and the PDPA.</a:t>
            </a:r>
          </a:p>
        </p:txBody>
      </p:sp>
    </p:spTree>
    <p:extLst>
      <p:ext uri="{BB962C8B-B14F-4D97-AF65-F5344CB8AC3E}">
        <p14:creationId xmlns:p14="http://schemas.microsoft.com/office/powerpoint/2010/main" val="2852902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9BD06-1443-46DF-548F-719337BA9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558C6-1DD2-0F27-F4EF-A735E932EEA5}"/>
              </a:ext>
            </a:extLst>
          </p:cNvPr>
          <p:cNvSpPr>
            <a:spLocks noGrp="1"/>
          </p:cNvSpPr>
          <p:nvPr>
            <p:ph type="title"/>
          </p:nvPr>
        </p:nvSpPr>
        <p:spPr/>
        <p:txBody>
          <a:bodyPr>
            <a:normAutofit fontScale="90000"/>
          </a:bodyPr>
          <a:lstStyle/>
          <a:p>
            <a:r>
              <a:rPr lang="en-US" dirty="0"/>
              <a:t>Chapter One: Provisions of Processing</a:t>
            </a:r>
            <a:br>
              <a:rPr lang="en-US" dirty="0"/>
            </a:br>
            <a:r>
              <a:rPr lang="en-US" dirty="0"/>
              <a:t>Article (2): Scope of Application</a:t>
            </a:r>
          </a:p>
        </p:txBody>
      </p:sp>
      <p:sp>
        <p:nvSpPr>
          <p:cNvPr id="3" name="Content Placeholder 2">
            <a:extLst>
              <a:ext uri="{FF2B5EF4-FFF2-40B4-BE49-F238E27FC236}">
                <a16:creationId xmlns:a16="http://schemas.microsoft.com/office/drawing/2014/main" id="{AAA54B6D-5BE1-A956-2051-CFCA826FD493}"/>
              </a:ext>
            </a:extLst>
          </p:cNvPr>
          <p:cNvSpPr>
            <a:spLocks noGrp="1"/>
          </p:cNvSpPr>
          <p:nvPr>
            <p:ph idx="1"/>
          </p:nvPr>
        </p:nvSpPr>
        <p:spPr/>
        <p:txBody>
          <a:bodyPr>
            <a:normAutofit fontScale="92500" lnSpcReduction="10000"/>
          </a:bodyPr>
          <a:lstStyle/>
          <a:p>
            <a:r>
              <a:rPr lang="en-US" b="1" dirty="0"/>
              <a:t>1. Applicability of the Law:</a:t>
            </a:r>
          </a:p>
          <a:p>
            <a:r>
              <a:rPr lang="en-US" b="1" dirty="0"/>
              <a:t>    </a:t>
            </a:r>
            <a:r>
              <a:rPr lang="en-US" dirty="0"/>
              <a:t>Applies to the following processing activities:</a:t>
            </a:r>
          </a:p>
          <a:p>
            <a:r>
              <a:rPr lang="en-US" dirty="0"/>
              <a:t>        Processing of personal data wholly or partly by automated means.</a:t>
            </a:r>
          </a:p>
          <a:p>
            <a:r>
              <a:rPr lang="en-US" dirty="0"/>
              <a:t>        Processing by non-automated means of personal data forming part of a filing system.</a:t>
            </a:r>
          </a:p>
          <a:p>
            <a:r>
              <a:rPr lang="en-US" b="1" dirty="0"/>
              <a:t>2. Persons Subject to the Law:</a:t>
            </a:r>
          </a:p>
          <a:p>
            <a:r>
              <a:rPr lang="en-US" b="1" dirty="0"/>
              <a:t>    </a:t>
            </a:r>
            <a:r>
              <a:rPr lang="en-US" dirty="0"/>
              <a:t>Natural persons residing or working in Bahrain.</a:t>
            </a:r>
          </a:p>
          <a:p>
            <a:r>
              <a:rPr lang="en-US" dirty="0"/>
              <a:t>    Legal entities with a place of business in Bahrain.</a:t>
            </a:r>
          </a:p>
          <a:p>
            <a:r>
              <a:rPr lang="en-US" dirty="0"/>
              <a:t>    Persons (natural or legal) not residing in Bahrain but processing data using means available in Bahrain, except for mere data transit.</a:t>
            </a:r>
          </a:p>
        </p:txBody>
      </p:sp>
    </p:spTree>
    <p:extLst>
      <p:ext uri="{BB962C8B-B14F-4D97-AF65-F5344CB8AC3E}">
        <p14:creationId xmlns:p14="http://schemas.microsoft.com/office/powerpoint/2010/main" val="100224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9BD06-1443-46DF-548F-719337BA9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558C6-1DD2-0F27-F4EF-A735E932EEA5}"/>
              </a:ext>
            </a:extLst>
          </p:cNvPr>
          <p:cNvSpPr>
            <a:spLocks noGrp="1"/>
          </p:cNvSpPr>
          <p:nvPr>
            <p:ph type="title"/>
          </p:nvPr>
        </p:nvSpPr>
        <p:spPr/>
        <p:txBody>
          <a:bodyPr>
            <a:normAutofit fontScale="90000"/>
          </a:bodyPr>
          <a:lstStyle/>
          <a:p>
            <a:r>
              <a:rPr lang="en-US" dirty="0"/>
              <a:t>Chapter One: Provisions of Processing</a:t>
            </a:r>
            <a:br>
              <a:rPr lang="en-US" dirty="0"/>
            </a:br>
            <a:r>
              <a:rPr lang="en-US" dirty="0"/>
              <a:t>Article (2): Scope of Application</a:t>
            </a:r>
          </a:p>
        </p:txBody>
      </p:sp>
      <p:sp>
        <p:nvSpPr>
          <p:cNvPr id="3" name="Content Placeholder 2">
            <a:extLst>
              <a:ext uri="{FF2B5EF4-FFF2-40B4-BE49-F238E27FC236}">
                <a16:creationId xmlns:a16="http://schemas.microsoft.com/office/drawing/2014/main" id="{AAA54B6D-5BE1-A956-2051-CFCA826FD493}"/>
              </a:ext>
            </a:extLst>
          </p:cNvPr>
          <p:cNvSpPr>
            <a:spLocks noGrp="1"/>
          </p:cNvSpPr>
          <p:nvPr>
            <p:ph idx="1"/>
          </p:nvPr>
        </p:nvSpPr>
        <p:spPr/>
        <p:txBody>
          <a:bodyPr>
            <a:normAutofit fontScale="92500" lnSpcReduction="10000"/>
          </a:bodyPr>
          <a:lstStyle/>
          <a:p>
            <a:r>
              <a:rPr lang="en-US" b="1" dirty="0"/>
              <a:t>3. Appointment of Representative:</a:t>
            </a:r>
          </a:p>
          <a:p>
            <a:r>
              <a:rPr lang="en-US" dirty="0"/>
              <a:t>    Entities not established in Bahrain must appoint a representative in Bahrain to fulfill obligations under the law and notify the Authority of such appointment.</a:t>
            </a:r>
          </a:p>
          <a:p>
            <a:r>
              <a:rPr lang="en-US" b="1" dirty="0"/>
              <a:t>4. Exemptions:</a:t>
            </a:r>
          </a:p>
          <a:p>
            <a:r>
              <a:rPr lang="en-US" b="1" dirty="0"/>
              <a:t>    The law does not apply to:</a:t>
            </a:r>
          </a:p>
          <a:p>
            <a:r>
              <a:rPr lang="en-US" dirty="0"/>
              <a:t>        Processing by individuals for personal or family purposes.</a:t>
            </a:r>
          </a:p>
          <a:p>
            <a:r>
              <a:rPr lang="en-US" dirty="0"/>
              <a:t>        Processing related to national security by designated government bodies.</a:t>
            </a:r>
          </a:p>
          <a:p>
            <a:r>
              <a:rPr lang="en-US" b="1" dirty="0"/>
              <a:t>5. Military Exemptions:</a:t>
            </a:r>
          </a:p>
          <a:p>
            <a:r>
              <a:rPr lang="en-US" b="1" dirty="0"/>
              <a:t>    </a:t>
            </a:r>
            <a:r>
              <a:rPr lang="en-US" dirty="0"/>
              <a:t>Military requirements related to national </a:t>
            </a:r>
            <a:r>
              <a:rPr lang="en-US" dirty="0" err="1"/>
              <a:t>defence</a:t>
            </a:r>
            <a:r>
              <a:rPr lang="en-US" dirty="0"/>
              <a:t> are not affected by this law.</a:t>
            </a:r>
          </a:p>
        </p:txBody>
      </p:sp>
    </p:spTree>
    <p:extLst>
      <p:ext uri="{BB962C8B-B14F-4D97-AF65-F5344CB8AC3E}">
        <p14:creationId xmlns:p14="http://schemas.microsoft.com/office/powerpoint/2010/main" val="4125263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89773-0979-817F-6927-FFE3CFCAC648}"/>
              </a:ext>
            </a:extLst>
          </p:cNvPr>
          <p:cNvSpPr>
            <a:spLocks noGrp="1"/>
          </p:cNvSpPr>
          <p:nvPr>
            <p:ph type="title"/>
          </p:nvPr>
        </p:nvSpPr>
        <p:spPr/>
        <p:txBody>
          <a:bodyPr>
            <a:normAutofit fontScale="90000"/>
          </a:bodyPr>
          <a:lstStyle/>
          <a:p>
            <a:r>
              <a:rPr lang="en-US" dirty="0"/>
              <a:t>Chapter Two: General Rules for Lawful Processing </a:t>
            </a:r>
            <a:br>
              <a:rPr lang="en-US" dirty="0"/>
            </a:br>
            <a:r>
              <a:rPr lang="en-US" dirty="0"/>
              <a:t>Article (3): Data Quality Requirements</a:t>
            </a:r>
          </a:p>
        </p:txBody>
      </p:sp>
      <p:sp>
        <p:nvSpPr>
          <p:cNvPr id="3" name="Content Placeholder 2">
            <a:extLst>
              <a:ext uri="{FF2B5EF4-FFF2-40B4-BE49-F238E27FC236}">
                <a16:creationId xmlns:a16="http://schemas.microsoft.com/office/drawing/2014/main" id="{C5ABA810-B391-E8B0-5C9D-D80293FCA93E}"/>
              </a:ext>
            </a:extLst>
          </p:cNvPr>
          <p:cNvSpPr>
            <a:spLocks noGrp="1"/>
          </p:cNvSpPr>
          <p:nvPr>
            <p:ph idx="1"/>
          </p:nvPr>
        </p:nvSpPr>
        <p:spPr>
          <a:xfrm>
            <a:off x="1088136" y="2688410"/>
            <a:ext cx="9922764" cy="3838722"/>
          </a:xfrm>
        </p:spPr>
        <p:txBody>
          <a:bodyPr>
            <a:normAutofit fontScale="92500" lnSpcReduction="20000"/>
          </a:bodyPr>
          <a:lstStyle/>
          <a:p>
            <a:pPr marL="0" indent="0">
              <a:buNone/>
            </a:pPr>
            <a:r>
              <a:rPr lang="en-US" dirty="0"/>
              <a:t>Personal data must be:</a:t>
            </a:r>
          </a:p>
          <a:p>
            <a:pPr marL="342900" indent="-342900">
              <a:buFont typeface="+mj-lt"/>
              <a:buAutoNum type="arabicPeriod"/>
            </a:pPr>
            <a:r>
              <a:rPr lang="en-US" dirty="0"/>
              <a:t>    Processed fairly and lawfully.</a:t>
            </a:r>
          </a:p>
          <a:p>
            <a:pPr marL="342900" indent="-342900">
              <a:buFont typeface="+mj-lt"/>
              <a:buAutoNum type="arabicPeriod"/>
            </a:pPr>
            <a:r>
              <a:rPr lang="en-US" dirty="0"/>
              <a:t>    Collected for specific, legitimate purposes and not further processed in a way incompatible with those purposes.</a:t>
            </a:r>
          </a:p>
          <a:p>
            <a:pPr lvl="1"/>
            <a:r>
              <a:rPr lang="en-US" dirty="0"/>
              <a:t>        Further processing for historical, statistical, or scientific purposes is not considered incompatible if it doesn't affect specific individuals.</a:t>
            </a:r>
          </a:p>
          <a:p>
            <a:pPr marL="342900" indent="-342900">
              <a:buFont typeface="+mj-lt"/>
              <a:buAutoNum type="arabicPeriod"/>
            </a:pPr>
            <a:r>
              <a:rPr lang="en-US" dirty="0"/>
              <a:t>    Adequate, relevant, and not excessive in relation to the purposes.</a:t>
            </a:r>
          </a:p>
          <a:p>
            <a:pPr marL="342900" indent="-342900">
              <a:buFont typeface="+mj-lt"/>
              <a:buAutoNum type="arabicPeriod"/>
            </a:pPr>
            <a:r>
              <a:rPr lang="en-US" dirty="0"/>
              <a:t>    Accurate and kept up to date.</a:t>
            </a:r>
          </a:p>
          <a:p>
            <a:pPr marL="342900" indent="-342900">
              <a:buFont typeface="+mj-lt"/>
              <a:buAutoNum type="arabicPeriod"/>
            </a:pPr>
            <a:r>
              <a:rPr lang="en-US" dirty="0"/>
              <a:t>    Kept no longer than necessary for the purposes.</a:t>
            </a:r>
          </a:p>
          <a:p>
            <a:r>
              <a:rPr lang="en-US" dirty="0"/>
              <a:t>        Data stored longer for historical, statistical, or scientific purposes must be anonymized.</a:t>
            </a:r>
          </a:p>
        </p:txBody>
      </p:sp>
    </p:spTree>
    <p:extLst>
      <p:ext uri="{BB962C8B-B14F-4D97-AF65-F5344CB8AC3E}">
        <p14:creationId xmlns:p14="http://schemas.microsoft.com/office/powerpoint/2010/main" val="3236654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27650-979A-9CF5-0AA3-1D48BB014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2E06A-50F3-5B90-8E8A-F7EB7968166D}"/>
              </a:ext>
            </a:extLst>
          </p:cNvPr>
          <p:cNvSpPr>
            <a:spLocks noGrp="1"/>
          </p:cNvSpPr>
          <p:nvPr>
            <p:ph type="title"/>
          </p:nvPr>
        </p:nvSpPr>
        <p:spPr/>
        <p:txBody>
          <a:bodyPr>
            <a:normAutofit fontScale="90000"/>
          </a:bodyPr>
          <a:lstStyle/>
          <a:p>
            <a:r>
              <a:rPr lang="en-US" dirty="0"/>
              <a:t>Chapter Two: General Rules for Lawful Processing </a:t>
            </a:r>
            <a:br>
              <a:rPr lang="en-US" dirty="0"/>
            </a:br>
            <a:r>
              <a:rPr lang="en-US" dirty="0"/>
              <a:t>Article (4): Data Quality Requirements</a:t>
            </a:r>
          </a:p>
        </p:txBody>
      </p:sp>
      <p:sp>
        <p:nvSpPr>
          <p:cNvPr id="3" name="Content Placeholder 2">
            <a:extLst>
              <a:ext uri="{FF2B5EF4-FFF2-40B4-BE49-F238E27FC236}">
                <a16:creationId xmlns:a16="http://schemas.microsoft.com/office/drawing/2014/main" id="{4A0B46F9-71FD-1E33-A21C-8B45AF4F2A8B}"/>
              </a:ext>
            </a:extLst>
          </p:cNvPr>
          <p:cNvSpPr>
            <a:spLocks noGrp="1"/>
          </p:cNvSpPr>
          <p:nvPr>
            <p:ph idx="1"/>
          </p:nvPr>
        </p:nvSpPr>
        <p:spPr>
          <a:xfrm>
            <a:off x="1088136" y="2688410"/>
            <a:ext cx="9922764" cy="3838722"/>
          </a:xfrm>
        </p:spPr>
        <p:txBody>
          <a:bodyPr>
            <a:normAutofit/>
          </a:bodyPr>
          <a:lstStyle/>
          <a:p>
            <a:r>
              <a:rPr lang="en-US" dirty="0"/>
              <a:t>Processing without the data subject's consent is permissible if necessary for:</a:t>
            </a:r>
          </a:p>
          <a:p>
            <a:pPr>
              <a:buFont typeface="+mj-lt"/>
              <a:buAutoNum type="arabicPeriod"/>
            </a:pPr>
            <a:r>
              <a:rPr lang="en-US" dirty="0"/>
              <a:t>Performance of a contract to which the data subject is a party.</a:t>
            </a:r>
          </a:p>
          <a:p>
            <a:pPr>
              <a:buFont typeface="+mj-lt"/>
              <a:buAutoNum type="arabicPeriod"/>
            </a:pPr>
            <a:r>
              <a:rPr lang="en-US" dirty="0"/>
              <a:t>Taking steps at the request of the data subject prior to entering into a contract.</a:t>
            </a:r>
          </a:p>
          <a:p>
            <a:pPr>
              <a:buFont typeface="+mj-lt"/>
              <a:buAutoNum type="arabicPeriod"/>
            </a:pPr>
            <a:r>
              <a:rPr lang="en-US" dirty="0"/>
              <a:t>Compliance with a legal obligation or court order.</a:t>
            </a:r>
          </a:p>
          <a:p>
            <a:pPr>
              <a:buFont typeface="+mj-lt"/>
              <a:buAutoNum type="arabicPeriod"/>
            </a:pPr>
            <a:r>
              <a:rPr lang="en-US" dirty="0"/>
              <a:t>Protecting the vital interests of the data subject.</a:t>
            </a:r>
          </a:p>
          <a:p>
            <a:pPr>
              <a:buFont typeface="+mj-lt"/>
              <a:buAutoNum type="arabicPeriod"/>
            </a:pPr>
            <a:r>
              <a:rPr lang="en-US" dirty="0"/>
              <a:t>Pursuing legitimate interests of the data controller or third party, provided it doesn't conflict with the data subject's fundamental rights.</a:t>
            </a:r>
          </a:p>
        </p:txBody>
      </p:sp>
    </p:spTree>
    <p:extLst>
      <p:ext uri="{BB962C8B-B14F-4D97-AF65-F5344CB8AC3E}">
        <p14:creationId xmlns:p14="http://schemas.microsoft.com/office/powerpoint/2010/main" val="889393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1BB2F-C271-CD13-B6F7-C2CB1DD58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75801-B502-163D-8B53-FEB99A756D65}"/>
              </a:ext>
            </a:extLst>
          </p:cNvPr>
          <p:cNvSpPr>
            <a:spLocks noGrp="1"/>
          </p:cNvSpPr>
          <p:nvPr>
            <p:ph type="title"/>
          </p:nvPr>
        </p:nvSpPr>
        <p:spPr>
          <a:xfrm>
            <a:off x="1088135" y="1090245"/>
            <a:ext cx="10717421" cy="1294228"/>
          </a:xfrm>
        </p:spPr>
        <p:txBody>
          <a:bodyPr>
            <a:noAutofit/>
          </a:bodyPr>
          <a:lstStyle/>
          <a:p>
            <a:r>
              <a:rPr lang="en-US" sz="3600" dirty="0"/>
              <a:t>Chapter Two: General Rules for Lawful Processing </a:t>
            </a:r>
            <a:br>
              <a:rPr lang="en-US" sz="3600" dirty="0"/>
            </a:br>
            <a:r>
              <a:rPr lang="en-US" sz="3600" dirty="0"/>
              <a:t>Article (5): Processing Sensitive Personal Data</a:t>
            </a:r>
          </a:p>
        </p:txBody>
      </p:sp>
      <p:sp>
        <p:nvSpPr>
          <p:cNvPr id="3" name="Content Placeholder 2">
            <a:extLst>
              <a:ext uri="{FF2B5EF4-FFF2-40B4-BE49-F238E27FC236}">
                <a16:creationId xmlns:a16="http://schemas.microsoft.com/office/drawing/2014/main" id="{EFA6BB3A-0DD8-F59B-A296-9D5912030EC2}"/>
              </a:ext>
            </a:extLst>
          </p:cNvPr>
          <p:cNvSpPr>
            <a:spLocks noGrp="1"/>
          </p:cNvSpPr>
          <p:nvPr>
            <p:ph idx="1"/>
          </p:nvPr>
        </p:nvSpPr>
        <p:spPr>
          <a:xfrm>
            <a:off x="1088136" y="2688410"/>
            <a:ext cx="9922764" cy="3838722"/>
          </a:xfrm>
        </p:spPr>
        <p:txBody>
          <a:bodyPr>
            <a:normAutofit/>
          </a:bodyPr>
          <a:lstStyle/>
          <a:p>
            <a:r>
              <a:rPr lang="en-US" dirty="0"/>
              <a:t>Processing sensitive personal data without consent is prohibited unless:</a:t>
            </a:r>
          </a:p>
          <a:p>
            <a:pPr marL="342900" indent="-342900">
              <a:buFont typeface="+mj-lt"/>
              <a:buAutoNum type="arabicPeriod"/>
            </a:pPr>
            <a:r>
              <a:rPr lang="en-US" dirty="0"/>
              <a:t>    Necessary for the data controller's obligations and rights in employment law.</a:t>
            </a:r>
          </a:p>
          <a:p>
            <a:pPr marL="342900" indent="-342900">
              <a:buFont typeface="+mj-lt"/>
              <a:buAutoNum type="arabicPeriod"/>
            </a:pPr>
            <a:r>
              <a:rPr lang="en-US" dirty="0"/>
              <a:t>    Vital to protect an individual unable to give legal consent, with prior authorization from the Authority.</a:t>
            </a:r>
          </a:p>
          <a:p>
            <a:pPr marL="342900" indent="-342900">
              <a:buFont typeface="+mj-lt"/>
              <a:buAutoNum type="arabicPeriod"/>
            </a:pPr>
            <a:r>
              <a:rPr lang="en-US" dirty="0"/>
              <a:t>    Data made public by the data subject.</a:t>
            </a:r>
          </a:p>
          <a:p>
            <a:pPr marL="342900" indent="-342900">
              <a:buFont typeface="+mj-lt"/>
              <a:buAutoNum type="arabicPeriod"/>
            </a:pPr>
            <a:r>
              <a:rPr lang="en-US" dirty="0"/>
              <a:t>    Necessary for legal claims or </a:t>
            </a:r>
            <a:r>
              <a:rPr lang="en-US" dirty="0" err="1"/>
              <a:t>defence</a:t>
            </a:r>
            <a:r>
              <a:rPr lang="en-US" dirty="0"/>
              <a:t>.</a:t>
            </a:r>
          </a:p>
          <a:p>
            <a:pPr marL="342900" indent="-342900">
              <a:buFont typeface="+mj-lt"/>
              <a:buAutoNum type="arabicPeriod"/>
            </a:pPr>
            <a:r>
              <a:rPr lang="en-US" dirty="0"/>
              <a:t>    Necessary for preventive medicine, medical diagnosis, or healthcare, conducted by licensed professionals bound by confidentiality.</a:t>
            </a:r>
          </a:p>
        </p:txBody>
      </p:sp>
    </p:spTree>
    <p:extLst>
      <p:ext uri="{BB962C8B-B14F-4D97-AF65-F5344CB8AC3E}">
        <p14:creationId xmlns:p14="http://schemas.microsoft.com/office/powerpoint/2010/main" val="3919294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1BB2F-C271-CD13-B6F7-C2CB1DD58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75801-B502-163D-8B53-FEB99A756D65}"/>
              </a:ext>
            </a:extLst>
          </p:cNvPr>
          <p:cNvSpPr>
            <a:spLocks noGrp="1"/>
          </p:cNvSpPr>
          <p:nvPr>
            <p:ph type="title"/>
          </p:nvPr>
        </p:nvSpPr>
        <p:spPr>
          <a:xfrm>
            <a:off x="1088135" y="1090245"/>
            <a:ext cx="10717421" cy="1294228"/>
          </a:xfrm>
        </p:spPr>
        <p:txBody>
          <a:bodyPr>
            <a:noAutofit/>
          </a:bodyPr>
          <a:lstStyle/>
          <a:p>
            <a:r>
              <a:rPr lang="en-US" sz="3600" dirty="0"/>
              <a:t>Chapter Two: General Rules for Lawful Processing </a:t>
            </a:r>
            <a:br>
              <a:rPr lang="en-US" sz="3600" dirty="0"/>
            </a:br>
            <a:r>
              <a:rPr lang="en-US" sz="3600" dirty="0"/>
              <a:t>Article (5): Processing Sensitive Personal Data</a:t>
            </a:r>
          </a:p>
        </p:txBody>
      </p:sp>
      <p:sp>
        <p:nvSpPr>
          <p:cNvPr id="3" name="Content Placeholder 2">
            <a:extLst>
              <a:ext uri="{FF2B5EF4-FFF2-40B4-BE49-F238E27FC236}">
                <a16:creationId xmlns:a16="http://schemas.microsoft.com/office/drawing/2014/main" id="{EFA6BB3A-0DD8-F59B-A296-9D5912030EC2}"/>
              </a:ext>
            </a:extLst>
          </p:cNvPr>
          <p:cNvSpPr>
            <a:spLocks noGrp="1"/>
          </p:cNvSpPr>
          <p:nvPr>
            <p:ph idx="1"/>
          </p:nvPr>
        </p:nvSpPr>
        <p:spPr>
          <a:xfrm>
            <a:off x="1088136" y="2688410"/>
            <a:ext cx="9922764" cy="3838722"/>
          </a:xfrm>
        </p:spPr>
        <p:txBody>
          <a:bodyPr>
            <a:normAutofit/>
          </a:bodyPr>
          <a:lstStyle/>
          <a:p>
            <a:pPr marL="342900" indent="-342900">
              <a:buFont typeface="+mj-lt"/>
              <a:buAutoNum type="arabicPeriod" startAt="6"/>
            </a:pPr>
            <a:r>
              <a:rPr lang="en-US" dirty="0"/>
              <a:t>    Conducted by non-profit organizations (e.g., associations, unions) within their legitimate activities, respecting conditions such as:</a:t>
            </a:r>
          </a:p>
          <a:p>
            <a:pPr marL="0" indent="0">
              <a:buNone/>
            </a:pPr>
            <a:r>
              <a:rPr lang="en-US" dirty="0"/>
              <a:t>	Processing is limited to members or regular contacts.</a:t>
            </a:r>
          </a:p>
          <a:p>
            <a:pPr marL="0" indent="0">
              <a:buNone/>
            </a:pPr>
            <a:r>
              <a:rPr lang="en-US" dirty="0"/>
              <a:t>	No disclosure without consent.</a:t>
            </a:r>
          </a:p>
          <a:p>
            <a:pPr marL="342900" indent="-342900">
              <a:buFont typeface="+mj-lt"/>
              <a:buAutoNum type="arabicPeriod" startAt="7"/>
            </a:pPr>
            <a:r>
              <a:rPr lang="en-US" dirty="0"/>
              <a:t>    Necessary for public authorities to perform legal tasks.</a:t>
            </a:r>
          </a:p>
          <a:p>
            <a:pPr marL="342900" indent="-342900">
              <a:buFont typeface="+mj-lt"/>
              <a:buAutoNum type="arabicPeriod" startAt="7"/>
            </a:pPr>
            <a:r>
              <a:rPr lang="en-US" dirty="0"/>
              <a:t>    Processing data on racial or ethnic origin for equality monitoring, with appropriate safeguards.</a:t>
            </a:r>
          </a:p>
          <a:p>
            <a:pPr marL="274320" lvl="1" indent="0">
              <a:buNone/>
            </a:pPr>
            <a:r>
              <a:rPr lang="en-US" dirty="0"/>
              <a:t>	The Board of Directors issues rules and procedures for such processing.</a:t>
            </a:r>
          </a:p>
        </p:txBody>
      </p:sp>
    </p:spTree>
    <p:extLst>
      <p:ext uri="{BB962C8B-B14F-4D97-AF65-F5344CB8AC3E}">
        <p14:creationId xmlns:p14="http://schemas.microsoft.com/office/powerpoint/2010/main" val="68804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DCFF3-7BCB-6A4C-4F79-3A332A3CBD85}"/>
              </a:ext>
            </a:extLst>
          </p:cNvPr>
          <p:cNvSpPr>
            <a:spLocks noGrp="1"/>
          </p:cNvSpPr>
          <p:nvPr>
            <p:ph type="title"/>
          </p:nvPr>
        </p:nvSpPr>
        <p:spPr/>
        <p:txBody>
          <a:bodyPr/>
          <a:lstStyle/>
          <a:p>
            <a:r>
              <a:rPr lang="en-US" dirty="0"/>
              <a:t>Chapter Three: Transfer of Personal Data Outside the Kingdom</a:t>
            </a:r>
          </a:p>
        </p:txBody>
      </p:sp>
      <p:sp>
        <p:nvSpPr>
          <p:cNvPr id="3" name="Content Placeholder 2">
            <a:extLst>
              <a:ext uri="{FF2B5EF4-FFF2-40B4-BE49-F238E27FC236}">
                <a16:creationId xmlns:a16="http://schemas.microsoft.com/office/drawing/2014/main" id="{CEC2C658-471A-078B-43EC-194F616D40D9}"/>
              </a:ext>
            </a:extLst>
          </p:cNvPr>
          <p:cNvSpPr>
            <a:spLocks noGrp="1"/>
          </p:cNvSpPr>
          <p:nvPr>
            <p:ph idx="1"/>
          </p:nvPr>
        </p:nvSpPr>
        <p:spPr/>
        <p:txBody>
          <a:bodyPr>
            <a:normAutofit fontScale="92500" lnSpcReduction="20000"/>
          </a:bodyPr>
          <a:lstStyle/>
          <a:p>
            <a:r>
              <a:rPr lang="en-US" b="1" dirty="0"/>
              <a:t>Article 12 (Transfer to Countries Providing Adequate Protection)</a:t>
            </a:r>
            <a:endParaRPr lang="en-US" dirty="0"/>
          </a:p>
          <a:p>
            <a:pPr>
              <a:buFont typeface="Arial" panose="020B0604020202020204" pitchFamily="34" charset="0"/>
              <a:buChar char="•"/>
            </a:pPr>
            <a:r>
              <a:rPr lang="en-US" dirty="0"/>
              <a:t>Controllers may transfer personal data abroad only if:</a:t>
            </a:r>
          </a:p>
          <a:p>
            <a:pPr marL="742950" lvl="1" indent="-285750">
              <a:buFont typeface="Arial" panose="020B0604020202020204" pitchFamily="34" charset="0"/>
              <a:buChar char="•"/>
            </a:pPr>
            <a:r>
              <a:rPr lang="en-US" dirty="0"/>
              <a:t>The destination country or territory provides adequate protection, as listed by the Authority.</a:t>
            </a:r>
          </a:p>
          <a:p>
            <a:pPr marL="1143000" lvl="2" indent="-228600">
              <a:buFont typeface="Arial" panose="020B0604020202020204" pitchFamily="34" charset="0"/>
              <a:buChar char="•"/>
            </a:pPr>
            <a:r>
              <a:rPr lang="en-US" dirty="0"/>
              <a:t>The Authority publishes a list of such countries.</a:t>
            </a:r>
          </a:p>
          <a:p>
            <a:pPr marL="742950" lvl="1" indent="-285750">
              <a:buFont typeface="Arial" panose="020B0604020202020204" pitchFamily="34" charset="0"/>
              <a:buChar char="•"/>
            </a:pPr>
            <a:r>
              <a:rPr lang="en-US" dirty="0"/>
              <a:t>The Authority grants authorization in specific cases, considering:</a:t>
            </a:r>
          </a:p>
          <a:p>
            <a:pPr marL="1143000" lvl="2" indent="-228600">
              <a:buFont typeface="Arial" panose="020B0604020202020204" pitchFamily="34" charset="0"/>
              <a:buChar char="•"/>
            </a:pPr>
            <a:r>
              <a:rPr lang="en-US" dirty="0"/>
              <a:t>Nature of data and purpose of processing.</a:t>
            </a:r>
          </a:p>
          <a:p>
            <a:pPr marL="1143000" lvl="2" indent="-228600">
              <a:buFont typeface="Arial" panose="020B0604020202020204" pitchFamily="34" charset="0"/>
              <a:buChar char="•"/>
            </a:pPr>
            <a:r>
              <a:rPr lang="en-US" dirty="0"/>
              <a:t>Origin and final destination countries.</a:t>
            </a:r>
          </a:p>
          <a:p>
            <a:pPr marL="1143000" lvl="2" indent="-228600">
              <a:buFont typeface="Arial" panose="020B0604020202020204" pitchFamily="34" charset="0"/>
              <a:buChar char="•"/>
            </a:pPr>
            <a:r>
              <a:rPr lang="en-US" dirty="0"/>
              <a:t>Legal safeguards in the destination.</a:t>
            </a:r>
          </a:p>
          <a:p>
            <a:pPr marL="1143000" lvl="2" indent="-228600">
              <a:buFont typeface="Arial" panose="020B0604020202020204" pitchFamily="34" charset="0"/>
              <a:buChar char="•"/>
            </a:pPr>
            <a:r>
              <a:rPr lang="en-US" dirty="0"/>
              <a:t>International agreements and relevant legislation.</a:t>
            </a:r>
          </a:p>
          <a:p>
            <a:pPr>
              <a:buFont typeface="Arial" panose="020B0604020202020204" pitchFamily="34" charset="0"/>
              <a:buChar char="•"/>
            </a:pPr>
            <a:r>
              <a:rPr lang="en-US" dirty="0"/>
              <a:t>Authorization may be conditional or time-limited.</a:t>
            </a:r>
          </a:p>
          <a:p>
            <a:endParaRPr lang="en-US" dirty="0"/>
          </a:p>
        </p:txBody>
      </p:sp>
    </p:spTree>
    <p:extLst>
      <p:ext uri="{BB962C8B-B14F-4D97-AF65-F5344CB8AC3E}">
        <p14:creationId xmlns:p14="http://schemas.microsoft.com/office/powerpoint/2010/main" val="3394519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B3B74-E1AD-2693-520B-0D2EED6F0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C049E-0D22-D938-377F-4ABAC30DFB53}"/>
              </a:ext>
            </a:extLst>
          </p:cNvPr>
          <p:cNvSpPr>
            <a:spLocks noGrp="1"/>
          </p:cNvSpPr>
          <p:nvPr>
            <p:ph type="title"/>
          </p:nvPr>
        </p:nvSpPr>
        <p:spPr/>
        <p:txBody>
          <a:bodyPr/>
          <a:lstStyle/>
          <a:p>
            <a:r>
              <a:rPr lang="en-US" dirty="0"/>
              <a:t>Chapter Three: Transfer of Personal Data Outside the Kingdom</a:t>
            </a:r>
          </a:p>
        </p:txBody>
      </p:sp>
      <p:sp>
        <p:nvSpPr>
          <p:cNvPr id="3" name="Content Placeholder 2">
            <a:extLst>
              <a:ext uri="{FF2B5EF4-FFF2-40B4-BE49-F238E27FC236}">
                <a16:creationId xmlns:a16="http://schemas.microsoft.com/office/drawing/2014/main" id="{FA0B3073-90C5-D16C-9707-1C61160E534A}"/>
              </a:ext>
            </a:extLst>
          </p:cNvPr>
          <p:cNvSpPr>
            <a:spLocks noGrp="1"/>
          </p:cNvSpPr>
          <p:nvPr>
            <p:ph idx="1"/>
          </p:nvPr>
        </p:nvSpPr>
        <p:spPr/>
        <p:txBody>
          <a:bodyPr>
            <a:normAutofit fontScale="85000" lnSpcReduction="10000"/>
          </a:bodyPr>
          <a:lstStyle/>
          <a:p>
            <a:r>
              <a:rPr lang="en-US" b="1" dirty="0"/>
              <a:t>Article 13 (Exceptions)</a:t>
            </a:r>
            <a:endParaRPr lang="en-US" dirty="0"/>
          </a:p>
          <a:p>
            <a:pPr>
              <a:buFont typeface="+mj-lt"/>
              <a:buAutoNum type="arabicPeriod"/>
            </a:pPr>
            <a:r>
              <a:rPr lang="en-US" dirty="0"/>
              <a:t>Controllers may transfer personal data to countries lacking adequate protection if:</a:t>
            </a:r>
          </a:p>
          <a:p>
            <a:pPr marL="742950" lvl="1" indent="-285750">
              <a:buFont typeface="Arial" panose="020B0604020202020204" pitchFamily="34" charset="0"/>
              <a:buChar char="•"/>
            </a:pPr>
            <a:r>
              <a:rPr lang="en-US" dirty="0"/>
              <a:t>The data subject consents.</a:t>
            </a:r>
          </a:p>
          <a:p>
            <a:pPr marL="742950" lvl="1" indent="-285750">
              <a:buFont typeface="Arial" panose="020B0604020202020204" pitchFamily="34" charset="0"/>
              <a:buChar char="•"/>
            </a:pPr>
            <a:r>
              <a:rPr lang="en-US" dirty="0"/>
              <a:t>Transfer is necessary for:</a:t>
            </a:r>
          </a:p>
          <a:p>
            <a:pPr marL="1200150" lvl="2" indent="-285750">
              <a:buFont typeface="Arial" panose="020B0604020202020204" pitchFamily="34" charset="0"/>
              <a:buChar char="•"/>
            </a:pPr>
            <a:r>
              <a:rPr lang="en-US" dirty="0"/>
              <a:t>Contract performance or pre-contractual measures at the data subject's request.</a:t>
            </a:r>
          </a:p>
          <a:p>
            <a:pPr marL="1200150" lvl="2" indent="-285750">
              <a:buFont typeface="Arial" panose="020B0604020202020204" pitchFamily="34" charset="0"/>
              <a:buChar char="•"/>
            </a:pPr>
            <a:r>
              <a:rPr lang="en-US" dirty="0"/>
              <a:t>Conclusion or performance of a contract in the data subject's interest.</a:t>
            </a:r>
          </a:p>
          <a:p>
            <a:pPr marL="1200150" lvl="2" indent="-285750">
              <a:buFont typeface="Arial" panose="020B0604020202020204" pitchFamily="34" charset="0"/>
              <a:buChar char="•"/>
            </a:pPr>
            <a:r>
              <a:rPr lang="en-US" dirty="0"/>
              <a:t>Protecting the vital interests of the data subject.</a:t>
            </a:r>
          </a:p>
          <a:p>
            <a:pPr marL="1200150" lvl="2" indent="-285750">
              <a:buFont typeface="Arial" panose="020B0604020202020204" pitchFamily="34" charset="0"/>
              <a:buChar char="•"/>
            </a:pPr>
            <a:r>
              <a:rPr lang="en-US" dirty="0"/>
              <a:t>Compliance with legal obligations or court orders.</a:t>
            </a:r>
          </a:p>
          <a:p>
            <a:pPr marL="1200150" lvl="2" indent="-285750">
              <a:buFont typeface="Arial" panose="020B0604020202020204" pitchFamily="34" charset="0"/>
              <a:buChar char="•"/>
            </a:pPr>
            <a:r>
              <a:rPr lang="en-US" dirty="0"/>
              <a:t>Establishing or defending legal claims.</a:t>
            </a:r>
          </a:p>
          <a:p>
            <a:pPr marL="742950" lvl="1" indent="-285750">
              <a:buFont typeface="Arial" panose="020B0604020202020204" pitchFamily="34" charset="0"/>
              <a:buChar char="•"/>
            </a:pPr>
            <a:r>
              <a:rPr lang="en-US" dirty="0"/>
              <a:t>Data originates from a public register intended to provide information to the public.</a:t>
            </a:r>
          </a:p>
          <a:p>
            <a:pPr>
              <a:buFont typeface="+mj-lt"/>
              <a:buAutoNum type="arabicPeriod"/>
            </a:pPr>
            <a:r>
              <a:rPr lang="en-US" dirty="0"/>
              <a:t>The Authority may authorize transfers with sufficient safeguards, potentially through contractual clauses.</a:t>
            </a:r>
          </a:p>
          <a:p>
            <a:endParaRPr lang="en-US" dirty="0"/>
          </a:p>
        </p:txBody>
      </p:sp>
    </p:spTree>
    <p:extLst>
      <p:ext uri="{BB962C8B-B14F-4D97-AF65-F5344CB8AC3E}">
        <p14:creationId xmlns:p14="http://schemas.microsoft.com/office/powerpoint/2010/main" val="4063223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9CD-1ABC-B637-BA87-C819D2B38766}"/>
              </a:ext>
            </a:extLst>
          </p:cNvPr>
          <p:cNvSpPr>
            <a:spLocks noGrp="1"/>
          </p:cNvSpPr>
          <p:nvPr>
            <p:ph type="title"/>
          </p:nvPr>
        </p:nvSpPr>
        <p:spPr/>
        <p:txBody>
          <a:bodyPr>
            <a:normAutofit fontScale="90000"/>
          </a:bodyPr>
          <a:lstStyle/>
          <a:p>
            <a:r>
              <a:rPr lang="en-US" dirty="0">
                <a:solidFill>
                  <a:srgbClr val="FF0000"/>
                </a:solidFill>
              </a:rPr>
              <a:t>Sidebar: Legislative Decree No. (56) of 2018 regarding the Provision of Cloud Computing Services to Foreign Parties</a:t>
            </a:r>
          </a:p>
        </p:txBody>
      </p:sp>
      <p:sp>
        <p:nvSpPr>
          <p:cNvPr id="3" name="Content Placeholder 2">
            <a:extLst>
              <a:ext uri="{FF2B5EF4-FFF2-40B4-BE49-F238E27FC236}">
                <a16:creationId xmlns:a16="http://schemas.microsoft.com/office/drawing/2014/main" id="{C59B8421-5DE7-1655-89D1-7378FC32ECAB}"/>
              </a:ext>
            </a:extLst>
          </p:cNvPr>
          <p:cNvSpPr>
            <a:spLocks noGrp="1"/>
          </p:cNvSpPr>
          <p:nvPr>
            <p:ph idx="1"/>
          </p:nvPr>
        </p:nvSpPr>
        <p:spPr>
          <a:xfrm>
            <a:off x="1088136" y="2774730"/>
            <a:ext cx="9922764" cy="3511769"/>
          </a:xfrm>
        </p:spPr>
        <p:txBody>
          <a:bodyPr/>
          <a:lstStyle/>
          <a:p>
            <a:r>
              <a:rPr lang="en-US" dirty="0"/>
              <a:t>Bahrain's Decree Law No. 56 of 2018, commonly known as the </a:t>
            </a:r>
            <a:r>
              <a:rPr lang="en-US" b="1" dirty="0"/>
              <a:t>Data Embassy Law</a:t>
            </a:r>
            <a:r>
              <a:rPr lang="en-US" dirty="0"/>
              <a:t>, enables foreign governments and entities to store their data in Bahrain while maintaining their jurisdictional sovereignty over it. This innovative legal framework allows certain foreign countries to keep their data within Bahrain's data centers while ensuring that the legal jurisdiction over that data remains with the originating country, not with Bahrain.</a:t>
            </a:r>
          </a:p>
        </p:txBody>
      </p:sp>
      <p:graphicFrame>
        <p:nvGraphicFramePr>
          <p:cNvPr id="4" name="Table 3">
            <a:extLst>
              <a:ext uri="{FF2B5EF4-FFF2-40B4-BE49-F238E27FC236}">
                <a16:creationId xmlns:a16="http://schemas.microsoft.com/office/drawing/2014/main" id="{2B4D1BAC-5653-2F72-B5AC-4003A0511FAF}"/>
              </a:ext>
            </a:extLst>
          </p:cNvPr>
          <p:cNvGraphicFramePr>
            <a:graphicFrameLocks noGrp="1"/>
          </p:cNvGraphicFramePr>
          <p:nvPr>
            <p:extLst>
              <p:ext uri="{D42A27DB-BD31-4B8C-83A1-F6EECF244321}">
                <p14:modId xmlns:p14="http://schemas.microsoft.com/office/powerpoint/2010/main" val="3444992490"/>
              </p:ext>
            </p:extLst>
          </p:nvPr>
        </p:nvGraphicFramePr>
        <p:xfrm>
          <a:off x="1985518" y="4732019"/>
          <a:ext cx="8128000" cy="1554480"/>
        </p:xfrm>
        <a:graphic>
          <a:graphicData uri="http://schemas.openxmlformats.org/drawingml/2006/table">
            <a:tbl>
              <a:tblPr bandRow="1">
                <a:tableStyleId>{5C22544A-7EE6-4342-B048-85BDC9FD1C3A}</a:tableStyleId>
              </a:tblPr>
              <a:tblGrid>
                <a:gridCol w="1625600">
                  <a:extLst>
                    <a:ext uri="{9D8B030D-6E8A-4147-A177-3AD203B41FA5}">
                      <a16:colId xmlns:a16="http://schemas.microsoft.com/office/drawing/2014/main" val="2862489696"/>
                    </a:ext>
                  </a:extLst>
                </a:gridCol>
                <a:gridCol w="1625600">
                  <a:extLst>
                    <a:ext uri="{9D8B030D-6E8A-4147-A177-3AD203B41FA5}">
                      <a16:colId xmlns:a16="http://schemas.microsoft.com/office/drawing/2014/main" val="444816339"/>
                    </a:ext>
                  </a:extLst>
                </a:gridCol>
                <a:gridCol w="1625600">
                  <a:extLst>
                    <a:ext uri="{9D8B030D-6E8A-4147-A177-3AD203B41FA5}">
                      <a16:colId xmlns:a16="http://schemas.microsoft.com/office/drawing/2014/main" val="3426139912"/>
                    </a:ext>
                  </a:extLst>
                </a:gridCol>
                <a:gridCol w="1625600">
                  <a:extLst>
                    <a:ext uri="{9D8B030D-6E8A-4147-A177-3AD203B41FA5}">
                      <a16:colId xmlns:a16="http://schemas.microsoft.com/office/drawing/2014/main" val="2441842758"/>
                    </a:ext>
                  </a:extLst>
                </a:gridCol>
                <a:gridCol w="1625600">
                  <a:extLst>
                    <a:ext uri="{9D8B030D-6E8A-4147-A177-3AD203B41FA5}">
                      <a16:colId xmlns:a16="http://schemas.microsoft.com/office/drawing/2014/main" val="1491466746"/>
                    </a:ext>
                  </a:extLst>
                </a:gridCol>
              </a:tblGrid>
              <a:tr h="370840">
                <a:tc>
                  <a:txBody>
                    <a:bodyPr/>
                    <a:lstStyle/>
                    <a:p>
                      <a:pPr algn="ctr"/>
                      <a:r>
                        <a:rPr lang="en-US" dirty="0"/>
                        <a:t>United Arab Emirates</a:t>
                      </a:r>
                    </a:p>
                  </a:txBody>
                  <a:tcPr anchor="ctr"/>
                </a:tc>
                <a:tc>
                  <a:txBody>
                    <a:bodyPr/>
                    <a:lstStyle/>
                    <a:p>
                      <a:pPr algn="ctr"/>
                      <a:r>
                        <a:rPr lang="en-US" dirty="0"/>
                        <a:t>Oman</a:t>
                      </a:r>
                    </a:p>
                  </a:txBody>
                  <a:tcPr anchor="ctr"/>
                </a:tc>
                <a:tc>
                  <a:txBody>
                    <a:bodyPr/>
                    <a:lstStyle/>
                    <a:p>
                      <a:pPr algn="ctr"/>
                      <a:r>
                        <a:rPr lang="en-US" dirty="0"/>
                        <a:t>Egypt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Brazil</a:t>
                      </a:r>
                    </a:p>
                    <a:p>
                      <a:pPr algn="ctr"/>
                      <a:endParaRPr lang="en-US" dirty="0"/>
                    </a:p>
                  </a:txBody>
                  <a:tcPr anchor="ctr"/>
                </a:tc>
                <a:tc>
                  <a:txBody>
                    <a:bodyPr/>
                    <a:lstStyle/>
                    <a:p>
                      <a:pPr algn="ctr"/>
                      <a:r>
                        <a:rPr lang="en-US" dirty="0"/>
                        <a:t>United States of America</a:t>
                      </a:r>
                    </a:p>
                  </a:txBody>
                  <a:tcPr anchor="ctr"/>
                </a:tc>
                <a:extLst>
                  <a:ext uri="{0D108BD9-81ED-4DB2-BD59-A6C34878D82A}">
                    <a16:rowId xmlns:a16="http://schemas.microsoft.com/office/drawing/2014/main" val="3002964965"/>
                  </a:ext>
                </a:extLst>
              </a:tr>
              <a:tr h="370840">
                <a:tc>
                  <a:txBody>
                    <a:bodyPr/>
                    <a:lstStyle/>
                    <a:p>
                      <a:pPr algn="ctr"/>
                      <a:r>
                        <a:rPr lang="en-US" dirty="0"/>
                        <a:t>Spain</a:t>
                      </a:r>
                    </a:p>
                  </a:txBody>
                  <a:tcPr anchor="ctr"/>
                </a:tc>
                <a:tc>
                  <a:txBody>
                    <a:bodyPr/>
                    <a:lstStyle/>
                    <a:p>
                      <a:pPr algn="ctr"/>
                      <a:r>
                        <a:rPr lang="en-US" dirty="0"/>
                        <a:t>Maldives</a:t>
                      </a:r>
                    </a:p>
                  </a:txBody>
                  <a:tcPr anchor="ctr"/>
                </a:tc>
                <a:tc>
                  <a:txBody>
                    <a:bodyPr/>
                    <a:lstStyle/>
                    <a:p>
                      <a:pPr algn="ctr"/>
                      <a:r>
                        <a:rPr lang="en-US" dirty="0"/>
                        <a:t>Brunei </a:t>
                      </a:r>
                      <a:r>
                        <a:rPr lang="en-US" dirty="0" err="1"/>
                        <a:t>Darassalam</a:t>
                      </a:r>
                      <a:r>
                        <a:rPr lang="en-US" dirty="0"/>
                        <a:t> </a:t>
                      </a:r>
                    </a:p>
                  </a:txBody>
                  <a:tcPr anchor="ctr"/>
                </a:tc>
                <a:tc>
                  <a:txBody>
                    <a:bodyPr/>
                    <a:lstStyle/>
                    <a:p>
                      <a:pPr algn="ctr"/>
                      <a:r>
                        <a:rPr lang="en-US" dirty="0"/>
                        <a:t>Switzerland</a:t>
                      </a:r>
                    </a:p>
                  </a:txBody>
                  <a:tcPr anchor="ctr"/>
                </a:tc>
                <a:tc>
                  <a:txBody>
                    <a:bodyPr/>
                    <a:lstStyle/>
                    <a:p>
                      <a:pPr algn="ctr"/>
                      <a:r>
                        <a:rPr lang="en-US" dirty="0"/>
                        <a:t>Malaysia</a:t>
                      </a:r>
                    </a:p>
                  </a:txBody>
                  <a:tcPr anchor="ctr"/>
                </a:tc>
                <a:extLst>
                  <a:ext uri="{0D108BD9-81ED-4DB2-BD59-A6C34878D82A}">
                    <a16:rowId xmlns:a16="http://schemas.microsoft.com/office/drawing/2014/main" val="3219832393"/>
                  </a:ext>
                </a:extLst>
              </a:tr>
            </a:tbl>
          </a:graphicData>
        </a:graphic>
      </p:graphicFrame>
      <p:sp>
        <p:nvSpPr>
          <p:cNvPr id="5" name="TextBox 4">
            <a:extLst>
              <a:ext uri="{FF2B5EF4-FFF2-40B4-BE49-F238E27FC236}">
                <a16:creationId xmlns:a16="http://schemas.microsoft.com/office/drawing/2014/main" id="{BF2F0F2A-2D42-DCE3-0197-F3B06827B416}"/>
              </a:ext>
            </a:extLst>
          </p:cNvPr>
          <p:cNvSpPr txBox="1"/>
          <p:nvPr/>
        </p:nvSpPr>
        <p:spPr>
          <a:xfrm>
            <a:off x="1985518" y="6307424"/>
            <a:ext cx="5761761" cy="307777"/>
          </a:xfrm>
          <a:prstGeom prst="rect">
            <a:avLst/>
          </a:prstGeom>
          <a:noFill/>
        </p:spPr>
        <p:txBody>
          <a:bodyPr wrap="square" rtlCol="0">
            <a:spAutoFit/>
          </a:bodyPr>
          <a:lstStyle/>
          <a:p>
            <a:r>
              <a:rPr lang="en-US" sz="1400" dirty="0"/>
              <a:t>*The law is also applied to the Zionist Entity</a:t>
            </a:r>
          </a:p>
        </p:txBody>
      </p:sp>
    </p:spTree>
    <p:extLst>
      <p:ext uri="{BB962C8B-B14F-4D97-AF65-F5344CB8AC3E}">
        <p14:creationId xmlns:p14="http://schemas.microsoft.com/office/powerpoint/2010/main" val="1259665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9FAAA-8D70-4838-85F6-71A072A0B3DB}"/>
              </a:ext>
            </a:extLst>
          </p:cNvPr>
          <p:cNvSpPr>
            <a:spLocks noGrp="1"/>
          </p:cNvSpPr>
          <p:nvPr>
            <p:ph type="title"/>
          </p:nvPr>
        </p:nvSpPr>
        <p:spPr/>
        <p:txBody>
          <a:bodyPr>
            <a:normAutofit fontScale="90000"/>
          </a:bodyPr>
          <a:lstStyle/>
          <a:p>
            <a:r>
              <a:rPr lang="en-US" dirty="0"/>
              <a:t>Chapter Four: Notifications and Authorizations</a:t>
            </a:r>
            <a:br>
              <a:rPr lang="en-US" dirty="0"/>
            </a:br>
            <a:endParaRPr lang="en-US" dirty="0"/>
          </a:p>
        </p:txBody>
      </p:sp>
      <p:sp>
        <p:nvSpPr>
          <p:cNvPr id="3" name="Content Placeholder 2">
            <a:extLst>
              <a:ext uri="{FF2B5EF4-FFF2-40B4-BE49-F238E27FC236}">
                <a16:creationId xmlns:a16="http://schemas.microsoft.com/office/drawing/2014/main" id="{39D1D00C-A082-A144-D645-D99AE86B6C63}"/>
              </a:ext>
            </a:extLst>
          </p:cNvPr>
          <p:cNvSpPr>
            <a:spLocks noGrp="1"/>
          </p:cNvSpPr>
          <p:nvPr>
            <p:ph idx="1"/>
          </p:nvPr>
        </p:nvSpPr>
        <p:spPr/>
        <p:txBody>
          <a:bodyPr/>
          <a:lstStyle/>
          <a:p>
            <a:r>
              <a:rPr lang="en-US" b="1" dirty="0"/>
              <a:t>Exemptions of Notification:</a:t>
            </a:r>
          </a:p>
          <a:p>
            <a:pPr lvl="1"/>
            <a:r>
              <a:rPr lang="en-US" dirty="0"/>
              <a:t>Processing for the sole purpose of record-keeping for the public</a:t>
            </a:r>
          </a:p>
          <a:p>
            <a:pPr lvl="1"/>
            <a:r>
              <a:rPr lang="en-US" dirty="0"/>
              <a:t>Data processing for non-profit reasons e.g. civil society or trade union activities </a:t>
            </a:r>
          </a:p>
          <a:p>
            <a:pPr lvl="1"/>
            <a:r>
              <a:rPr lang="en-US" dirty="0"/>
              <a:t>Employers processing their employees’ data to the extent necessary to perform their duties, obligations, organize their matters, pursue their rights and protect their employees’ rights</a:t>
            </a:r>
          </a:p>
          <a:p>
            <a:pPr lvl="1"/>
            <a:r>
              <a:rPr lang="en-US" dirty="0"/>
              <a:t>In situations where a Data Protection Officer is appointed</a:t>
            </a:r>
          </a:p>
        </p:txBody>
      </p:sp>
    </p:spTree>
    <p:extLst>
      <p:ext uri="{BB962C8B-B14F-4D97-AF65-F5344CB8AC3E}">
        <p14:creationId xmlns:p14="http://schemas.microsoft.com/office/powerpoint/2010/main" val="2700914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8295B-49DA-0FD3-1DB0-74F0A961A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FD3CE-F377-A0AA-9771-7B1F14696BA8}"/>
              </a:ext>
            </a:extLst>
          </p:cNvPr>
          <p:cNvSpPr>
            <a:spLocks noGrp="1"/>
          </p:cNvSpPr>
          <p:nvPr>
            <p:ph type="title"/>
          </p:nvPr>
        </p:nvSpPr>
        <p:spPr/>
        <p:txBody>
          <a:bodyPr>
            <a:normAutofit fontScale="90000"/>
          </a:bodyPr>
          <a:lstStyle/>
          <a:p>
            <a:r>
              <a:rPr lang="en-US" dirty="0"/>
              <a:t>Chapter Four: Notifications and Authorizations</a:t>
            </a:r>
            <a:br>
              <a:rPr lang="en-US" dirty="0"/>
            </a:br>
            <a:endParaRPr lang="en-US" dirty="0"/>
          </a:p>
        </p:txBody>
      </p:sp>
      <p:sp>
        <p:nvSpPr>
          <p:cNvPr id="3" name="Content Placeholder 2">
            <a:extLst>
              <a:ext uri="{FF2B5EF4-FFF2-40B4-BE49-F238E27FC236}">
                <a16:creationId xmlns:a16="http://schemas.microsoft.com/office/drawing/2014/main" id="{D3DC2945-5AF5-E404-76FD-FD7B48428389}"/>
              </a:ext>
            </a:extLst>
          </p:cNvPr>
          <p:cNvSpPr>
            <a:spLocks noGrp="1"/>
          </p:cNvSpPr>
          <p:nvPr>
            <p:ph idx="1"/>
          </p:nvPr>
        </p:nvSpPr>
        <p:spPr/>
        <p:txBody>
          <a:bodyPr>
            <a:normAutofit fontScale="92500" lnSpcReduction="10000"/>
          </a:bodyPr>
          <a:lstStyle/>
          <a:p>
            <a:r>
              <a:rPr lang="en-US" b="1" dirty="0"/>
              <a:t>A resolution by the Board shall determine applicable rules and procedures to submission of the notification prescribed in Paragraph (1) of this Article, and shall specifically include the following:</a:t>
            </a:r>
          </a:p>
          <a:p>
            <a:r>
              <a:rPr lang="en-US" dirty="0"/>
              <a:t>The name and address of the Data Controller and Data Processor, if any</a:t>
            </a:r>
          </a:p>
          <a:p>
            <a:r>
              <a:rPr lang="en-US" dirty="0"/>
              <a:t>The purpose of the processing</a:t>
            </a:r>
          </a:p>
          <a:p>
            <a:r>
              <a:rPr lang="en-US" dirty="0"/>
              <a:t>A description of the data and categories of data subjects and the data recipients or categories of recipients</a:t>
            </a:r>
          </a:p>
          <a:p>
            <a:r>
              <a:rPr lang="en-US" dirty="0"/>
              <a:t>Any proposed transfer of data to a country or a territory outside the Kingdom</a:t>
            </a:r>
          </a:p>
          <a:p>
            <a:r>
              <a:rPr lang="en-US" dirty="0"/>
              <a:t>General description allowing the Authority to perform a preliminary assessment of the appropriateness of available security measures pursuant to Article (8) of this Law</a:t>
            </a:r>
          </a:p>
        </p:txBody>
      </p:sp>
    </p:spTree>
    <p:extLst>
      <p:ext uri="{BB962C8B-B14F-4D97-AF65-F5344CB8AC3E}">
        <p14:creationId xmlns:p14="http://schemas.microsoft.com/office/powerpoint/2010/main" val="1727235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11913-6786-AC07-C7AD-500870718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5F005-EC2A-EA78-4819-501E5B3EF4F7}"/>
              </a:ext>
            </a:extLst>
          </p:cNvPr>
          <p:cNvSpPr>
            <a:spLocks noGrp="1"/>
          </p:cNvSpPr>
          <p:nvPr>
            <p:ph type="title"/>
          </p:nvPr>
        </p:nvSpPr>
        <p:spPr/>
        <p:txBody>
          <a:bodyPr>
            <a:normAutofit fontScale="90000"/>
          </a:bodyPr>
          <a:lstStyle/>
          <a:p>
            <a:r>
              <a:rPr lang="en-US" dirty="0"/>
              <a:t>Chapter Four: Notifications and Authorizations</a:t>
            </a:r>
            <a:br>
              <a:rPr lang="en-US" dirty="0"/>
            </a:br>
            <a:endParaRPr lang="en-US" dirty="0"/>
          </a:p>
        </p:txBody>
      </p:sp>
      <p:sp>
        <p:nvSpPr>
          <p:cNvPr id="3" name="Content Placeholder 2">
            <a:extLst>
              <a:ext uri="{FF2B5EF4-FFF2-40B4-BE49-F238E27FC236}">
                <a16:creationId xmlns:a16="http://schemas.microsoft.com/office/drawing/2014/main" id="{05513BF0-6210-3AB9-67BA-3BBC8D92083D}"/>
              </a:ext>
            </a:extLst>
          </p:cNvPr>
          <p:cNvSpPr>
            <a:spLocks noGrp="1"/>
          </p:cNvSpPr>
          <p:nvPr>
            <p:ph idx="1"/>
          </p:nvPr>
        </p:nvSpPr>
        <p:spPr/>
        <p:txBody>
          <a:bodyPr>
            <a:normAutofit fontScale="85000" lnSpcReduction="10000"/>
          </a:bodyPr>
          <a:lstStyle/>
          <a:p>
            <a:pPr marL="342900" lvl="0" indent="-342900" rtl="0" hangingPunct="0">
              <a:lnSpc>
                <a:spcPct val="150000"/>
              </a:lnSpc>
              <a:spcBef>
                <a:spcPts val="600"/>
              </a:spcBef>
              <a:spcAft>
                <a:spcPts val="0"/>
              </a:spcAft>
              <a:buFont typeface="+mj-lt"/>
              <a:buAutoNum type="arabicPeriod"/>
            </a:pPr>
            <a:r>
              <a:rPr lang="en-US" sz="1800" b="1" dirty="0">
                <a:effectLst/>
                <a:latin typeface="Arial" panose="020B0604020202020204" pitchFamily="34" charset="0"/>
                <a:ea typeface="Times New Roman" panose="02020603050405020304" pitchFamily="18" charset="0"/>
              </a:rPr>
              <a:t>it is prohibited to process any of the following operations without obtaining the Authority’s prior written authorization: </a:t>
            </a:r>
          </a:p>
          <a:p>
            <a:pPr hangingPunct="0">
              <a:lnSpc>
                <a:spcPct val="150000"/>
              </a:lnSpc>
              <a:spcBef>
                <a:spcPts val="600"/>
              </a:spcBef>
            </a:pPr>
            <a:r>
              <a:rPr lang="en-US" sz="1800" dirty="0">
                <a:effectLst/>
                <a:latin typeface="Arial" panose="020B0604020202020204" pitchFamily="34" charset="0"/>
                <a:ea typeface="Times New Roman" panose="02020603050405020304" pitchFamily="18" charset="0"/>
              </a:rPr>
              <a:t>Automatic processing of sensitive personal data</a:t>
            </a:r>
          </a:p>
          <a:p>
            <a:pPr hangingPunct="0">
              <a:lnSpc>
                <a:spcPct val="150000"/>
              </a:lnSpc>
              <a:spcBef>
                <a:spcPts val="600"/>
              </a:spcBef>
            </a:pPr>
            <a:r>
              <a:rPr lang="en-US" sz="1800" dirty="0">
                <a:effectLst/>
                <a:latin typeface="Arial" panose="020B0604020202020204" pitchFamily="34" charset="0"/>
                <a:ea typeface="Times New Roman" panose="02020603050405020304" pitchFamily="18" charset="0"/>
              </a:rPr>
              <a:t>Automatic processing of biometric data that is necessary for the verification of an individual’s identity</a:t>
            </a:r>
          </a:p>
          <a:p>
            <a:pPr hangingPunct="0">
              <a:lnSpc>
                <a:spcPct val="150000"/>
              </a:lnSpc>
              <a:spcBef>
                <a:spcPts val="600"/>
              </a:spcBef>
            </a:pPr>
            <a:r>
              <a:rPr lang="en-US" sz="1800" dirty="0">
                <a:effectLst/>
                <a:latin typeface="Arial" panose="020B0604020202020204" pitchFamily="34" charset="0"/>
                <a:ea typeface="Times New Roman" panose="02020603050405020304" pitchFamily="18" charset="0"/>
              </a:rPr>
              <a:t>Automatic processing of genetic data, unless carried out by physicians, or a specialist within a licensed medical establishment, and is necessary for preventative medicine, medical diagnosis or the administration of health care or treatment</a:t>
            </a:r>
          </a:p>
          <a:p>
            <a:pPr hangingPunct="0">
              <a:lnSpc>
                <a:spcPct val="150000"/>
              </a:lnSpc>
              <a:spcBef>
                <a:spcPts val="600"/>
              </a:spcBef>
            </a:pPr>
            <a:r>
              <a:rPr lang="en-US" sz="1800" dirty="0">
                <a:effectLst/>
                <a:latin typeface="Arial" panose="020B0604020202020204" pitchFamily="34" charset="0"/>
                <a:ea typeface="Times New Roman" panose="02020603050405020304" pitchFamily="18" charset="0"/>
              </a:rPr>
              <a:t>Automatic processing involving linkage between personal data files of two or more data controllers,  processed for different purposes</a:t>
            </a:r>
          </a:p>
          <a:p>
            <a:pPr hangingPunct="0">
              <a:lnSpc>
                <a:spcPct val="150000"/>
              </a:lnSpc>
              <a:spcBef>
                <a:spcPts val="600"/>
              </a:spcBef>
            </a:pPr>
            <a:r>
              <a:rPr lang="en-US" sz="1800" dirty="0">
                <a:effectLst/>
                <a:latin typeface="Arial" panose="020B0604020202020204" pitchFamily="34" charset="0"/>
                <a:ea typeface="Times New Roman" panose="02020603050405020304" pitchFamily="18" charset="0"/>
              </a:rPr>
              <a:t>Processing that is done by means of visual recording and used for surveillance purposes. </a:t>
            </a:r>
          </a:p>
        </p:txBody>
      </p:sp>
    </p:spTree>
    <p:extLst>
      <p:ext uri="{BB962C8B-B14F-4D97-AF65-F5344CB8AC3E}">
        <p14:creationId xmlns:p14="http://schemas.microsoft.com/office/powerpoint/2010/main" val="30780306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ADBE9-7C53-7265-C590-53698DD90E43}"/>
              </a:ext>
            </a:extLst>
          </p:cNvPr>
          <p:cNvSpPr>
            <a:spLocks noGrp="1"/>
          </p:cNvSpPr>
          <p:nvPr>
            <p:ph type="title"/>
          </p:nvPr>
        </p:nvSpPr>
        <p:spPr/>
        <p:txBody>
          <a:bodyPr/>
          <a:lstStyle/>
          <a:p>
            <a:r>
              <a:rPr lang="en-US" dirty="0"/>
              <a:t>Chapter Five: Rights of the Data Subject</a:t>
            </a:r>
          </a:p>
        </p:txBody>
      </p:sp>
      <p:sp>
        <p:nvSpPr>
          <p:cNvPr id="3" name="Content Placeholder 2">
            <a:extLst>
              <a:ext uri="{FF2B5EF4-FFF2-40B4-BE49-F238E27FC236}">
                <a16:creationId xmlns:a16="http://schemas.microsoft.com/office/drawing/2014/main" id="{59BFE9B1-8DBC-73A9-D06F-2977A953F615}"/>
              </a:ext>
            </a:extLst>
          </p:cNvPr>
          <p:cNvSpPr>
            <a:spLocks noGrp="1"/>
          </p:cNvSpPr>
          <p:nvPr>
            <p:ph idx="1"/>
          </p:nvPr>
        </p:nvSpPr>
        <p:spPr/>
        <p:txBody>
          <a:bodyPr>
            <a:normAutofit fontScale="85000" lnSpcReduction="20000"/>
          </a:bodyPr>
          <a:lstStyle/>
          <a:p>
            <a:pPr marL="342900" indent="-342900">
              <a:buAutoNum type="arabicPeriod"/>
            </a:pPr>
            <a:r>
              <a:rPr lang="en-US" b="1" dirty="0"/>
              <a:t>The Right to be Informed</a:t>
            </a:r>
          </a:p>
          <a:p>
            <a:pPr marL="342900" indent="-342900">
              <a:buFont typeface="Neue Haas Grotesk Text Pro" panose="020B0504020202020204" pitchFamily="34" charset="0"/>
              <a:buAutoNum type="arabicPeriod"/>
            </a:pPr>
            <a:r>
              <a:rPr lang="en-US" b="1" dirty="0"/>
              <a:t>The Right of Access</a:t>
            </a:r>
          </a:p>
          <a:p>
            <a:pPr marL="342900" indent="-342900">
              <a:buFont typeface="Neue Haas Grotesk Text Pro" panose="020B0504020202020204" pitchFamily="34" charset="0"/>
              <a:buAutoNum type="arabicPeriod"/>
            </a:pPr>
            <a:r>
              <a:rPr lang="en-US" b="1" dirty="0"/>
              <a:t>The Right to Rectification</a:t>
            </a:r>
          </a:p>
          <a:p>
            <a:pPr marL="342900" indent="-342900">
              <a:buFont typeface="Neue Haas Grotesk Text Pro" panose="020B0504020202020204" pitchFamily="34" charset="0"/>
              <a:buAutoNum type="arabicPeriod"/>
            </a:pPr>
            <a:r>
              <a:rPr lang="en-US" sz="1800" b="1" kern="1200" dirty="0">
                <a:solidFill>
                  <a:schemeClr val="tx1"/>
                </a:solidFill>
                <a:effectLst/>
                <a:latin typeface="+mn-lt"/>
                <a:ea typeface="+mn-ea"/>
                <a:cs typeface="+mn-cs"/>
              </a:rPr>
              <a:t>The Right to Erasure (Right to be Forgotten)</a:t>
            </a: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Restrict Processing</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Data Portability</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Object</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Rights Related to Automated Decision-Making and Profiling</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Withdraw Consent</a:t>
            </a:r>
            <a:endParaRPr lang="en-US" dirty="0">
              <a:effectLst/>
            </a:endParaRPr>
          </a:p>
          <a:p>
            <a:pPr marL="342900" marR="0" lvl="0" indent="-342900" algn="l" defTabSz="914400" rtl="0" eaLnBrk="1" fontAlgn="auto" latinLnBrk="0" hangingPunct="1">
              <a:lnSpc>
                <a:spcPct val="130000"/>
              </a:lnSpc>
              <a:spcBef>
                <a:spcPts val="1000"/>
              </a:spcBef>
              <a:spcAft>
                <a:spcPts val="0"/>
              </a:spcAft>
              <a:buClrTx/>
              <a:buSzTx/>
              <a:buFont typeface="Neue Haas Grotesk Text Pro" panose="020B0504020202020204" pitchFamily="34" charset="0"/>
              <a:buAutoNum type="arabicPeriod"/>
              <a:tabLst/>
              <a:defRPr/>
            </a:pPr>
            <a:r>
              <a:rPr lang="en-US" sz="1800" b="1" kern="1200" dirty="0">
                <a:solidFill>
                  <a:schemeClr val="tx1"/>
                </a:solidFill>
                <a:effectLst/>
                <a:latin typeface="+mn-lt"/>
                <a:ea typeface="+mn-ea"/>
                <a:cs typeface="+mn-cs"/>
              </a:rPr>
              <a:t>The Right to Lodge a Complaint with a Supervisory Authority</a:t>
            </a:r>
            <a:endParaRPr lang="en-US" dirty="0">
              <a:effectLst/>
            </a:endParaRPr>
          </a:p>
          <a:p>
            <a:endParaRPr lang="en-US" dirty="0"/>
          </a:p>
        </p:txBody>
      </p:sp>
    </p:spTree>
    <p:extLst>
      <p:ext uri="{BB962C8B-B14F-4D97-AF65-F5344CB8AC3E}">
        <p14:creationId xmlns:p14="http://schemas.microsoft.com/office/powerpoint/2010/main" val="1561951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B1AA-38D1-9804-B2BB-87BBB28B9FA4}"/>
              </a:ext>
            </a:extLst>
          </p:cNvPr>
          <p:cNvSpPr>
            <a:spLocks noGrp="1"/>
          </p:cNvSpPr>
          <p:nvPr>
            <p:ph type="title"/>
          </p:nvPr>
        </p:nvSpPr>
        <p:spPr/>
        <p:txBody>
          <a:bodyPr/>
          <a:lstStyle/>
          <a:p>
            <a:r>
              <a:rPr lang="en-US" dirty="0"/>
              <a:t>Chapter Six: Personal Data Protection Authority (PDPA)</a:t>
            </a:r>
          </a:p>
        </p:txBody>
      </p:sp>
      <p:sp>
        <p:nvSpPr>
          <p:cNvPr id="3" name="Content Placeholder 2">
            <a:extLst>
              <a:ext uri="{FF2B5EF4-FFF2-40B4-BE49-F238E27FC236}">
                <a16:creationId xmlns:a16="http://schemas.microsoft.com/office/drawing/2014/main" id="{DD38FD2B-C223-4F50-9F66-795DA19553AD}"/>
              </a:ext>
            </a:extLst>
          </p:cNvPr>
          <p:cNvSpPr>
            <a:spLocks noGrp="1"/>
          </p:cNvSpPr>
          <p:nvPr>
            <p:ph idx="1"/>
          </p:nvPr>
        </p:nvSpPr>
        <p:spPr/>
        <p:txBody>
          <a:bodyPr>
            <a:normAutofit/>
          </a:bodyPr>
          <a:lstStyle/>
          <a:p>
            <a:pPr hangingPunct="0">
              <a:lnSpc>
                <a:spcPct val="150000"/>
              </a:lnSpc>
              <a:spcBef>
                <a:spcPts val="600"/>
              </a:spcBef>
            </a:pPr>
            <a:r>
              <a:rPr lang="en-US" sz="1800" dirty="0">
                <a:effectLst/>
                <a:latin typeface="Arial" panose="020B0604020202020204" pitchFamily="34" charset="0"/>
                <a:ea typeface="Times New Roman" panose="02020603050405020304" pitchFamily="18" charset="0"/>
              </a:rPr>
              <a:t>The Authority shall undertake all assigned duties and granted powers necessary to protect personal data, and it shall, in particular, carry out the following duties: </a:t>
            </a:r>
            <a:r>
              <a:rPr lang="en-US" sz="1800" dirty="0">
                <a:effectLst/>
                <a:latin typeface="Arial" panose="020B0604020202020204" pitchFamily="34" charset="0"/>
                <a:ea typeface="Times New Roman" panose="02020603050405020304" pitchFamily="18" charset="0"/>
                <a:hlinkClick r:id="rId2"/>
              </a:rPr>
              <a:t>Official Website </a:t>
            </a:r>
            <a:endParaRPr lang="en-US" sz="1800" dirty="0">
              <a:effectLst/>
              <a:latin typeface="Arial" panose="020B0604020202020204" pitchFamily="34" charset="0"/>
              <a:ea typeface="Times New Roman" panose="02020603050405020304" pitchFamily="18" charset="0"/>
            </a:endParaRPr>
          </a:p>
          <a:p>
            <a:pPr marL="342900" lvl="0" indent="-342900" hangingPunct="0">
              <a:lnSpc>
                <a:spcPct val="150000"/>
              </a:lnSpc>
              <a:spcBef>
                <a:spcPts val="600"/>
              </a:spcBef>
              <a:spcAft>
                <a:spcPts val="0"/>
              </a:spcAft>
              <a:buFont typeface="+mj-lt"/>
              <a:buAutoNum type="arabicPeriod"/>
            </a:pPr>
            <a:r>
              <a:rPr lang="en-US" sz="1800" dirty="0">
                <a:effectLst/>
                <a:latin typeface="Arial" panose="020B0604020202020204" pitchFamily="34" charset="0"/>
                <a:ea typeface="Times New Roman" panose="02020603050405020304" pitchFamily="18" charset="0"/>
              </a:rPr>
              <a:t>Informing Data Controllers and the general public on their rights and obligations pursuant to provisions of this Law</a:t>
            </a:r>
          </a:p>
          <a:p>
            <a:pPr marL="342900" lvl="0" indent="-342900" hangingPunct="0">
              <a:lnSpc>
                <a:spcPct val="150000"/>
              </a:lnSpc>
              <a:spcBef>
                <a:spcPts val="600"/>
              </a:spcBef>
              <a:spcAft>
                <a:spcPts val="0"/>
              </a:spcAft>
              <a:buFont typeface="+mj-lt"/>
              <a:buAutoNum type="arabicPeriod"/>
            </a:pPr>
            <a:r>
              <a:rPr lang="en-US" sz="1800" dirty="0">
                <a:effectLst/>
                <a:latin typeface="Arial" panose="020B0604020202020204" pitchFamily="34" charset="0"/>
                <a:ea typeface="Times New Roman" panose="02020603050405020304" pitchFamily="18" charset="0"/>
              </a:rPr>
              <a:t>Overseeing compliance with provisions of this Law</a:t>
            </a:r>
          </a:p>
          <a:p>
            <a:pPr marL="342900" lvl="0" indent="-342900" hangingPunct="0">
              <a:lnSpc>
                <a:spcPct val="150000"/>
              </a:lnSpc>
              <a:spcBef>
                <a:spcPts val="600"/>
              </a:spcBef>
              <a:spcAft>
                <a:spcPts val="0"/>
              </a:spcAft>
              <a:buFont typeface="+mj-lt"/>
              <a:buAutoNum type="arabicPeriod"/>
            </a:pPr>
            <a:r>
              <a:rPr lang="en-US" sz="1800" dirty="0">
                <a:effectLst/>
                <a:latin typeface="Arial" panose="020B0604020202020204" pitchFamily="34" charset="0"/>
                <a:ea typeface="Times New Roman" panose="02020603050405020304" pitchFamily="18" charset="0"/>
              </a:rPr>
              <a:t>Overseeing and inspecting Data Controllers’ activities with respect to processing of personal data, to ensure compliance with the provisions of this Law, and to encourage developing systems that would ensure protection of such data according to this Law</a:t>
            </a:r>
          </a:p>
        </p:txBody>
      </p:sp>
    </p:spTree>
    <p:extLst>
      <p:ext uri="{BB962C8B-B14F-4D97-AF65-F5344CB8AC3E}">
        <p14:creationId xmlns:p14="http://schemas.microsoft.com/office/powerpoint/2010/main" val="338407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B1AA-38D1-9804-B2BB-87BBB28B9FA4}"/>
              </a:ext>
            </a:extLst>
          </p:cNvPr>
          <p:cNvSpPr>
            <a:spLocks noGrp="1"/>
          </p:cNvSpPr>
          <p:nvPr>
            <p:ph type="title"/>
          </p:nvPr>
        </p:nvSpPr>
        <p:spPr/>
        <p:txBody>
          <a:bodyPr/>
          <a:lstStyle/>
          <a:p>
            <a:r>
              <a:rPr lang="en-US" dirty="0"/>
              <a:t>Chapter Six: Personal Data Protection Authority (PDPA)</a:t>
            </a:r>
          </a:p>
        </p:txBody>
      </p:sp>
      <p:sp>
        <p:nvSpPr>
          <p:cNvPr id="3" name="Content Placeholder 2">
            <a:extLst>
              <a:ext uri="{FF2B5EF4-FFF2-40B4-BE49-F238E27FC236}">
                <a16:creationId xmlns:a16="http://schemas.microsoft.com/office/drawing/2014/main" id="{DD38FD2B-C223-4F50-9F66-795DA19553AD}"/>
              </a:ext>
            </a:extLst>
          </p:cNvPr>
          <p:cNvSpPr>
            <a:spLocks noGrp="1"/>
          </p:cNvSpPr>
          <p:nvPr>
            <p:ph idx="1"/>
          </p:nvPr>
        </p:nvSpPr>
        <p:spPr/>
        <p:txBody>
          <a:bodyPr>
            <a:normAutofit/>
          </a:bodyPr>
          <a:lstStyle/>
          <a:p>
            <a:pPr marL="342900" lvl="0" indent="-342900" hangingPunct="0">
              <a:lnSpc>
                <a:spcPct val="150000"/>
              </a:lnSpc>
              <a:spcBef>
                <a:spcPts val="600"/>
              </a:spcBef>
              <a:spcAft>
                <a:spcPts val="0"/>
              </a:spcAft>
              <a:buFont typeface="+mj-lt"/>
              <a:buAutoNum type="arabicPeriod" startAt="4"/>
            </a:pPr>
            <a:r>
              <a:rPr lang="en-US" sz="1800" dirty="0">
                <a:effectLst/>
                <a:latin typeface="Arial" panose="020B0604020202020204" pitchFamily="34" charset="0"/>
                <a:ea typeface="Times New Roman" panose="02020603050405020304" pitchFamily="18" charset="0"/>
              </a:rPr>
              <a:t>Receiving and reviewing of notifications pursuant to Article (14) of this Law</a:t>
            </a:r>
          </a:p>
          <a:p>
            <a:pPr marL="342900" lvl="0" indent="-342900" hangingPunct="0">
              <a:lnSpc>
                <a:spcPct val="150000"/>
              </a:lnSpc>
              <a:spcBef>
                <a:spcPts val="600"/>
              </a:spcBef>
              <a:spcAft>
                <a:spcPts val="0"/>
              </a:spcAft>
              <a:buFont typeface="+mj-lt"/>
              <a:buAutoNum type="arabicPeriod" startAt="4"/>
            </a:pPr>
            <a:r>
              <a:rPr lang="en-US" sz="1800" dirty="0">
                <a:effectLst/>
                <a:latin typeface="Arial" panose="020B0604020202020204" pitchFamily="34" charset="0"/>
                <a:ea typeface="Times New Roman" panose="02020603050405020304" pitchFamily="18" charset="0"/>
              </a:rPr>
              <a:t>Granting prior authorizations pursuant to Article (15) of this Law</a:t>
            </a:r>
          </a:p>
          <a:p>
            <a:pPr marL="342900" lvl="0" indent="-342900" hangingPunct="0">
              <a:lnSpc>
                <a:spcPct val="150000"/>
              </a:lnSpc>
              <a:spcBef>
                <a:spcPts val="600"/>
              </a:spcBef>
              <a:spcAft>
                <a:spcPts val="0"/>
              </a:spcAft>
              <a:buFont typeface="+mj-lt"/>
              <a:buAutoNum type="arabicPeriod" startAt="4"/>
            </a:pPr>
            <a:r>
              <a:rPr lang="en-US" sz="1800" dirty="0">
                <a:effectLst/>
                <a:latin typeface="Arial" panose="020B0604020202020204" pitchFamily="34" charset="0"/>
                <a:ea typeface="Times New Roman" panose="02020603050405020304" pitchFamily="18" charset="0"/>
              </a:rPr>
              <a:t>Accrediting Data Protection Officers pursuant to Article (10) of this Law</a:t>
            </a:r>
          </a:p>
          <a:p>
            <a:pPr marL="342900" lvl="0" indent="-342900" hangingPunct="0">
              <a:lnSpc>
                <a:spcPct val="150000"/>
              </a:lnSpc>
              <a:spcBef>
                <a:spcPts val="600"/>
              </a:spcBef>
              <a:spcAft>
                <a:spcPts val="0"/>
              </a:spcAft>
              <a:buFont typeface="+mj-lt"/>
              <a:buAutoNum type="arabicPeriod" startAt="4"/>
            </a:pPr>
            <a:r>
              <a:rPr lang="en-US" sz="1800" dirty="0">
                <a:effectLst/>
                <a:latin typeface="Arial" panose="020B0604020202020204" pitchFamily="34" charset="0"/>
                <a:ea typeface="Times New Roman" panose="02020603050405020304" pitchFamily="18" charset="0"/>
              </a:rPr>
              <a:t>Overseeing and inspecting Data Protection Officers’ work to ensure compliance with provisions of this Law</a:t>
            </a:r>
          </a:p>
        </p:txBody>
      </p:sp>
    </p:spTree>
    <p:extLst>
      <p:ext uri="{BB962C8B-B14F-4D97-AF65-F5344CB8AC3E}">
        <p14:creationId xmlns:p14="http://schemas.microsoft.com/office/powerpoint/2010/main" val="24639802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B1AA-38D1-9804-B2BB-87BBB28B9FA4}"/>
              </a:ext>
            </a:extLst>
          </p:cNvPr>
          <p:cNvSpPr>
            <a:spLocks noGrp="1"/>
          </p:cNvSpPr>
          <p:nvPr>
            <p:ph type="title"/>
          </p:nvPr>
        </p:nvSpPr>
        <p:spPr/>
        <p:txBody>
          <a:bodyPr/>
          <a:lstStyle/>
          <a:p>
            <a:r>
              <a:rPr lang="en-US" dirty="0"/>
              <a:t>Chapter Six: Personal Data Protection Authority (PDPA)</a:t>
            </a:r>
          </a:p>
        </p:txBody>
      </p:sp>
      <p:sp>
        <p:nvSpPr>
          <p:cNvPr id="3" name="Content Placeholder 2">
            <a:extLst>
              <a:ext uri="{FF2B5EF4-FFF2-40B4-BE49-F238E27FC236}">
                <a16:creationId xmlns:a16="http://schemas.microsoft.com/office/drawing/2014/main" id="{DD38FD2B-C223-4F50-9F66-795DA19553AD}"/>
              </a:ext>
            </a:extLst>
          </p:cNvPr>
          <p:cNvSpPr>
            <a:spLocks noGrp="1"/>
          </p:cNvSpPr>
          <p:nvPr>
            <p:ph idx="1"/>
          </p:nvPr>
        </p:nvSpPr>
        <p:spPr/>
        <p:txBody>
          <a:bodyPr>
            <a:normAutofit fontScale="92500" lnSpcReduction="20000"/>
          </a:bodyPr>
          <a:lstStyle/>
          <a:p>
            <a:pPr marL="342900" lvl="0" indent="-342900" hangingPunct="0">
              <a:lnSpc>
                <a:spcPct val="150000"/>
              </a:lnSpc>
              <a:spcBef>
                <a:spcPts val="600"/>
              </a:spcBef>
              <a:spcAft>
                <a:spcPts val="0"/>
              </a:spcAft>
              <a:buFont typeface="+mj-lt"/>
              <a:buAutoNum type="arabicPeriod" startAt="8"/>
            </a:pPr>
            <a:r>
              <a:rPr lang="en-US" sz="1800" dirty="0">
                <a:effectLst/>
                <a:latin typeface="Arial" panose="020B0604020202020204" pitchFamily="34" charset="0"/>
                <a:ea typeface="Times New Roman" panose="02020603050405020304" pitchFamily="18" charset="0"/>
              </a:rPr>
              <a:t>Receiving reports and complaints concerning breach of provisions of this Law, examining it, and determining  its seriousness;  </a:t>
            </a:r>
          </a:p>
          <a:p>
            <a:pPr marL="342900" lvl="0" indent="-342900" hangingPunct="0">
              <a:lnSpc>
                <a:spcPct val="150000"/>
              </a:lnSpc>
              <a:spcBef>
                <a:spcPts val="600"/>
              </a:spcBef>
              <a:spcAft>
                <a:spcPts val="0"/>
              </a:spcAft>
              <a:buFont typeface="+mj-lt"/>
              <a:buAutoNum type="arabicPeriod" startAt="8"/>
            </a:pPr>
            <a:r>
              <a:rPr lang="en-US" sz="1800" dirty="0">
                <a:effectLst/>
                <a:latin typeface="Arial" panose="020B0604020202020204" pitchFamily="34" charset="0"/>
                <a:ea typeface="Times New Roman" panose="02020603050405020304" pitchFamily="18" charset="0"/>
              </a:rPr>
              <a:t>Investigating reports and complaints with respect to breach of provisions of this Law, whether submitted by others, discovered by the Authority itself, or referred to by the Minister, and deciding on the investigation pursuant to Section One of Part 3 of this Law;</a:t>
            </a:r>
          </a:p>
          <a:p>
            <a:pPr marL="342900" lvl="0" indent="-342900" hangingPunct="0">
              <a:lnSpc>
                <a:spcPct val="150000"/>
              </a:lnSpc>
              <a:spcBef>
                <a:spcPts val="600"/>
              </a:spcBef>
              <a:spcAft>
                <a:spcPts val="0"/>
              </a:spcAft>
              <a:buFont typeface="+mj-lt"/>
              <a:buAutoNum type="arabicPeriod" startAt="8"/>
            </a:pPr>
            <a:r>
              <a:rPr lang="en-US" sz="1800" dirty="0">
                <a:effectLst/>
                <a:latin typeface="Arial" panose="020B0604020202020204" pitchFamily="34" charset="0"/>
                <a:ea typeface="Times New Roman" panose="02020603050405020304" pitchFamily="18" charset="0"/>
              </a:rPr>
              <a:t>Organizing training and educational courses and programs to raise awareness in relation to provisions of this Law, spread personal data protection culture, conducting and supporting relevant researches and studies and benefiting from its findings;</a:t>
            </a:r>
          </a:p>
          <a:p>
            <a:pPr marL="342900" lvl="0" indent="-342900" hangingPunct="0">
              <a:lnSpc>
                <a:spcPct val="150000"/>
              </a:lnSpc>
              <a:spcBef>
                <a:spcPts val="600"/>
              </a:spcBef>
              <a:spcAft>
                <a:spcPts val="0"/>
              </a:spcAft>
              <a:buFont typeface="+mj-lt"/>
              <a:buAutoNum type="arabicPeriod" startAt="8"/>
            </a:pPr>
            <a:r>
              <a:rPr lang="en-US" sz="1800" dirty="0">
                <a:effectLst/>
                <a:latin typeface="Arial" panose="020B0604020202020204" pitchFamily="34" charset="0"/>
                <a:ea typeface="Times New Roman" panose="02020603050405020304" pitchFamily="18" charset="0"/>
              </a:rPr>
              <a:t>Studying and examining legislations relevant to personal data protection and recommending its amendments to ensure compliance with internationally accepted standards;</a:t>
            </a:r>
          </a:p>
        </p:txBody>
      </p:sp>
    </p:spTree>
    <p:extLst>
      <p:ext uri="{BB962C8B-B14F-4D97-AF65-F5344CB8AC3E}">
        <p14:creationId xmlns:p14="http://schemas.microsoft.com/office/powerpoint/2010/main" val="37636702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B1AA-38D1-9804-B2BB-87BBB28B9FA4}"/>
              </a:ext>
            </a:extLst>
          </p:cNvPr>
          <p:cNvSpPr>
            <a:spLocks noGrp="1"/>
          </p:cNvSpPr>
          <p:nvPr>
            <p:ph type="title"/>
          </p:nvPr>
        </p:nvSpPr>
        <p:spPr/>
        <p:txBody>
          <a:bodyPr/>
          <a:lstStyle/>
          <a:p>
            <a:r>
              <a:rPr lang="en-US" dirty="0"/>
              <a:t>Chapter Six: Personal Data Protection Authority (PDPA)</a:t>
            </a:r>
          </a:p>
        </p:txBody>
      </p:sp>
      <p:sp>
        <p:nvSpPr>
          <p:cNvPr id="3" name="Content Placeholder 2">
            <a:extLst>
              <a:ext uri="{FF2B5EF4-FFF2-40B4-BE49-F238E27FC236}">
                <a16:creationId xmlns:a16="http://schemas.microsoft.com/office/drawing/2014/main" id="{DD38FD2B-C223-4F50-9F66-795DA19553AD}"/>
              </a:ext>
            </a:extLst>
          </p:cNvPr>
          <p:cNvSpPr>
            <a:spLocks noGrp="1"/>
          </p:cNvSpPr>
          <p:nvPr>
            <p:ph idx="1"/>
          </p:nvPr>
        </p:nvSpPr>
        <p:spPr/>
        <p:txBody>
          <a:bodyPr>
            <a:normAutofit/>
          </a:bodyPr>
          <a:lstStyle/>
          <a:p>
            <a:pPr marL="342900" lvl="0" indent="-342900" hangingPunct="0">
              <a:lnSpc>
                <a:spcPct val="150000"/>
              </a:lnSpc>
              <a:spcBef>
                <a:spcPts val="600"/>
              </a:spcBef>
              <a:spcAft>
                <a:spcPts val="0"/>
              </a:spcAft>
              <a:buFont typeface="+mj-lt"/>
              <a:buAutoNum type="arabicPeriod" startAt="12"/>
            </a:pPr>
            <a:r>
              <a:rPr lang="en-US" sz="1800" dirty="0">
                <a:effectLst/>
                <a:latin typeface="Arial" panose="020B0604020202020204" pitchFamily="34" charset="0"/>
                <a:ea typeface="Times New Roman" panose="02020603050405020304" pitchFamily="18" charset="0"/>
              </a:rPr>
              <a:t>Formulating opinions about draft legislations with respect to protection of personal data</a:t>
            </a:r>
          </a:p>
          <a:p>
            <a:pPr marL="342900" lvl="0" indent="-342900" hangingPunct="0">
              <a:lnSpc>
                <a:spcPct val="150000"/>
              </a:lnSpc>
              <a:spcBef>
                <a:spcPts val="600"/>
              </a:spcBef>
              <a:spcAft>
                <a:spcPts val="0"/>
              </a:spcAft>
              <a:buFont typeface="+mj-lt"/>
              <a:buAutoNum type="arabicPeriod" startAt="12"/>
            </a:pPr>
            <a:r>
              <a:rPr lang="en-US" sz="1800" dirty="0">
                <a:effectLst/>
                <a:latin typeface="Arial" panose="020B0604020202020204" pitchFamily="34" charset="0"/>
                <a:ea typeface="Times New Roman" panose="02020603050405020304" pitchFamily="18" charset="0"/>
              </a:rPr>
              <a:t>Representing the Kingdom in international conferences as the competent body for protection of personal data</a:t>
            </a:r>
          </a:p>
          <a:p>
            <a:pPr marL="342900" lvl="0" indent="-342900" hangingPunct="0">
              <a:lnSpc>
                <a:spcPct val="150000"/>
              </a:lnSpc>
              <a:spcBef>
                <a:spcPts val="600"/>
              </a:spcBef>
              <a:spcAft>
                <a:spcPts val="0"/>
              </a:spcAft>
              <a:buFont typeface="+mj-lt"/>
              <a:buAutoNum type="arabicPeriod" startAt="12"/>
            </a:pPr>
            <a:r>
              <a:rPr lang="en-US" sz="1800" dirty="0">
                <a:effectLst/>
                <a:latin typeface="Arial" panose="020B0604020202020204" pitchFamily="34" charset="0"/>
                <a:ea typeface="Times New Roman" panose="02020603050405020304" pitchFamily="18" charset="0"/>
              </a:rPr>
              <a:t>collaborating with counterpart authorities with respect to matters of common interests</a:t>
            </a:r>
          </a:p>
          <a:p>
            <a:pPr marL="342900" lvl="0" indent="-342900" hangingPunct="0">
              <a:lnSpc>
                <a:spcPct val="150000"/>
              </a:lnSpc>
              <a:spcBef>
                <a:spcPts val="600"/>
              </a:spcBef>
              <a:spcAft>
                <a:spcPts val="0"/>
              </a:spcAft>
              <a:buFont typeface="+mj-lt"/>
              <a:buAutoNum type="arabicPeriod" startAt="12"/>
            </a:pPr>
            <a:r>
              <a:rPr lang="en-US" sz="1800" dirty="0">
                <a:effectLst/>
                <a:latin typeface="Arial" panose="020B0604020202020204" pitchFamily="34" charset="0"/>
                <a:ea typeface="Times New Roman" panose="02020603050405020304" pitchFamily="18" charset="0"/>
              </a:rPr>
              <a:t>Exercising other duties and powers as prescribed by this Law.</a:t>
            </a:r>
          </a:p>
          <a:p>
            <a:endParaRPr lang="en-US" dirty="0"/>
          </a:p>
        </p:txBody>
      </p:sp>
    </p:spTree>
    <p:extLst>
      <p:ext uri="{BB962C8B-B14F-4D97-AF65-F5344CB8AC3E}">
        <p14:creationId xmlns:p14="http://schemas.microsoft.com/office/powerpoint/2010/main" val="31677941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AA67-72A2-A034-C314-AE0EAD2C886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4240F30-6214-421F-7B5D-33785364AE17}"/>
              </a:ext>
            </a:extLst>
          </p:cNvPr>
          <p:cNvSpPr>
            <a:spLocks noGrp="1"/>
          </p:cNvSpPr>
          <p:nvPr>
            <p:ph idx="1"/>
          </p:nvPr>
        </p:nvSpPr>
        <p:spPr/>
        <p:txBody>
          <a:bodyPr/>
          <a:lstStyle/>
          <a:p>
            <a:r>
              <a:rPr lang="en-US" dirty="0"/>
              <a:t>GDPR established </a:t>
            </a:r>
            <a:r>
              <a:rPr lang="en-US" b="1" dirty="0"/>
              <a:t>global standards</a:t>
            </a:r>
            <a:r>
              <a:rPr lang="en-US" dirty="0"/>
              <a:t> for privacy and data governance.</a:t>
            </a:r>
          </a:p>
          <a:p>
            <a:r>
              <a:rPr lang="en-US" dirty="0"/>
              <a:t>Data protection principles balance </a:t>
            </a:r>
            <a:r>
              <a:rPr lang="en-US" b="1" dirty="0"/>
              <a:t>innovation with human rights</a:t>
            </a:r>
            <a:r>
              <a:rPr lang="en-US" dirty="0"/>
              <a:t>.</a:t>
            </a:r>
          </a:p>
          <a:p>
            <a:r>
              <a:rPr lang="en-US" dirty="0"/>
              <a:t>Individuals gained enforceable </a:t>
            </a:r>
            <a:r>
              <a:rPr lang="en-US" b="1" dirty="0"/>
              <a:t>data rights</a:t>
            </a:r>
            <a:r>
              <a:rPr lang="en-US" dirty="0"/>
              <a:t>.</a:t>
            </a:r>
          </a:p>
          <a:p>
            <a:r>
              <a:rPr lang="en-US" dirty="0"/>
              <a:t>Bahrain’s PDPL reflects international alignment with local authority oversight.</a:t>
            </a:r>
          </a:p>
          <a:p>
            <a:r>
              <a:rPr lang="en-US" b="1" dirty="0"/>
              <a:t>Critical Reflection</a:t>
            </a:r>
            <a:endParaRPr lang="en-US" dirty="0"/>
          </a:p>
          <a:p>
            <a:r>
              <a:rPr lang="en-US" dirty="0"/>
              <a:t>Do fines really change corporate </a:t>
            </a:r>
            <a:r>
              <a:rPr lang="en-US" dirty="0" err="1"/>
              <a:t>behaviour</a:t>
            </a:r>
            <a:r>
              <a:rPr lang="en-US" dirty="0"/>
              <a:t>?</a:t>
            </a:r>
          </a:p>
          <a:p>
            <a:r>
              <a:rPr lang="en-US" dirty="0"/>
              <a:t>Should data protection be treated as a </a:t>
            </a:r>
            <a:r>
              <a:rPr lang="en-US" b="1" dirty="0"/>
              <a:t>human right or consumer right</a:t>
            </a:r>
            <a:r>
              <a:rPr lang="en-US" dirty="0"/>
              <a:t>?</a:t>
            </a:r>
          </a:p>
          <a:p>
            <a:endParaRPr lang="en-US" dirty="0"/>
          </a:p>
        </p:txBody>
      </p:sp>
    </p:spTree>
    <p:extLst>
      <p:ext uri="{BB962C8B-B14F-4D97-AF65-F5344CB8AC3E}">
        <p14:creationId xmlns:p14="http://schemas.microsoft.com/office/powerpoint/2010/main" val="3415167970"/>
      </p:ext>
    </p:extLst>
  </p:cSld>
  <p:clrMapOvr>
    <a:masterClrMapping/>
  </p:clrMapOvr>
</p:sld>
</file>

<file path=ppt/theme/theme1.xml><?xml version="1.0" encoding="utf-8"?>
<a:theme xmlns:a="http://schemas.openxmlformats.org/drawingml/2006/main" name="BjornVTI">
  <a:themeElements>
    <a:clrScheme name="AnalogousFromDarkSeedLeftStep">
      <a:dk1>
        <a:srgbClr val="000000"/>
      </a:dk1>
      <a:lt1>
        <a:srgbClr val="FFFFFF"/>
      </a:lt1>
      <a:dk2>
        <a:srgbClr val="251D38"/>
      </a:dk2>
      <a:lt2>
        <a:srgbClr val="E2E8E2"/>
      </a:lt2>
      <a:accent1>
        <a:srgbClr val="DE31D1"/>
      </a:accent1>
      <a:accent2>
        <a:srgbClr val="9120CD"/>
      </a:accent2>
      <a:accent3>
        <a:srgbClr val="5B31DE"/>
      </a:accent3>
      <a:accent4>
        <a:srgbClr val="203ECD"/>
      </a:accent4>
      <a:accent5>
        <a:srgbClr val="3198DE"/>
      </a:accent5>
      <a:accent6>
        <a:srgbClr val="1CB4B3"/>
      </a:accent6>
      <a:hlink>
        <a:srgbClr val="3F75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51569</TotalTime>
  <Words>4926</Words>
  <Application>Microsoft Office PowerPoint</Application>
  <PresentationFormat>Widescreen</PresentationFormat>
  <Paragraphs>331</Paragraphs>
  <Slides>53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Arial</vt:lpstr>
      <vt:lpstr>Neue Haas Grotesk Text Pro</vt:lpstr>
      <vt:lpstr>Source Sans Pro</vt:lpstr>
      <vt:lpstr>BjornVTI</vt:lpstr>
      <vt:lpstr>Chapter 5: Data Protection laws – Local And International</vt:lpstr>
      <vt:lpstr>European Union’s General Data Protection Regulation (GDPR)</vt:lpstr>
      <vt:lpstr>Personal Data</vt:lpstr>
      <vt:lpstr>Personal Data: Special Categories</vt:lpstr>
      <vt:lpstr>Data processing</vt:lpstr>
      <vt:lpstr>The Seven Data Protection Principles of GDPR</vt:lpstr>
      <vt:lpstr>The Seven Data Protection Principles of GDPR</vt:lpstr>
      <vt:lpstr>The Seven Data Protection Principles of GDPR</vt:lpstr>
      <vt:lpstr>The Seven Data Protection Principles of GDPR</vt:lpstr>
      <vt:lpstr>The Seven Data Protection Principles of GDPR</vt:lpstr>
      <vt:lpstr>The Seven Data Protection Principles of GDPR</vt:lpstr>
      <vt:lpstr>The Seven Data Protection Principles of GDPR</vt:lpstr>
      <vt:lpstr>The Seven Data Protection Principles of GDPR</vt:lpstr>
      <vt:lpstr>The Rights of Individuals under GDPR</vt:lpstr>
      <vt:lpstr>The Rights of Individuals under GDPR</vt:lpstr>
      <vt:lpstr>The Rights of Individuals under GDPR</vt:lpstr>
      <vt:lpstr>The Rights of Individuals under GDPR</vt:lpstr>
      <vt:lpstr>The Rights of Individuals under GDPR</vt:lpstr>
      <vt:lpstr>The Rights of Individuals under GDPR</vt:lpstr>
      <vt:lpstr>The Rights of Individuals under GDPR</vt:lpstr>
      <vt:lpstr>The Rights of Individuals under GDPR</vt:lpstr>
      <vt:lpstr>The Rights of Individuals under GDPR</vt:lpstr>
      <vt:lpstr>The Rights of Individuals under GDPR</vt:lpstr>
      <vt:lpstr>The Rights of Individuals under GDPR</vt:lpstr>
      <vt:lpstr>Maru Batsu ⭕ ❌</vt:lpstr>
      <vt:lpstr>Maru Batsu ⭕ ❌</vt:lpstr>
      <vt:lpstr>Data breaches</vt:lpstr>
      <vt:lpstr>Penalties under GDPR</vt:lpstr>
      <vt:lpstr>Penalties under GDPR</vt:lpstr>
      <vt:lpstr>Penalties under GDPR</vt:lpstr>
      <vt:lpstr>Penalties under GDPR</vt:lpstr>
      <vt:lpstr>Law No. 30 of 2018 regarding Personal Data Protection </vt:lpstr>
      <vt:lpstr>Chapter One: Provisions of Processing Article (1): Definitions</vt:lpstr>
      <vt:lpstr>Chapter One: Provisions of Processing Article (1): Definitions</vt:lpstr>
      <vt:lpstr>Roles of a Data Protection Officer</vt:lpstr>
      <vt:lpstr>Chapter One: Provisions of Processing Article (2): Scope of Application</vt:lpstr>
      <vt:lpstr>Chapter One: Provisions of Processing Article (2): Scope of Application</vt:lpstr>
      <vt:lpstr>Chapter Two: General Rules for Lawful Processing  Article (3): Data Quality Requirements</vt:lpstr>
      <vt:lpstr>Chapter Two: General Rules for Lawful Processing  Article (4): Data Quality Requirements</vt:lpstr>
      <vt:lpstr>Chapter Two: General Rules for Lawful Processing  Article (5): Processing Sensitive Personal Data</vt:lpstr>
      <vt:lpstr>Chapter Two: General Rules for Lawful Processing  Article (5): Processing Sensitive Personal Data</vt:lpstr>
      <vt:lpstr>Chapter Three: Transfer of Personal Data Outside the Kingdom</vt:lpstr>
      <vt:lpstr>Chapter Three: Transfer of Personal Data Outside the Kingdom</vt:lpstr>
      <vt:lpstr>Sidebar: Legislative Decree No. (56) of 2018 regarding the Provision of Cloud Computing Services to Foreign Parties</vt:lpstr>
      <vt:lpstr>Chapter Four: Notifications and Authorizations </vt:lpstr>
      <vt:lpstr>Chapter Four: Notifications and Authorizations </vt:lpstr>
      <vt:lpstr>Chapter Four: Notifications and Authorizations </vt:lpstr>
      <vt:lpstr>Chapter Five: Rights of the Data Subject</vt:lpstr>
      <vt:lpstr>Chapter Six: Personal Data Protection Authority (PDPA)</vt:lpstr>
      <vt:lpstr>Chapter Six: Personal Data Protection Authority (PDPA)</vt:lpstr>
      <vt:lpstr>Chapter Six: Personal Data Protection Authority (PDPA)</vt:lpstr>
      <vt:lpstr>Chapter Six: Personal Data Protection Authority (PDPA)</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YAQOOB SALMAN MOHAMED ALSLAIS</dc:creator>
  <cp:lastModifiedBy>Dr. YAQOOB SALMAN MOHAMED ALSLAIS</cp:lastModifiedBy>
  <cp:revision>11</cp:revision>
  <dcterms:created xsi:type="dcterms:W3CDTF">2024-08-29T08:11:27Z</dcterms:created>
  <dcterms:modified xsi:type="dcterms:W3CDTF">2026-02-02T10:26:46Z</dcterms:modified>
</cp:coreProperties>
</file>