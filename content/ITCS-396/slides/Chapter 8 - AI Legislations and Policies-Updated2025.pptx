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24"/>
  </p:notesMasterIdLst>
  <p:sldIdLst>
    <p:sldId id="256" r:id="rId2"/>
    <p:sldId id="291" r:id="rId3"/>
    <p:sldId id="292" r:id="rId4"/>
    <p:sldId id="294" r:id="rId5"/>
    <p:sldId id="293" r:id="rId6"/>
    <p:sldId id="295" r:id="rId7"/>
    <p:sldId id="296" r:id="rId8"/>
    <p:sldId id="297" r:id="rId9"/>
    <p:sldId id="299" r:id="rId10"/>
    <p:sldId id="300" r:id="rId11"/>
    <p:sldId id="301" r:id="rId12"/>
    <p:sldId id="298" r:id="rId13"/>
    <p:sldId id="302" r:id="rId14"/>
    <p:sldId id="303" r:id="rId15"/>
    <p:sldId id="304" r:id="rId16"/>
    <p:sldId id="305" r:id="rId17"/>
    <p:sldId id="306" r:id="rId18"/>
    <p:sldId id="307" r:id="rId19"/>
    <p:sldId id="308" r:id="rId20"/>
    <p:sldId id="309" r:id="rId21"/>
    <p:sldId id="310" r:id="rId22"/>
    <p:sldId id="31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3C38CE-D1F1-4BE3-9E93-9DD34965AFC5}" v="1" dt="2026-02-02T10:43:33.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067" autoAdjust="0"/>
  </p:normalViewPr>
  <p:slideViewPr>
    <p:cSldViewPr snapToGrid="0">
      <p:cViewPr varScale="1">
        <p:scale>
          <a:sx n="82" d="100"/>
          <a:sy n="82" d="100"/>
        </p:scale>
        <p:origin x="720" y="72"/>
      </p:cViewPr>
      <p:guideLst/>
    </p:cSldViewPr>
  </p:slideViewPr>
  <p:outlineViewPr>
    <p:cViewPr>
      <p:scale>
        <a:sx n="33" d="100"/>
        <a:sy n="33" d="100"/>
      </p:scale>
      <p:origin x="0" y="-1211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YAQOOB SALMAN MOHAMED ALSLAIS" userId="3b843498-0d2f-436b-9cfb-0641998d3142" providerId="ADAL" clId="{14E12B48-7A42-4907-9A13-F7839ACECA24}"/>
    <pc:docChg chg="undo custSel addSld delSld modSld">
      <pc:chgData name="Dr. YAQOOB SALMAN MOHAMED ALSLAIS" userId="3b843498-0d2f-436b-9cfb-0641998d3142" providerId="ADAL" clId="{14E12B48-7A42-4907-9A13-F7839ACECA24}" dt="2026-02-02T10:43:36.795" v="874" actId="20577"/>
      <pc:docMkLst>
        <pc:docMk/>
      </pc:docMkLst>
      <pc:sldChg chg="addSp delSp modSp new mod modClrScheme chgLayout">
        <pc:chgData name="Dr. YAQOOB SALMAN MOHAMED ALSLAIS" userId="3b843498-0d2f-436b-9cfb-0641998d3142" providerId="ADAL" clId="{14E12B48-7A42-4907-9A13-F7839ACECA24}" dt="2026-02-02T10:43:36.795" v="874" actId="20577"/>
        <pc:sldMkLst>
          <pc:docMk/>
          <pc:sldMk cId="1816726436" sldId="311"/>
        </pc:sldMkLst>
        <pc:spChg chg="del mod ord">
          <ac:chgData name="Dr. YAQOOB SALMAN MOHAMED ALSLAIS" userId="3b843498-0d2f-436b-9cfb-0641998d3142" providerId="ADAL" clId="{14E12B48-7A42-4907-9A13-F7839ACECA24}" dt="2026-02-02T10:43:31.427" v="865" actId="700"/>
          <ac:spMkLst>
            <pc:docMk/>
            <pc:sldMk cId="1816726436" sldId="311"/>
            <ac:spMk id="2" creationId="{667D1FED-5F5B-4326-D19C-BA7F5EDA2E5D}"/>
          </ac:spMkLst>
        </pc:spChg>
        <pc:spChg chg="del mod ord">
          <ac:chgData name="Dr. YAQOOB SALMAN MOHAMED ALSLAIS" userId="3b843498-0d2f-436b-9cfb-0641998d3142" providerId="ADAL" clId="{14E12B48-7A42-4907-9A13-F7839ACECA24}" dt="2026-02-02T10:43:31.427" v="865" actId="700"/>
          <ac:spMkLst>
            <pc:docMk/>
            <pc:sldMk cId="1816726436" sldId="311"/>
            <ac:spMk id="3" creationId="{964D7020-5756-7D7C-8E63-7176B0DABC06}"/>
          </ac:spMkLst>
        </pc:spChg>
        <pc:spChg chg="add mod ord">
          <ac:chgData name="Dr. YAQOOB SALMAN MOHAMED ALSLAIS" userId="3b843498-0d2f-436b-9cfb-0641998d3142" providerId="ADAL" clId="{14E12B48-7A42-4907-9A13-F7839ACECA24}" dt="2026-02-02T10:43:36.795" v="874" actId="20577"/>
          <ac:spMkLst>
            <pc:docMk/>
            <pc:sldMk cId="1816726436" sldId="311"/>
            <ac:spMk id="4" creationId="{5631D384-13DC-93CF-4474-CA3D27A948B6}"/>
          </ac:spMkLst>
        </pc:spChg>
        <pc:spChg chg="add mod ord">
          <ac:chgData name="Dr. YAQOOB SALMAN MOHAMED ALSLAIS" userId="3b843498-0d2f-436b-9cfb-0641998d3142" providerId="ADAL" clId="{14E12B48-7A42-4907-9A13-F7839ACECA24}" dt="2026-02-02T10:43:33.946" v="867" actId="27636"/>
          <ac:spMkLst>
            <pc:docMk/>
            <pc:sldMk cId="1816726436" sldId="311"/>
            <ac:spMk id="5" creationId="{EA025303-B9D9-9105-45AE-07337E827A2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2E32C-32DB-4552-AAEB-2DCC35C9D5B4}" type="datetimeFigureOut">
              <a:rPr lang="en-US" smtClean="0"/>
              <a:t>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57CB5-9293-4180-A4E6-97F6D0FE5715}" type="slidenum">
              <a:rPr lang="en-US" smtClean="0"/>
              <a:t>‹#›</a:t>
            </a:fld>
            <a:endParaRPr lang="en-US" dirty="0"/>
          </a:p>
        </p:txBody>
      </p:sp>
    </p:spTree>
    <p:extLst>
      <p:ext uri="{BB962C8B-B14F-4D97-AF65-F5344CB8AC3E}">
        <p14:creationId xmlns:p14="http://schemas.microsoft.com/office/powerpoint/2010/main" val="2517724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3851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2239029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3894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205881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376973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128162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2850009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419170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118904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dirty="0"/>
          </a:p>
        </p:txBody>
      </p:sp>
    </p:spTree>
    <p:extLst>
      <p:ext uri="{BB962C8B-B14F-4D97-AF65-F5344CB8AC3E}">
        <p14:creationId xmlns:p14="http://schemas.microsoft.com/office/powerpoint/2010/main" val="1086637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dirty="0"/>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55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2/2/2026</a:t>
            </a:fld>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dirty="0"/>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44189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palaiologos.law/eu-ai-act/"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0DF5DF-70C8-1CEA-D39E-C34728BD6BDD}"/>
              </a:ext>
            </a:extLst>
          </p:cNvPr>
          <p:cNvSpPr>
            <a:spLocks noGrp="1"/>
          </p:cNvSpPr>
          <p:nvPr>
            <p:ph type="ctrTitle"/>
          </p:nvPr>
        </p:nvSpPr>
        <p:spPr>
          <a:xfrm>
            <a:off x="1080789" y="2457319"/>
            <a:ext cx="5015211" cy="3495365"/>
          </a:xfrm>
        </p:spPr>
        <p:txBody>
          <a:bodyPr anchor="b">
            <a:normAutofit/>
          </a:bodyPr>
          <a:lstStyle/>
          <a:p>
            <a:r>
              <a:rPr lang="en-US" sz="3600" dirty="0"/>
              <a:t>Chapter 8: AI Legislations and POLICIES</a:t>
            </a:r>
          </a:p>
        </p:txBody>
      </p:sp>
      <p:sp>
        <p:nvSpPr>
          <p:cNvPr id="3" name="Subtitle 2">
            <a:extLst>
              <a:ext uri="{FF2B5EF4-FFF2-40B4-BE49-F238E27FC236}">
                <a16:creationId xmlns:a16="http://schemas.microsoft.com/office/drawing/2014/main" id="{CECE0DD2-D7D9-8145-6C15-D59E2A99FC7D}"/>
              </a:ext>
            </a:extLst>
          </p:cNvPr>
          <p:cNvSpPr>
            <a:spLocks noGrp="1"/>
          </p:cNvSpPr>
          <p:nvPr>
            <p:ph type="subTitle" idx="1"/>
          </p:nvPr>
        </p:nvSpPr>
        <p:spPr>
          <a:xfrm>
            <a:off x="1094716" y="1022130"/>
            <a:ext cx="5001284" cy="1268361"/>
          </a:xfrm>
        </p:spPr>
        <p:txBody>
          <a:bodyPr anchor="t">
            <a:normAutofit/>
          </a:bodyPr>
          <a:lstStyle/>
          <a:p>
            <a:endParaRPr lang="en-US" dirty="0"/>
          </a:p>
        </p:txBody>
      </p:sp>
      <p:cxnSp>
        <p:nvCxnSpPr>
          <p:cNvPr id="11"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purple and white sky&#10;&#10;Description automatically generated">
            <a:extLst>
              <a:ext uri="{FF2B5EF4-FFF2-40B4-BE49-F238E27FC236}">
                <a16:creationId xmlns:a16="http://schemas.microsoft.com/office/drawing/2014/main" id="{E633B07B-028F-BDD4-8CF6-7210973F3E09}"/>
              </a:ext>
            </a:extLst>
          </p:cNvPr>
          <p:cNvPicPr>
            <a:picLocks noChangeAspect="1"/>
          </p:cNvPicPr>
          <p:nvPr/>
        </p:nvPicPr>
        <p:blipFill>
          <a:blip r:embed="rId2"/>
          <a:srcRect l="5687" r="14313"/>
          <a:stretch/>
        </p:blipFill>
        <p:spPr>
          <a:xfrm>
            <a:off x="6705594" y="1"/>
            <a:ext cx="5486407" cy="6857999"/>
          </a:xfrm>
          <a:prstGeom prst="rect">
            <a:avLst/>
          </a:prstGeom>
        </p:spPr>
      </p:pic>
    </p:spTree>
    <p:extLst>
      <p:ext uri="{BB962C8B-B14F-4D97-AF65-F5344CB8AC3E}">
        <p14:creationId xmlns:p14="http://schemas.microsoft.com/office/powerpoint/2010/main" val="230566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FB59A6B-A73A-4B84-96FA-15B2C57AC0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blue flag with yellow stars and a face&#10;&#10;AI-generated content may be incorrect.">
            <a:extLst>
              <a:ext uri="{FF2B5EF4-FFF2-40B4-BE49-F238E27FC236}">
                <a16:creationId xmlns:a16="http://schemas.microsoft.com/office/drawing/2014/main" id="{D60B5AA7-B1BB-9888-6A6B-3D0D50655B50}"/>
              </a:ext>
            </a:extLst>
          </p:cNvPr>
          <p:cNvPicPr>
            <a:picLocks noGrp="1" noChangeAspect="1"/>
          </p:cNvPicPr>
          <p:nvPr>
            <p:ph idx="1"/>
          </p:nvPr>
        </p:nvPicPr>
        <p:blipFill>
          <a:blip r:embed="rId2">
            <a:alphaModFix/>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11111"/>
          <a:stretch/>
        </p:blipFill>
        <p:spPr>
          <a:xfrm>
            <a:off x="20" y="10"/>
            <a:ext cx="12191979" cy="6857990"/>
          </a:xfrm>
          <a:prstGeom prst="rect">
            <a:avLst/>
          </a:prstGeom>
        </p:spPr>
      </p:pic>
      <p:sp useBgFill="1">
        <p:nvSpPr>
          <p:cNvPr id="14" name="Rectangle 13">
            <a:extLst>
              <a:ext uri="{FF2B5EF4-FFF2-40B4-BE49-F238E27FC236}">
                <a16:creationId xmlns:a16="http://schemas.microsoft.com/office/drawing/2014/main" id="{AF57AFEC-D2BD-419F-ADB8-F5B1A23F3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6"/>
            <a:ext cx="12192000" cy="22859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CE205C-4050-3CEC-EF08-E9592996AC11}"/>
              </a:ext>
            </a:extLst>
          </p:cNvPr>
          <p:cNvSpPr>
            <a:spLocks noGrp="1"/>
          </p:cNvSpPr>
          <p:nvPr>
            <p:ph type="title"/>
          </p:nvPr>
        </p:nvSpPr>
        <p:spPr>
          <a:xfrm>
            <a:off x="1052146" y="5194563"/>
            <a:ext cx="5653454" cy="996321"/>
          </a:xfrm>
        </p:spPr>
        <p:txBody>
          <a:bodyPr vert="horz" lIns="91440" tIns="45720" rIns="91440" bIns="45720" rtlCol="0" anchor="t">
            <a:normAutofit/>
          </a:bodyPr>
          <a:lstStyle/>
          <a:p>
            <a:r>
              <a:rPr lang="en-US" sz="3400" cap="all"/>
              <a:t>European Union’s AI Act</a:t>
            </a:r>
          </a:p>
        </p:txBody>
      </p:sp>
      <p:cxnSp>
        <p:nvCxnSpPr>
          <p:cNvPr id="16" name="Straight Connector 15">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303550"/>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0611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2D92AC-B5BE-9602-4E24-ED8CBFDBB9A3}"/>
              </a:ext>
            </a:extLst>
          </p:cNvPr>
          <p:cNvSpPr>
            <a:spLocks noGrp="1"/>
          </p:cNvSpPr>
          <p:nvPr>
            <p:ph type="title"/>
          </p:nvPr>
        </p:nvSpPr>
        <p:spPr>
          <a:xfrm>
            <a:off x="1091203" y="1069848"/>
            <a:ext cx="6308775" cy="2049620"/>
          </a:xfrm>
        </p:spPr>
        <p:txBody>
          <a:bodyPr>
            <a:normAutofit/>
          </a:bodyPr>
          <a:lstStyle/>
          <a:p>
            <a:r>
              <a:rPr lang="en-US" sz="6000"/>
              <a:t>European Union’s AI Act</a:t>
            </a:r>
          </a:p>
        </p:txBody>
      </p:sp>
      <p:cxnSp>
        <p:nvCxnSpPr>
          <p:cNvPr id="18" name="Straight Connector 17">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ED5358-9377-B22E-7103-D63D855F56FE}"/>
              </a:ext>
            </a:extLst>
          </p:cNvPr>
          <p:cNvSpPr>
            <a:spLocks noGrp="1"/>
          </p:cNvSpPr>
          <p:nvPr>
            <p:ph idx="1"/>
          </p:nvPr>
        </p:nvSpPr>
        <p:spPr>
          <a:xfrm>
            <a:off x="1097280" y="3180522"/>
            <a:ext cx="6223996" cy="3105978"/>
          </a:xfrm>
        </p:spPr>
        <p:txBody>
          <a:bodyPr>
            <a:normAutofit/>
          </a:bodyPr>
          <a:lstStyle/>
          <a:p>
            <a:r>
              <a:rPr lang="en-US" dirty="0"/>
              <a:t>It is the world’s first comprehensive law specifically regulating artificial intelligence.</a:t>
            </a:r>
          </a:p>
          <a:p>
            <a:r>
              <a:rPr lang="en-US" dirty="0"/>
              <a:t>Finalized in 2024 and will be fully implemented by 2026, it aims to ensure that AI systems used in Europe are safe, respect fundamental rights, and promote trust in AI technologies.</a:t>
            </a:r>
          </a:p>
        </p:txBody>
      </p:sp>
      <p:pic>
        <p:nvPicPr>
          <p:cNvPr id="5" name="Picture 4" descr="Digital financial graphs in 3D">
            <a:extLst>
              <a:ext uri="{FF2B5EF4-FFF2-40B4-BE49-F238E27FC236}">
                <a16:creationId xmlns:a16="http://schemas.microsoft.com/office/drawing/2014/main" id="{7D0F7C1F-9D35-4EA7-9D94-996B35B05535}"/>
              </a:ext>
            </a:extLst>
          </p:cNvPr>
          <p:cNvPicPr>
            <a:picLocks noChangeAspect="1"/>
          </p:cNvPicPr>
          <p:nvPr/>
        </p:nvPicPr>
        <p:blipFill>
          <a:blip r:embed="rId2"/>
          <a:srcRect l="41093" r="17439" b="-2"/>
          <a:stretch/>
        </p:blipFill>
        <p:spPr>
          <a:xfrm>
            <a:off x="8534400" y="10"/>
            <a:ext cx="3657601" cy="6857990"/>
          </a:xfrm>
          <a:prstGeom prst="rect">
            <a:avLst/>
          </a:prstGeom>
        </p:spPr>
      </p:pic>
    </p:spTree>
    <p:extLst>
      <p:ext uri="{BB962C8B-B14F-4D97-AF65-F5344CB8AC3E}">
        <p14:creationId xmlns:p14="http://schemas.microsoft.com/office/powerpoint/2010/main" val="899159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9D583A-194F-AFE8-C807-922C3106300C}"/>
              </a:ext>
            </a:extLst>
          </p:cNvPr>
          <p:cNvSpPr>
            <a:spLocks noGrp="1"/>
          </p:cNvSpPr>
          <p:nvPr>
            <p:ph type="title"/>
          </p:nvPr>
        </p:nvSpPr>
        <p:spPr>
          <a:xfrm>
            <a:off x="1091203" y="1069848"/>
            <a:ext cx="6308775" cy="2049620"/>
          </a:xfrm>
        </p:spPr>
        <p:txBody>
          <a:bodyPr>
            <a:normAutofit/>
          </a:bodyPr>
          <a:lstStyle/>
          <a:p>
            <a:r>
              <a:rPr lang="en-US" sz="6000"/>
              <a:t>EU AI Act in a Nutshell</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67032C-43D9-F9E2-6CD0-05CC5EEBB705}"/>
              </a:ext>
            </a:extLst>
          </p:cNvPr>
          <p:cNvSpPr>
            <a:spLocks noGrp="1"/>
          </p:cNvSpPr>
          <p:nvPr>
            <p:ph idx="1"/>
          </p:nvPr>
        </p:nvSpPr>
        <p:spPr>
          <a:xfrm>
            <a:off x="1097280" y="3180522"/>
            <a:ext cx="6223996" cy="3105978"/>
          </a:xfrm>
        </p:spPr>
        <p:txBody>
          <a:bodyPr>
            <a:normAutofit/>
          </a:bodyPr>
          <a:lstStyle/>
          <a:p>
            <a:pPr>
              <a:lnSpc>
                <a:spcPct val="120000"/>
              </a:lnSpc>
            </a:pPr>
            <a:r>
              <a:rPr lang="en-US" sz="1500" dirty="0"/>
              <a:t>Unlike the GDPR, the AI Act takes a risk-based approach regarding AI Systems and classifies them into four categories:</a:t>
            </a:r>
          </a:p>
          <a:p>
            <a:pPr lvl="1">
              <a:lnSpc>
                <a:spcPct val="120000"/>
              </a:lnSpc>
            </a:pPr>
            <a:r>
              <a:rPr lang="en-US" sz="1500" b="1" dirty="0"/>
              <a:t>Unacceptable risk: </a:t>
            </a:r>
            <a:r>
              <a:rPr lang="en-US" sz="1500" dirty="0"/>
              <a:t>AI systems that are prohibited from public use, e.g., social scoring by governments)</a:t>
            </a:r>
          </a:p>
          <a:p>
            <a:pPr lvl="1">
              <a:lnSpc>
                <a:spcPct val="120000"/>
              </a:lnSpc>
            </a:pPr>
            <a:r>
              <a:rPr lang="en-US" sz="1500" b="1" dirty="0"/>
              <a:t>High risk: </a:t>
            </a:r>
            <a:r>
              <a:rPr lang="en-US" sz="1500" dirty="0"/>
              <a:t>AI systems that require strict rules and oversight, e.g., AI in hiring, credit scoring, healthcare</a:t>
            </a:r>
          </a:p>
          <a:p>
            <a:pPr lvl="1">
              <a:lnSpc>
                <a:spcPct val="120000"/>
              </a:lnSpc>
            </a:pPr>
            <a:r>
              <a:rPr lang="en-US" sz="1500" b="1" dirty="0"/>
              <a:t>Limited risk: </a:t>
            </a:r>
            <a:r>
              <a:rPr lang="en-US" sz="1500" dirty="0"/>
              <a:t>AI systems that require transparency obligations, e.g. chatbots must disclose they’re AI</a:t>
            </a:r>
          </a:p>
          <a:p>
            <a:pPr lvl="1">
              <a:lnSpc>
                <a:spcPct val="120000"/>
              </a:lnSpc>
            </a:pPr>
            <a:r>
              <a:rPr lang="en-US" sz="1500" b="1" dirty="0"/>
              <a:t>Minimal risk: </a:t>
            </a:r>
            <a:r>
              <a:rPr lang="en-US" sz="1500" dirty="0"/>
              <a:t>AI systems that do not have any direct or indirect risk to harm humans, e.g. AI in video games, spam filters</a:t>
            </a:r>
            <a:endParaRPr lang="en-US" sz="1500" b="1" dirty="0"/>
          </a:p>
        </p:txBody>
      </p:sp>
      <p:pic>
        <p:nvPicPr>
          <p:cNvPr id="5" name="Picture 4" descr="Network Technology Background">
            <a:extLst>
              <a:ext uri="{FF2B5EF4-FFF2-40B4-BE49-F238E27FC236}">
                <a16:creationId xmlns:a16="http://schemas.microsoft.com/office/drawing/2014/main" id="{6C63EE71-8B95-AE77-21C4-9F467B88435D}"/>
              </a:ext>
            </a:extLst>
          </p:cNvPr>
          <p:cNvPicPr>
            <a:picLocks noChangeAspect="1"/>
          </p:cNvPicPr>
          <p:nvPr/>
        </p:nvPicPr>
        <p:blipFill>
          <a:blip r:embed="rId2"/>
          <a:srcRect l="51627" r="17306" b="-1"/>
          <a:stretch/>
        </p:blipFill>
        <p:spPr>
          <a:xfrm>
            <a:off x="8534400" y="10"/>
            <a:ext cx="3657601" cy="6857990"/>
          </a:xfrm>
          <a:prstGeom prst="rect">
            <a:avLst/>
          </a:prstGeom>
        </p:spPr>
      </p:pic>
    </p:spTree>
    <p:extLst>
      <p:ext uri="{BB962C8B-B14F-4D97-AF65-F5344CB8AC3E}">
        <p14:creationId xmlns:p14="http://schemas.microsoft.com/office/powerpoint/2010/main" val="330741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0DC026F-444B-46C9-BCBE-329183BF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E4F459-3AD1-BFAE-5334-073F36ADBB02}"/>
              </a:ext>
            </a:extLst>
          </p:cNvPr>
          <p:cNvSpPr>
            <a:spLocks noGrp="1"/>
          </p:cNvSpPr>
          <p:nvPr>
            <p:ph type="title"/>
          </p:nvPr>
        </p:nvSpPr>
        <p:spPr>
          <a:xfrm>
            <a:off x="1088136" y="1088136"/>
            <a:ext cx="10270671" cy="1188720"/>
          </a:xfrm>
        </p:spPr>
        <p:txBody>
          <a:bodyPr>
            <a:normAutofit/>
          </a:bodyPr>
          <a:lstStyle/>
          <a:p>
            <a:r>
              <a:rPr lang="en-US" sz="4000" dirty="0"/>
              <a:t>Prohibited AI Systems (Article 5)</a:t>
            </a:r>
          </a:p>
        </p:txBody>
      </p:sp>
      <p:cxnSp>
        <p:nvCxnSpPr>
          <p:cNvPr id="16" name="Straight Connector 15">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D04EBCBB-69F4-3DD3-0A4E-F6C8F4985240}"/>
              </a:ext>
            </a:extLst>
          </p:cNvPr>
          <p:cNvSpPr>
            <a:spLocks noGrp="1"/>
          </p:cNvSpPr>
          <p:nvPr>
            <p:ph idx="1"/>
          </p:nvPr>
        </p:nvSpPr>
        <p:spPr>
          <a:xfrm>
            <a:off x="1096684" y="2593181"/>
            <a:ext cx="4868347" cy="3693319"/>
          </a:xfrm>
        </p:spPr>
        <p:txBody>
          <a:bodyPr>
            <a:normAutofit/>
          </a:bodyPr>
          <a:lstStyle/>
          <a:p>
            <a:pPr marL="342900" indent="-342900">
              <a:lnSpc>
                <a:spcPct val="120000"/>
              </a:lnSpc>
              <a:buFont typeface="+mj-lt"/>
              <a:buAutoNum type="arabicPeriod"/>
            </a:pPr>
            <a:r>
              <a:rPr lang="en-US" sz="1500" b="1" dirty="0"/>
              <a:t>Subliminal Manipulation</a:t>
            </a:r>
          </a:p>
          <a:p>
            <a:pPr marL="0" indent="0">
              <a:lnSpc>
                <a:spcPct val="120000"/>
              </a:lnSpc>
              <a:buNone/>
            </a:pPr>
            <a:r>
              <a:rPr lang="en-US" sz="1500" dirty="0"/>
              <a:t>AI systems that deploy subliminal techniques beyond a person's consciousness or purposefully use manipulative or deceptive techniques that materially distort behavior, impair decision-making, and cause or are likely to cause significant harm. </a:t>
            </a:r>
          </a:p>
          <a:p>
            <a:pPr marL="342900" indent="-342900">
              <a:lnSpc>
                <a:spcPct val="120000"/>
              </a:lnSpc>
              <a:buFont typeface="+mj-lt"/>
              <a:buAutoNum type="arabicPeriod" startAt="2"/>
            </a:pPr>
            <a:r>
              <a:rPr lang="en-US" sz="1500" b="1" dirty="0"/>
              <a:t>Exploitation of Vulnerabilities</a:t>
            </a:r>
          </a:p>
          <a:p>
            <a:pPr marL="0" indent="0">
              <a:lnSpc>
                <a:spcPct val="120000"/>
              </a:lnSpc>
              <a:buNone/>
            </a:pPr>
            <a:r>
              <a:rPr lang="en-US" sz="1500" dirty="0"/>
              <a:t>AI systems that exploit vulnerabilities of specific groups (e.g., age, disability, social/economic situation) in a manner that causes or is likely to cause harm. </a:t>
            </a:r>
          </a:p>
        </p:txBody>
      </p:sp>
      <p:pic>
        <p:nvPicPr>
          <p:cNvPr id="17" name="Picture 16" descr="3D white lines connected with dots">
            <a:extLst>
              <a:ext uri="{FF2B5EF4-FFF2-40B4-BE49-F238E27FC236}">
                <a16:creationId xmlns:a16="http://schemas.microsoft.com/office/drawing/2014/main" id="{D9E17BF1-1F96-621C-B8F9-E0A4E906118F}"/>
              </a:ext>
            </a:extLst>
          </p:cNvPr>
          <p:cNvPicPr>
            <a:picLocks noChangeAspect="1"/>
          </p:cNvPicPr>
          <p:nvPr/>
        </p:nvPicPr>
        <p:blipFill>
          <a:blip r:embed="rId2"/>
          <a:srcRect l="21219" r="413" b="-1"/>
          <a:stretch/>
        </p:blipFill>
        <p:spPr>
          <a:xfrm>
            <a:off x="6705600" y="2657475"/>
            <a:ext cx="5486401" cy="4200526"/>
          </a:xfrm>
          <a:prstGeom prst="rect">
            <a:avLst/>
          </a:prstGeom>
        </p:spPr>
      </p:pic>
    </p:spTree>
    <p:extLst>
      <p:ext uri="{BB962C8B-B14F-4D97-AF65-F5344CB8AC3E}">
        <p14:creationId xmlns:p14="http://schemas.microsoft.com/office/powerpoint/2010/main" val="129453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39A60F-9701-E367-69B1-98C473FEA90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D1492B8-8EFA-4438-0604-60A76FD1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650ADB-8BFC-5E3F-3CDB-6A9E40E284A6}"/>
              </a:ext>
            </a:extLst>
          </p:cNvPr>
          <p:cNvSpPr>
            <a:spLocks noGrp="1"/>
          </p:cNvSpPr>
          <p:nvPr>
            <p:ph type="title"/>
          </p:nvPr>
        </p:nvSpPr>
        <p:spPr>
          <a:xfrm>
            <a:off x="1088136" y="1088136"/>
            <a:ext cx="10270671" cy="1188720"/>
          </a:xfrm>
        </p:spPr>
        <p:txBody>
          <a:bodyPr>
            <a:normAutofit/>
          </a:bodyPr>
          <a:lstStyle/>
          <a:p>
            <a:r>
              <a:rPr lang="en-US" sz="4000" dirty="0"/>
              <a:t>Prohibited AI Systems (Article 5)</a:t>
            </a:r>
          </a:p>
        </p:txBody>
      </p:sp>
      <p:cxnSp>
        <p:nvCxnSpPr>
          <p:cNvPr id="16" name="Straight Connector 15">
            <a:extLst>
              <a:ext uri="{FF2B5EF4-FFF2-40B4-BE49-F238E27FC236}">
                <a16:creationId xmlns:a16="http://schemas.microsoft.com/office/drawing/2014/main" id="{AF204A40-144E-7609-A73A-1D08A334B6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BC61CC11-7DF0-53A1-9309-A33C6410F5F4}"/>
              </a:ext>
            </a:extLst>
          </p:cNvPr>
          <p:cNvSpPr>
            <a:spLocks noGrp="1"/>
          </p:cNvSpPr>
          <p:nvPr>
            <p:ph idx="1"/>
          </p:nvPr>
        </p:nvSpPr>
        <p:spPr>
          <a:xfrm>
            <a:off x="1096684" y="2593181"/>
            <a:ext cx="4868347" cy="3693319"/>
          </a:xfrm>
        </p:spPr>
        <p:txBody>
          <a:bodyPr>
            <a:normAutofit fontScale="92500"/>
          </a:bodyPr>
          <a:lstStyle/>
          <a:p>
            <a:pPr marL="0" indent="0">
              <a:lnSpc>
                <a:spcPct val="120000"/>
              </a:lnSpc>
              <a:buNone/>
            </a:pPr>
            <a:r>
              <a:rPr lang="en-US" sz="1500" b="1" dirty="0"/>
              <a:t>3. Social Scoring</a:t>
            </a:r>
          </a:p>
          <a:p>
            <a:pPr marL="0" indent="0">
              <a:lnSpc>
                <a:spcPct val="120000"/>
              </a:lnSpc>
              <a:buNone/>
            </a:pPr>
            <a:r>
              <a:rPr lang="en-US" sz="1500" dirty="0"/>
              <a:t>AI systems that evaluate or classify individuals or groups based on social behavior or personal traits, leading to detrimental or unfavorable treatment unrelated to the context in which the data was collected.</a:t>
            </a:r>
          </a:p>
          <a:p>
            <a:pPr marL="342900" indent="-342900">
              <a:lnSpc>
                <a:spcPct val="120000"/>
              </a:lnSpc>
              <a:buFont typeface="+mj-lt"/>
              <a:buAutoNum type="arabicPeriod"/>
            </a:pPr>
            <a:endParaRPr lang="en-US" sz="1500" b="1" dirty="0"/>
          </a:p>
          <a:p>
            <a:pPr marL="0" indent="0">
              <a:lnSpc>
                <a:spcPct val="120000"/>
              </a:lnSpc>
              <a:buNone/>
            </a:pPr>
            <a:r>
              <a:rPr lang="en-US" sz="1500" b="1" dirty="0"/>
              <a:t>4. Predictive Policing</a:t>
            </a:r>
          </a:p>
          <a:p>
            <a:pPr marL="0" indent="0">
              <a:lnSpc>
                <a:spcPct val="120000"/>
              </a:lnSpc>
              <a:buNone/>
            </a:pPr>
            <a:r>
              <a:rPr lang="en-US" sz="1500" dirty="0"/>
              <a:t>AI systems that assess or predict the risk of individuals committing a criminal offense solely based on profiling or personality traits, unless used to support human assessments based on objective and verifiable facts directly related to criminal activity. </a:t>
            </a:r>
          </a:p>
        </p:txBody>
      </p:sp>
      <p:pic>
        <p:nvPicPr>
          <p:cNvPr id="17" name="Picture 16" descr="3D white lines connected with dots">
            <a:extLst>
              <a:ext uri="{FF2B5EF4-FFF2-40B4-BE49-F238E27FC236}">
                <a16:creationId xmlns:a16="http://schemas.microsoft.com/office/drawing/2014/main" id="{C8726C4E-E313-1981-9662-DB86E42E3FEC}"/>
              </a:ext>
            </a:extLst>
          </p:cNvPr>
          <p:cNvPicPr>
            <a:picLocks noChangeAspect="1"/>
          </p:cNvPicPr>
          <p:nvPr/>
        </p:nvPicPr>
        <p:blipFill>
          <a:blip r:embed="rId2"/>
          <a:srcRect l="21219" r="413" b="-1"/>
          <a:stretch/>
        </p:blipFill>
        <p:spPr>
          <a:xfrm>
            <a:off x="6705600" y="2657475"/>
            <a:ext cx="5486401" cy="4200526"/>
          </a:xfrm>
          <a:prstGeom prst="rect">
            <a:avLst/>
          </a:prstGeom>
        </p:spPr>
      </p:pic>
    </p:spTree>
    <p:extLst>
      <p:ext uri="{BB962C8B-B14F-4D97-AF65-F5344CB8AC3E}">
        <p14:creationId xmlns:p14="http://schemas.microsoft.com/office/powerpoint/2010/main" val="1108076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8D5FED-3657-733C-52E3-5E5EE2B7EC2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9EC1E54-1743-C470-0126-7A2D77A23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9F4B7-21ED-939C-9C97-C2663D301E8B}"/>
              </a:ext>
            </a:extLst>
          </p:cNvPr>
          <p:cNvSpPr>
            <a:spLocks noGrp="1"/>
          </p:cNvSpPr>
          <p:nvPr>
            <p:ph type="title"/>
          </p:nvPr>
        </p:nvSpPr>
        <p:spPr>
          <a:xfrm>
            <a:off x="1088136" y="1088136"/>
            <a:ext cx="10270671" cy="1188720"/>
          </a:xfrm>
        </p:spPr>
        <p:txBody>
          <a:bodyPr>
            <a:normAutofit/>
          </a:bodyPr>
          <a:lstStyle/>
          <a:p>
            <a:r>
              <a:rPr lang="en-US" sz="4000" dirty="0"/>
              <a:t>Prohibited AI Systems (Article 5)</a:t>
            </a:r>
          </a:p>
        </p:txBody>
      </p:sp>
      <p:cxnSp>
        <p:nvCxnSpPr>
          <p:cNvPr id="16" name="Straight Connector 15">
            <a:extLst>
              <a:ext uri="{FF2B5EF4-FFF2-40B4-BE49-F238E27FC236}">
                <a16:creationId xmlns:a16="http://schemas.microsoft.com/office/drawing/2014/main" id="{32A40E4E-B513-0B33-84E5-53213C397F6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9AAAB758-20D6-A806-82BC-C7BA065C186F}"/>
              </a:ext>
            </a:extLst>
          </p:cNvPr>
          <p:cNvSpPr>
            <a:spLocks noGrp="1"/>
          </p:cNvSpPr>
          <p:nvPr>
            <p:ph idx="1"/>
          </p:nvPr>
        </p:nvSpPr>
        <p:spPr>
          <a:xfrm>
            <a:off x="1096684" y="2593181"/>
            <a:ext cx="4868347" cy="3693319"/>
          </a:xfrm>
        </p:spPr>
        <p:txBody>
          <a:bodyPr>
            <a:normAutofit/>
          </a:bodyPr>
          <a:lstStyle/>
          <a:p>
            <a:pPr marL="0" indent="0">
              <a:lnSpc>
                <a:spcPct val="120000"/>
              </a:lnSpc>
              <a:buNone/>
            </a:pPr>
            <a:r>
              <a:rPr lang="en-US" sz="1500" b="1" dirty="0"/>
              <a:t>5. Untargeted Facial Recognition Data Scraping</a:t>
            </a:r>
          </a:p>
          <a:p>
            <a:pPr marL="0" indent="0">
              <a:lnSpc>
                <a:spcPct val="120000"/>
              </a:lnSpc>
              <a:buNone/>
            </a:pPr>
            <a:r>
              <a:rPr lang="en-US" sz="1500" dirty="0"/>
              <a:t>AI systems that create or expand facial recognition databases through the untargeted scraping of facial images from the internet or CCTV footage.</a:t>
            </a:r>
          </a:p>
          <a:p>
            <a:pPr marL="0" indent="0">
              <a:lnSpc>
                <a:spcPct val="120000"/>
              </a:lnSpc>
              <a:buNone/>
            </a:pPr>
            <a:endParaRPr lang="en-US" sz="1500" b="1" dirty="0"/>
          </a:p>
          <a:p>
            <a:pPr marL="0" indent="0">
              <a:lnSpc>
                <a:spcPct val="120000"/>
              </a:lnSpc>
              <a:buNone/>
            </a:pPr>
            <a:r>
              <a:rPr lang="en-US" sz="1500" b="1" dirty="0"/>
              <a:t>6. Emotion Recognition in Workplace and Educational Settings</a:t>
            </a:r>
          </a:p>
          <a:p>
            <a:pPr marL="0" indent="0">
              <a:lnSpc>
                <a:spcPct val="120000"/>
              </a:lnSpc>
              <a:buNone/>
            </a:pPr>
            <a:r>
              <a:rPr lang="en-US" sz="1500" dirty="0"/>
              <a:t>AI systems that infer emotions of individuals in workplaces or educational institutions, except when used for medical or safety reasons. </a:t>
            </a:r>
          </a:p>
        </p:txBody>
      </p:sp>
      <p:pic>
        <p:nvPicPr>
          <p:cNvPr id="17" name="Picture 16" descr="3D white lines connected with dots">
            <a:extLst>
              <a:ext uri="{FF2B5EF4-FFF2-40B4-BE49-F238E27FC236}">
                <a16:creationId xmlns:a16="http://schemas.microsoft.com/office/drawing/2014/main" id="{790A0728-ADBC-6179-071A-995751CC78DE}"/>
              </a:ext>
            </a:extLst>
          </p:cNvPr>
          <p:cNvPicPr>
            <a:picLocks noChangeAspect="1"/>
          </p:cNvPicPr>
          <p:nvPr/>
        </p:nvPicPr>
        <p:blipFill>
          <a:blip r:embed="rId2"/>
          <a:srcRect l="21219" r="413" b="-1"/>
          <a:stretch/>
        </p:blipFill>
        <p:spPr>
          <a:xfrm>
            <a:off x="6705600" y="2657475"/>
            <a:ext cx="5486401" cy="4200526"/>
          </a:xfrm>
          <a:prstGeom prst="rect">
            <a:avLst/>
          </a:prstGeom>
        </p:spPr>
      </p:pic>
    </p:spTree>
    <p:extLst>
      <p:ext uri="{BB962C8B-B14F-4D97-AF65-F5344CB8AC3E}">
        <p14:creationId xmlns:p14="http://schemas.microsoft.com/office/powerpoint/2010/main" val="1067556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2498FD-C52E-7758-F989-AE4B3CAD385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10FDEDF-9D59-9E4B-00F6-9418971BC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79E03D-E736-29F6-6BC1-05D740DAD6DF}"/>
              </a:ext>
            </a:extLst>
          </p:cNvPr>
          <p:cNvSpPr>
            <a:spLocks noGrp="1"/>
          </p:cNvSpPr>
          <p:nvPr>
            <p:ph type="title"/>
          </p:nvPr>
        </p:nvSpPr>
        <p:spPr>
          <a:xfrm>
            <a:off x="1088136" y="1088136"/>
            <a:ext cx="10270671" cy="1188720"/>
          </a:xfrm>
        </p:spPr>
        <p:txBody>
          <a:bodyPr>
            <a:normAutofit/>
          </a:bodyPr>
          <a:lstStyle/>
          <a:p>
            <a:r>
              <a:rPr lang="en-US" sz="4000" dirty="0"/>
              <a:t>Prohibited AI Systems (Article 5)</a:t>
            </a:r>
          </a:p>
        </p:txBody>
      </p:sp>
      <p:cxnSp>
        <p:nvCxnSpPr>
          <p:cNvPr id="16" name="Straight Connector 15">
            <a:extLst>
              <a:ext uri="{FF2B5EF4-FFF2-40B4-BE49-F238E27FC236}">
                <a16:creationId xmlns:a16="http://schemas.microsoft.com/office/drawing/2014/main" id="{A92777E4-1385-8D25-8B1C-4DB750AF17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ABF2DAD9-0178-C3E5-0163-BD6AD9DA0BB2}"/>
              </a:ext>
            </a:extLst>
          </p:cNvPr>
          <p:cNvSpPr>
            <a:spLocks noGrp="1"/>
          </p:cNvSpPr>
          <p:nvPr>
            <p:ph idx="1"/>
          </p:nvPr>
        </p:nvSpPr>
        <p:spPr>
          <a:xfrm>
            <a:off x="1096684" y="2593181"/>
            <a:ext cx="4868347" cy="3693319"/>
          </a:xfrm>
        </p:spPr>
        <p:txBody>
          <a:bodyPr>
            <a:normAutofit fontScale="85000" lnSpcReduction="10000"/>
          </a:bodyPr>
          <a:lstStyle/>
          <a:p>
            <a:pPr marL="0" indent="0">
              <a:lnSpc>
                <a:spcPct val="120000"/>
              </a:lnSpc>
              <a:buNone/>
            </a:pPr>
            <a:r>
              <a:rPr lang="en-US" sz="1500" b="1" dirty="0"/>
              <a:t>7. Biometric Categorization</a:t>
            </a:r>
          </a:p>
          <a:p>
            <a:pPr marL="0" indent="0">
              <a:lnSpc>
                <a:spcPct val="120000"/>
              </a:lnSpc>
              <a:buNone/>
            </a:pPr>
            <a:r>
              <a:rPr lang="en-US" sz="1500" dirty="0"/>
              <a:t>AI systems that categorize individuals based on biometric data to deduce or infer attributes like race, political opinions, or sexual orientation, except when used for labeling or filtering lawfully acquired biometric datasets by law enforcement agencies.</a:t>
            </a:r>
          </a:p>
          <a:p>
            <a:pPr marL="0" indent="0">
              <a:lnSpc>
                <a:spcPct val="120000"/>
              </a:lnSpc>
              <a:buNone/>
            </a:pPr>
            <a:endParaRPr lang="en-US" sz="1500" b="1" dirty="0"/>
          </a:p>
          <a:p>
            <a:pPr marL="0" indent="0">
              <a:lnSpc>
                <a:spcPct val="120000"/>
              </a:lnSpc>
              <a:buNone/>
            </a:pPr>
            <a:r>
              <a:rPr lang="en-US" sz="1500" b="1" dirty="0"/>
              <a:t>8. Real-Time Remote Biometric Identification in Public Spaces by Law Enforcement</a:t>
            </a:r>
          </a:p>
          <a:p>
            <a:pPr marL="0" indent="0">
              <a:lnSpc>
                <a:spcPct val="120000"/>
              </a:lnSpc>
              <a:buNone/>
            </a:pPr>
            <a:r>
              <a:rPr lang="en-US" sz="1500" dirty="0"/>
              <a:t>AI systems for real-time remote biometric identification in public spaces for law enforcement purposes, unless necessary for specific objectives such as searching for victims of abduction or preventing imminent terrorist attacks, and subject to strict safeguards and prior authorization. </a:t>
            </a:r>
          </a:p>
        </p:txBody>
      </p:sp>
      <p:pic>
        <p:nvPicPr>
          <p:cNvPr id="17" name="Picture 16" descr="3D white lines connected with dots">
            <a:extLst>
              <a:ext uri="{FF2B5EF4-FFF2-40B4-BE49-F238E27FC236}">
                <a16:creationId xmlns:a16="http://schemas.microsoft.com/office/drawing/2014/main" id="{F43549B5-A7EE-3494-596C-052CA6B30E0D}"/>
              </a:ext>
            </a:extLst>
          </p:cNvPr>
          <p:cNvPicPr>
            <a:picLocks noChangeAspect="1"/>
          </p:cNvPicPr>
          <p:nvPr/>
        </p:nvPicPr>
        <p:blipFill>
          <a:blip r:embed="rId2"/>
          <a:srcRect l="21219" r="413" b="-1"/>
          <a:stretch/>
        </p:blipFill>
        <p:spPr>
          <a:xfrm>
            <a:off x="6705600" y="2657475"/>
            <a:ext cx="5486401" cy="4200526"/>
          </a:xfrm>
          <a:prstGeom prst="rect">
            <a:avLst/>
          </a:prstGeom>
        </p:spPr>
      </p:pic>
    </p:spTree>
    <p:extLst>
      <p:ext uri="{BB962C8B-B14F-4D97-AF65-F5344CB8AC3E}">
        <p14:creationId xmlns:p14="http://schemas.microsoft.com/office/powerpoint/2010/main" val="2980848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680A4-1615-1C39-2D47-D582F92F766E}"/>
              </a:ext>
            </a:extLst>
          </p:cNvPr>
          <p:cNvSpPr>
            <a:spLocks noGrp="1"/>
          </p:cNvSpPr>
          <p:nvPr>
            <p:ph type="title"/>
          </p:nvPr>
        </p:nvSpPr>
        <p:spPr>
          <a:xfrm>
            <a:off x="1091203" y="1069848"/>
            <a:ext cx="6308775" cy="2049620"/>
          </a:xfrm>
        </p:spPr>
        <p:txBody>
          <a:bodyPr>
            <a:normAutofit/>
          </a:bodyPr>
          <a:lstStyle/>
          <a:p>
            <a:r>
              <a:rPr lang="en-US" sz="6000"/>
              <a:t>Specific High-Risk Use Cases </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03CBFA2-5B95-79EC-C361-5683C7401C04}"/>
              </a:ext>
            </a:extLst>
          </p:cNvPr>
          <p:cNvSpPr>
            <a:spLocks noGrp="1"/>
          </p:cNvSpPr>
          <p:nvPr>
            <p:ph idx="1"/>
          </p:nvPr>
        </p:nvSpPr>
        <p:spPr>
          <a:xfrm>
            <a:off x="1097280" y="3180522"/>
            <a:ext cx="6223996" cy="3105978"/>
          </a:xfrm>
        </p:spPr>
        <p:txBody>
          <a:bodyPr>
            <a:normAutofit/>
          </a:bodyPr>
          <a:lstStyle/>
          <a:p>
            <a:r>
              <a:rPr lang="en-US" dirty="0"/>
              <a:t>The EU AI Act deems some AI Applications as high-risk due to their potential impact on fundamental rights. These include AI systems used in:</a:t>
            </a:r>
          </a:p>
          <a:p>
            <a:r>
              <a:rPr lang="en-US" b="1" dirty="0"/>
              <a:t>Biometric Identification and Categorization: </a:t>
            </a:r>
            <a:r>
              <a:rPr lang="en-US" dirty="0"/>
              <a:t>AI emotion detection in interviews.</a:t>
            </a:r>
          </a:p>
          <a:p>
            <a:r>
              <a:rPr lang="en-US" b="1" dirty="0"/>
              <a:t>Critical Infrastructure Management: </a:t>
            </a:r>
            <a:r>
              <a:rPr lang="en-US" dirty="0"/>
              <a:t>AI-based rail traffic management </a:t>
            </a:r>
          </a:p>
        </p:txBody>
      </p:sp>
      <p:pic>
        <p:nvPicPr>
          <p:cNvPr id="5" name="Picture 4" descr="Connected lines and dots to form a network">
            <a:extLst>
              <a:ext uri="{FF2B5EF4-FFF2-40B4-BE49-F238E27FC236}">
                <a16:creationId xmlns:a16="http://schemas.microsoft.com/office/drawing/2014/main" id="{6E1AE10B-07D0-DABF-F73D-05BF9B45166C}"/>
              </a:ext>
            </a:extLst>
          </p:cNvPr>
          <p:cNvPicPr>
            <a:picLocks noChangeAspect="1"/>
          </p:cNvPicPr>
          <p:nvPr/>
        </p:nvPicPr>
        <p:blipFill>
          <a:blip r:embed="rId2"/>
          <a:srcRect l="43669" r="26331"/>
          <a:stretch/>
        </p:blipFill>
        <p:spPr>
          <a:xfrm>
            <a:off x="8534400" y="10"/>
            <a:ext cx="3657601" cy="6857990"/>
          </a:xfrm>
          <a:prstGeom prst="rect">
            <a:avLst/>
          </a:prstGeom>
        </p:spPr>
      </p:pic>
    </p:spTree>
    <p:extLst>
      <p:ext uri="{BB962C8B-B14F-4D97-AF65-F5344CB8AC3E}">
        <p14:creationId xmlns:p14="http://schemas.microsoft.com/office/powerpoint/2010/main" val="3069269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26F31B-F810-EB33-17E0-7922CFD7F87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823280-004F-46E6-73F8-73BDF77557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0F377B-8FB9-D1FB-68DA-4D5BD87C1A1A}"/>
              </a:ext>
            </a:extLst>
          </p:cNvPr>
          <p:cNvSpPr>
            <a:spLocks noGrp="1"/>
          </p:cNvSpPr>
          <p:nvPr>
            <p:ph type="title"/>
          </p:nvPr>
        </p:nvSpPr>
        <p:spPr>
          <a:xfrm>
            <a:off x="1091203" y="1069848"/>
            <a:ext cx="6308775" cy="2049620"/>
          </a:xfrm>
        </p:spPr>
        <p:txBody>
          <a:bodyPr>
            <a:normAutofit/>
          </a:bodyPr>
          <a:lstStyle/>
          <a:p>
            <a:r>
              <a:rPr lang="en-US" sz="6000"/>
              <a:t>Specific High-Risk Use Cases </a:t>
            </a:r>
          </a:p>
        </p:txBody>
      </p:sp>
      <p:cxnSp>
        <p:nvCxnSpPr>
          <p:cNvPr id="11" name="Straight Connector 10">
            <a:extLst>
              <a:ext uri="{FF2B5EF4-FFF2-40B4-BE49-F238E27FC236}">
                <a16:creationId xmlns:a16="http://schemas.microsoft.com/office/drawing/2014/main" id="{4E4A2732-9173-2983-6210-A2344EE8D2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105C7F6-6E60-1D05-5EEA-4F31AFBF44BE}"/>
              </a:ext>
            </a:extLst>
          </p:cNvPr>
          <p:cNvSpPr>
            <a:spLocks noGrp="1"/>
          </p:cNvSpPr>
          <p:nvPr>
            <p:ph idx="1"/>
          </p:nvPr>
        </p:nvSpPr>
        <p:spPr>
          <a:xfrm>
            <a:off x="1097280" y="3180522"/>
            <a:ext cx="6223996" cy="3105978"/>
          </a:xfrm>
        </p:spPr>
        <p:txBody>
          <a:bodyPr>
            <a:normAutofit/>
          </a:bodyPr>
          <a:lstStyle/>
          <a:p>
            <a:r>
              <a:rPr lang="en-US" b="1" dirty="0"/>
              <a:t>Education and Vocational Training: </a:t>
            </a:r>
            <a:r>
              <a:rPr lang="en-US" dirty="0"/>
              <a:t>AI grading systems for exams</a:t>
            </a:r>
          </a:p>
          <a:p>
            <a:r>
              <a:rPr lang="en-US" b="1" dirty="0"/>
              <a:t>Employment and Worker Management: </a:t>
            </a:r>
            <a:r>
              <a:rPr lang="en-US" dirty="0"/>
              <a:t>Automated resume screening AI</a:t>
            </a:r>
          </a:p>
          <a:p>
            <a:r>
              <a:rPr lang="en-US" b="1" dirty="0"/>
              <a:t>Access to Essential Private and Public services: </a:t>
            </a:r>
            <a:r>
              <a:rPr lang="en-US" dirty="0"/>
              <a:t>AI systems for social welfare eligibility</a:t>
            </a:r>
            <a:endParaRPr lang="en-US" b="1" dirty="0"/>
          </a:p>
        </p:txBody>
      </p:sp>
      <p:pic>
        <p:nvPicPr>
          <p:cNvPr id="5" name="Picture 4" descr="Connected lines and dots to form a network">
            <a:extLst>
              <a:ext uri="{FF2B5EF4-FFF2-40B4-BE49-F238E27FC236}">
                <a16:creationId xmlns:a16="http://schemas.microsoft.com/office/drawing/2014/main" id="{8D9B1215-8F77-A39E-861A-5F785D99FB8B}"/>
              </a:ext>
            </a:extLst>
          </p:cNvPr>
          <p:cNvPicPr>
            <a:picLocks noChangeAspect="1"/>
          </p:cNvPicPr>
          <p:nvPr/>
        </p:nvPicPr>
        <p:blipFill>
          <a:blip r:embed="rId2"/>
          <a:srcRect l="43669" r="26331"/>
          <a:stretch/>
        </p:blipFill>
        <p:spPr>
          <a:xfrm>
            <a:off x="8534400" y="10"/>
            <a:ext cx="3657601" cy="6857990"/>
          </a:xfrm>
          <a:prstGeom prst="rect">
            <a:avLst/>
          </a:prstGeom>
        </p:spPr>
      </p:pic>
    </p:spTree>
    <p:extLst>
      <p:ext uri="{BB962C8B-B14F-4D97-AF65-F5344CB8AC3E}">
        <p14:creationId xmlns:p14="http://schemas.microsoft.com/office/powerpoint/2010/main" val="3290931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79579B-287D-3FBF-E358-048E17981D2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EB9229-B636-2251-2420-42C23C419E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53904E-B7E1-3403-D84C-380457C7F0B0}"/>
              </a:ext>
            </a:extLst>
          </p:cNvPr>
          <p:cNvSpPr>
            <a:spLocks noGrp="1"/>
          </p:cNvSpPr>
          <p:nvPr>
            <p:ph type="title"/>
          </p:nvPr>
        </p:nvSpPr>
        <p:spPr>
          <a:xfrm>
            <a:off x="1091203" y="1069848"/>
            <a:ext cx="6308775" cy="2049620"/>
          </a:xfrm>
        </p:spPr>
        <p:txBody>
          <a:bodyPr>
            <a:normAutofit/>
          </a:bodyPr>
          <a:lstStyle/>
          <a:p>
            <a:r>
              <a:rPr lang="en-US" sz="6000"/>
              <a:t>Specific High-Risk Use Cases </a:t>
            </a:r>
          </a:p>
        </p:txBody>
      </p:sp>
      <p:cxnSp>
        <p:nvCxnSpPr>
          <p:cNvPr id="11" name="Straight Connector 10">
            <a:extLst>
              <a:ext uri="{FF2B5EF4-FFF2-40B4-BE49-F238E27FC236}">
                <a16:creationId xmlns:a16="http://schemas.microsoft.com/office/drawing/2014/main" id="{B245E274-558F-AD09-B48F-ED98F519DB4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2CDD7B8-ACFE-97DC-A0D2-33AA36FF0172}"/>
              </a:ext>
            </a:extLst>
          </p:cNvPr>
          <p:cNvSpPr>
            <a:spLocks noGrp="1"/>
          </p:cNvSpPr>
          <p:nvPr>
            <p:ph idx="1"/>
          </p:nvPr>
        </p:nvSpPr>
        <p:spPr>
          <a:xfrm>
            <a:off x="1097280" y="3180522"/>
            <a:ext cx="6223996" cy="3105978"/>
          </a:xfrm>
        </p:spPr>
        <p:txBody>
          <a:bodyPr>
            <a:normAutofit/>
          </a:bodyPr>
          <a:lstStyle/>
          <a:p>
            <a:r>
              <a:rPr lang="en-US" b="1" dirty="0"/>
              <a:t>Law Enforcement: </a:t>
            </a:r>
            <a:r>
              <a:rPr lang="en-US" dirty="0"/>
              <a:t>Automated forensic analysis AI</a:t>
            </a:r>
          </a:p>
          <a:p>
            <a:r>
              <a:rPr lang="en-US" b="1" dirty="0"/>
              <a:t>Migration, Asylum, and Border Control: </a:t>
            </a:r>
            <a:r>
              <a:rPr lang="en-US" dirty="0"/>
              <a:t>AI lie detection at borders</a:t>
            </a:r>
          </a:p>
          <a:p>
            <a:r>
              <a:rPr lang="en-US" b="1" dirty="0"/>
              <a:t>Administration of Justice and Democratic Processes: </a:t>
            </a:r>
            <a:r>
              <a:rPr lang="en-US" dirty="0"/>
              <a:t>E-voting fraud detection AI</a:t>
            </a:r>
            <a:endParaRPr lang="en-US" b="1" dirty="0"/>
          </a:p>
        </p:txBody>
      </p:sp>
      <p:pic>
        <p:nvPicPr>
          <p:cNvPr id="5" name="Picture 4" descr="Connected lines and dots to form a network">
            <a:extLst>
              <a:ext uri="{FF2B5EF4-FFF2-40B4-BE49-F238E27FC236}">
                <a16:creationId xmlns:a16="http://schemas.microsoft.com/office/drawing/2014/main" id="{A7F15623-A81A-AFBF-A60F-B4633C38C4C5}"/>
              </a:ext>
            </a:extLst>
          </p:cNvPr>
          <p:cNvPicPr>
            <a:picLocks noChangeAspect="1"/>
          </p:cNvPicPr>
          <p:nvPr/>
        </p:nvPicPr>
        <p:blipFill>
          <a:blip r:embed="rId2"/>
          <a:srcRect l="43669" r="26331"/>
          <a:stretch/>
        </p:blipFill>
        <p:spPr>
          <a:xfrm>
            <a:off x="8534400" y="10"/>
            <a:ext cx="3657601" cy="6857990"/>
          </a:xfrm>
          <a:prstGeom prst="rect">
            <a:avLst/>
          </a:prstGeom>
        </p:spPr>
      </p:pic>
    </p:spTree>
    <p:extLst>
      <p:ext uri="{BB962C8B-B14F-4D97-AF65-F5344CB8AC3E}">
        <p14:creationId xmlns:p14="http://schemas.microsoft.com/office/powerpoint/2010/main" val="516724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710950-94B5-164D-C6F1-064953EEA4D9}"/>
              </a:ext>
            </a:extLst>
          </p:cNvPr>
          <p:cNvSpPr>
            <a:spLocks noGrp="1"/>
          </p:cNvSpPr>
          <p:nvPr>
            <p:ph type="title"/>
          </p:nvPr>
        </p:nvSpPr>
        <p:spPr>
          <a:xfrm>
            <a:off x="1091203" y="1069848"/>
            <a:ext cx="6308775" cy="2049620"/>
          </a:xfrm>
        </p:spPr>
        <p:txBody>
          <a:bodyPr>
            <a:normAutofit/>
          </a:bodyPr>
          <a:lstStyle/>
          <a:p>
            <a:r>
              <a:rPr lang="en-US" sz="4700"/>
              <a:t>AI Risk Management (Article 9)</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26B97D1-EC06-CB35-34E2-7D665CE7F32D}"/>
              </a:ext>
            </a:extLst>
          </p:cNvPr>
          <p:cNvSpPr>
            <a:spLocks noGrp="1"/>
          </p:cNvSpPr>
          <p:nvPr>
            <p:ph idx="1"/>
          </p:nvPr>
        </p:nvSpPr>
        <p:spPr>
          <a:xfrm>
            <a:off x="1097280" y="3180522"/>
            <a:ext cx="6223996" cy="3105978"/>
          </a:xfrm>
        </p:spPr>
        <p:txBody>
          <a:bodyPr>
            <a:normAutofit/>
          </a:bodyPr>
          <a:lstStyle/>
          <a:p>
            <a:r>
              <a:rPr lang="en-US" dirty="0"/>
              <a:t>Article 9 mandates that providers of high-risk AI systems establish, implement, document, and maintain a risk management system throughout the AI system's lifecycle. This system should be a continuous, iterative process aimed at ensuring the AI system's compliance with the Act's requirements and safeguarding fundamental rights.​</a:t>
            </a:r>
          </a:p>
        </p:txBody>
      </p:sp>
      <p:pic>
        <p:nvPicPr>
          <p:cNvPr id="5" name="Picture 4" descr="Magnifying glass showing decling performance">
            <a:extLst>
              <a:ext uri="{FF2B5EF4-FFF2-40B4-BE49-F238E27FC236}">
                <a16:creationId xmlns:a16="http://schemas.microsoft.com/office/drawing/2014/main" id="{3239D976-018C-31E2-7DC1-31BBF9A1D038}"/>
              </a:ext>
            </a:extLst>
          </p:cNvPr>
          <p:cNvPicPr>
            <a:picLocks noChangeAspect="1"/>
          </p:cNvPicPr>
          <p:nvPr/>
        </p:nvPicPr>
        <p:blipFill>
          <a:blip r:embed="rId2"/>
          <a:srcRect l="16918" r="47481" b="-1"/>
          <a:stretch/>
        </p:blipFill>
        <p:spPr>
          <a:xfrm>
            <a:off x="8534400" y="10"/>
            <a:ext cx="3657601" cy="6857990"/>
          </a:xfrm>
          <a:prstGeom prst="rect">
            <a:avLst/>
          </a:prstGeom>
        </p:spPr>
      </p:pic>
    </p:spTree>
    <p:extLst>
      <p:ext uri="{BB962C8B-B14F-4D97-AF65-F5344CB8AC3E}">
        <p14:creationId xmlns:p14="http://schemas.microsoft.com/office/powerpoint/2010/main" val="2975391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7239F-A163-87CC-1B02-1D6F0DDF00A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F7702D-C519-4FB5-B4D1-57B047D83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38A97F-E792-6D4E-7BA8-00C1F7C4E164}"/>
              </a:ext>
            </a:extLst>
          </p:cNvPr>
          <p:cNvSpPr>
            <a:spLocks noGrp="1"/>
          </p:cNvSpPr>
          <p:nvPr>
            <p:ph type="title"/>
          </p:nvPr>
        </p:nvSpPr>
        <p:spPr>
          <a:xfrm>
            <a:off x="1091203" y="1069848"/>
            <a:ext cx="6308775" cy="2049620"/>
          </a:xfrm>
        </p:spPr>
        <p:txBody>
          <a:bodyPr>
            <a:normAutofit/>
          </a:bodyPr>
          <a:lstStyle/>
          <a:p>
            <a:r>
              <a:rPr lang="en-US" sz="4700"/>
              <a:t>AI Risk Management (Article 9)</a:t>
            </a:r>
          </a:p>
        </p:txBody>
      </p:sp>
      <p:cxnSp>
        <p:nvCxnSpPr>
          <p:cNvPr id="11" name="Straight Connector 10">
            <a:extLst>
              <a:ext uri="{FF2B5EF4-FFF2-40B4-BE49-F238E27FC236}">
                <a16:creationId xmlns:a16="http://schemas.microsoft.com/office/drawing/2014/main" id="{2309E252-A89D-0158-9570-D3F814FDF7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8442624-67AB-9FD8-88C9-56E7AF76B9C8}"/>
              </a:ext>
            </a:extLst>
          </p:cNvPr>
          <p:cNvSpPr>
            <a:spLocks noGrp="1"/>
          </p:cNvSpPr>
          <p:nvPr>
            <p:ph idx="1"/>
          </p:nvPr>
        </p:nvSpPr>
        <p:spPr>
          <a:xfrm>
            <a:off x="1097280" y="3180522"/>
            <a:ext cx="6223996" cy="3105978"/>
          </a:xfrm>
        </p:spPr>
        <p:txBody>
          <a:bodyPr>
            <a:normAutofit fontScale="92500" lnSpcReduction="10000"/>
          </a:bodyPr>
          <a:lstStyle/>
          <a:p>
            <a:r>
              <a:rPr lang="en-US" b="1" dirty="0"/>
              <a:t>Risk Identification and Analysis:  </a:t>
            </a:r>
            <a:r>
              <a:rPr lang="en-US" dirty="0"/>
              <a:t>Identify and analyze known and reasonably foreseeable risks to health, safety, and fundamental rights that may arise when the AI system is used as intended or under reasonably foreseeable misuse.​</a:t>
            </a:r>
          </a:p>
          <a:p>
            <a:r>
              <a:rPr lang="en-US" b="1" dirty="0"/>
              <a:t>Risk Evaluation and Assessment:  </a:t>
            </a:r>
            <a:r>
              <a:rPr lang="en-US" dirty="0"/>
              <a:t>Estimate and evaluate the risks identified, considering their severity and probability, to determine if they are acceptable or require mitigation.​</a:t>
            </a:r>
          </a:p>
        </p:txBody>
      </p:sp>
      <p:pic>
        <p:nvPicPr>
          <p:cNvPr id="5" name="Picture 4" descr="Magnifying glass showing decling performance">
            <a:extLst>
              <a:ext uri="{FF2B5EF4-FFF2-40B4-BE49-F238E27FC236}">
                <a16:creationId xmlns:a16="http://schemas.microsoft.com/office/drawing/2014/main" id="{D0ACEF41-254D-3869-F588-3FE7701A2C57}"/>
              </a:ext>
            </a:extLst>
          </p:cNvPr>
          <p:cNvPicPr>
            <a:picLocks noChangeAspect="1"/>
          </p:cNvPicPr>
          <p:nvPr/>
        </p:nvPicPr>
        <p:blipFill>
          <a:blip r:embed="rId2"/>
          <a:srcRect l="16918" r="47481" b="-1"/>
          <a:stretch/>
        </p:blipFill>
        <p:spPr>
          <a:xfrm>
            <a:off x="8534400" y="10"/>
            <a:ext cx="3657601" cy="6857990"/>
          </a:xfrm>
          <a:prstGeom prst="rect">
            <a:avLst/>
          </a:prstGeom>
        </p:spPr>
      </p:pic>
    </p:spTree>
    <p:extLst>
      <p:ext uri="{BB962C8B-B14F-4D97-AF65-F5344CB8AC3E}">
        <p14:creationId xmlns:p14="http://schemas.microsoft.com/office/powerpoint/2010/main" val="2802227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7239F-A163-87CC-1B02-1D6F0DDF00A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F7702D-C519-4FB5-B4D1-57B047D83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38A97F-E792-6D4E-7BA8-00C1F7C4E164}"/>
              </a:ext>
            </a:extLst>
          </p:cNvPr>
          <p:cNvSpPr>
            <a:spLocks noGrp="1"/>
          </p:cNvSpPr>
          <p:nvPr>
            <p:ph type="title"/>
          </p:nvPr>
        </p:nvSpPr>
        <p:spPr>
          <a:xfrm>
            <a:off x="1091203" y="1069848"/>
            <a:ext cx="6308775" cy="2049620"/>
          </a:xfrm>
        </p:spPr>
        <p:txBody>
          <a:bodyPr>
            <a:normAutofit/>
          </a:bodyPr>
          <a:lstStyle/>
          <a:p>
            <a:r>
              <a:rPr lang="en-US" sz="4700"/>
              <a:t>AI Risk Management (Article 9)</a:t>
            </a:r>
          </a:p>
        </p:txBody>
      </p:sp>
      <p:cxnSp>
        <p:nvCxnSpPr>
          <p:cNvPr id="11" name="Straight Connector 10">
            <a:extLst>
              <a:ext uri="{FF2B5EF4-FFF2-40B4-BE49-F238E27FC236}">
                <a16:creationId xmlns:a16="http://schemas.microsoft.com/office/drawing/2014/main" id="{2309E252-A89D-0158-9570-D3F814FDF7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8442624-67AB-9FD8-88C9-56E7AF76B9C8}"/>
              </a:ext>
            </a:extLst>
          </p:cNvPr>
          <p:cNvSpPr>
            <a:spLocks noGrp="1"/>
          </p:cNvSpPr>
          <p:nvPr>
            <p:ph idx="1"/>
          </p:nvPr>
        </p:nvSpPr>
        <p:spPr>
          <a:xfrm>
            <a:off x="1097280" y="3180522"/>
            <a:ext cx="6223996" cy="3105978"/>
          </a:xfrm>
        </p:spPr>
        <p:txBody>
          <a:bodyPr>
            <a:normAutofit lnSpcReduction="10000"/>
          </a:bodyPr>
          <a:lstStyle/>
          <a:p>
            <a:r>
              <a:rPr lang="en-US" b="1" dirty="0"/>
              <a:t>Risk Mitigation Measures: </a:t>
            </a:r>
            <a:r>
              <a:rPr lang="en-US" dirty="0"/>
              <a:t>Implement appropriate measures to eliminate or reduce risks as far as possible through design and development. </a:t>
            </a:r>
          </a:p>
          <a:p>
            <a:r>
              <a:rPr lang="en-US" dirty="0"/>
              <a:t>For residual risks, apply adequate mitigation and control measures.  </a:t>
            </a:r>
          </a:p>
          <a:p>
            <a:r>
              <a:rPr lang="en-US" dirty="0"/>
              <a:t> Provide deployers with necessary information and training to mitigate risks, considering their technical expertise and the intended use of the AI system.​</a:t>
            </a:r>
          </a:p>
        </p:txBody>
      </p:sp>
      <p:pic>
        <p:nvPicPr>
          <p:cNvPr id="5" name="Picture 4" descr="Magnifying glass showing decling performance">
            <a:extLst>
              <a:ext uri="{FF2B5EF4-FFF2-40B4-BE49-F238E27FC236}">
                <a16:creationId xmlns:a16="http://schemas.microsoft.com/office/drawing/2014/main" id="{D0ACEF41-254D-3869-F588-3FE7701A2C57}"/>
              </a:ext>
            </a:extLst>
          </p:cNvPr>
          <p:cNvPicPr>
            <a:picLocks noChangeAspect="1"/>
          </p:cNvPicPr>
          <p:nvPr/>
        </p:nvPicPr>
        <p:blipFill>
          <a:blip r:embed="rId2"/>
          <a:srcRect l="16918" r="47481" b="-1"/>
          <a:stretch/>
        </p:blipFill>
        <p:spPr>
          <a:xfrm>
            <a:off x="8534400" y="10"/>
            <a:ext cx="3657601" cy="6857990"/>
          </a:xfrm>
          <a:prstGeom prst="rect">
            <a:avLst/>
          </a:prstGeom>
        </p:spPr>
      </p:pic>
    </p:spTree>
    <p:extLst>
      <p:ext uri="{BB962C8B-B14F-4D97-AF65-F5344CB8AC3E}">
        <p14:creationId xmlns:p14="http://schemas.microsoft.com/office/powerpoint/2010/main" val="40226560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7239F-A163-87CC-1B02-1D6F0DDF00A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F7702D-C519-4FB5-B4D1-57B047D83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38A97F-E792-6D4E-7BA8-00C1F7C4E164}"/>
              </a:ext>
            </a:extLst>
          </p:cNvPr>
          <p:cNvSpPr>
            <a:spLocks noGrp="1"/>
          </p:cNvSpPr>
          <p:nvPr>
            <p:ph type="title"/>
          </p:nvPr>
        </p:nvSpPr>
        <p:spPr>
          <a:xfrm>
            <a:off x="1091203" y="1069848"/>
            <a:ext cx="6308775" cy="2049620"/>
          </a:xfrm>
        </p:spPr>
        <p:txBody>
          <a:bodyPr>
            <a:normAutofit/>
          </a:bodyPr>
          <a:lstStyle/>
          <a:p>
            <a:r>
              <a:rPr lang="en-US" sz="4700"/>
              <a:t>AI Risk Management (Article 9)</a:t>
            </a:r>
          </a:p>
        </p:txBody>
      </p:sp>
      <p:cxnSp>
        <p:nvCxnSpPr>
          <p:cNvPr id="11" name="Straight Connector 10">
            <a:extLst>
              <a:ext uri="{FF2B5EF4-FFF2-40B4-BE49-F238E27FC236}">
                <a16:creationId xmlns:a16="http://schemas.microsoft.com/office/drawing/2014/main" id="{2309E252-A89D-0158-9570-D3F814FDF7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8442624-67AB-9FD8-88C9-56E7AF76B9C8}"/>
              </a:ext>
            </a:extLst>
          </p:cNvPr>
          <p:cNvSpPr>
            <a:spLocks noGrp="1"/>
          </p:cNvSpPr>
          <p:nvPr>
            <p:ph idx="1"/>
          </p:nvPr>
        </p:nvSpPr>
        <p:spPr>
          <a:xfrm>
            <a:off x="1097280" y="3180522"/>
            <a:ext cx="6223996" cy="3105978"/>
          </a:xfrm>
        </p:spPr>
        <p:txBody>
          <a:bodyPr>
            <a:normAutofit fontScale="92500" lnSpcReduction="20000"/>
          </a:bodyPr>
          <a:lstStyle/>
          <a:p>
            <a:r>
              <a:rPr lang="en-US" b="1"/>
              <a:t>Testing </a:t>
            </a:r>
            <a:r>
              <a:rPr lang="en-US" b="1" dirty="0"/>
              <a:t>and Validation: </a:t>
            </a:r>
            <a:r>
              <a:rPr lang="en-US" dirty="0"/>
              <a:t>Test the AI system to identify effective and targeted risk management measures. </a:t>
            </a:r>
          </a:p>
          <a:p>
            <a:r>
              <a:rPr lang="en-US" dirty="0"/>
              <a:t>Ensure consistent performance and compliance with the Act's requirements, which may include testing in real-world conditions.​</a:t>
            </a:r>
          </a:p>
          <a:p>
            <a:r>
              <a:rPr lang="en-US" b="1" dirty="0"/>
              <a:t>Continuous Monitoring and Updating: </a:t>
            </a:r>
            <a:r>
              <a:rPr lang="en-US" dirty="0"/>
              <a:t>Regularly review and update the risk management system based on new information, including data from post-market monitoring and feedback from deployers.</a:t>
            </a:r>
          </a:p>
        </p:txBody>
      </p:sp>
      <p:pic>
        <p:nvPicPr>
          <p:cNvPr id="5" name="Picture 4" descr="Magnifying glass showing decling performance">
            <a:extLst>
              <a:ext uri="{FF2B5EF4-FFF2-40B4-BE49-F238E27FC236}">
                <a16:creationId xmlns:a16="http://schemas.microsoft.com/office/drawing/2014/main" id="{D0ACEF41-254D-3869-F588-3FE7701A2C57}"/>
              </a:ext>
            </a:extLst>
          </p:cNvPr>
          <p:cNvPicPr>
            <a:picLocks noChangeAspect="1"/>
          </p:cNvPicPr>
          <p:nvPr/>
        </p:nvPicPr>
        <p:blipFill>
          <a:blip r:embed="rId2"/>
          <a:srcRect l="16918" r="47481" b="-1"/>
          <a:stretch/>
        </p:blipFill>
        <p:spPr>
          <a:xfrm>
            <a:off x="8534400" y="10"/>
            <a:ext cx="3657601" cy="6857990"/>
          </a:xfrm>
          <a:prstGeom prst="rect">
            <a:avLst/>
          </a:prstGeom>
        </p:spPr>
      </p:pic>
    </p:spTree>
    <p:extLst>
      <p:ext uri="{BB962C8B-B14F-4D97-AF65-F5344CB8AC3E}">
        <p14:creationId xmlns:p14="http://schemas.microsoft.com/office/powerpoint/2010/main" val="2528019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33F5AD-717E-3348-A8E4-5D741BD573D0}"/>
              </a:ext>
            </a:extLst>
          </p:cNvPr>
          <p:cNvSpPr>
            <a:spLocks noGrp="1"/>
          </p:cNvSpPr>
          <p:nvPr>
            <p:ph type="title"/>
          </p:nvPr>
        </p:nvSpPr>
        <p:spPr>
          <a:xfrm>
            <a:off x="1091203" y="1069848"/>
            <a:ext cx="6308775" cy="2049620"/>
          </a:xfrm>
        </p:spPr>
        <p:txBody>
          <a:bodyPr>
            <a:normAutofit/>
          </a:bodyPr>
          <a:lstStyle/>
          <a:p>
            <a:r>
              <a:rPr lang="en-US" sz="4700"/>
              <a:t>Bahrain’s General Policy for the Use of AI </a:t>
            </a:r>
          </a:p>
        </p:txBody>
      </p:sp>
      <p:cxnSp>
        <p:nvCxnSpPr>
          <p:cNvPr id="15" name="Straight Connector 14">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6C4DF9D-9CD9-3C4E-6BD3-78C591CF2C42}"/>
              </a:ext>
            </a:extLst>
          </p:cNvPr>
          <p:cNvSpPr>
            <a:spLocks noGrp="1"/>
          </p:cNvSpPr>
          <p:nvPr>
            <p:ph idx="1"/>
          </p:nvPr>
        </p:nvSpPr>
        <p:spPr>
          <a:xfrm>
            <a:off x="1097280" y="3180522"/>
            <a:ext cx="6223996" cy="3105978"/>
          </a:xfrm>
        </p:spPr>
        <p:txBody>
          <a:bodyPr>
            <a:normAutofit/>
          </a:bodyPr>
          <a:lstStyle/>
          <a:p>
            <a:pPr>
              <a:lnSpc>
                <a:spcPct val="120000"/>
              </a:lnSpc>
            </a:pPr>
            <a:r>
              <a:rPr lang="en-US" sz="1400" dirty="0"/>
              <a:t>First published in July 2025 by the Bahraini Information and eGovernment Authority.</a:t>
            </a:r>
          </a:p>
          <a:p>
            <a:pPr>
              <a:lnSpc>
                <a:spcPct val="120000"/>
              </a:lnSpc>
            </a:pPr>
            <a:r>
              <a:rPr lang="en-US" sz="1400" dirty="0"/>
              <a:t>The main objectives of the Policy are to:</a:t>
            </a:r>
          </a:p>
          <a:p>
            <a:pPr marL="617220" lvl="1" indent="-342900">
              <a:lnSpc>
                <a:spcPct val="120000"/>
              </a:lnSpc>
              <a:buFont typeface="+mj-lt"/>
              <a:buAutoNum type="arabicPeriod"/>
            </a:pPr>
            <a:r>
              <a:rPr lang="en-US" sz="1400" dirty="0"/>
              <a:t>Build a national AI framework with ethical and legal safeguards</a:t>
            </a:r>
          </a:p>
          <a:p>
            <a:pPr marL="617220" lvl="1" indent="-342900">
              <a:lnSpc>
                <a:spcPct val="120000"/>
              </a:lnSpc>
              <a:buFont typeface="+mj-lt"/>
              <a:buAutoNum type="arabicPeriod"/>
            </a:pPr>
            <a:r>
              <a:rPr lang="en-US" sz="1400" dirty="0"/>
              <a:t>To improve government efficiency and service delivery using AI</a:t>
            </a:r>
          </a:p>
          <a:p>
            <a:pPr marL="617220" lvl="1" indent="-342900">
              <a:lnSpc>
                <a:spcPct val="120000"/>
              </a:lnSpc>
              <a:buFont typeface="+mj-lt"/>
              <a:buAutoNum type="arabicPeriod"/>
            </a:pPr>
            <a:r>
              <a:rPr lang="en-US" sz="1400" dirty="0"/>
              <a:t>To encourage innovation, research, and skills development to position Bahrain as a regional leader in AI</a:t>
            </a:r>
          </a:p>
          <a:p>
            <a:pPr marL="617220" lvl="1" indent="-342900">
              <a:lnSpc>
                <a:spcPct val="120000"/>
              </a:lnSpc>
              <a:buFont typeface="+mj-lt"/>
              <a:buAutoNum type="arabicPeriod"/>
            </a:pPr>
            <a:r>
              <a:rPr lang="en-US" sz="1400" dirty="0"/>
              <a:t>To ensure that AI contributes to sustainability and protects Bahrain’s culture and identity</a:t>
            </a:r>
          </a:p>
        </p:txBody>
      </p:sp>
      <p:pic>
        <p:nvPicPr>
          <p:cNvPr id="5" name="Picture 4" descr="A city with a body of water and a skyscraper&#10;&#10;AI-generated content may be incorrect.">
            <a:extLst>
              <a:ext uri="{FF2B5EF4-FFF2-40B4-BE49-F238E27FC236}">
                <a16:creationId xmlns:a16="http://schemas.microsoft.com/office/drawing/2014/main" id="{E97D9F99-B6AA-3264-3229-533AD67797C8}"/>
              </a:ext>
            </a:extLst>
          </p:cNvPr>
          <p:cNvPicPr>
            <a:picLocks noChangeAspect="1"/>
          </p:cNvPicPr>
          <p:nvPr/>
        </p:nvPicPr>
        <p:blipFill>
          <a:blip r:embed="rId2">
            <a:extLst>
              <a:ext uri="{28A0092B-C50C-407E-A947-70E740481C1C}">
                <a14:useLocalDpi xmlns:a14="http://schemas.microsoft.com/office/drawing/2010/main" val="0"/>
              </a:ext>
            </a:extLst>
          </a:blip>
          <a:srcRect l="14053" r="6046"/>
          <a:stretch>
            <a:fillRect/>
          </a:stretch>
        </p:blipFill>
        <p:spPr>
          <a:xfrm>
            <a:off x="8534400" y="10"/>
            <a:ext cx="3657601" cy="6857990"/>
          </a:xfrm>
          <a:prstGeom prst="rect">
            <a:avLst/>
          </a:prstGeom>
        </p:spPr>
      </p:pic>
    </p:spTree>
    <p:extLst>
      <p:ext uri="{BB962C8B-B14F-4D97-AF65-F5344CB8AC3E}">
        <p14:creationId xmlns:p14="http://schemas.microsoft.com/office/powerpoint/2010/main" val="3985375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60908B-15A1-0F1E-AC4B-14272D518521}"/>
              </a:ext>
            </a:extLst>
          </p:cNvPr>
          <p:cNvSpPr>
            <a:spLocks noGrp="1"/>
          </p:cNvSpPr>
          <p:nvPr>
            <p:ph type="title"/>
          </p:nvPr>
        </p:nvSpPr>
        <p:spPr>
          <a:xfrm>
            <a:off x="1091203" y="1069848"/>
            <a:ext cx="6308775" cy="2049620"/>
          </a:xfrm>
        </p:spPr>
        <p:txBody>
          <a:bodyPr>
            <a:normAutofit/>
          </a:bodyPr>
          <a:lstStyle/>
          <a:p>
            <a:r>
              <a:rPr lang="en-US" sz="6000"/>
              <a:t>Guiding Principles</a:t>
            </a:r>
          </a:p>
        </p:txBody>
      </p:sp>
      <p:cxnSp>
        <p:nvCxnSpPr>
          <p:cNvPr id="12" name="Straight Connector 11">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E559516-DDF8-0349-8E61-CDF2A3817FF2}"/>
              </a:ext>
            </a:extLst>
          </p:cNvPr>
          <p:cNvSpPr>
            <a:spLocks noGrp="1"/>
          </p:cNvSpPr>
          <p:nvPr>
            <p:ph idx="1"/>
          </p:nvPr>
        </p:nvSpPr>
        <p:spPr>
          <a:xfrm>
            <a:off x="1097280" y="3180522"/>
            <a:ext cx="6223996" cy="3105978"/>
          </a:xfrm>
        </p:spPr>
        <p:txBody>
          <a:bodyPr>
            <a:normAutofit/>
          </a:bodyPr>
          <a:lstStyle/>
          <a:p>
            <a:pPr>
              <a:lnSpc>
                <a:spcPct val="120000"/>
              </a:lnSpc>
            </a:pPr>
            <a:r>
              <a:rPr lang="en-US" sz="1400"/>
              <a:t>The policy sets out 11 guiding principles:</a:t>
            </a:r>
          </a:p>
          <a:p>
            <a:pPr>
              <a:lnSpc>
                <a:spcPct val="120000"/>
              </a:lnSpc>
            </a:pPr>
            <a:r>
              <a:rPr lang="en-US" sz="1400" b="1"/>
              <a:t>Human decision-making</a:t>
            </a:r>
            <a:r>
              <a:rPr lang="en-US" sz="1400"/>
              <a:t> – AI assists but final authority stays with humans.</a:t>
            </a:r>
          </a:p>
          <a:p>
            <a:pPr>
              <a:lnSpc>
                <a:spcPct val="120000"/>
              </a:lnSpc>
            </a:pPr>
            <a:r>
              <a:rPr lang="en-US" sz="1400" b="1"/>
              <a:t>Safety &amp; prevention of harm</a:t>
            </a:r>
            <a:r>
              <a:rPr lang="en-US" sz="1400"/>
              <a:t> – Protect individuals from physical/psychological harm.</a:t>
            </a:r>
          </a:p>
          <a:p>
            <a:pPr>
              <a:lnSpc>
                <a:spcPct val="120000"/>
              </a:lnSpc>
            </a:pPr>
            <a:r>
              <a:rPr lang="en-US" sz="1400" b="1"/>
              <a:t>Fairness &amp; non-discrimination</a:t>
            </a:r>
            <a:r>
              <a:rPr lang="en-US" sz="1400"/>
              <a:t> – Ensure AI is unbiased and equitable.</a:t>
            </a:r>
          </a:p>
          <a:p>
            <a:pPr>
              <a:lnSpc>
                <a:spcPct val="120000"/>
              </a:lnSpc>
            </a:pPr>
            <a:r>
              <a:rPr lang="en-US" sz="1400" b="1"/>
              <a:t>Transparency &amp; explainability</a:t>
            </a:r>
            <a:r>
              <a:rPr lang="en-US" sz="1400"/>
              <a:t> – AI must be understandable and accountable.</a:t>
            </a:r>
          </a:p>
          <a:p>
            <a:pPr>
              <a:lnSpc>
                <a:spcPct val="120000"/>
              </a:lnSpc>
            </a:pPr>
            <a:r>
              <a:rPr lang="en-US" sz="1400" b="1"/>
              <a:t>Responsibility &amp; accountability</a:t>
            </a:r>
            <a:r>
              <a:rPr lang="en-US" sz="1400"/>
              <a:t> – Clear roles for errors or misuse.</a:t>
            </a:r>
          </a:p>
        </p:txBody>
      </p:sp>
      <p:pic>
        <p:nvPicPr>
          <p:cNvPr id="5" name="Picture 4" descr="A city with a body of water and a skyscraper&#10;&#10;AI-generated content may be incorrect.">
            <a:extLst>
              <a:ext uri="{FF2B5EF4-FFF2-40B4-BE49-F238E27FC236}">
                <a16:creationId xmlns:a16="http://schemas.microsoft.com/office/drawing/2014/main" id="{5FD44655-7B87-FFCF-E5DD-5DC890D9DA00}"/>
              </a:ext>
            </a:extLst>
          </p:cNvPr>
          <p:cNvPicPr>
            <a:picLocks noChangeAspect="1"/>
          </p:cNvPicPr>
          <p:nvPr/>
        </p:nvPicPr>
        <p:blipFill>
          <a:blip r:embed="rId2">
            <a:extLst>
              <a:ext uri="{28A0092B-C50C-407E-A947-70E740481C1C}">
                <a14:useLocalDpi xmlns:a14="http://schemas.microsoft.com/office/drawing/2010/main" val="0"/>
              </a:ext>
            </a:extLst>
          </a:blip>
          <a:srcRect l="14053" r="6046"/>
          <a:stretch>
            <a:fillRect/>
          </a:stretch>
        </p:blipFill>
        <p:spPr>
          <a:xfrm>
            <a:off x="8534400" y="10"/>
            <a:ext cx="3657601" cy="6857990"/>
          </a:xfrm>
          <a:prstGeom prst="rect">
            <a:avLst/>
          </a:prstGeom>
        </p:spPr>
      </p:pic>
    </p:spTree>
    <p:extLst>
      <p:ext uri="{BB962C8B-B14F-4D97-AF65-F5344CB8AC3E}">
        <p14:creationId xmlns:p14="http://schemas.microsoft.com/office/powerpoint/2010/main" val="4946284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60908B-15A1-0F1E-AC4B-14272D518521}"/>
              </a:ext>
            </a:extLst>
          </p:cNvPr>
          <p:cNvSpPr>
            <a:spLocks noGrp="1"/>
          </p:cNvSpPr>
          <p:nvPr>
            <p:ph type="title"/>
          </p:nvPr>
        </p:nvSpPr>
        <p:spPr>
          <a:xfrm>
            <a:off x="1091203" y="1069848"/>
            <a:ext cx="6308775" cy="2049620"/>
          </a:xfrm>
        </p:spPr>
        <p:txBody>
          <a:bodyPr>
            <a:normAutofit/>
          </a:bodyPr>
          <a:lstStyle/>
          <a:p>
            <a:r>
              <a:rPr lang="en-US" sz="6000"/>
              <a:t>Guiding Principles</a:t>
            </a:r>
          </a:p>
        </p:txBody>
      </p:sp>
      <p:cxnSp>
        <p:nvCxnSpPr>
          <p:cNvPr id="12" name="Straight Connector 11">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E559516-DDF8-0349-8E61-CDF2A3817FF2}"/>
              </a:ext>
            </a:extLst>
          </p:cNvPr>
          <p:cNvSpPr>
            <a:spLocks noGrp="1"/>
          </p:cNvSpPr>
          <p:nvPr>
            <p:ph idx="1"/>
          </p:nvPr>
        </p:nvSpPr>
        <p:spPr>
          <a:xfrm>
            <a:off x="1097280" y="3180522"/>
            <a:ext cx="6223996" cy="3105978"/>
          </a:xfrm>
        </p:spPr>
        <p:txBody>
          <a:bodyPr>
            <a:normAutofit/>
          </a:bodyPr>
          <a:lstStyle/>
          <a:p>
            <a:pPr>
              <a:lnSpc>
                <a:spcPct val="120000"/>
              </a:lnSpc>
            </a:pPr>
            <a:r>
              <a:rPr lang="en-US" sz="1500" b="1" dirty="0"/>
              <a:t>Integrity</a:t>
            </a:r>
            <a:r>
              <a:rPr lang="en-US" sz="1500" dirty="0"/>
              <a:t> – Data must be accurate, not falsified.</a:t>
            </a:r>
          </a:p>
          <a:p>
            <a:pPr>
              <a:lnSpc>
                <a:spcPct val="120000"/>
              </a:lnSpc>
            </a:pPr>
            <a:r>
              <a:rPr lang="en-US" sz="1500" b="1" dirty="0"/>
              <a:t>Privacy &amp; data protection</a:t>
            </a:r>
            <a:r>
              <a:rPr lang="en-US" sz="1500" dirty="0"/>
              <a:t> – Safeguard personal information.</a:t>
            </a:r>
          </a:p>
          <a:p>
            <a:pPr>
              <a:lnSpc>
                <a:spcPct val="120000"/>
              </a:lnSpc>
            </a:pPr>
            <a:r>
              <a:rPr lang="en-US" sz="1500" b="1" dirty="0"/>
              <a:t>Reliability &amp; security</a:t>
            </a:r>
            <a:r>
              <a:rPr lang="en-US" sz="1500" dirty="0"/>
              <a:t> – AI must be trustworthy and resilient.</a:t>
            </a:r>
          </a:p>
          <a:p>
            <a:pPr>
              <a:lnSpc>
                <a:spcPct val="120000"/>
              </a:lnSpc>
            </a:pPr>
            <a:r>
              <a:rPr lang="en-US" sz="1500" b="1" dirty="0"/>
              <a:t>Investment in advanced technology</a:t>
            </a:r>
            <a:r>
              <a:rPr lang="en-US" sz="1500" dirty="0"/>
              <a:t> – Encourage continuous innovation.</a:t>
            </a:r>
          </a:p>
          <a:p>
            <a:pPr>
              <a:lnSpc>
                <a:spcPct val="120000"/>
              </a:lnSpc>
            </a:pPr>
            <a:r>
              <a:rPr lang="en-US" sz="1500" b="1" dirty="0"/>
              <a:t>Promoting innovation</a:t>
            </a:r>
            <a:r>
              <a:rPr lang="en-US" sz="1500" dirty="0"/>
              <a:t> – Use AI for sustainable transformation.</a:t>
            </a:r>
          </a:p>
          <a:p>
            <a:pPr>
              <a:lnSpc>
                <a:spcPct val="120000"/>
              </a:lnSpc>
            </a:pPr>
            <a:r>
              <a:rPr lang="en-US" sz="1500" b="1" dirty="0"/>
              <a:t>Intellectual property protection</a:t>
            </a:r>
            <a:r>
              <a:rPr lang="en-US" sz="1500" dirty="0"/>
              <a:t> – Safeguard AI innovations and rights</a:t>
            </a:r>
          </a:p>
          <a:p>
            <a:pPr>
              <a:lnSpc>
                <a:spcPct val="120000"/>
              </a:lnSpc>
            </a:pPr>
            <a:endParaRPr lang="en-US" sz="1500" dirty="0"/>
          </a:p>
        </p:txBody>
      </p:sp>
      <p:pic>
        <p:nvPicPr>
          <p:cNvPr id="5" name="Picture 4" descr="A city with a body of water and a skyscraper&#10;&#10;AI-generated content may be incorrect.">
            <a:extLst>
              <a:ext uri="{FF2B5EF4-FFF2-40B4-BE49-F238E27FC236}">
                <a16:creationId xmlns:a16="http://schemas.microsoft.com/office/drawing/2014/main" id="{987FF502-10DF-96C9-70B9-4EA37FE3259C}"/>
              </a:ext>
            </a:extLst>
          </p:cNvPr>
          <p:cNvPicPr>
            <a:picLocks noChangeAspect="1"/>
          </p:cNvPicPr>
          <p:nvPr/>
        </p:nvPicPr>
        <p:blipFill>
          <a:blip r:embed="rId2">
            <a:extLst>
              <a:ext uri="{28A0092B-C50C-407E-A947-70E740481C1C}">
                <a14:useLocalDpi xmlns:a14="http://schemas.microsoft.com/office/drawing/2010/main" val="0"/>
              </a:ext>
            </a:extLst>
          </a:blip>
          <a:srcRect l="14053" r="6046"/>
          <a:stretch>
            <a:fillRect/>
          </a:stretch>
        </p:blipFill>
        <p:spPr>
          <a:xfrm>
            <a:off x="8534400" y="10"/>
            <a:ext cx="3657601" cy="6857990"/>
          </a:xfrm>
          <a:prstGeom prst="rect">
            <a:avLst/>
          </a:prstGeom>
        </p:spPr>
      </p:pic>
    </p:spTree>
    <p:extLst>
      <p:ext uri="{BB962C8B-B14F-4D97-AF65-F5344CB8AC3E}">
        <p14:creationId xmlns:p14="http://schemas.microsoft.com/office/powerpoint/2010/main" val="2761551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1B072C-05D8-62A7-DF4B-B2F35E747C4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3D6532D-7B76-CBE7-4F14-04A2CF80F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F6E5CE-0012-7E91-499A-F4A86AE24124}"/>
              </a:ext>
            </a:extLst>
          </p:cNvPr>
          <p:cNvSpPr>
            <a:spLocks noGrp="1"/>
          </p:cNvSpPr>
          <p:nvPr>
            <p:ph type="title"/>
          </p:nvPr>
        </p:nvSpPr>
        <p:spPr>
          <a:xfrm>
            <a:off x="1091203" y="1069848"/>
            <a:ext cx="6308775" cy="1031668"/>
          </a:xfrm>
        </p:spPr>
        <p:txBody>
          <a:bodyPr>
            <a:normAutofit fontScale="90000"/>
          </a:bodyPr>
          <a:lstStyle/>
          <a:p>
            <a:r>
              <a:rPr lang="en-US" sz="6000" dirty="0"/>
              <a:t>Four Policy Pillars</a:t>
            </a:r>
          </a:p>
        </p:txBody>
      </p:sp>
      <p:cxnSp>
        <p:nvCxnSpPr>
          <p:cNvPr id="12" name="Straight Connector 11">
            <a:extLst>
              <a:ext uri="{FF2B5EF4-FFF2-40B4-BE49-F238E27FC236}">
                <a16:creationId xmlns:a16="http://schemas.microsoft.com/office/drawing/2014/main" id="{6594BEC3-1D8D-C596-3AE3-71C4F2D9CC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0D560B-936D-0CCD-B98F-8D5F9F997DBA}"/>
              </a:ext>
            </a:extLst>
          </p:cNvPr>
          <p:cNvSpPr>
            <a:spLocks noGrp="1"/>
          </p:cNvSpPr>
          <p:nvPr>
            <p:ph idx="1"/>
          </p:nvPr>
        </p:nvSpPr>
        <p:spPr>
          <a:xfrm>
            <a:off x="1091203" y="2346332"/>
            <a:ext cx="7250692" cy="3605289"/>
          </a:xfrm>
        </p:spPr>
        <p:txBody>
          <a:bodyPr>
            <a:normAutofit/>
          </a:bodyPr>
          <a:lstStyle/>
          <a:p>
            <a:pPr marL="342900" indent="-342900">
              <a:buFont typeface="+mj-lt"/>
              <a:buAutoNum type="arabicPeriod"/>
            </a:pPr>
            <a:r>
              <a:rPr lang="en-US" sz="1600" b="1" dirty="0"/>
              <a:t>Commitment to Policies &amp; Legislation</a:t>
            </a:r>
            <a:endParaRPr lang="en-US" sz="1600" dirty="0"/>
          </a:p>
          <a:p>
            <a:pPr lvl="1"/>
            <a:r>
              <a:rPr lang="en-US" sz="1600" dirty="0"/>
              <a:t>Compliance with Bahrain’s laws (Data Protection Law 2018, Cybercrime Law 2014, Cloud Computing Law 2018, etc.)</a:t>
            </a:r>
          </a:p>
          <a:p>
            <a:pPr lvl="1"/>
            <a:r>
              <a:rPr lang="en-US" sz="1600" dirty="0"/>
              <a:t>Protect state documents, data privacy, and security</a:t>
            </a:r>
          </a:p>
          <a:p>
            <a:pPr marL="342900" indent="-342900">
              <a:buFont typeface="+mj-lt"/>
              <a:buAutoNum type="arabicPeriod"/>
            </a:pPr>
            <a:r>
              <a:rPr lang="en-US" sz="1600" b="1" dirty="0"/>
              <a:t>Use &amp; Adoption of AI</a:t>
            </a:r>
            <a:endParaRPr lang="en-US" sz="1600" dirty="0"/>
          </a:p>
          <a:p>
            <a:pPr lvl="1"/>
            <a:r>
              <a:rPr lang="en-US" sz="1600" dirty="0"/>
              <a:t>Apply AI across government sectors (health, education, transport, etc.).</a:t>
            </a:r>
          </a:p>
          <a:p>
            <a:pPr lvl="1"/>
            <a:r>
              <a:rPr lang="en-US" sz="1600" dirty="0"/>
              <a:t>Ensure human oversight and audits of AI systems.</a:t>
            </a:r>
          </a:p>
          <a:p>
            <a:pPr lvl="1"/>
            <a:r>
              <a:rPr lang="en-US" sz="1600" dirty="0"/>
              <a:t>Responsibility lies with people, not machines</a:t>
            </a:r>
          </a:p>
        </p:txBody>
      </p:sp>
      <p:pic>
        <p:nvPicPr>
          <p:cNvPr id="5" name="Picture 4" descr="A city with a body of water and a skyscraper&#10;&#10;AI-generated content may be incorrect.">
            <a:extLst>
              <a:ext uri="{FF2B5EF4-FFF2-40B4-BE49-F238E27FC236}">
                <a16:creationId xmlns:a16="http://schemas.microsoft.com/office/drawing/2014/main" id="{2FE8495D-8E2E-C3ED-2314-071008186E7C}"/>
              </a:ext>
            </a:extLst>
          </p:cNvPr>
          <p:cNvPicPr>
            <a:picLocks noChangeAspect="1"/>
          </p:cNvPicPr>
          <p:nvPr/>
        </p:nvPicPr>
        <p:blipFill>
          <a:blip r:embed="rId2">
            <a:extLst>
              <a:ext uri="{28A0092B-C50C-407E-A947-70E740481C1C}">
                <a14:useLocalDpi xmlns:a14="http://schemas.microsoft.com/office/drawing/2010/main" val="0"/>
              </a:ext>
            </a:extLst>
          </a:blip>
          <a:srcRect l="14053" r="6046"/>
          <a:stretch>
            <a:fillRect/>
          </a:stretch>
        </p:blipFill>
        <p:spPr>
          <a:xfrm>
            <a:off x="8534400" y="10"/>
            <a:ext cx="3657601" cy="6857990"/>
          </a:xfrm>
          <a:prstGeom prst="rect">
            <a:avLst/>
          </a:prstGeom>
        </p:spPr>
      </p:pic>
    </p:spTree>
    <p:extLst>
      <p:ext uri="{BB962C8B-B14F-4D97-AF65-F5344CB8AC3E}">
        <p14:creationId xmlns:p14="http://schemas.microsoft.com/office/powerpoint/2010/main" val="3655445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6F6F2F-AA30-13BC-41F4-9B2D83D98B0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A030517-7775-E069-A5CE-A023E5309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7BC426-731B-72AC-043D-4351A31D1395}"/>
              </a:ext>
            </a:extLst>
          </p:cNvPr>
          <p:cNvSpPr>
            <a:spLocks noGrp="1"/>
          </p:cNvSpPr>
          <p:nvPr>
            <p:ph type="title"/>
          </p:nvPr>
        </p:nvSpPr>
        <p:spPr>
          <a:xfrm>
            <a:off x="1091203" y="1069848"/>
            <a:ext cx="6308775" cy="1031668"/>
          </a:xfrm>
        </p:spPr>
        <p:txBody>
          <a:bodyPr>
            <a:normAutofit fontScale="90000"/>
          </a:bodyPr>
          <a:lstStyle/>
          <a:p>
            <a:r>
              <a:rPr lang="en-US" sz="6000" dirty="0"/>
              <a:t>Four Policy Pillars</a:t>
            </a:r>
          </a:p>
        </p:txBody>
      </p:sp>
      <p:cxnSp>
        <p:nvCxnSpPr>
          <p:cNvPr id="12" name="Straight Connector 11">
            <a:extLst>
              <a:ext uri="{FF2B5EF4-FFF2-40B4-BE49-F238E27FC236}">
                <a16:creationId xmlns:a16="http://schemas.microsoft.com/office/drawing/2014/main" id="{8CB6DE59-4D2C-80F7-8FBA-A14A6B47153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FCA86CD-70BB-6E49-5627-F27D6B0915A5}"/>
              </a:ext>
            </a:extLst>
          </p:cNvPr>
          <p:cNvSpPr>
            <a:spLocks noGrp="1"/>
          </p:cNvSpPr>
          <p:nvPr>
            <p:ph idx="1"/>
          </p:nvPr>
        </p:nvSpPr>
        <p:spPr>
          <a:xfrm>
            <a:off x="1091203" y="2346333"/>
            <a:ext cx="7250692" cy="2819226"/>
          </a:xfrm>
        </p:spPr>
        <p:txBody>
          <a:bodyPr>
            <a:normAutofit/>
          </a:bodyPr>
          <a:lstStyle/>
          <a:p>
            <a:pPr marL="342900" indent="-342900">
              <a:buFont typeface="+mj-lt"/>
              <a:buAutoNum type="arabicPeriod" startAt="3"/>
            </a:pPr>
            <a:r>
              <a:rPr lang="en-US" sz="1600" b="1" dirty="0"/>
              <a:t>Awareness &amp; Education</a:t>
            </a:r>
            <a:endParaRPr lang="en-US" sz="1600" dirty="0"/>
          </a:p>
          <a:p>
            <a:pPr lvl="1"/>
            <a:r>
              <a:rPr lang="en-US" sz="1600" dirty="0"/>
              <a:t>Train government employees on AI applications and ethics.</a:t>
            </a:r>
          </a:p>
          <a:p>
            <a:pPr lvl="1"/>
            <a:r>
              <a:rPr lang="en-US" sz="1600" dirty="0"/>
              <a:t>Promote continuous learning and AI literacy</a:t>
            </a:r>
          </a:p>
          <a:p>
            <a:pPr marL="342900" indent="-342900">
              <a:buFont typeface="+mj-lt"/>
              <a:buAutoNum type="arabicPeriod" startAt="4"/>
            </a:pPr>
            <a:r>
              <a:rPr lang="en-US" sz="1600" b="1" dirty="0"/>
              <a:t>Local &amp; International Cooperation</a:t>
            </a:r>
            <a:endParaRPr lang="en-US" sz="1600" dirty="0"/>
          </a:p>
          <a:p>
            <a:r>
              <a:rPr lang="en-US" sz="1600" dirty="0"/>
              <a:t>Collaborate with the private sector, GCC, and global partners.</a:t>
            </a:r>
          </a:p>
          <a:p>
            <a:r>
              <a:rPr lang="en-US" sz="1600" dirty="0"/>
              <a:t>Encourage participation in AI conferences, workshops, and research projects</a:t>
            </a:r>
          </a:p>
          <a:p>
            <a:endParaRPr lang="en-US" sz="1600" dirty="0"/>
          </a:p>
        </p:txBody>
      </p:sp>
      <p:pic>
        <p:nvPicPr>
          <p:cNvPr id="5" name="Picture 4" descr="A city with a body of water and a skyscraper&#10;&#10;AI-generated content may be incorrect.">
            <a:extLst>
              <a:ext uri="{FF2B5EF4-FFF2-40B4-BE49-F238E27FC236}">
                <a16:creationId xmlns:a16="http://schemas.microsoft.com/office/drawing/2014/main" id="{DD2F1115-1EBE-CC02-2293-5BA5E0CC6D4E}"/>
              </a:ext>
            </a:extLst>
          </p:cNvPr>
          <p:cNvPicPr>
            <a:picLocks noChangeAspect="1"/>
          </p:cNvPicPr>
          <p:nvPr/>
        </p:nvPicPr>
        <p:blipFill>
          <a:blip r:embed="rId2">
            <a:extLst>
              <a:ext uri="{28A0092B-C50C-407E-A947-70E740481C1C}">
                <a14:useLocalDpi xmlns:a14="http://schemas.microsoft.com/office/drawing/2010/main" val="0"/>
              </a:ext>
            </a:extLst>
          </a:blip>
          <a:srcRect l="14053" r="6046"/>
          <a:stretch>
            <a:fillRect/>
          </a:stretch>
        </p:blipFill>
        <p:spPr>
          <a:xfrm>
            <a:off x="8534400" y="10"/>
            <a:ext cx="3657601" cy="6857990"/>
          </a:xfrm>
          <a:prstGeom prst="rect">
            <a:avLst/>
          </a:prstGeom>
        </p:spPr>
      </p:pic>
    </p:spTree>
    <p:extLst>
      <p:ext uri="{BB962C8B-B14F-4D97-AF65-F5344CB8AC3E}">
        <p14:creationId xmlns:p14="http://schemas.microsoft.com/office/powerpoint/2010/main" val="2017275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507C73-38DD-947A-3880-8F808EAC44CC}"/>
              </a:ext>
            </a:extLst>
          </p:cNvPr>
          <p:cNvSpPr>
            <a:spLocks noGrp="1"/>
          </p:cNvSpPr>
          <p:nvPr>
            <p:ph type="title"/>
          </p:nvPr>
        </p:nvSpPr>
        <p:spPr/>
        <p:txBody>
          <a:bodyPr/>
          <a:lstStyle/>
          <a:p>
            <a:r>
              <a:rPr lang="en-US" dirty="0"/>
              <a:t>Discussion 8.1: what would you add/remove in Bahrain’s general policy for </a:t>
            </a:r>
            <a:r>
              <a:rPr lang="en-US"/>
              <a:t>ai Version 2.0?</a:t>
            </a:r>
            <a:endParaRPr lang="en-US" dirty="0"/>
          </a:p>
        </p:txBody>
      </p:sp>
      <p:sp>
        <p:nvSpPr>
          <p:cNvPr id="5" name="Text Placeholder 4">
            <a:extLst>
              <a:ext uri="{FF2B5EF4-FFF2-40B4-BE49-F238E27FC236}">
                <a16:creationId xmlns:a16="http://schemas.microsoft.com/office/drawing/2014/main" id="{A5A59328-DF14-8478-8951-9FEC4E758D6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87464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31D384-13DC-93CF-4474-CA3D27A948B6}"/>
              </a:ext>
            </a:extLst>
          </p:cNvPr>
          <p:cNvSpPr>
            <a:spLocks noGrp="1"/>
          </p:cNvSpPr>
          <p:nvPr>
            <p:ph type="title"/>
          </p:nvPr>
        </p:nvSpPr>
        <p:spPr/>
        <p:txBody>
          <a:bodyPr/>
          <a:lstStyle/>
          <a:p>
            <a:r>
              <a:rPr lang="en-US"/>
              <a:t>Summary</a:t>
            </a:r>
            <a:endParaRPr lang="en-US" dirty="0"/>
          </a:p>
        </p:txBody>
      </p:sp>
      <p:sp>
        <p:nvSpPr>
          <p:cNvPr id="5" name="Content Placeholder 4">
            <a:extLst>
              <a:ext uri="{FF2B5EF4-FFF2-40B4-BE49-F238E27FC236}">
                <a16:creationId xmlns:a16="http://schemas.microsoft.com/office/drawing/2014/main" id="{EA025303-B9D9-9105-45AE-07337E827A24}"/>
              </a:ext>
            </a:extLst>
          </p:cNvPr>
          <p:cNvSpPr>
            <a:spLocks noGrp="1"/>
          </p:cNvSpPr>
          <p:nvPr>
            <p:ph idx="1"/>
          </p:nvPr>
        </p:nvSpPr>
        <p:spPr/>
        <p:txBody>
          <a:bodyPr>
            <a:normAutofit fontScale="85000" lnSpcReduction="10000"/>
          </a:bodyPr>
          <a:lstStyle/>
          <a:p>
            <a:r>
              <a:rPr lang="en-US" dirty="0"/>
              <a:t>The EU AI Act is the world’s first comprehensive AI law using a </a:t>
            </a:r>
            <a:r>
              <a:rPr lang="en-US" b="1" dirty="0"/>
              <a:t>risk-based model</a:t>
            </a:r>
            <a:r>
              <a:rPr lang="en-US" dirty="0"/>
              <a:t> (unacceptable, high, limited, minimal risk).</a:t>
            </a:r>
          </a:p>
          <a:p>
            <a:r>
              <a:rPr lang="en-US" dirty="0"/>
              <a:t>Certain AI uses are </a:t>
            </a:r>
            <a:r>
              <a:rPr lang="en-US" b="1" dirty="0"/>
              <a:t>prohibited</a:t>
            </a:r>
            <a:r>
              <a:rPr lang="en-US" dirty="0"/>
              <a:t>, including social scoring, manipulative systems, and untargeted facial recognition scraping.</a:t>
            </a:r>
          </a:p>
          <a:p>
            <a:r>
              <a:rPr lang="en-US" dirty="0"/>
              <a:t>High-risk AI must follow strict </a:t>
            </a:r>
            <a:r>
              <a:rPr lang="en-US" b="1" dirty="0"/>
              <a:t>risk management obligations</a:t>
            </a:r>
            <a:r>
              <a:rPr lang="en-US" dirty="0"/>
              <a:t> across its lifecycle (Article 9).</a:t>
            </a:r>
          </a:p>
          <a:p>
            <a:r>
              <a:rPr lang="en-US" dirty="0"/>
              <a:t>Bahrain’s AI Policy promotes </a:t>
            </a:r>
            <a:r>
              <a:rPr lang="en-US" b="1" dirty="0"/>
              <a:t>human oversight, fairness, transparency, accountability, and innovation</a:t>
            </a:r>
            <a:r>
              <a:rPr lang="en-US" dirty="0"/>
              <a:t>.</a:t>
            </a:r>
          </a:p>
          <a:p>
            <a:r>
              <a:rPr lang="en-US" dirty="0"/>
              <a:t>AI governance is shifting from voluntary ethics to </a:t>
            </a:r>
            <a:r>
              <a:rPr lang="en-US" b="1" dirty="0"/>
              <a:t>binding legal compliance</a:t>
            </a:r>
            <a:r>
              <a:rPr lang="en-US" dirty="0"/>
              <a:t>.</a:t>
            </a:r>
          </a:p>
          <a:p>
            <a:r>
              <a:rPr lang="en-US" b="1" dirty="0"/>
              <a:t>Critical Reflection</a:t>
            </a:r>
            <a:endParaRPr lang="en-US" dirty="0"/>
          </a:p>
          <a:p>
            <a:r>
              <a:rPr lang="en-US" dirty="0"/>
              <a:t>Can innovation thrive under strict regulation?</a:t>
            </a:r>
          </a:p>
          <a:p>
            <a:r>
              <a:rPr lang="en-US" dirty="0"/>
              <a:t>Should all countries adopt a risk-based AI law like the EU?</a:t>
            </a:r>
          </a:p>
          <a:p>
            <a:endParaRPr lang="en-US" dirty="0"/>
          </a:p>
        </p:txBody>
      </p:sp>
    </p:spTree>
    <p:extLst>
      <p:ext uri="{BB962C8B-B14F-4D97-AF65-F5344CB8AC3E}">
        <p14:creationId xmlns:p14="http://schemas.microsoft.com/office/powerpoint/2010/main" val="1816726436"/>
      </p:ext>
    </p:extLst>
  </p:cSld>
  <p:clrMapOvr>
    <a:masterClrMapping/>
  </p:clrMapOvr>
</p:sld>
</file>

<file path=ppt/theme/theme1.xml><?xml version="1.0" encoding="utf-8"?>
<a:theme xmlns:a="http://schemas.openxmlformats.org/drawingml/2006/main" name="BjornVTI">
  <a:themeElements>
    <a:clrScheme name="AnalogousFromDarkSeedLeftStep">
      <a:dk1>
        <a:srgbClr val="000000"/>
      </a:dk1>
      <a:lt1>
        <a:srgbClr val="FFFFFF"/>
      </a:lt1>
      <a:dk2>
        <a:srgbClr val="251D38"/>
      </a:dk2>
      <a:lt2>
        <a:srgbClr val="E2E8E2"/>
      </a:lt2>
      <a:accent1>
        <a:srgbClr val="DE31D1"/>
      </a:accent1>
      <a:accent2>
        <a:srgbClr val="9120CD"/>
      </a:accent2>
      <a:accent3>
        <a:srgbClr val="5B31DE"/>
      </a:accent3>
      <a:accent4>
        <a:srgbClr val="203ECD"/>
      </a:accent4>
      <a:accent5>
        <a:srgbClr val="3198DE"/>
      </a:accent5>
      <a:accent6>
        <a:srgbClr val="1CB4B3"/>
      </a:accent6>
      <a:hlink>
        <a:srgbClr val="3F75B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71995</TotalTime>
  <Words>1373</Words>
  <Application>Microsoft Office PowerPoint</Application>
  <PresentationFormat>Widescreen</PresentationFormat>
  <Paragraphs>105</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Neue Haas Grotesk Text Pro</vt:lpstr>
      <vt:lpstr>BjornVTI</vt:lpstr>
      <vt:lpstr>Chapter 8: AI Legislations and POLICIES</vt:lpstr>
      <vt:lpstr>European Union’s AI Act</vt:lpstr>
      <vt:lpstr>European Union’s AI Act</vt:lpstr>
      <vt:lpstr>EU AI Act in a Nutshell</vt:lpstr>
      <vt:lpstr>Prohibited AI Systems (Article 5)</vt:lpstr>
      <vt:lpstr>Prohibited AI Systems (Article 5)</vt:lpstr>
      <vt:lpstr>Prohibited AI Systems (Article 5)</vt:lpstr>
      <vt:lpstr>Prohibited AI Systems (Article 5)</vt:lpstr>
      <vt:lpstr>Specific High-Risk Use Cases </vt:lpstr>
      <vt:lpstr>Specific High-Risk Use Cases </vt:lpstr>
      <vt:lpstr>Specific High-Risk Use Cases </vt:lpstr>
      <vt:lpstr>AI Risk Management (Article 9)</vt:lpstr>
      <vt:lpstr>AI Risk Management (Article 9)</vt:lpstr>
      <vt:lpstr>AI Risk Management (Article 9)</vt:lpstr>
      <vt:lpstr>AI Risk Management (Article 9)</vt:lpstr>
      <vt:lpstr>Bahrain’s General Policy for the Use of AI </vt:lpstr>
      <vt:lpstr>Guiding Principles</vt:lpstr>
      <vt:lpstr>Guiding Principles</vt:lpstr>
      <vt:lpstr>Four Policy Pillars</vt:lpstr>
      <vt:lpstr>Four Policy Pillars</vt:lpstr>
      <vt:lpstr>Discussion 8.1: what would you add/remove in Bahrain’s general policy for ai Version 2.0?</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YAQOOB SALMAN MOHAMED ALSLAIS</dc:creator>
  <cp:lastModifiedBy>Dr. YAQOOB SALMAN MOHAMED ALSLAIS</cp:lastModifiedBy>
  <cp:revision>13</cp:revision>
  <dcterms:created xsi:type="dcterms:W3CDTF">2024-08-29T08:11:27Z</dcterms:created>
  <dcterms:modified xsi:type="dcterms:W3CDTF">2026-02-02T10:43:37Z</dcterms:modified>
</cp:coreProperties>
</file>