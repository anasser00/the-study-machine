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61"/>
  </p:notesMasterIdLst>
  <p:handoutMasterIdLst>
    <p:handoutMasterId r:id="rId62"/>
  </p:handoutMasterIdLst>
  <p:sldIdLst>
    <p:sldId id="269" r:id="rId2"/>
    <p:sldId id="345" r:id="rId3"/>
    <p:sldId id="346" r:id="rId4"/>
    <p:sldId id="347"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64" r:id="rId22"/>
    <p:sldId id="365" r:id="rId23"/>
    <p:sldId id="366" r:id="rId24"/>
    <p:sldId id="367" r:id="rId25"/>
    <p:sldId id="368" r:id="rId26"/>
    <p:sldId id="376" r:id="rId27"/>
    <p:sldId id="369" r:id="rId28"/>
    <p:sldId id="370" r:id="rId29"/>
    <p:sldId id="371" r:id="rId30"/>
    <p:sldId id="372" r:id="rId31"/>
    <p:sldId id="373" r:id="rId32"/>
    <p:sldId id="374" r:id="rId33"/>
    <p:sldId id="395" r:id="rId34"/>
    <p:sldId id="375" r:id="rId35"/>
    <p:sldId id="377" r:id="rId36"/>
    <p:sldId id="378" r:id="rId37"/>
    <p:sldId id="379" r:id="rId38"/>
    <p:sldId id="398" r:id="rId39"/>
    <p:sldId id="380" r:id="rId40"/>
    <p:sldId id="396" r:id="rId41"/>
    <p:sldId id="397" r:id="rId42"/>
    <p:sldId id="381" r:id="rId43"/>
    <p:sldId id="385" r:id="rId44"/>
    <p:sldId id="382" r:id="rId45"/>
    <p:sldId id="383" r:id="rId46"/>
    <p:sldId id="386" r:id="rId47"/>
    <p:sldId id="387" r:id="rId48"/>
    <p:sldId id="388" r:id="rId49"/>
    <p:sldId id="384" r:id="rId50"/>
    <p:sldId id="389" r:id="rId51"/>
    <p:sldId id="390" r:id="rId52"/>
    <p:sldId id="391" r:id="rId53"/>
    <p:sldId id="392" r:id="rId54"/>
    <p:sldId id="394" r:id="rId55"/>
    <p:sldId id="399" r:id="rId56"/>
    <p:sldId id="400" r:id="rId57"/>
    <p:sldId id="401" r:id="rId58"/>
    <p:sldId id="402" r:id="rId59"/>
    <p:sldId id="393" r:id="rId60"/>
  </p:sldIdLst>
  <p:sldSz cx="9144000" cy="6858000" type="screen4x3"/>
  <p:notesSz cx="7010400" cy="9296400"/>
  <p:defaultTextStyle>
    <a:defPPr>
      <a:defRPr lang="en-US"/>
    </a:defPPr>
    <a:lvl1pPr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1pPr>
    <a:lvl2pPr marL="4572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2pPr>
    <a:lvl3pPr marL="9144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3pPr>
    <a:lvl4pPr marL="13716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4pPr>
    <a:lvl5pPr marL="18288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5pPr>
    <a:lvl6pPr marL="2286000" algn="l" defTabSz="914400" rtl="0" eaLnBrk="1" latinLnBrk="0" hangingPunct="1">
      <a:defRPr sz="2600" kern="1200">
        <a:solidFill>
          <a:schemeClr val="tx1"/>
        </a:solidFill>
        <a:latin typeface="Arial" charset="0"/>
        <a:ea typeface="+mn-ea"/>
        <a:cs typeface="+mn-cs"/>
      </a:defRPr>
    </a:lvl6pPr>
    <a:lvl7pPr marL="2743200" algn="l" defTabSz="914400" rtl="0" eaLnBrk="1" latinLnBrk="0" hangingPunct="1">
      <a:defRPr sz="2600" kern="1200">
        <a:solidFill>
          <a:schemeClr val="tx1"/>
        </a:solidFill>
        <a:latin typeface="Arial" charset="0"/>
        <a:ea typeface="+mn-ea"/>
        <a:cs typeface="+mn-cs"/>
      </a:defRPr>
    </a:lvl7pPr>
    <a:lvl8pPr marL="3200400" algn="l" defTabSz="914400" rtl="0" eaLnBrk="1" latinLnBrk="0" hangingPunct="1">
      <a:defRPr sz="2600" kern="1200">
        <a:solidFill>
          <a:schemeClr val="tx1"/>
        </a:solidFill>
        <a:latin typeface="Arial" charset="0"/>
        <a:ea typeface="+mn-ea"/>
        <a:cs typeface="+mn-cs"/>
      </a:defRPr>
    </a:lvl8pPr>
    <a:lvl9pPr marL="3657600" algn="l" defTabSz="914400" rtl="0" eaLnBrk="1" latinLnBrk="0" hangingPunct="1">
      <a:defRPr sz="2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B94917"/>
    <a:srgbClr val="FF6600"/>
    <a:srgbClr val="C4E7F4"/>
    <a:srgbClr val="893611"/>
    <a:srgbClr val="A44114"/>
    <a:srgbClr val="F3B99F"/>
    <a:srgbClr val="0000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7155" autoAdjust="0"/>
  </p:normalViewPr>
  <p:slideViewPr>
    <p:cSldViewPr>
      <p:cViewPr varScale="1">
        <p:scale>
          <a:sx n="82" d="100"/>
          <a:sy n="82" d="100"/>
        </p:scale>
        <p:origin x="1502" y="72"/>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19"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34820"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21"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F0B6EC5B-DE15-4B62-9DC0-DE1BD893DD16}" type="slidenum">
              <a:rPr lang="en-US"/>
              <a:pPr/>
              <a:t>‹#›</a:t>
            </a:fld>
            <a:endParaRPr lang="en-US" dirty="0"/>
          </a:p>
        </p:txBody>
      </p:sp>
    </p:spTree>
    <p:extLst>
      <p:ext uri="{BB962C8B-B14F-4D97-AF65-F5344CB8AC3E}">
        <p14:creationId xmlns:p14="http://schemas.microsoft.com/office/powerpoint/2010/main" val="18248682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27"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26628"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9"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630"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31"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823FACB9-4E35-4CB3-835A-2EBF55FAEDE3}" type="slidenum">
              <a:rPr lang="en-US"/>
              <a:pPr/>
              <a:t>‹#›</a:t>
            </a:fld>
            <a:endParaRPr lang="en-US" dirty="0"/>
          </a:p>
        </p:txBody>
      </p:sp>
    </p:spTree>
    <p:extLst>
      <p:ext uri="{BB962C8B-B14F-4D97-AF65-F5344CB8AC3E}">
        <p14:creationId xmlns:p14="http://schemas.microsoft.com/office/powerpoint/2010/main" val="9718694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7106"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7112" name="Group 8"/>
          <p:cNvGrpSpPr>
            <a:grpSpLocks/>
          </p:cNvGrpSpPr>
          <p:nvPr/>
        </p:nvGrpSpPr>
        <p:grpSpPr bwMode="auto">
          <a:xfrm>
            <a:off x="7493000" y="2992438"/>
            <a:ext cx="1338263" cy="2189162"/>
            <a:chOff x="4704" y="1885"/>
            <a:chExt cx="843" cy="1379"/>
          </a:xfrm>
        </p:grpSpPr>
        <p:sp>
          <p:nvSpPr>
            <p:cNvPr id="4711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7144"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47107" name="Title Placeholder 1"/>
          <p:cNvSpPr>
            <a:spLocks noGrp="1" noChangeArrowheads="1"/>
          </p:cNvSpPr>
          <p:nvPr>
            <p:ph type="ctrTitle"/>
          </p:nvPr>
        </p:nvSpPr>
        <p:spPr>
          <a:xfrm>
            <a:off x="315913" y="466725"/>
            <a:ext cx="6781800" cy="2133600"/>
          </a:xfrm>
        </p:spPr>
        <p:txBody>
          <a:bodyPr/>
          <a:lstStyle>
            <a:lvl1pPr algn="r">
              <a:defRPr sz="4400"/>
            </a:lvl1pPr>
          </a:lstStyle>
          <a:p>
            <a:pPr lvl="0"/>
            <a:r>
              <a:rPr lang="en-US" altLang="en-US" noProof="0"/>
              <a:t>Click to edit Master title style</a:t>
            </a:r>
          </a:p>
        </p:txBody>
      </p:sp>
      <p:sp>
        <p:nvSpPr>
          <p:cNvPr id="47108" name="Text Placeholder 2"/>
          <p:cNvSpPr>
            <a:spLocks noGrp="1" noChangeArrowheads="1"/>
          </p:cNvSpPr>
          <p:nvPr>
            <p:ph type="subTitle" idx="1"/>
          </p:nvPr>
        </p:nvSpPr>
        <p:spPr>
          <a:xfrm>
            <a:off x="849313" y="3049588"/>
            <a:ext cx="6248400" cy="2362200"/>
          </a:xfrm>
        </p:spPr>
        <p:txBody>
          <a:bodyPr/>
          <a:lstStyle>
            <a:lvl1pPr marL="0" indent="0" algn="r">
              <a:buFontTx/>
              <a:buNone/>
              <a:defRPr sz="2900"/>
            </a:lvl1pPr>
          </a:lstStyle>
          <a:p>
            <a:pPr lvl="0"/>
            <a:r>
              <a:rPr lang="en-US" altLang="en-US" noProof="0"/>
              <a:t>Click to edit Master subtitle style</a:t>
            </a:r>
            <a:endParaRPr lang="en-US" altLang="en-US" noProof="0" dirty="0"/>
          </a:p>
        </p:txBody>
      </p:sp>
      <p:sp>
        <p:nvSpPr>
          <p:cNvPr id="47109" name="Date Placeholder 3"/>
          <p:cNvSpPr>
            <a:spLocks noGrp="1" noChangeArrowheads="1"/>
          </p:cNvSpPr>
          <p:nvPr>
            <p:ph type="dt" sz="half" idx="2"/>
          </p:nvPr>
        </p:nvSpPr>
        <p:spPr/>
        <p:txBody>
          <a:bodyPr/>
          <a:lstStyle>
            <a:lvl1pPr>
              <a:defRPr/>
            </a:lvl1pPr>
          </a:lstStyle>
          <a:p>
            <a:fld id="{6B3D86DF-D88D-4919-AE3E-70ED32C3AA5E}" type="datetime1">
              <a:rPr lang="en-US" altLang="en-US" smtClean="0"/>
              <a:t>10/13/2025</a:t>
            </a:fld>
            <a:endParaRPr lang="en-US" altLang="en-US" dirty="0"/>
          </a:p>
        </p:txBody>
      </p:sp>
      <p:sp>
        <p:nvSpPr>
          <p:cNvPr id="47110" name="Footer Placeholder 4"/>
          <p:cNvSpPr>
            <a:spLocks noGrp="1" noChangeArrowheads="1"/>
          </p:cNvSpPr>
          <p:nvPr>
            <p:ph type="ftr" sz="quarter" idx="3"/>
          </p:nvPr>
        </p:nvSpPr>
        <p:spPr/>
        <p:txBody>
          <a:bodyPr/>
          <a:lstStyle>
            <a:lvl1pPr>
              <a:defRPr/>
            </a:lvl1pPr>
          </a:lstStyle>
          <a:p>
            <a:r>
              <a:rPr lang="en-US" altLang="en-US"/>
              <a:t>Dr. Nabil Mahmood Hewaihi</a:t>
            </a:r>
            <a:endParaRPr lang="en-US" altLang="en-US" dirty="0"/>
          </a:p>
        </p:txBody>
      </p:sp>
      <p:sp>
        <p:nvSpPr>
          <p:cNvPr id="47111" name="Slide Number Placeholder 5"/>
          <p:cNvSpPr>
            <a:spLocks noGrp="1" noChangeArrowheads="1"/>
          </p:cNvSpPr>
          <p:nvPr>
            <p:ph type="sldNum" sz="quarter" idx="4"/>
          </p:nvPr>
        </p:nvSpPr>
        <p:spPr/>
        <p:txBody>
          <a:bodyPr/>
          <a:lstStyle>
            <a:lvl1pPr>
              <a:defRPr/>
            </a:lvl1pPr>
          </a:lstStyle>
          <a:p>
            <a:fld id="{E945280F-DE53-48B1-9FB9-96A39916642A}" type="slidenum">
              <a:rPr lang="en-US" altLang="en-US"/>
              <a:pPr/>
              <a:t>‹#›</a:t>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BEE4193C-6532-468B-BFAD-A1A775482FC3}" type="datetime1">
              <a:rPr lang="en-US" altLang="en-US" smtClean="0"/>
              <a:t>10/13/2025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71C6F290-D301-4864-9490-340EF11588D9}" type="slidenum">
              <a:rPr lang="en-US" altLang="en-US"/>
              <a:pPr/>
              <a:t>‹#›</a:t>
            </a:fld>
            <a:endParaRPr lang="en-US" altLang="en-US" dirty="0"/>
          </a:p>
        </p:txBody>
      </p:sp>
    </p:spTree>
    <p:extLst>
      <p:ext uri="{BB962C8B-B14F-4D97-AF65-F5344CB8AC3E}">
        <p14:creationId xmlns:p14="http://schemas.microsoft.com/office/powerpoint/2010/main" val="303607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60A6CD74-F769-49F1-A08E-80A1E1E40EB9}" type="datetime1">
              <a:rPr lang="en-US" altLang="en-US" smtClean="0"/>
              <a:t>10/13/2025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D0208CE1-DD55-4A43-A479-EF83A2DC3985}" type="slidenum">
              <a:rPr lang="en-US" altLang="en-US"/>
              <a:pPr/>
              <a:t>‹#›</a:t>
            </a:fld>
            <a:endParaRPr lang="en-US" altLang="en-US" dirty="0"/>
          </a:p>
        </p:txBody>
      </p:sp>
    </p:spTree>
    <p:extLst>
      <p:ext uri="{BB962C8B-B14F-4D97-AF65-F5344CB8AC3E}">
        <p14:creationId xmlns:p14="http://schemas.microsoft.com/office/powerpoint/2010/main" val="162197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149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C312E3F3-961E-4581-A7D9-042A6D53D211}" type="datetime1">
              <a:rPr lang="en-US" altLang="en-US" smtClean="0"/>
              <a:t>10/13/2025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0927AF89-6755-46F5-BBCF-E571D7F311A5}" type="slidenum">
              <a:rPr lang="en-US" altLang="en-US"/>
              <a:pPr/>
              <a:t>‹#›</a:t>
            </a:fld>
            <a:endParaRPr lang="en-US" altLang="en-US" dirty="0"/>
          </a:p>
        </p:txBody>
      </p:sp>
    </p:spTree>
    <p:extLst>
      <p:ext uri="{BB962C8B-B14F-4D97-AF65-F5344CB8AC3E}">
        <p14:creationId xmlns:p14="http://schemas.microsoft.com/office/powerpoint/2010/main" val="103735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fld id="{BBF27A76-D8ED-439D-818C-63427DDEAE9F}" type="datetime1">
              <a:rPr lang="en-US" altLang="en-US" smtClean="0"/>
              <a:t>10/13/2025</a:t>
            </a:fld>
            <a:endParaRPr lang="en-US" altLang="en-US" dirty="0"/>
          </a:p>
        </p:txBody>
      </p:sp>
      <p:sp>
        <p:nvSpPr>
          <p:cNvPr id="8" name="Footer Placeholder 7"/>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9" name="Slide Number Placeholder 8"/>
          <p:cNvSpPr>
            <a:spLocks noGrp="1"/>
          </p:cNvSpPr>
          <p:nvPr>
            <p:ph type="sldNum" sz="quarter" idx="12"/>
          </p:nvPr>
        </p:nvSpPr>
        <p:spPr/>
        <p:txBody>
          <a:bodyPr/>
          <a:lstStyle>
            <a:lvl1pPr>
              <a:defRPr/>
            </a:lvl1pPr>
          </a:lstStyle>
          <a:p>
            <a:fld id="{F76BE3C0-1208-4260-82C3-0EB040027195}" type="slidenum">
              <a:rPr lang="en-US" altLang="en-US"/>
              <a:pPr/>
              <a:t>‹#›</a:t>
            </a:fld>
            <a:endParaRPr lang="en-US" altLang="en-US" dirty="0"/>
          </a:p>
        </p:txBody>
      </p:sp>
    </p:spTree>
    <p:extLst>
      <p:ext uri="{BB962C8B-B14F-4D97-AF65-F5344CB8AC3E}">
        <p14:creationId xmlns:p14="http://schemas.microsoft.com/office/powerpoint/2010/main" val="139325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FF30F976-C6C5-46AC-BF15-042DDB91640B}" type="datetime1">
              <a:rPr lang="en-US" altLang="en-US" smtClean="0"/>
              <a:t>10/13/2025</a:t>
            </a:fld>
            <a:endParaRPr lang="en-US" altLang="en-US" dirty="0"/>
          </a:p>
        </p:txBody>
      </p:sp>
      <p:sp>
        <p:nvSpPr>
          <p:cNvPr id="4" name="Footer Placeholder 3"/>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5" name="Slide Number Placeholder 4"/>
          <p:cNvSpPr>
            <a:spLocks noGrp="1"/>
          </p:cNvSpPr>
          <p:nvPr>
            <p:ph type="sldNum" sz="quarter" idx="12"/>
          </p:nvPr>
        </p:nvSpPr>
        <p:spPr/>
        <p:txBody>
          <a:bodyPr/>
          <a:lstStyle>
            <a:lvl1pPr>
              <a:defRPr/>
            </a:lvl1pPr>
          </a:lstStyle>
          <a:p>
            <a:fld id="{D5F02DF6-5EF1-449D-8E8F-F40E7D2FCBCB}" type="slidenum">
              <a:rPr lang="en-US" altLang="en-US"/>
              <a:pPr/>
              <a:t>‹#›</a:t>
            </a:fld>
            <a:endParaRPr lang="en-US" altLang="en-US" dirty="0"/>
          </a:p>
        </p:txBody>
      </p:sp>
    </p:spTree>
    <p:extLst>
      <p:ext uri="{BB962C8B-B14F-4D97-AF65-F5344CB8AC3E}">
        <p14:creationId xmlns:p14="http://schemas.microsoft.com/office/powerpoint/2010/main" val="86736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4EB39B33-8D7C-41EC-8450-3CBD5581B8E2}" type="datetime1">
              <a:rPr lang="en-US" altLang="en-US" smtClean="0"/>
              <a:t>10/13/2025</a:t>
            </a:fld>
            <a:endParaRPr lang="en-US" altLang="en-US" dirty="0"/>
          </a:p>
        </p:txBody>
      </p:sp>
      <p:sp>
        <p:nvSpPr>
          <p:cNvPr id="3" name="Footer Placeholder 2"/>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4" name="Slide Number Placeholder 3"/>
          <p:cNvSpPr>
            <a:spLocks noGrp="1"/>
          </p:cNvSpPr>
          <p:nvPr>
            <p:ph type="sldNum" sz="quarter" idx="12"/>
          </p:nvPr>
        </p:nvSpPr>
        <p:spPr/>
        <p:txBody>
          <a:bodyPr/>
          <a:lstStyle>
            <a:lvl1pPr>
              <a:defRPr/>
            </a:lvl1pPr>
          </a:lstStyle>
          <a:p>
            <a:fld id="{AC3460AA-1533-4548-8781-A6D0EAE276D6}" type="slidenum">
              <a:rPr lang="en-US" altLang="en-US"/>
              <a:pPr/>
              <a:t>‹#›</a:t>
            </a:fld>
            <a:endParaRPr lang="en-US" altLang="en-US" dirty="0"/>
          </a:p>
        </p:txBody>
      </p:sp>
    </p:spTree>
    <p:extLst>
      <p:ext uri="{BB962C8B-B14F-4D97-AF65-F5344CB8AC3E}">
        <p14:creationId xmlns:p14="http://schemas.microsoft.com/office/powerpoint/2010/main" val="125109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marL="45720" indent="0">
              <a:buFontTx/>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4392300-A72E-4F88-ACD3-3EE844BF72BA}" type="datetime1">
              <a:rPr lang="en-US" altLang="en-US" smtClean="0"/>
              <a:t>10/13/2025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C6386842-FEC9-453F-B6F7-7C945F3A2D73}" type="slidenum">
              <a:rPr lang="en-US" altLang="en-US"/>
              <a:pPr/>
              <a:t>‹#›</a:t>
            </a:fld>
            <a:endParaRPr lang="en-US" altLang="en-US" dirty="0"/>
          </a:p>
        </p:txBody>
      </p:sp>
    </p:spTree>
    <p:extLst>
      <p:ext uri="{BB962C8B-B14F-4D97-AF65-F5344CB8AC3E}">
        <p14:creationId xmlns:p14="http://schemas.microsoft.com/office/powerpoint/2010/main" val="1530924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B844039-CC01-4C22-8E72-7F3F8D2079C3}" type="datetime1">
              <a:rPr lang="en-US" altLang="en-US" smtClean="0"/>
              <a:t>10/13/2025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E96DA581-ADE3-4A40-91CB-711A776CAC29}" type="slidenum">
              <a:rPr lang="en-US" altLang="en-US"/>
              <a:pPr/>
              <a:t>‹#›</a:t>
            </a:fld>
            <a:endParaRPr lang="en-US" altLang="en-US" dirty="0"/>
          </a:p>
        </p:txBody>
      </p:sp>
    </p:spTree>
    <p:extLst>
      <p:ext uri="{BB962C8B-B14F-4D97-AF65-F5344CB8AC3E}">
        <p14:creationId xmlns:p14="http://schemas.microsoft.com/office/powerpoint/2010/main" val="2911566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A013E083-DA48-4C9A-A43F-A1DBD108CEB1}" type="datetime1">
              <a:rPr lang="en-US" altLang="en-US" smtClean="0"/>
              <a:t>10/13/2025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872E90EB-6CA4-453F-8712-C339590DE034}" type="slidenum">
              <a:rPr lang="en-US" altLang="en-US"/>
              <a:pPr/>
              <a:t>‹#›</a:t>
            </a:fld>
            <a:endParaRPr lang="en-US" altLang="en-US" dirty="0"/>
          </a:p>
        </p:txBody>
      </p:sp>
    </p:spTree>
    <p:extLst>
      <p:ext uri="{BB962C8B-B14F-4D97-AF65-F5344CB8AC3E}">
        <p14:creationId xmlns:p14="http://schemas.microsoft.com/office/powerpoint/2010/main" val="4113127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228600"/>
            <a:ext cx="2076450" cy="57070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076950" cy="5707063"/>
          </a:xfrm>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E0A6D60-888E-4F3F-B3CE-7795256FE141}" type="datetime1">
              <a:rPr lang="en-US" altLang="en-US" smtClean="0"/>
              <a:t>10/13/2025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26D251BA-4196-46F7-BF5E-DE37F6712AD1}" type="slidenum">
              <a:rPr lang="en-US" altLang="en-US"/>
              <a:pPr/>
              <a:t>‹#›</a:t>
            </a:fld>
            <a:endParaRPr lang="en-US" altLang="en-US" dirty="0"/>
          </a:p>
        </p:txBody>
      </p:sp>
    </p:spTree>
    <p:extLst>
      <p:ext uri="{BB962C8B-B14F-4D97-AF65-F5344CB8AC3E}">
        <p14:creationId xmlns:p14="http://schemas.microsoft.com/office/powerpoint/2010/main" val="32517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6088" name="Group 8"/>
          <p:cNvGrpSpPr>
            <a:grpSpLocks/>
          </p:cNvGrpSpPr>
          <p:nvPr/>
        </p:nvGrpSpPr>
        <p:grpSpPr bwMode="auto">
          <a:xfrm>
            <a:off x="8153400" y="152400"/>
            <a:ext cx="792163" cy="1295400"/>
            <a:chOff x="5136" y="960"/>
            <a:chExt cx="528" cy="864"/>
          </a:xfrm>
        </p:grpSpPr>
        <p:sp>
          <p:nvSpPr>
            <p:cNvPr id="4608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6083" name="Title Placeholder 1"/>
          <p:cNvSpPr>
            <a:spLocks noGrp="1" noChangeArrowheads="1"/>
          </p:cNvSpPr>
          <p:nvPr>
            <p:ph type="title"/>
          </p:nvPr>
        </p:nvSpPr>
        <p:spPr bwMode="auto">
          <a:xfrm>
            <a:off x="228600" y="228600"/>
            <a:ext cx="7696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6084" name="Text Placeholder 2"/>
          <p:cNvSpPr>
            <a:spLocks noGrp="1" noChangeArrowheads="1"/>
          </p:cNvSpPr>
          <p:nvPr>
            <p:ph type="body" idx="1"/>
          </p:nvPr>
        </p:nvSpPr>
        <p:spPr bwMode="auto">
          <a:xfrm>
            <a:off x="1143000" y="1524000"/>
            <a:ext cx="7391400" cy="441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6085" name="Date Placeholder 3"/>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a:lvl1pPr>
          </a:lstStyle>
          <a:p>
            <a:fld id="{DAA47658-FA98-41C0-A0A1-70085A3B5D80}" type="datetime1">
              <a:rPr lang="en-US" altLang="en-US" smtClean="0"/>
              <a:t>10/13/2025</a:t>
            </a:fld>
            <a:endParaRPr lang="en-US" altLang="en-US" dirty="0"/>
          </a:p>
        </p:txBody>
      </p:sp>
      <p:sp>
        <p:nvSpPr>
          <p:cNvPr id="46086" name="Footer Placeholder 4"/>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a:lvl1pPr>
          </a:lstStyle>
          <a:p>
            <a:r>
              <a:rPr lang="en-US" altLang="en-US"/>
              <a:t>Dr. Nabil Mahmood Hewaihi</a:t>
            </a:r>
            <a:endParaRPr lang="en-US" altLang="en-US" dirty="0"/>
          </a:p>
        </p:txBody>
      </p:sp>
      <p:sp>
        <p:nvSpPr>
          <p:cNvPr id="46087" name="Slide Number Placeholder 5"/>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a:lvl1pPr>
          </a:lstStyle>
          <a:p>
            <a:fld id="{D7E5119E-5338-4B55-81DC-57EAC9440FD0}"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hdr="0" ftr="0" dt="0"/>
  <p:txStyles>
    <p:titleStyle>
      <a:lvl1pPr algn="l" rtl="0" eaLnBrk="1" fontAlgn="base" hangingPunct="1">
        <a:spcBef>
          <a:spcPct val="0"/>
        </a:spcBef>
        <a:spcAft>
          <a:spcPct val="0"/>
        </a:spcAft>
        <a:defRPr sz="3600" b="1">
          <a:solidFill>
            <a:schemeClr val="tx2"/>
          </a:solidFill>
          <a:latin typeface="+mj-lt"/>
          <a:ea typeface="+mj-ea"/>
          <a:cs typeface="+mj-cs"/>
        </a:defRPr>
      </a:lvl1pPr>
      <a:lvl2pPr algn="l" rtl="0" eaLnBrk="1" fontAlgn="base" hangingPunct="1">
        <a:spcBef>
          <a:spcPct val="0"/>
        </a:spcBef>
        <a:spcAft>
          <a:spcPct val="0"/>
        </a:spcAft>
        <a:defRPr sz="3600" b="1">
          <a:solidFill>
            <a:schemeClr val="tx2"/>
          </a:solidFill>
          <a:latin typeface="Arial" charset="0"/>
        </a:defRPr>
      </a:lvl2pPr>
      <a:lvl3pPr algn="l" rtl="0" eaLnBrk="1" fontAlgn="base" hangingPunct="1">
        <a:spcBef>
          <a:spcPct val="0"/>
        </a:spcBef>
        <a:spcAft>
          <a:spcPct val="0"/>
        </a:spcAft>
        <a:defRPr sz="3600" b="1">
          <a:solidFill>
            <a:schemeClr val="tx2"/>
          </a:solidFill>
          <a:latin typeface="Arial" charset="0"/>
        </a:defRPr>
      </a:lvl3pPr>
      <a:lvl4pPr algn="l" rtl="0" eaLnBrk="1" fontAlgn="base" hangingPunct="1">
        <a:spcBef>
          <a:spcPct val="0"/>
        </a:spcBef>
        <a:spcAft>
          <a:spcPct val="0"/>
        </a:spcAft>
        <a:defRPr sz="3600" b="1">
          <a:solidFill>
            <a:schemeClr val="tx2"/>
          </a:solidFill>
          <a:latin typeface="Arial" charset="0"/>
        </a:defRPr>
      </a:lvl4pPr>
      <a:lvl5pPr algn="l" rtl="0" eaLnBrk="1" fontAlgn="base" hangingPunct="1">
        <a:spcBef>
          <a:spcPct val="0"/>
        </a:spcBef>
        <a:spcAft>
          <a:spcPct val="0"/>
        </a:spcAft>
        <a:defRPr sz="3600" b="1">
          <a:solidFill>
            <a:schemeClr val="tx2"/>
          </a:solidFill>
          <a:latin typeface="Arial" charset="0"/>
        </a:defRPr>
      </a:lvl5pPr>
      <a:lvl6pPr marL="457200" algn="l" rtl="0" eaLnBrk="1" fontAlgn="base" hangingPunct="1">
        <a:spcBef>
          <a:spcPct val="0"/>
        </a:spcBef>
        <a:spcAft>
          <a:spcPct val="0"/>
        </a:spcAft>
        <a:defRPr sz="3600" b="1">
          <a:solidFill>
            <a:schemeClr val="tx2"/>
          </a:solidFill>
          <a:latin typeface="Arial" charset="0"/>
        </a:defRPr>
      </a:lvl6pPr>
      <a:lvl7pPr marL="914400" algn="l" rtl="0" eaLnBrk="1" fontAlgn="base" hangingPunct="1">
        <a:spcBef>
          <a:spcPct val="0"/>
        </a:spcBef>
        <a:spcAft>
          <a:spcPct val="0"/>
        </a:spcAft>
        <a:defRPr sz="3600" b="1">
          <a:solidFill>
            <a:schemeClr val="tx2"/>
          </a:solidFill>
          <a:latin typeface="Arial" charset="0"/>
        </a:defRPr>
      </a:lvl7pPr>
      <a:lvl8pPr marL="1371600" algn="l" rtl="0" eaLnBrk="1" fontAlgn="base" hangingPunct="1">
        <a:spcBef>
          <a:spcPct val="0"/>
        </a:spcBef>
        <a:spcAft>
          <a:spcPct val="0"/>
        </a:spcAft>
        <a:defRPr sz="3600" b="1">
          <a:solidFill>
            <a:schemeClr val="tx2"/>
          </a:solidFill>
          <a:latin typeface="Arial" charset="0"/>
        </a:defRPr>
      </a:lvl8pPr>
      <a:lvl9pPr marL="1828800" algn="l" rtl="0" eaLnBrk="1" fontAlgn="base" hangingPunct="1">
        <a:spcBef>
          <a:spcPct val="0"/>
        </a:spcBef>
        <a:spcAft>
          <a:spcPct val="0"/>
        </a:spcAft>
        <a:defRPr sz="3600" b="1">
          <a:solidFill>
            <a:schemeClr val="tx2"/>
          </a:solidFill>
          <a:latin typeface="Arial" charset="0"/>
        </a:defRPr>
      </a:lvl9pPr>
    </p:titleStyle>
    <p:bodyStyle>
      <a:lvl1pPr marL="45720" indent="0" algn="l" rtl="0" eaLnBrk="1" fontAlgn="base" hangingPunct="1">
        <a:spcBef>
          <a:spcPct val="25000"/>
        </a:spcBef>
        <a:spcAft>
          <a:spcPct val="0"/>
        </a:spcAft>
        <a:buClr>
          <a:schemeClr val="tx2"/>
        </a:buClr>
        <a:buSzPct val="120000"/>
        <a:buFontTx/>
        <a:buNone/>
        <a:defRPr sz="2700">
          <a:solidFill>
            <a:schemeClr val="tx1"/>
          </a:solidFill>
          <a:latin typeface="+mn-lt"/>
          <a:ea typeface="+mn-ea"/>
          <a:cs typeface="+mn-cs"/>
        </a:defRPr>
      </a:lvl1pPr>
      <a:lvl2pPr marL="692150" indent="-347663" algn="l" rtl="0" eaLnBrk="1" fontAlgn="base" hangingPunct="1">
        <a:spcBef>
          <a:spcPct val="0"/>
        </a:spcBef>
        <a:spcAft>
          <a:spcPct val="25000"/>
        </a:spcAft>
        <a:buClr>
          <a:schemeClr val="accent2">
            <a:lumMod val="75000"/>
          </a:schemeClr>
        </a:buClr>
        <a:buSzPct val="55000"/>
        <a:buFont typeface="Wingdings" pitchFamily="2" charset="2"/>
        <a:buChar char="l"/>
        <a:defRPr sz="2400">
          <a:solidFill>
            <a:schemeClr val="tx1"/>
          </a:solidFill>
          <a:latin typeface="+mn-lt"/>
        </a:defRPr>
      </a:lvl2pPr>
      <a:lvl3pPr marL="987425" indent="-293688" algn="l" rtl="0" eaLnBrk="1" fontAlgn="base" hangingPunct="1">
        <a:spcBef>
          <a:spcPct val="0"/>
        </a:spcBef>
        <a:spcAft>
          <a:spcPct val="25000"/>
        </a:spcAft>
        <a:buClr>
          <a:schemeClr val="accent1">
            <a:lumMod val="50000"/>
          </a:schemeClr>
        </a:buClr>
        <a:buSzPct val="50000"/>
        <a:buFont typeface="Wingdings" pitchFamily="2" charset="2"/>
        <a:buChar char="l"/>
        <a:defRPr sz="2200">
          <a:solidFill>
            <a:schemeClr val="tx1"/>
          </a:solidFill>
          <a:latin typeface="+mn-lt"/>
        </a:defRPr>
      </a:lvl3pPr>
      <a:lvl4pPr marL="1281113" indent="-292100" algn="l" rtl="0" eaLnBrk="1" fontAlgn="base" hangingPunct="1">
        <a:spcBef>
          <a:spcPct val="20000"/>
        </a:spcBef>
        <a:spcAft>
          <a:spcPct val="0"/>
        </a:spcAft>
        <a:buClr>
          <a:schemeClr val="tx2">
            <a:lumMod val="75000"/>
          </a:schemeClr>
        </a:buClr>
        <a:buSzPct val="75000"/>
        <a:buFont typeface="Wingdings"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accent3">
            <a:lumMod val="50000"/>
          </a:schemeClr>
        </a:buClr>
        <a:buSzPct val="80000"/>
        <a:buFont typeface="Wingdings" pitchFamily="2" charset="2"/>
        <a:buChar char="§"/>
        <a:defRPr sz="2000">
          <a:solidFill>
            <a:schemeClr val="tx1"/>
          </a:solidFill>
          <a:latin typeface="+mn-lt"/>
        </a:defRPr>
      </a:lvl5pPr>
      <a:lvl6pPr marL="1920240" indent="-315913" algn="l" rtl="0" eaLnBrk="1" fontAlgn="base" hangingPunct="1">
        <a:spcBef>
          <a:spcPct val="20000"/>
        </a:spcBef>
        <a:spcAft>
          <a:spcPct val="0"/>
        </a:spcAft>
        <a:buClr>
          <a:schemeClr val="accent6">
            <a:lumMod val="50000"/>
          </a:schemeClr>
        </a:buClr>
        <a:buSzPct val="80000"/>
        <a:buFont typeface="Wingdings" pitchFamily="2" charset="2"/>
        <a:buChar char="§"/>
        <a:defRPr sz="2000">
          <a:solidFill>
            <a:schemeClr val="tx1"/>
          </a:solidFill>
          <a:latin typeface="+mn-lt"/>
        </a:defRPr>
      </a:lvl6pPr>
      <a:lvl7pPr marL="224028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7pPr>
      <a:lvl8pPr marL="2651760" indent="-315913" algn="l" rtl="0" eaLnBrk="1" fontAlgn="base" hangingPunct="1">
        <a:spcBef>
          <a:spcPct val="20000"/>
        </a:spcBef>
        <a:spcAft>
          <a:spcPct val="0"/>
        </a:spcAft>
        <a:buClr>
          <a:schemeClr val="bg2">
            <a:lumMod val="75000"/>
          </a:schemeClr>
        </a:buClr>
        <a:buSzPct val="80000"/>
        <a:buFont typeface="Wingdings" pitchFamily="2" charset="2"/>
        <a:buChar char="§"/>
        <a:defRPr sz="2000">
          <a:solidFill>
            <a:schemeClr val="tx1"/>
          </a:solidFill>
          <a:latin typeface="+mn-lt"/>
        </a:defRPr>
      </a:lvl8pPr>
      <a:lvl9pPr marL="310896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SEMANTIC%20NETWORKS%20PROGRAM.txt"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FRAMES%20PROGRAM.txt"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rdf.txt"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rdf.txt"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486D98-0B9B-4C4E-A25F-64BA4C5DBB94}"/>
              </a:ext>
            </a:extLst>
          </p:cNvPr>
          <p:cNvSpPr>
            <a:spLocks noGrp="1"/>
          </p:cNvSpPr>
          <p:nvPr>
            <p:ph type="ctrTitle"/>
          </p:nvPr>
        </p:nvSpPr>
        <p:spPr>
          <a:xfrm>
            <a:off x="315913" y="466725"/>
            <a:ext cx="6781800" cy="2133600"/>
          </a:xfrm>
        </p:spPr>
        <p:txBody>
          <a:bodyPr/>
          <a:lstStyle/>
          <a:p>
            <a:pPr algn="ctr"/>
            <a:r>
              <a:rPr lang="en-US" dirty="0"/>
              <a:t>Chapter 10</a:t>
            </a:r>
          </a:p>
        </p:txBody>
      </p:sp>
      <p:sp>
        <p:nvSpPr>
          <p:cNvPr id="5" name="Subtitle 4">
            <a:extLst>
              <a:ext uri="{FF2B5EF4-FFF2-40B4-BE49-F238E27FC236}">
                <a16:creationId xmlns:a16="http://schemas.microsoft.com/office/drawing/2014/main" id="{D655BBED-E65C-4B70-99E3-9318D4F249A0}"/>
              </a:ext>
            </a:extLst>
          </p:cNvPr>
          <p:cNvSpPr>
            <a:spLocks noGrp="1"/>
          </p:cNvSpPr>
          <p:nvPr>
            <p:ph type="subTitle" idx="1"/>
          </p:nvPr>
        </p:nvSpPr>
        <p:spPr>
          <a:xfrm>
            <a:off x="582613" y="3049588"/>
            <a:ext cx="6248400" cy="2362200"/>
          </a:xfrm>
        </p:spPr>
        <p:txBody>
          <a:bodyPr/>
          <a:lstStyle/>
          <a:p>
            <a:pPr algn="ctr"/>
            <a:r>
              <a:rPr lang="en-US" dirty="0"/>
              <a:t>Knowledge Representation</a:t>
            </a:r>
          </a:p>
        </p:txBody>
      </p:sp>
      <p:sp>
        <p:nvSpPr>
          <p:cNvPr id="2" name="Slide Number Placeholder 1">
            <a:extLst>
              <a:ext uri="{FF2B5EF4-FFF2-40B4-BE49-F238E27FC236}">
                <a16:creationId xmlns:a16="http://schemas.microsoft.com/office/drawing/2014/main" id="{2FD4643F-6823-FFEE-93F8-706A515DF65B}"/>
              </a:ext>
            </a:extLst>
          </p:cNvPr>
          <p:cNvSpPr>
            <a:spLocks noGrp="1"/>
          </p:cNvSpPr>
          <p:nvPr>
            <p:ph type="sldNum" sz="quarter" idx="4"/>
          </p:nvPr>
        </p:nvSpPr>
        <p:spPr/>
        <p:txBody>
          <a:bodyPr/>
          <a:lstStyle/>
          <a:p>
            <a:fld id="{E945280F-DE53-48B1-9FB9-96A39916642A}" type="slidenum">
              <a:rPr lang="en-US" altLang="en-US" smtClean="0"/>
              <a:pPr/>
              <a:t>1</a:t>
            </a:fld>
            <a:endParaRPr lang="en-US" altLang="en-US" dirty="0"/>
          </a:p>
        </p:txBody>
      </p:sp>
    </p:spTree>
    <p:extLst>
      <p:ext uri="{BB962C8B-B14F-4D97-AF65-F5344CB8AC3E}">
        <p14:creationId xmlns:p14="http://schemas.microsoft.com/office/powerpoint/2010/main" val="3429484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FEDD2-1ECE-A372-41B3-CCC640A0EB39}"/>
              </a:ext>
            </a:extLst>
          </p:cNvPr>
          <p:cNvSpPr>
            <a:spLocks noGrp="1"/>
          </p:cNvSpPr>
          <p:nvPr>
            <p:ph type="title"/>
          </p:nvPr>
        </p:nvSpPr>
        <p:spPr>
          <a:xfrm>
            <a:off x="228600" y="228600"/>
            <a:ext cx="8305800" cy="693737"/>
          </a:xfrm>
        </p:spPr>
        <p:txBody>
          <a:bodyPr/>
          <a:lstStyle/>
          <a:p>
            <a:r>
              <a:rPr lang="en-US" dirty="0"/>
              <a:t>Knowledge representation</a:t>
            </a:r>
          </a:p>
        </p:txBody>
      </p:sp>
      <p:sp>
        <p:nvSpPr>
          <p:cNvPr id="3" name="Content Placeholder 2">
            <a:extLst>
              <a:ext uri="{FF2B5EF4-FFF2-40B4-BE49-F238E27FC236}">
                <a16:creationId xmlns:a16="http://schemas.microsoft.com/office/drawing/2014/main" id="{6A7A99DB-460A-E6F0-9575-99E52C2D5717}"/>
              </a:ext>
            </a:extLst>
          </p:cNvPr>
          <p:cNvSpPr>
            <a:spLocks noGrp="1"/>
          </p:cNvSpPr>
          <p:nvPr>
            <p:ph idx="1"/>
          </p:nvPr>
        </p:nvSpPr>
        <p:spPr>
          <a:xfrm>
            <a:off x="228600" y="1066800"/>
            <a:ext cx="8686800" cy="4868863"/>
          </a:xfrm>
        </p:spPr>
        <p:txBody>
          <a:bodyPr/>
          <a:lstStyle/>
          <a:p>
            <a:pPr algn="just"/>
            <a:r>
              <a:rPr lang="en-US" dirty="0"/>
              <a:t>Knowledge representation languages:</a:t>
            </a:r>
          </a:p>
          <a:p>
            <a:pPr algn="just"/>
            <a:r>
              <a:rPr lang="en-US" dirty="0">
                <a:solidFill>
                  <a:srgbClr val="FF0000"/>
                </a:solidFill>
              </a:rPr>
              <a:t>are the tools for helping human solve problems. As such, a representation should provide a natural framework for expressing problem solving knowledge; it should make the knowledge available to the computer and assist the programmer in its organization.</a:t>
            </a:r>
          </a:p>
          <a:p>
            <a:endParaRPr lang="en-US" dirty="0"/>
          </a:p>
          <a:p>
            <a:endParaRPr lang="en-US" dirty="0"/>
          </a:p>
        </p:txBody>
      </p:sp>
      <p:sp>
        <p:nvSpPr>
          <p:cNvPr id="4" name="Slide Number Placeholder 3">
            <a:extLst>
              <a:ext uri="{FF2B5EF4-FFF2-40B4-BE49-F238E27FC236}">
                <a16:creationId xmlns:a16="http://schemas.microsoft.com/office/drawing/2014/main" id="{0EA68E3F-4777-A0D2-CE5A-F4530E0FB602}"/>
              </a:ext>
            </a:extLst>
          </p:cNvPr>
          <p:cNvSpPr>
            <a:spLocks noGrp="1"/>
          </p:cNvSpPr>
          <p:nvPr>
            <p:ph type="sldNum" sz="quarter" idx="12"/>
          </p:nvPr>
        </p:nvSpPr>
        <p:spPr/>
        <p:txBody>
          <a:bodyPr/>
          <a:lstStyle/>
          <a:p>
            <a:fld id="{71C6F290-D301-4864-9490-340EF11588D9}" type="slidenum">
              <a:rPr lang="en-US" altLang="en-US" smtClean="0"/>
              <a:pPr/>
              <a:t>2</a:t>
            </a:fld>
            <a:endParaRPr lang="en-US" altLang="en-US" dirty="0"/>
          </a:p>
        </p:txBody>
      </p:sp>
    </p:spTree>
    <p:extLst>
      <p:ext uri="{BB962C8B-B14F-4D97-AF65-F5344CB8AC3E}">
        <p14:creationId xmlns:p14="http://schemas.microsoft.com/office/powerpoint/2010/main" val="4209319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A6E47-342F-8554-BFCC-9AB76631A802}"/>
              </a:ext>
            </a:extLst>
          </p:cNvPr>
          <p:cNvSpPr>
            <a:spLocks noGrp="1"/>
          </p:cNvSpPr>
          <p:nvPr>
            <p:ph type="title"/>
          </p:nvPr>
        </p:nvSpPr>
        <p:spPr>
          <a:xfrm>
            <a:off x="228600" y="228600"/>
            <a:ext cx="7696200" cy="708798"/>
          </a:xfrm>
        </p:spPr>
        <p:txBody>
          <a:bodyPr/>
          <a:lstStyle/>
          <a:p>
            <a:r>
              <a:rPr lang="en-US" dirty="0"/>
              <a:t>Knowledge representation</a:t>
            </a:r>
          </a:p>
        </p:txBody>
      </p:sp>
      <p:sp>
        <p:nvSpPr>
          <p:cNvPr id="3" name="Content Placeholder 2">
            <a:extLst>
              <a:ext uri="{FF2B5EF4-FFF2-40B4-BE49-F238E27FC236}">
                <a16:creationId xmlns:a16="http://schemas.microsoft.com/office/drawing/2014/main" id="{8FCE0B85-3757-7814-21EE-29B75953239A}"/>
              </a:ext>
            </a:extLst>
          </p:cNvPr>
          <p:cNvSpPr>
            <a:spLocks noGrp="1"/>
          </p:cNvSpPr>
          <p:nvPr>
            <p:ph idx="1"/>
          </p:nvPr>
        </p:nvSpPr>
        <p:spPr>
          <a:xfrm>
            <a:off x="152400" y="1066800"/>
            <a:ext cx="8305800" cy="4183063"/>
          </a:xfrm>
        </p:spPr>
        <p:txBody>
          <a:bodyPr>
            <a:normAutofit/>
          </a:bodyPr>
          <a:lstStyle/>
          <a:p>
            <a:r>
              <a:rPr lang="en-US" dirty="0"/>
              <a:t>•	</a:t>
            </a:r>
            <a:r>
              <a:rPr lang="en-US" sz="2200" b="1" dirty="0">
                <a:solidFill>
                  <a:srgbClr val="00B050"/>
                </a:solidFill>
              </a:rPr>
              <a:t>Handle qualitative knowledge </a:t>
            </a:r>
          </a:p>
          <a:p>
            <a:pPr algn="just"/>
            <a:r>
              <a:rPr lang="en-US" sz="2200" dirty="0"/>
              <a:t>Ex: Block arrangement can be represented by X,Y  coordinates, but this is not effective method. It fails to describe and capture the properties and relations required for qualitative reasoning.  An alternative method is to use predicate calculus.</a:t>
            </a:r>
          </a:p>
          <a:p>
            <a:r>
              <a:rPr lang="en-US" sz="2200" dirty="0"/>
              <a:t>clear ( c )  clear (a)  </a:t>
            </a:r>
            <a:r>
              <a:rPr lang="en-US" sz="2200" dirty="0" err="1"/>
              <a:t>ontable</a:t>
            </a:r>
            <a:r>
              <a:rPr lang="en-US" sz="2200" dirty="0"/>
              <a:t> (a)  </a:t>
            </a:r>
            <a:r>
              <a:rPr lang="en-US" sz="2200" dirty="0" err="1"/>
              <a:t>ontable</a:t>
            </a:r>
            <a:r>
              <a:rPr lang="en-US" sz="2200" dirty="0"/>
              <a:t> (b)   on(</a:t>
            </a:r>
            <a:r>
              <a:rPr lang="en-US" sz="2200" dirty="0" err="1"/>
              <a:t>c,b</a:t>
            </a:r>
            <a:r>
              <a:rPr lang="en-US" sz="2200" dirty="0"/>
              <a:t>)    cube(b)   cube(a)   pyramid (c)</a:t>
            </a:r>
          </a:p>
          <a:p>
            <a:endParaRPr lang="en-US" sz="2200" dirty="0"/>
          </a:p>
          <a:p>
            <a:r>
              <a:rPr lang="en-US" dirty="0"/>
              <a:t> </a:t>
            </a:r>
          </a:p>
          <a:p>
            <a:endParaRPr lang="en-US" dirty="0"/>
          </a:p>
        </p:txBody>
      </p:sp>
      <p:sp>
        <p:nvSpPr>
          <p:cNvPr id="4" name="Slide Number Placeholder 3">
            <a:extLst>
              <a:ext uri="{FF2B5EF4-FFF2-40B4-BE49-F238E27FC236}">
                <a16:creationId xmlns:a16="http://schemas.microsoft.com/office/drawing/2014/main" id="{064765A7-C25F-E707-3C9A-3AC8F47ED1D4}"/>
              </a:ext>
            </a:extLst>
          </p:cNvPr>
          <p:cNvSpPr>
            <a:spLocks noGrp="1"/>
          </p:cNvSpPr>
          <p:nvPr>
            <p:ph type="sldNum" sz="quarter" idx="12"/>
          </p:nvPr>
        </p:nvSpPr>
        <p:spPr/>
        <p:txBody>
          <a:bodyPr/>
          <a:lstStyle/>
          <a:p>
            <a:fld id="{71C6F290-D301-4864-9490-340EF11588D9}" type="slidenum">
              <a:rPr lang="en-US" altLang="en-US" smtClean="0"/>
              <a:pPr/>
              <a:t>3</a:t>
            </a:fld>
            <a:endParaRPr lang="en-US" altLang="en-US" dirty="0"/>
          </a:p>
        </p:txBody>
      </p:sp>
      <p:pic>
        <p:nvPicPr>
          <p:cNvPr id="5" name="Picture 4">
            <a:extLst>
              <a:ext uri="{FF2B5EF4-FFF2-40B4-BE49-F238E27FC236}">
                <a16:creationId xmlns:a16="http://schemas.microsoft.com/office/drawing/2014/main" id="{78A78A86-D2E7-0EE6-098A-297EC34F6A6F}"/>
              </a:ext>
            </a:extLst>
          </p:cNvPr>
          <p:cNvPicPr>
            <a:picLocks noChangeAspect="1"/>
          </p:cNvPicPr>
          <p:nvPr/>
        </p:nvPicPr>
        <p:blipFill>
          <a:blip r:embed="rId2"/>
          <a:stretch>
            <a:fillRect/>
          </a:stretch>
        </p:blipFill>
        <p:spPr>
          <a:xfrm>
            <a:off x="4648200" y="3577556"/>
            <a:ext cx="2371429" cy="1638095"/>
          </a:xfrm>
          <a:prstGeom prst="rect">
            <a:avLst/>
          </a:prstGeom>
        </p:spPr>
      </p:pic>
    </p:spTree>
    <p:extLst>
      <p:ext uri="{BB962C8B-B14F-4D97-AF65-F5344CB8AC3E}">
        <p14:creationId xmlns:p14="http://schemas.microsoft.com/office/powerpoint/2010/main" val="2583703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50A32-5AB8-64AF-02A1-FAFE9DEC72DB}"/>
              </a:ext>
            </a:extLst>
          </p:cNvPr>
          <p:cNvSpPr>
            <a:spLocks noGrp="1"/>
          </p:cNvSpPr>
          <p:nvPr>
            <p:ph type="title"/>
          </p:nvPr>
        </p:nvSpPr>
        <p:spPr>
          <a:xfrm>
            <a:off x="228600" y="228600"/>
            <a:ext cx="7696200" cy="533400"/>
          </a:xfrm>
        </p:spPr>
        <p:txBody>
          <a:bodyPr/>
          <a:lstStyle/>
          <a:p>
            <a:r>
              <a:rPr lang="en-US" dirty="0"/>
              <a:t>Knowledge representation</a:t>
            </a:r>
          </a:p>
        </p:txBody>
      </p:sp>
      <p:sp>
        <p:nvSpPr>
          <p:cNvPr id="3" name="Content Placeholder 2">
            <a:extLst>
              <a:ext uri="{FF2B5EF4-FFF2-40B4-BE49-F238E27FC236}">
                <a16:creationId xmlns:a16="http://schemas.microsoft.com/office/drawing/2014/main" id="{61081B0F-EB9D-B4E6-6633-F9B7383099D4}"/>
              </a:ext>
            </a:extLst>
          </p:cNvPr>
          <p:cNvSpPr>
            <a:spLocks noGrp="1"/>
          </p:cNvSpPr>
          <p:nvPr>
            <p:ph idx="1"/>
          </p:nvPr>
        </p:nvSpPr>
        <p:spPr>
          <a:xfrm>
            <a:off x="228600" y="914400"/>
            <a:ext cx="8305800" cy="5410200"/>
          </a:xfrm>
        </p:spPr>
        <p:txBody>
          <a:bodyPr>
            <a:normAutofit fontScale="70000" lnSpcReduction="20000"/>
          </a:bodyPr>
          <a:lstStyle/>
          <a:p>
            <a:pPr lvl="0"/>
            <a:r>
              <a:rPr lang="en-US" b="1" dirty="0">
                <a:solidFill>
                  <a:srgbClr val="00B050"/>
                </a:solidFill>
              </a:rPr>
              <a:t>Allow new knowledge to be inferred from a set of facts and rules.</a:t>
            </a:r>
          </a:p>
          <a:p>
            <a:r>
              <a:rPr lang="en-US" dirty="0"/>
              <a:t> </a:t>
            </a:r>
            <a:endParaRPr lang="en-US" b="1" dirty="0"/>
          </a:p>
          <a:p>
            <a:r>
              <a:rPr lang="en-US" dirty="0"/>
              <a:t>To check whether the block is clear, that is, has nothing stacked on top of it (This is important if the robot 's hand to pick it up or stack another block on top of it. The only thing we need is a rule</a:t>
            </a:r>
            <a:endParaRPr lang="en-US" b="1" dirty="0"/>
          </a:p>
          <a:p>
            <a:r>
              <a:rPr lang="en-US" dirty="0"/>
              <a:t> </a:t>
            </a:r>
            <a:endParaRPr lang="en-US" b="1" dirty="0"/>
          </a:p>
          <a:p>
            <a:r>
              <a:rPr lang="en-US" dirty="0"/>
              <a:t>For all X, X is clear if there does not exist a Y such that Y is on X</a:t>
            </a:r>
            <a:endParaRPr lang="en-US" b="1" dirty="0"/>
          </a:p>
          <a:p>
            <a:r>
              <a:rPr lang="en-US" dirty="0"/>
              <a:t> </a:t>
            </a:r>
            <a:endParaRPr lang="en-US" b="1" dirty="0"/>
          </a:p>
          <a:p>
            <a:r>
              <a:rPr lang="en-US" b="1" dirty="0"/>
              <a:t>For all values of X, if no Y on X, then X is clear</a:t>
            </a:r>
          </a:p>
          <a:p>
            <a:r>
              <a:rPr lang="en-US" dirty="0"/>
              <a:t> </a:t>
            </a:r>
            <a:endParaRPr lang="en-US" b="1" dirty="0"/>
          </a:p>
          <a:p>
            <a:r>
              <a:rPr lang="en-US" dirty="0"/>
              <a:t>                    </a:t>
            </a:r>
            <a:r>
              <a:rPr lang="en-US" b="1" dirty="0"/>
              <a:t>∀X  ¬ Ǝ Y     On (Y,X) </a:t>
            </a:r>
            <a:r>
              <a:rPr lang="en-US" b="1" dirty="0">
                <a:sym typeface="Wingdings" panose="05000000000000000000" pitchFamily="2" charset="2"/>
              </a:rPr>
              <a:t></a:t>
            </a:r>
            <a:r>
              <a:rPr lang="en-US" b="1" dirty="0"/>
              <a:t>   clear (X)</a:t>
            </a:r>
          </a:p>
          <a:p>
            <a:pPr lvl="0"/>
            <a:r>
              <a:rPr lang="en-US" b="1" dirty="0">
                <a:solidFill>
                  <a:srgbClr val="00B050"/>
                </a:solidFill>
              </a:rPr>
              <a:t>Allow representation of general principles as well as specific situations.</a:t>
            </a:r>
          </a:p>
          <a:p>
            <a:pPr lvl="0"/>
            <a:endParaRPr lang="en-US" b="1" dirty="0">
              <a:solidFill>
                <a:srgbClr val="00B050"/>
              </a:solidFill>
            </a:endParaRPr>
          </a:p>
          <a:p>
            <a:r>
              <a:rPr lang="en-US" dirty="0"/>
              <a:t>This can be noticed in the previous example. Intelligent system must be as general as possible.</a:t>
            </a:r>
            <a:endParaRPr lang="en-US" b="1" dirty="0"/>
          </a:p>
          <a:p>
            <a:r>
              <a:rPr lang="en-US" dirty="0"/>
              <a:t>                </a:t>
            </a:r>
            <a:r>
              <a:rPr lang="en-US" b="1" dirty="0"/>
              <a:t>∀X∀Y </a:t>
            </a:r>
            <a:r>
              <a:rPr lang="en-US" dirty="0"/>
              <a:t> Father(X,Y)  </a:t>
            </a:r>
            <a:r>
              <a:rPr lang="en-US" dirty="0">
                <a:sym typeface="Wingdings" panose="05000000000000000000" pitchFamily="2" charset="2"/>
              </a:rPr>
              <a:t></a:t>
            </a:r>
            <a:r>
              <a:rPr lang="en-US" dirty="0"/>
              <a:t> child (Y,X)</a:t>
            </a:r>
            <a:endParaRPr lang="en-US" b="1" dirty="0"/>
          </a:p>
          <a:p>
            <a:endParaRPr lang="en-US" dirty="0"/>
          </a:p>
        </p:txBody>
      </p:sp>
      <p:sp>
        <p:nvSpPr>
          <p:cNvPr id="4" name="Slide Number Placeholder 3">
            <a:extLst>
              <a:ext uri="{FF2B5EF4-FFF2-40B4-BE49-F238E27FC236}">
                <a16:creationId xmlns:a16="http://schemas.microsoft.com/office/drawing/2014/main" id="{8BE957F3-3258-C58A-25DF-0F8CF8CC4733}"/>
              </a:ext>
            </a:extLst>
          </p:cNvPr>
          <p:cNvSpPr>
            <a:spLocks noGrp="1"/>
          </p:cNvSpPr>
          <p:nvPr>
            <p:ph type="sldNum" sz="quarter" idx="12"/>
          </p:nvPr>
        </p:nvSpPr>
        <p:spPr/>
        <p:txBody>
          <a:bodyPr/>
          <a:lstStyle/>
          <a:p>
            <a:fld id="{71C6F290-D301-4864-9490-340EF11588D9}" type="slidenum">
              <a:rPr lang="en-US" altLang="en-US" smtClean="0"/>
              <a:pPr/>
              <a:t>4</a:t>
            </a:fld>
            <a:endParaRPr lang="en-US" altLang="en-US" dirty="0"/>
          </a:p>
        </p:txBody>
      </p:sp>
    </p:spTree>
    <p:extLst>
      <p:ext uri="{BB962C8B-B14F-4D97-AF65-F5344CB8AC3E}">
        <p14:creationId xmlns:p14="http://schemas.microsoft.com/office/powerpoint/2010/main" val="959713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39889-C68E-C694-A514-1E3FC6BBBD7F}"/>
              </a:ext>
            </a:extLst>
          </p:cNvPr>
          <p:cNvSpPr>
            <a:spLocks noGrp="1"/>
          </p:cNvSpPr>
          <p:nvPr>
            <p:ph type="title"/>
          </p:nvPr>
        </p:nvSpPr>
        <p:spPr>
          <a:xfrm>
            <a:off x="228600" y="228600"/>
            <a:ext cx="7696200" cy="533400"/>
          </a:xfrm>
        </p:spPr>
        <p:txBody>
          <a:bodyPr/>
          <a:lstStyle/>
          <a:p>
            <a:r>
              <a:rPr lang="en-US" dirty="0"/>
              <a:t>Knowledge representation</a:t>
            </a:r>
          </a:p>
        </p:txBody>
      </p:sp>
      <p:sp>
        <p:nvSpPr>
          <p:cNvPr id="3" name="Content Placeholder 2">
            <a:extLst>
              <a:ext uri="{FF2B5EF4-FFF2-40B4-BE49-F238E27FC236}">
                <a16:creationId xmlns:a16="http://schemas.microsoft.com/office/drawing/2014/main" id="{8788281D-DD58-0BA8-52E3-10CFF0A29573}"/>
              </a:ext>
            </a:extLst>
          </p:cNvPr>
          <p:cNvSpPr>
            <a:spLocks noGrp="1"/>
          </p:cNvSpPr>
          <p:nvPr>
            <p:ph idx="1"/>
          </p:nvPr>
        </p:nvSpPr>
        <p:spPr>
          <a:xfrm>
            <a:off x="228600" y="914400"/>
            <a:ext cx="8686800" cy="5021263"/>
          </a:xfrm>
        </p:spPr>
        <p:txBody>
          <a:bodyPr>
            <a:normAutofit fontScale="77500" lnSpcReduction="20000"/>
          </a:bodyPr>
          <a:lstStyle/>
          <a:p>
            <a:r>
              <a:rPr lang="en-US" sz="2600" dirty="0">
                <a:solidFill>
                  <a:srgbClr val="00B050"/>
                </a:solidFill>
              </a:rPr>
              <a:t>Capture complex semantic meaning.</a:t>
            </a:r>
          </a:p>
          <a:p>
            <a:pPr algn="just"/>
            <a:r>
              <a:rPr lang="en-US" sz="2600" dirty="0"/>
              <a:t>It is not enough to describe a car by listing its component parts; the description must also describe the ways in which those parts are combined and the interaction between them. It is essential to a range of situations including taxonomic information, such as the classification of plants by genus and species, or description of complex objects such as a diesel engine or human body in terms of their component parts. Semantic nets is also important in describing casual relationships between events occurring over time. This is good to understand simple narrative such as a child 's story or to represent a robot 's plan of actions.</a:t>
            </a:r>
          </a:p>
          <a:p>
            <a:endParaRPr lang="en-US" sz="2600" dirty="0"/>
          </a:p>
          <a:p>
            <a:r>
              <a:rPr lang="en-US" sz="2600" dirty="0" err="1"/>
              <a:t>hassize</a:t>
            </a:r>
            <a:r>
              <a:rPr lang="en-US" sz="2600" dirty="0"/>
              <a:t>(</a:t>
            </a:r>
            <a:r>
              <a:rPr lang="en-US" sz="2600" dirty="0" err="1"/>
              <a:t>bluebird,small</a:t>
            </a:r>
            <a:r>
              <a:rPr lang="en-US" sz="2600" dirty="0"/>
              <a:t>)</a:t>
            </a:r>
          </a:p>
          <a:p>
            <a:r>
              <a:rPr lang="en-US" sz="2600" dirty="0" err="1"/>
              <a:t>hascovering</a:t>
            </a:r>
            <a:r>
              <a:rPr lang="en-US" sz="2600" dirty="0"/>
              <a:t>(</a:t>
            </a:r>
            <a:r>
              <a:rPr lang="en-US" sz="2600" dirty="0" err="1"/>
              <a:t>bird,feathers</a:t>
            </a:r>
            <a:r>
              <a:rPr lang="en-US" sz="2600" dirty="0"/>
              <a:t>)</a:t>
            </a:r>
          </a:p>
          <a:p>
            <a:r>
              <a:rPr lang="en-US" sz="2600" dirty="0" err="1"/>
              <a:t>hascolor</a:t>
            </a:r>
            <a:r>
              <a:rPr lang="en-US" sz="2600" dirty="0"/>
              <a:t>(</a:t>
            </a:r>
            <a:r>
              <a:rPr lang="en-US" sz="2600" dirty="0" err="1"/>
              <a:t>bluebird,blue</a:t>
            </a:r>
            <a:r>
              <a:rPr lang="en-US" sz="2600" dirty="0"/>
              <a:t>)</a:t>
            </a:r>
          </a:p>
          <a:p>
            <a:r>
              <a:rPr lang="en-US" sz="2600" dirty="0" err="1"/>
              <a:t>hasproperty</a:t>
            </a:r>
            <a:r>
              <a:rPr lang="en-US" sz="2600" dirty="0"/>
              <a:t>(</a:t>
            </a:r>
            <a:r>
              <a:rPr lang="en-US" sz="2600" dirty="0" err="1"/>
              <a:t>bird,flies</a:t>
            </a:r>
            <a:r>
              <a:rPr lang="en-US" sz="2600" dirty="0"/>
              <a:t>)</a:t>
            </a:r>
          </a:p>
          <a:p>
            <a:r>
              <a:rPr lang="en-US" sz="2600" dirty="0"/>
              <a:t>isa(</a:t>
            </a:r>
            <a:r>
              <a:rPr lang="en-US" sz="2600" dirty="0" err="1"/>
              <a:t>bluebird,bird</a:t>
            </a:r>
            <a:r>
              <a:rPr lang="en-US" sz="2600" dirty="0"/>
              <a:t>)</a:t>
            </a:r>
          </a:p>
          <a:p>
            <a:r>
              <a:rPr lang="en-US" sz="2600" dirty="0"/>
              <a:t>isa(</a:t>
            </a:r>
            <a:r>
              <a:rPr lang="en-US" sz="2600" dirty="0" err="1"/>
              <a:t>bird,vertebrate</a:t>
            </a:r>
            <a:r>
              <a:rPr lang="en-US" sz="2600" dirty="0"/>
              <a:t>)</a:t>
            </a:r>
          </a:p>
          <a:p>
            <a:endParaRPr lang="en-US" dirty="0"/>
          </a:p>
        </p:txBody>
      </p:sp>
      <p:sp>
        <p:nvSpPr>
          <p:cNvPr id="4" name="Slide Number Placeholder 3">
            <a:extLst>
              <a:ext uri="{FF2B5EF4-FFF2-40B4-BE49-F238E27FC236}">
                <a16:creationId xmlns:a16="http://schemas.microsoft.com/office/drawing/2014/main" id="{5CA2AC4A-FE45-31E3-FFE8-D36DBE6458BB}"/>
              </a:ext>
            </a:extLst>
          </p:cNvPr>
          <p:cNvSpPr>
            <a:spLocks noGrp="1"/>
          </p:cNvSpPr>
          <p:nvPr>
            <p:ph type="sldNum" sz="quarter" idx="12"/>
          </p:nvPr>
        </p:nvSpPr>
        <p:spPr/>
        <p:txBody>
          <a:bodyPr/>
          <a:lstStyle/>
          <a:p>
            <a:fld id="{71C6F290-D301-4864-9490-340EF11588D9}" type="slidenum">
              <a:rPr lang="en-US" altLang="en-US" smtClean="0"/>
              <a:pPr/>
              <a:t>5</a:t>
            </a:fld>
            <a:endParaRPr lang="en-US" altLang="en-US" dirty="0"/>
          </a:p>
        </p:txBody>
      </p:sp>
      <p:pic>
        <p:nvPicPr>
          <p:cNvPr id="10" name="Picture 9">
            <a:extLst>
              <a:ext uri="{FF2B5EF4-FFF2-40B4-BE49-F238E27FC236}">
                <a16:creationId xmlns:a16="http://schemas.microsoft.com/office/drawing/2014/main" id="{874ACD84-6309-38F6-6D55-014B1C8D496C}"/>
              </a:ext>
            </a:extLst>
          </p:cNvPr>
          <p:cNvPicPr>
            <a:picLocks noChangeAspect="1"/>
          </p:cNvPicPr>
          <p:nvPr/>
        </p:nvPicPr>
        <p:blipFill>
          <a:blip r:embed="rId2"/>
          <a:stretch>
            <a:fillRect/>
          </a:stretch>
        </p:blipFill>
        <p:spPr>
          <a:xfrm>
            <a:off x="3352800" y="3429000"/>
            <a:ext cx="5562600" cy="3200400"/>
          </a:xfrm>
          <a:prstGeom prst="rect">
            <a:avLst/>
          </a:prstGeom>
        </p:spPr>
      </p:pic>
    </p:spTree>
    <p:extLst>
      <p:ext uri="{BB962C8B-B14F-4D97-AF65-F5344CB8AC3E}">
        <p14:creationId xmlns:p14="http://schemas.microsoft.com/office/powerpoint/2010/main" val="2742635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48411-5A19-EBB7-BA13-B6CF7B25AC60}"/>
              </a:ext>
            </a:extLst>
          </p:cNvPr>
          <p:cNvSpPr>
            <a:spLocks noGrp="1"/>
          </p:cNvSpPr>
          <p:nvPr>
            <p:ph type="title"/>
          </p:nvPr>
        </p:nvSpPr>
        <p:spPr>
          <a:xfrm>
            <a:off x="228600" y="228600"/>
            <a:ext cx="7696200" cy="838200"/>
          </a:xfrm>
        </p:spPr>
        <p:txBody>
          <a:bodyPr/>
          <a:lstStyle/>
          <a:p>
            <a:br>
              <a:rPr lang="en-US" i="1" dirty="0">
                <a:solidFill>
                  <a:srgbClr val="FF6600"/>
                </a:solidFill>
              </a:rPr>
            </a:br>
            <a:br>
              <a:rPr lang="en-US" i="1" dirty="0">
                <a:solidFill>
                  <a:srgbClr val="FF6600"/>
                </a:solidFill>
              </a:rPr>
            </a:br>
            <a:br>
              <a:rPr lang="en-US" i="1" dirty="0">
                <a:solidFill>
                  <a:srgbClr val="FF6600"/>
                </a:solidFill>
              </a:rPr>
            </a:br>
            <a:br>
              <a:rPr lang="en-US" i="1" dirty="0">
                <a:solidFill>
                  <a:srgbClr val="FF6600"/>
                </a:solidFill>
              </a:rPr>
            </a:br>
            <a:br>
              <a:rPr lang="en-US" i="1" dirty="0">
                <a:solidFill>
                  <a:srgbClr val="FF6600"/>
                </a:solidFill>
              </a:rPr>
            </a:br>
            <a:r>
              <a:rPr lang="en-US" i="1" dirty="0">
                <a:solidFill>
                  <a:srgbClr val="FF6600"/>
                </a:solidFill>
              </a:rPr>
              <a:t>Propositional Calculus</a:t>
            </a:r>
            <a:br>
              <a:rPr lang="en-US" dirty="0">
                <a:solidFill>
                  <a:srgbClr val="FF6600"/>
                </a:solidFill>
              </a:rPr>
            </a:br>
            <a:endParaRPr lang="en-US" dirty="0"/>
          </a:p>
        </p:txBody>
      </p:sp>
      <p:sp>
        <p:nvSpPr>
          <p:cNvPr id="3" name="Content Placeholder 2">
            <a:extLst>
              <a:ext uri="{FF2B5EF4-FFF2-40B4-BE49-F238E27FC236}">
                <a16:creationId xmlns:a16="http://schemas.microsoft.com/office/drawing/2014/main" id="{73BBA663-90D8-9DCF-6DF0-088A67DFA64E}"/>
              </a:ext>
            </a:extLst>
          </p:cNvPr>
          <p:cNvSpPr>
            <a:spLocks noGrp="1"/>
          </p:cNvSpPr>
          <p:nvPr>
            <p:ph idx="1"/>
          </p:nvPr>
        </p:nvSpPr>
        <p:spPr>
          <a:xfrm>
            <a:off x="228600" y="762000"/>
            <a:ext cx="8305800" cy="5867400"/>
          </a:xfrm>
        </p:spPr>
        <p:txBody>
          <a:bodyPr>
            <a:normAutofit fontScale="32500" lnSpcReduction="20000"/>
          </a:bodyPr>
          <a:lstStyle/>
          <a:p>
            <a:endParaRPr lang="en-US" sz="3400" b="1" dirty="0">
              <a:solidFill>
                <a:srgbClr val="B94917"/>
              </a:solidFill>
            </a:endParaRPr>
          </a:p>
          <a:p>
            <a:r>
              <a:rPr lang="en-US" sz="5500" b="1" dirty="0">
                <a:solidFill>
                  <a:srgbClr val="B94917"/>
                </a:solidFill>
              </a:rPr>
              <a:t>Some of the</a:t>
            </a:r>
            <a:r>
              <a:rPr lang="en-US" sz="5500" dirty="0">
                <a:solidFill>
                  <a:srgbClr val="B94917"/>
                </a:solidFill>
              </a:rPr>
              <a:t> </a:t>
            </a:r>
            <a:r>
              <a:rPr lang="en-US" sz="5500" b="1" dirty="0">
                <a:solidFill>
                  <a:srgbClr val="B94917"/>
                </a:solidFill>
              </a:rPr>
              <a:t>well-known knowledge representation tools are:</a:t>
            </a:r>
          </a:p>
          <a:p>
            <a:r>
              <a:rPr lang="en-US" sz="5500" dirty="0">
                <a:solidFill>
                  <a:srgbClr val="B94917"/>
                </a:solidFill>
              </a:rPr>
              <a:t> </a:t>
            </a:r>
            <a:endParaRPr lang="en-US" sz="5500" b="1" dirty="0">
              <a:solidFill>
                <a:srgbClr val="B94917"/>
              </a:solidFill>
            </a:endParaRPr>
          </a:p>
          <a:p>
            <a:r>
              <a:rPr lang="en-US" sz="5500" dirty="0">
                <a:solidFill>
                  <a:srgbClr val="00B050"/>
                </a:solidFill>
              </a:rPr>
              <a:t>* Propositional calculus    * Predicate calculus     * Semantic network     * Fame-based structure    * Conceptual graphs   *Ontology     *Scripts    </a:t>
            </a:r>
            <a:endParaRPr lang="en-US" sz="5500" b="1" dirty="0">
              <a:solidFill>
                <a:srgbClr val="00B050"/>
              </a:solidFill>
            </a:endParaRPr>
          </a:p>
          <a:p>
            <a:r>
              <a:rPr lang="en-US" sz="4300" b="1" i="1" dirty="0"/>
              <a:t> </a:t>
            </a:r>
            <a:endParaRPr lang="en-US" sz="4300" b="1" dirty="0"/>
          </a:p>
          <a:p>
            <a:r>
              <a:rPr lang="en-US" sz="4200" b="1" i="1" dirty="0">
                <a:solidFill>
                  <a:srgbClr val="FF6600"/>
                </a:solidFill>
              </a:rPr>
              <a:t>Propositional Calculus</a:t>
            </a:r>
            <a:endParaRPr lang="en-US" sz="4200" b="1" dirty="0">
              <a:solidFill>
                <a:srgbClr val="FF6600"/>
              </a:solidFill>
            </a:endParaRPr>
          </a:p>
          <a:p>
            <a:r>
              <a:rPr lang="en-US" b="1" i="1" dirty="0"/>
              <a:t> </a:t>
            </a:r>
            <a:endParaRPr lang="en-US" b="1" dirty="0"/>
          </a:p>
          <a:p>
            <a:r>
              <a:rPr lang="en-US" sz="4000" dirty="0"/>
              <a:t>It is the first language /tool used for knowledge representation</a:t>
            </a:r>
            <a:endParaRPr lang="en-US" sz="4000" b="1" dirty="0"/>
          </a:p>
          <a:p>
            <a:r>
              <a:rPr lang="en-US" sz="4000" dirty="0"/>
              <a:t> </a:t>
            </a:r>
            <a:endParaRPr lang="en-US" sz="4000" b="1" dirty="0"/>
          </a:p>
          <a:p>
            <a:r>
              <a:rPr lang="en-US" sz="4000" b="1" dirty="0"/>
              <a:t>Propositional calculus symbols</a:t>
            </a:r>
          </a:p>
          <a:p>
            <a:r>
              <a:rPr lang="en-US" sz="4000" dirty="0"/>
              <a:t> </a:t>
            </a:r>
            <a:endParaRPr lang="en-US" sz="4000" b="1" dirty="0"/>
          </a:p>
          <a:p>
            <a:r>
              <a:rPr lang="en-US" sz="4000" dirty="0"/>
              <a:t>P,Q,R,S,T, …</a:t>
            </a:r>
            <a:endParaRPr lang="en-US" sz="4000" b="1" dirty="0"/>
          </a:p>
          <a:p>
            <a:r>
              <a:rPr lang="en-US" sz="4000" dirty="0"/>
              <a:t> </a:t>
            </a:r>
            <a:endParaRPr lang="en-US" sz="4000" b="1" dirty="0"/>
          </a:p>
          <a:p>
            <a:r>
              <a:rPr lang="en-US" sz="4000" b="1" dirty="0"/>
              <a:t>Truth symbols</a:t>
            </a:r>
          </a:p>
          <a:p>
            <a:r>
              <a:rPr lang="en-US" sz="4000" dirty="0"/>
              <a:t> </a:t>
            </a:r>
            <a:endParaRPr lang="en-US" sz="4000" b="1" dirty="0"/>
          </a:p>
          <a:p>
            <a:r>
              <a:rPr lang="en-US" sz="4000" dirty="0"/>
              <a:t>True, false</a:t>
            </a:r>
            <a:endParaRPr lang="en-US" sz="4000" b="1" dirty="0"/>
          </a:p>
          <a:p>
            <a:r>
              <a:rPr lang="en-US" sz="4000" dirty="0"/>
              <a:t> </a:t>
            </a:r>
            <a:endParaRPr lang="en-US" sz="4000" b="1" dirty="0"/>
          </a:p>
          <a:p>
            <a:r>
              <a:rPr lang="en-US" sz="4000" b="1" dirty="0"/>
              <a:t>Connectives</a:t>
            </a:r>
          </a:p>
          <a:p>
            <a:r>
              <a:rPr lang="en-US" sz="4000" dirty="0"/>
              <a:t> Ʌ , V, = , and , or , ~ , → (implies)</a:t>
            </a:r>
            <a:endParaRPr lang="en-US" sz="4000" b="1" dirty="0"/>
          </a:p>
          <a:p>
            <a:r>
              <a:rPr lang="en-US" sz="4000" dirty="0"/>
              <a:t> </a:t>
            </a:r>
            <a:endParaRPr lang="en-US" sz="4000" b="1" dirty="0"/>
          </a:p>
          <a:p>
            <a:r>
              <a:rPr lang="en-US" sz="4000" dirty="0"/>
              <a:t>For  A → B,   we say if A is true then B is true, if A is false, nothing is said about B.</a:t>
            </a:r>
            <a:endParaRPr lang="en-US" sz="4000" b="1" dirty="0"/>
          </a:p>
          <a:p>
            <a:r>
              <a:rPr lang="en-US" sz="4000" dirty="0"/>
              <a:t> </a:t>
            </a:r>
            <a:endParaRPr lang="en-US" sz="4000" b="1" dirty="0"/>
          </a:p>
          <a:p>
            <a:r>
              <a:rPr lang="en-US" sz="4000" dirty="0"/>
              <a:t>propositional symbols denote propositions, or statements about the world that may be either true or false, such </a:t>
            </a:r>
            <a:r>
              <a:rPr lang="en-US" sz="4000" b="1" dirty="0"/>
              <a:t>as  " the car is red"  or  " water is wet"</a:t>
            </a:r>
          </a:p>
          <a:p>
            <a:endParaRPr lang="en-US" dirty="0"/>
          </a:p>
        </p:txBody>
      </p:sp>
      <p:sp>
        <p:nvSpPr>
          <p:cNvPr id="4" name="Slide Number Placeholder 3">
            <a:extLst>
              <a:ext uri="{FF2B5EF4-FFF2-40B4-BE49-F238E27FC236}">
                <a16:creationId xmlns:a16="http://schemas.microsoft.com/office/drawing/2014/main" id="{A5FF65AB-91F4-048C-99E5-96FECBA71717}"/>
              </a:ext>
            </a:extLst>
          </p:cNvPr>
          <p:cNvSpPr>
            <a:spLocks noGrp="1"/>
          </p:cNvSpPr>
          <p:nvPr>
            <p:ph type="sldNum" sz="quarter" idx="12"/>
          </p:nvPr>
        </p:nvSpPr>
        <p:spPr/>
        <p:txBody>
          <a:bodyPr/>
          <a:lstStyle/>
          <a:p>
            <a:fld id="{71C6F290-D301-4864-9490-340EF11588D9}" type="slidenum">
              <a:rPr lang="en-US" altLang="en-US" smtClean="0"/>
              <a:pPr/>
              <a:t>6</a:t>
            </a:fld>
            <a:endParaRPr lang="en-US" altLang="en-US" dirty="0"/>
          </a:p>
        </p:txBody>
      </p:sp>
    </p:spTree>
    <p:extLst>
      <p:ext uri="{BB962C8B-B14F-4D97-AF65-F5344CB8AC3E}">
        <p14:creationId xmlns:p14="http://schemas.microsoft.com/office/powerpoint/2010/main" val="1924784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18C1-8B13-4389-8E89-8D92F72BA137}"/>
              </a:ext>
            </a:extLst>
          </p:cNvPr>
          <p:cNvSpPr>
            <a:spLocks noGrp="1"/>
          </p:cNvSpPr>
          <p:nvPr>
            <p:ph type="title"/>
          </p:nvPr>
        </p:nvSpPr>
        <p:spPr>
          <a:xfrm>
            <a:off x="228600" y="228600"/>
            <a:ext cx="7696200" cy="381000"/>
          </a:xfrm>
        </p:spPr>
        <p:txBody>
          <a:bodyPr/>
          <a:lstStyle/>
          <a:p>
            <a:r>
              <a:rPr lang="en-US" i="1" dirty="0">
                <a:solidFill>
                  <a:srgbClr val="FF6600"/>
                </a:solidFill>
              </a:rPr>
              <a:t>Propositional Calculus</a:t>
            </a:r>
            <a:endParaRPr lang="en-US" dirty="0"/>
          </a:p>
        </p:txBody>
      </p:sp>
      <p:sp>
        <p:nvSpPr>
          <p:cNvPr id="3" name="Content Placeholder 2">
            <a:extLst>
              <a:ext uri="{FF2B5EF4-FFF2-40B4-BE49-F238E27FC236}">
                <a16:creationId xmlns:a16="http://schemas.microsoft.com/office/drawing/2014/main" id="{13F80049-760D-01A2-1AA9-8DC1B9F804BA}"/>
              </a:ext>
            </a:extLst>
          </p:cNvPr>
          <p:cNvSpPr>
            <a:spLocks noGrp="1"/>
          </p:cNvSpPr>
          <p:nvPr>
            <p:ph idx="1"/>
          </p:nvPr>
        </p:nvSpPr>
        <p:spPr>
          <a:xfrm>
            <a:off x="228600" y="762000"/>
            <a:ext cx="8305800" cy="6019800"/>
          </a:xfrm>
        </p:spPr>
        <p:txBody>
          <a:bodyPr>
            <a:normAutofit fontScale="25000" lnSpcReduction="20000"/>
          </a:bodyPr>
          <a:lstStyle/>
          <a:p>
            <a:r>
              <a:rPr lang="en-US" sz="6400" dirty="0">
                <a:solidFill>
                  <a:srgbClr val="FF6600"/>
                </a:solidFill>
              </a:rPr>
              <a:t>Propositional calculus sentences</a:t>
            </a:r>
          </a:p>
          <a:p>
            <a:endParaRPr lang="en-US" dirty="0"/>
          </a:p>
          <a:p>
            <a:r>
              <a:rPr lang="en-US" sz="5600" dirty="0"/>
              <a:t>Every propositional symbol and truth symbol is a sentence. Any combination between two sentences using connectives is a sentence.</a:t>
            </a:r>
          </a:p>
          <a:p>
            <a:endParaRPr lang="en-US" sz="5600" dirty="0"/>
          </a:p>
          <a:p>
            <a:r>
              <a:rPr lang="en-US" sz="5600" dirty="0"/>
              <a:t>P and Q ,  P or ~ P  , P → Q (T  → F  gives F otherwise true) – </a:t>
            </a:r>
          </a:p>
          <a:p>
            <a:endParaRPr lang="en-US" sz="5600" dirty="0"/>
          </a:p>
          <a:p>
            <a:r>
              <a:rPr lang="en-US" sz="5600" dirty="0"/>
              <a:t>((P and Q ) → R) = ~P or ~Q or R</a:t>
            </a:r>
          </a:p>
          <a:p>
            <a:endParaRPr lang="en-US" sz="5600" dirty="0"/>
          </a:p>
          <a:p>
            <a:r>
              <a:rPr lang="en-US" sz="5600" dirty="0"/>
              <a:t>(P or  Q) = R         not equal        P or (Q=R).</a:t>
            </a:r>
          </a:p>
          <a:p>
            <a:r>
              <a:rPr lang="en-US" sz="5600" dirty="0"/>
              <a:t>Refer to all the related laws of propositional calculus in the lecture notes.</a:t>
            </a:r>
          </a:p>
          <a:p>
            <a:r>
              <a:rPr lang="en-US" sz="5600" dirty="0"/>
              <a:t>~ (~ P) = P</a:t>
            </a:r>
          </a:p>
          <a:p>
            <a:r>
              <a:rPr lang="en-US" sz="5600" dirty="0"/>
              <a:t>(P V Q) = (~  P → Q)</a:t>
            </a:r>
          </a:p>
          <a:p>
            <a:endParaRPr lang="en-US" sz="5600" dirty="0"/>
          </a:p>
          <a:p>
            <a:r>
              <a:rPr lang="en-US" sz="5600" dirty="0"/>
              <a:t>~ (P V Q) = (~  P Ʌ  ~  Q)</a:t>
            </a:r>
          </a:p>
          <a:p>
            <a:endParaRPr lang="en-US" sz="5600" dirty="0"/>
          </a:p>
          <a:p>
            <a:r>
              <a:rPr lang="en-US" sz="5600" dirty="0"/>
              <a:t>~  (P  Ʌ Q) = (~  P V ~  Q)</a:t>
            </a:r>
          </a:p>
          <a:p>
            <a:r>
              <a:rPr lang="en-US" sz="5600" dirty="0"/>
              <a:t>(P  Ʌ Q) = (Q  Ʌ P)     and   ( P V Q) = (Q V P)</a:t>
            </a:r>
          </a:p>
          <a:p>
            <a:r>
              <a:rPr lang="en-US" sz="5600" dirty="0"/>
              <a:t>((P Ʌ Q) Ʌ R) = (P Ʌ (Q Ʌ R))   Associative law</a:t>
            </a:r>
          </a:p>
          <a:p>
            <a:endParaRPr lang="en-US" sz="5600" dirty="0"/>
          </a:p>
          <a:p>
            <a:r>
              <a:rPr lang="en-US" sz="5600" dirty="0"/>
              <a:t>((P V Q) V R) = (P V (Q V R))</a:t>
            </a:r>
          </a:p>
          <a:p>
            <a:r>
              <a:rPr lang="en-US" sz="5600" dirty="0"/>
              <a:t>P V (Q Ʌ R) = (P V Q) Ʌ (P V R)   Distributive law</a:t>
            </a:r>
          </a:p>
          <a:p>
            <a:endParaRPr lang="en-US" sz="5600" dirty="0"/>
          </a:p>
          <a:p>
            <a:r>
              <a:rPr lang="en-US" sz="5600" dirty="0"/>
              <a:t>P  Ʌ (Q  V R) = (P Ʌ Q) V (P Ʌ R)</a:t>
            </a:r>
          </a:p>
          <a:p>
            <a:endParaRPr lang="en-US" sz="5600" dirty="0"/>
          </a:p>
          <a:p>
            <a:r>
              <a:rPr lang="en-US" sz="5600" dirty="0"/>
              <a:t>(P  → Q) = (~  Q → ~  P)  Contra positive law </a:t>
            </a:r>
          </a:p>
        </p:txBody>
      </p:sp>
      <p:sp>
        <p:nvSpPr>
          <p:cNvPr id="4" name="Slide Number Placeholder 3">
            <a:extLst>
              <a:ext uri="{FF2B5EF4-FFF2-40B4-BE49-F238E27FC236}">
                <a16:creationId xmlns:a16="http://schemas.microsoft.com/office/drawing/2014/main" id="{98F595B2-304E-FB1E-C78D-4B4276E6E0F9}"/>
              </a:ext>
            </a:extLst>
          </p:cNvPr>
          <p:cNvSpPr>
            <a:spLocks noGrp="1"/>
          </p:cNvSpPr>
          <p:nvPr>
            <p:ph type="sldNum" sz="quarter" idx="12"/>
          </p:nvPr>
        </p:nvSpPr>
        <p:spPr/>
        <p:txBody>
          <a:bodyPr/>
          <a:lstStyle/>
          <a:p>
            <a:fld id="{71C6F290-D301-4864-9490-340EF11588D9}" type="slidenum">
              <a:rPr lang="en-US" altLang="en-US" smtClean="0"/>
              <a:pPr/>
              <a:t>7</a:t>
            </a:fld>
            <a:endParaRPr lang="en-US" altLang="en-US" dirty="0"/>
          </a:p>
        </p:txBody>
      </p:sp>
    </p:spTree>
    <p:extLst>
      <p:ext uri="{BB962C8B-B14F-4D97-AF65-F5344CB8AC3E}">
        <p14:creationId xmlns:p14="http://schemas.microsoft.com/office/powerpoint/2010/main" val="1446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DDA05-4D4E-5FC2-2752-077EB8F71BDD}"/>
              </a:ext>
            </a:extLst>
          </p:cNvPr>
          <p:cNvSpPr>
            <a:spLocks noGrp="1"/>
          </p:cNvSpPr>
          <p:nvPr>
            <p:ph type="title"/>
          </p:nvPr>
        </p:nvSpPr>
        <p:spPr>
          <a:xfrm>
            <a:off x="228600" y="228600"/>
            <a:ext cx="7696200" cy="381000"/>
          </a:xfrm>
        </p:spPr>
        <p:txBody>
          <a:bodyPr/>
          <a:lstStyle/>
          <a:p>
            <a:r>
              <a:rPr lang="en-US" i="1" dirty="0">
                <a:solidFill>
                  <a:srgbClr val="FF6600"/>
                </a:solidFill>
              </a:rPr>
              <a:t>Predicate Calculus</a:t>
            </a:r>
            <a:endParaRPr lang="en-US" dirty="0">
              <a:solidFill>
                <a:srgbClr val="FF6600"/>
              </a:solidFill>
            </a:endParaRPr>
          </a:p>
        </p:txBody>
      </p:sp>
      <p:sp>
        <p:nvSpPr>
          <p:cNvPr id="3" name="Content Placeholder 2">
            <a:extLst>
              <a:ext uri="{FF2B5EF4-FFF2-40B4-BE49-F238E27FC236}">
                <a16:creationId xmlns:a16="http://schemas.microsoft.com/office/drawing/2014/main" id="{34BF3984-69F1-0B6B-129D-BEDE28138FDF}"/>
              </a:ext>
            </a:extLst>
          </p:cNvPr>
          <p:cNvSpPr>
            <a:spLocks noGrp="1"/>
          </p:cNvSpPr>
          <p:nvPr>
            <p:ph idx="1"/>
          </p:nvPr>
        </p:nvSpPr>
        <p:spPr>
          <a:xfrm>
            <a:off x="228600" y="685800"/>
            <a:ext cx="8305800" cy="6007359"/>
          </a:xfrm>
        </p:spPr>
        <p:txBody>
          <a:bodyPr>
            <a:normAutofit fontScale="25000" lnSpcReduction="20000"/>
          </a:bodyPr>
          <a:lstStyle/>
          <a:p>
            <a:r>
              <a:rPr lang="en-US" sz="9600" b="1" i="1" dirty="0">
                <a:solidFill>
                  <a:srgbClr val="FF6600"/>
                </a:solidFill>
              </a:rPr>
              <a:t>Predicate Calculus</a:t>
            </a:r>
            <a:endParaRPr lang="en-US" sz="9600" b="1" dirty="0">
              <a:solidFill>
                <a:srgbClr val="FF6600"/>
              </a:solidFill>
            </a:endParaRPr>
          </a:p>
          <a:p>
            <a:r>
              <a:rPr lang="en-US" dirty="0"/>
              <a:t> </a:t>
            </a:r>
            <a:endParaRPr lang="en-US" b="1" dirty="0"/>
          </a:p>
          <a:p>
            <a:r>
              <a:rPr lang="en-US" sz="6000" dirty="0"/>
              <a:t>Using propositional logic, we can write a sentence </a:t>
            </a:r>
            <a:r>
              <a:rPr lang="en-US" sz="6000" b="1" dirty="0"/>
              <a:t>" It rained on Tuesday"</a:t>
            </a:r>
            <a:r>
              <a:rPr lang="en-US" sz="6000" dirty="0"/>
              <a:t>.  How to say that for every day in the week ? We can create a predicate </a:t>
            </a:r>
            <a:r>
              <a:rPr lang="en-US" sz="6000" b="1" dirty="0"/>
              <a:t>weather</a:t>
            </a:r>
            <a:r>
              <a:rPr lang="en-US" sz="6000" dirty="0"/>
              <a:t> that describes  a relationship between a date and the weather :</a:t>
            </a:r>
            <a:endParaRPr lang="en-US" sz="6000" b="1" dirty="0"/>
          </a:p>
          <a:p>
            <a:r>
              <a:rPr lang="en-US" sz="6000" dirty="0"/>
              <a:t>      weather (Tuesday, rain).  We can write </a:t>
            </a:r>
            <a:r>
              <a:rPr lang="en-US" sz="6000" b="1" dirty="0"/>
              <a:t>weather(</a:t>
            </a:r>
            <a:r>
              <a:rPr lang="en-US" sz="6000" b="1" dirty="0" err="1"/>
              <a:t>X,rain</a:t>
            </a:r>
            <a:r>
              <a:rPr lang="en-US" sz="6000" b="1" dirty="0"/>
              <a:t>) </a:t>
            </a:r>
            <a:r>
              <a:rPr lang="en-US" sz="6000" dirty="0"/>
              <a:t>for all the days of the week.</a:t>
            </a:r>
            <a:endParaRPr lang="en-US" sz="6000" b="1" dirty="0"/>
          </a:p>
          <a:p>
            <a:r>
              <a:rPr lang="en-US" sz="6000" dirty="0"/>
              <a:t>     </a:t>
            </a:r>
            <a:endParaRPr lang="en-US" sz="6000" b="1" dirty="0"/>
          </a:p>
          <a:p>
            <a:r>
              <a:rPr lang="en-US" sz="6000" b="1" dirty="0"/>
              <a:t>The alphabet</a:t>
            </a:r>
          </a:p>
          <a:p>
            <a:pPr lvl="0"/>
            <a:r>
              <a:rPr lang="en-US" sz="6000" dirty="0"/>
              <a:t>The set of letters (upper and lower).</a:t>
            </a:r>
            <a:endParaRPr lang="en-US" sz="6000" b="1" dirty="0"/>
          </a:p>
          <a:p>
            <a:pPr lvl="0"/>
            <a:r>
              <a:rPr lang="en-US" sz="6000" dirty="0"/>
              <a:t>The set of digits 0,1,…,9.</a:t>
            </a:r>
            <a:endParaRPr lang="en-US" sz="6000" b="1" dirty="0"/>
          </a:p>
          <a:p>
            <a:pPr lvl="0"/>
            <a:r>
              <a:rPr lang="en-US" sz="6000" dirty="0"/>
              <a:t>The underscore</a:t>
            </a:r>
            <a:endParaRPr lang="en-US" sz="6000" b="1" dirty="0"/>
          </a:p>
          <a:p>
            <a:pPr lvl="0"/>
            <a:r>
              <a:rPr lang="en-US" sz="6000" dirty="0"/>
              <a:t>Constants must begin with lower letter (e.g. </a:t>
            </a:r>
            <a:r>
              <a:rPr lang="en-US" sz="6000" dirty="0" err="1"/>
              <a:t>ali</a:t>
            </a:r>
            <a:r>
              <a:rPr lang="en-US" sz="6000" dirty="0"/>
              <a:t> , cat, …..)</a:t>
            </a:r>
            <a:endParaRPr lang="en-US" sz="6000" b="1" dirty="0"/>
          </a:p>
          <a:p>
            <a:r>
              <a:rPr lang="en-US" sz="6000" dirty="0"/>
              <a:t> </a:t>
            </a:r>
            <a:endParaRPr lang="en-US" sz="6000" b="1" dirty="0"/>
          </a:p>
          <a:p>
            <a:pPr lvl="0"/>
            <a:r>
              <a:rPr lang="en-US" sz="6000" dirty="0"/>
              <a:t>Variables must begin with upper letter  (e.g., X, Y, </a:t>
            </a:r>
            <a:r>
              <a:rPr lang="en-US" sz="6000" dirty="0" err="1"/>
              <a:t>X_name</a:t>
            </a:r>
            <a:r>
              <a:rPr lang="en-US" sz="6000" dirty="0"/>
              <a:t>, ……)</a:t>
            </a:r>
            <a:endParaRPr lang="en-US" sz="6000" b="1" dirty="0"/>
          </a:p>
          <a:p>
            <a:r>
              <a:rPr lang="en-US" sz="6000" dirty="0"/>
              <a:t> </a:t>
            </a:r>
            <a:endParaRPr lang="en-US" sz="6000" b="1" dirty="0"/>
          </a:p>
          <a:p>
            <a:pPr lvl="0"/>
            <a:r>
              <a:rPr lang="en-US" sz="6000" dirty="0"/>
              <a:t>A function expression is a function symbol (starts with small letter) followed by its arguments. </a:t>
            </a:r>
            <a:endParaRPr lang="en-US" sz="6000" b="1" dirty="0"/>
          </a:p>
          <a:p>
            <a:r>
              <a:rPr lang="en-US" sz="6000" dirty="0"/>
              <a:t>(e.g.,  f(X,Y) ,  plus(3,5) , all are well formed function expression).</a:t>
            </a:r>
            <a:endParaRPr lang="en-US" sz="6000" b="1" dirty="0"/>
          </a:p>
          <a:p>
            <a:r>
              <a:rPr lang="en-US" sz="6000" dirty="0"/>
              <a:t> </a:t>
            </a:r>
            <a:endParaRPr lang="en-US" sz="6000" b="1" dirty="0"/>
          </a:p>
          <a:p>
            <a:r>
              <a:rPr lang="en-US" sz="6000" b="1" dirty="0"/>
              <a:t>Symbols and Terms</a:t>
            </a:r>
          </a:p>
          <a:p>
            <a:r>
              <a:rPr lang="en-US" sz="6000" b="1" dirty="0"/>
              <a:t> </a:t>
            </a:r>
          </a:p>
          <a:p>
            <a:r>
              <a:rPr lang="en-US" sz="6000" dirty="0"/>
              <a:t>It includes </a:t>
            </a:r>
            <a:endParaRPr lang="en-US" sz="6000" b="1" dirty="0"/>
          </a:p>
          <a:p>
            <a:pPr lvl="0"/>
            <a:r>
              <a:rPr lang="en-US" sz="6000" dirty="0"/>
              <a:t>Truth symbols true and false.</a:t>
            </a:r>
            <a:endParaRPr lang="en-US" sz="6000" b="1" dirty="0"/>
          </a:p>
          <a:p>
            <a:pPr lvl="0"/>
            <a:r>
              <a:rPr lang="en-US" sz="6000" dirty="0"/>
              <a:t>Constant symbols.</a:t>
            </a:r>
            <a:endParaRPr lang="en-US" sz="6000" b="1" dirty="0"/>
          </a:p>
          <a:p>
            <a:pPr lvl="0"/>
            <a:r>
              <a:rPr lang="en-US" sz="6000" dirty="0"/>
              <a:t>Variable symbols.</a:t>
            </a:r>
            <a:endParaRPr lang="en-US" sz="6000" b="1" dirty="0"/>
          </a:p>
          <a:p>
            <a:pPr lvl="0"/>
            <a:r>
              <a:rPr lang="en-US" sz="6000" dirty="0"/>
              <a:t>Function symbols.</a:t>
            </a:r>
            <a:endParaRPr lang="en-US" sz="6000" b="1" dirty="0"/>
          </a:p>
          <a:p>
            <a:endParaRPr lang="en-US" dirty="0"/>
          </a:p>
        </p:txBody>
      </p:sp>
      <p:sp>
        <p:nvSpPr>
          <p:cNvPr id="4" name="Slide Number Placeholder 3">
            <a:extLst>
              <a:ext uri="{FF2B5EF4-FFF2-40B4-BE49-F238E27FC236}">
                <a16:creationId xmlns:a16="http://schemas.microsoft.com/office/drawing/2014/main" id="{95787DE2-E5F8-CD8B-DBA8-EC6F174843FB}"/>
              </a:ext>
            </a:extLst>
          </p:cNvPr>
          <p:cNvSpPr>
            <a:spLocks noGrp="1"/>
          </p:cNvSpPr>
          <p:nvPr>
            <p:ph type="sldNum" sz="quarter" idx="12"/>
          </p:nvPr>
        </p:nvSpPr>
        <p:spPr/>
        <p:txBody>
          <a:bodyPr/>
          <a:lstStyle/>
          <a:p>
            <a:fld id="{71C6F290-D301-4864-9490-340EF11588D9}" type="slidenum">
              <a:rPr lang="en-US" altLang="en-US" smtClean="0"/>
              <a:pPr/>
              <a:t>8</a:t>
            </a:fld>
            <a:endParaRPr lang="en-US" altLang="en-US" dirty="0"/>
          </a:p>
        </p:txBody>
      </p:sp>
    </p:spTree>
    <p:extLst>
      <p:ext uri="{BB962C8B-B14F-4D97-AF65-F5344CB8AC3E}">
        <p14:creationId xmlns:p14="http://schemas.microsoft.com/office/powerpoint/2010/main" val="1598082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38D21-B268-2DC1-4840-1A3E94FE0260}"/>
              </a:ext>
            </a:extLst>
          </p:cNvPr>
          <p:cNvSpPr>
            <a:spLocks noGrp="1"/>
          </p:cNvSpPr>
          <p:nvPr>
            <p:ph type="title"/>
          </p:nvPr>
        </p:nvSpPr>
        <p:spPr>
          <a:xfrm>
            <a:off x="228600" y="228600"/>
            <a:ext cx="8382000" cy="762000"/>
          </a:xfrm>
        </p:spPr>
        <p:txBody>
          <a:bodyPr/>
          <a:lstStyle/>
          <a:p>
            <a:br>
              <a:rPr lang="en-US" i="1" dirty="0">
                <a:solidFill>
                  <a:srgbClr val="FF6600"/>
                </a:solidFill>
              </a:rPr>
            </a:br>
            <a:br>
              <a:rPr lang="en-US" i="1" dirty="0">
                <a:solidFill>
                  <a:srgbClr val="FF6600"/>
                </a:solidFill>
              </a:rPr>
            </a:br>
            <a:br>
              <a:rPr lang="en-US" i="1" dirty="0">
                <a:solidFill>
                  <a:srgbClr val="FF6600"/>
                </a:solidFill>
              </a:rPr>
            </a:br>
            <a:br>
              <a:rPr lang="en-US" dirty="0">
                <a:solidFill>
                  <a:srgbClr val="FF6600"/>
                </a:solidFill>
              </a:rPr>
            </a:br>
            <a:r>
              <a:rPr lang="en-US" i="1" dirty="0">
                <a:solidFill>
                  <a:srgbClr val="FF6600"/>
                </a:solidFill>
              </a:rPr>
              <a:t>Predicate Calculus</a:t>
            </a:r>
            <a:endParaRPr lang="en-US" dirty="0"/>
          </a:p>
        </p:txBody>
      </p:sp>
      <p:sp>
        <p:nvSpPr>
          <p:cNvPr id="3" name="Content Placeholder 2">
            <a:extLst>
              <a:ext uri="{FF2B5EF4-FFF2-40B4-BE49-F238E27FC236}">
                <a16:creationId xmlns:a16="http://schemas.microsoft.com/office/drawing/2014/main" id="{27AD6686-D863-8E92-26CE-17DBB3E1BC94}"/>
              </a:ext>
            </a:extLst>
          </p:cNvPr>
          <p:cNvSpPr>
            <a:spLocks noGrp="1"/>
          </p:cNvSpPr>
          <p:nvPr>
            <p:ph idx="1"/>
          </p:nvPr>
        </p:nvSpPr>
        <p:spPr>
          <a:xfrm>
            <a:off x="228600" y="838200"/>
            <a:ext cx="8305800" cy="5791200"/>
          </a:xfrm>
        </p:spPr>
        <p:txBody>
          <a:bodyPr>
            <a:normAutofit fontScale="25000" lnSpcReduction="20000"/>
          </a:bodyPr>
          <a:lstStyle/>
          <a:p>
            <a:endParaRPr lang="en-US" sz="7200" dirty="0"/>
          </a:p>
          <a:p>
            <a:r>
              <a:rPr lang="en-US" sz="7200" dirty="0"/>
              <a:t>Atomic sentence in predicate calculus is a predicate of arity n followed by n terms closed in parentheses separated by commas.</a:t>
            </a:r>
            <a:endParaRPr lang="en-US" sz="7200" b="1" dirty="0"/>
          </a:p>
          <a:p>
            <a:r>
              <a:rPr lang="en-US" sz="7200" dirty="0">
                <a:solidFill>
                  <a:srgbClr val="FF6600"/>
                </a:solidFill>
              </a:rPr>
              <a:t>likes(</a:t>
            </a:r>
            <a:r>
              <a:rPr lang="en-US" sz="7200" dirty="0" err="1">
                <a:solidFill>
                  <a:srgbClr val="FF6600"/>
                </a:solidFill>
              </a:rPr>
              <a:t>ali,milk</a:t>
            </a:r>
            <a:r>
              <a:rPr lang="en-US" sz="7200" dirty="0">
                <a:solidFill>
                  <a:srgbClr val="FF6600"/>
                </a:solidFill>
              </a:rPr>
              <a:t>).</a:t>
            </a:r>
            <a:endParaRPr lang="en-US" sz="7200" b="1" dirty="0">
              <a:solidFill>
                <a:srgbClr val="FF6600"/>
              </a:solidFill>
            </a:endParaRPr>
          </a:p>
          <a:p>
            <a:r>
              <a:rPr lang="en-US" sz="7200" dirty="0">
                <a:solidFill>
                  <a:srgbClr val="FF6600"/>
                </a:solidFill>
              </a:rPr>
              <a:t>likes(</a:t>
            </a:r>
            <a:r>
              <a:rPr lang="en-US" sz="7200" dirty="0" err="1">
                <a:solidFill>
                  <a:srgbClr val="FF6600"/>
                </a:solidFill>
              </a:rPr>
              <a:t>ali,moh'd,milk</a:t>
            </a:r>
            <a:r>
              <a:rPr lang="en-US" sz="7200" dirty="0">
                <a:solidFill>
                  <a:srgbClr val="FF6600"/>
                </a:solidFill>
              </a:rPr>
              <a:t>).</a:t>
            </a:r>
            <a:endParaRPr lang="en-US" sz="7200" b="1" dirty="0">
              <a:solidFill>
                <a:srgbClr val="FF6600"/>
              </a:solidFill>
            </a:endParaRPr>
          </a:p>
          <a:p>
            <a:r>
              <a:rPr lang="en-US" sz="7200" dirty="0">
                <a:solidFill>
                  <a:srgbClr val="FF6600"/>
                </a:solidFill>
              </a:rPr>
              <a:t>friends(</a:t>
            </a:r>
            <a:r>
              <a:rPr lang="en-US" sz="7200" dirty="0" err="1">
                <a:solidFill>
                  <a:srgbClr val="FF6600"/>
                </a:solidFill>
              </a:rPr>
              <a:t>ali,kamal</a:t>
            </a:r>
            <a:r>
              <a:rPr lang="en-US" sz="7200" dirty="0">
                <a:solidFill>
                  <a:srgbClr val="FF6600"/>
                </a:solidFill>
              </a:rPr>
              <a:t>).</a:t>
            </a:r>
            <a:endParaRPr lang="en-US" sz="7200" b="1" dirty="0">
              <a:solidFill>
                <a:srgbClr val="FF6600"/>
              </a:solidFill>
            </a:endParaRPr>
          </a:p>
          <a:p>
            <a:r>
              <a:rPr lang="en-US" sz="7200" dirty="0">
                <a:solidFill>
                  <a:srgbClr val="FF6600"/>
                </a:solidFill>
              </a:rPr>
              <a:t>friends (father(</a:t>
            </a:r>
            <a:r>
              <a:rPr lang="en-US" sz="7200" dirty="0" err="1">
                <a:solidFill>
                  <a:srgbClr val="FF6600"/>
                </a:solidFill>
              </a:rPr>
              <a:t>ali</a:t>
            </a:r>
            <a:r>
              <a:rPr lang="en-US" sz="7200" dirty="0">
                <a:solidFill>
                  <a:srgbClr val="FF6600"/>
                </a:solidFill>
              </a:rPr>
              <a:t>),father(</a:t>
            </a:r>
            <a:r>
              <a:rPr lang="en-US" sz="7200" dirty="0" err="1">
                <a:solidFill>
                  <a:srgbClr val="FF6600"/>
                </a:solidFill>
              </a:rPr>
              <a:t>mohd</a:t>
            </a:r>
            <a:r>
              <a:rPr lang="en-US" sz="7200" dirty="0">
                <a:solidFill>
                  <a:srgbClr val="FF6600"/>
                </a:solidFill>
              </a:rPr>
              <a:t>)).</a:t>
            </a:r>
            <a:endParaRPr lang="en-US" sz="7200" b="1" dirty="0">
              <a:solidFill>
                <a:srgbClr val="FF6600"/>
              </a:solidFill>
            </a:endParaRPr>
          </a:p>
          <a:p>
            <a:r>
              <a:rPr lang="en-US" sz="7200" dirty="0">
                <a:solidFill>
                  <a:srgbClr val="FF6600"/>
                </a:solidFill>
              </a:rPr>
              <a:t>john:-father(</a:t>
            </a:r>
            <a:r>
              <a:rPr lang="en-US" sz="7200" dirty="0" err="1">
                <a:solidFill>
                  <a:srgbClr val="FF6600"/>
                </a:solidFill>
              </a:rPr>
              <a:t>ali</a:t>
            </a:r>
            <a:r>
              <a:rPr lang="en-US" sz="7200" dirty="0">
                <a:solidFill>
                  <a:srgbClr val="FF6600"/>
                </a:solidFill>
              </a:rPr>
              <a:t>).</a:t>
            </a:r>
            <a:endParaRPr lang="en-US" sz="7200" b="1" dirty="0">
              <a:solidFill>
                <a:srgbClr val="FF6600"/>
              </a:solidFill>
            </a:endParaRPr>
          </a:p>
          <a:p>
            <a:r>
              <a:rPr lang="en-US" sz="7200" dirty="0" err="1">
                <a:solidFill>
                  <a:srgbClr val="FF6600"/>
                </a:solidFill>
              </a:rPr>
              <a:t>kammal</a:t>
            </a:r>
            <a:r>
              <a:rPr lang="en-US" sz="7200" dirty="0">
                <a:solidFill>
                  <a:srgbClr val="FF6600"/>
                </a:solidFill>
              </a:rPr>
              <a:t>:- father(</a:t>
            </a:r>
            <a:r>
              <a:rPr lang="en-US" sz="7200" dirty="0" err="1">
                <a:solidFill>
                  <a:srgbClr val="FF6600"/>
                </a:solidFill>
              </a:rPr>
              <a:t>mohd</a:t>
            </a:r>
            <a:r>
              <a:rPr lang="en-US" sz="7200" dirty="0">
                <a:solidFill>
                  <a:srgbClr val="FF6600"/>
                </a:solidFill>
              </a:rPr>
              <a:t>).</a:t>
            </a:r>
            <a:endParaRPr lang="en-US" sz="7200" b="1" dirty="0">
              <a:solidFill>
                <a:srgbClr val="FF6600"/>
              </a:solidFill>
            </a:endParaRPr>
          </a:p>
          <a:p>
            <a:r>
              <a:rPr lang="en-US" sz="7200" dirty="0"/>
              <a:t>Any combinations between sentences </a:t>
            </a:r>
            <a:r>
              <a:rPr lang="en-US" sz="7200" dirty="0">
                <a:solidFill>
                  <a:srgbClr val="FF0000"/>
                </a:solidFill>
              </a:rPr>
              <a:t>using connectives is a sentence.</a:t>
            </a:r>
            <a:endParaRPr lang="en-US" sz="7200" b="1" dirty="0">
              <a:solidFill>
                <a:srgbClr val="FF0000"/>
              </a:solidFill>
            </a:endParaRPr>
          </a:p>
          <a:p>
            <a:r>
              <a:rPr lang="en-US" sz="7200" dirty="0"/>
              <a:t> </a:t>
            </a:r>
            <a:endParaRPr lang="en-US" sz="7200" b="1" dirty="0"/>
          </a:p>
          <a:p>
            <a:r>
              <a:rPr lang="en-US" sz="7200" dirty="0"/>
              <a:t>In predicate calculus we use two main quantifiers for all values  </a:t>
            </a:r>
            <a:r>
              <a:rPr lang="en-US" sz="7200" b="1" dirty="0">
                <a:solidFill>
                  <a:srgbClr val="B94917"/>
                </a:solidFill>
              </a:rPr>
              <a:t>∀</a:t>
            </a:r>
            <a:r>
              <a:rPr lang="en-US" sz="7200" dirty="0"/>
              <a:t> and there exist  </a:t>
            </a:r>
            <a:r>
              <a:rPr lang="en-US" sz="7200" dirty="0">
                <a:solidFill>
                  <a:srgbClr val="B94917"/>
                </a:solidFill>
              </a:rPr>
              <a:t>Ǝ</a:t>
            </a:r>
            <a:endParaRPr lang="en-US" sz="7200" b="1" dirty="0">
              <a:solidFill>
                <a:srgbClr val="B94917"/>
              </a:solidFill>
            </a:endParaRPr>
          </a:p>
          <a:p>
            <a:r>
              <a:rPr lang="en-US" sz="7200" dirty="0"/>
              <a:t> </a:t>
            </a:r>
            <a:endParaRPr lang="en-US" sz="7200" b="1" dirty="0"/>
          </a:p>
          <a:p>
            <a:r>
              <a:rPr lang="en-US" sz="7200" dirty="0"/>
              <a:t>All people like ice-cream  ∀X likes(</a:t>
            </a:r>
            <a:r>
              <a:rPr lang="en-US" sz="7200" dirty="0" err="1"/>
              <a:t>X,ice_cream</a:t>
            </a:r>
            <a:r>
              <a:rPr lang="en-US" sz="7200" dirty="0"/>
              <a:t>).</a:t>
            </a:r>
            <a:endParaRPr lang="en-US" sz="7200" b="1" dirty="0"/>
          </a:p>
          <a:p>
            <a:r>
              <a:rPr lang="en-US" sz="7200" dirty="0"/>
              <a:t> </a:t>
            </a:r>
            <a:endParaRPr lang="en-US" sz="7200" b="1" dirty="0"/>
          </a:p>
          <a:p>
            <a:r>
              <a:rPr lang="en-US" sz="7200" b="1" dirty="0">
                <a:solidFill>
                  <a:srgbClr val="0070C0"/>
                </a:solidFill>
              </a:rPr>
              <a:t>At least there is one friend for peter.</a:t>
            </a:r>
          </a:p>
          <a:p>
            <a:r>
              <a:rPr lang="en-US" sz="7200" dirty="0"/>
              <a:t> </a:t>
            </a:r>
            <a:endParaRPr lang="en-US" sz="7200" b="1" dirty="0"/>
          </a:p>
          <a:p>
            <a:r>
              <a:rPr lang="en-US" sz="7200" dirty="0"/>
              <a:t>ƎY  friends(Y, peter).  </a:t>
            </a:r>
            <a:endParaRPr lang="en-US" sz="7200" b="1" dirty="0"/>
          </a:p>
          <a:p>
            <a:r>
              <a:rPr lang="en-US" sz="7200" dirty="0"/>
              <a:t>If X is a variable and S is a sentence then  ∀X  S is sentence.</a:t>
            </a:r>
            <a:endParaRPr lang="en-US" sz="7200" b="1" dirty="0"/>
          </a:p>
          <a:p>
            <a:r>
              <a:rPr lang="en-US" sz="7200" dirty="0"/>
              <a:t>                                                                    ƎX  S is a sentence.</a:t>
            </a:r>
            <a:endParaRPr lang="en-US" sz="7200" b="1" dirty="0"/>
          </a:p>
          <a:p>
            <a:endParaRPr lang="en-US" dirty="0"/>
          </a:p>
        </p:txBody>
      </p:sp>
      <p:sp>
        <p:nvSpPr>
          <p:cNvPr id="4" name="Slide Number Placeholder 3">
            <a:extLst>
              <a:ext uri="{FF2B5EF4-FFF2-40B4-BE49-F238E27FC236}">
                <a16:creationId xmlns:a16="http://schemas.microsoft.com/office/drawing/2014/main" id="{0C74462F-585E-2374-7EAC-6CC25FDB0F4D}"/>
              </a:ext>
            </a:extLst>
          </p:cNvPr>
          <p:cNvSpPr>
            <a:spLocks noGrp="1"/>
          </p:cNvSpPr>
          <p:nvPr>
            <p:ph type="sldNum" sz="quarter" idx="12"/>
          </p:nvPr>
        </p:nvSpPr>
        <p:spPr/>
        <p:txBody>
          <a:bodyPr/>
          <a:lstStyle/>
          <a:p>
            <a:fld id="{71C6F290-D301-4864-9490-340EF11588D9}" type="slidenum">
              <a:rPr lang="en-US" altLang="en-US" smtClean="0"/>
              <a:pPr/>
              <a:t>9</a:t>
            </a:fld>
            <a:endParaRPr lang="en-US" altLang="en-US" dirty="0"/>
          </a:p>
        </p:txBody>
      </p:sp>
    </p:spTree>
    <p:extLst>
      <p:ext uri="{BB962C8B-B14F-4D97-AF65-F5344CB8AC3E}">
        <p14:creationId xmlns:p14="http://schemas.microsoft.com/office/powerpoint/2010/main" val="174515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BD888-DB55-C512-8FC1-E2B18F5CE6A1}"/>
              </a:ext>
            </a:extLst>
          </p:cNvPr>
          <p:cNvSpPr>
            <a:spLocks noGrp="1"/>
          </p:cNvSpPr>
          <p:nvPr>
            <p:ph type="title"/>
          </p:nvPr>
        </p:nvSpPr>
        <p:spPr>
          <a:xfrm>
            <a:off x="228600" y="457200"/>
            <a:ext cx="7696200" cy="685800"/>
          </a:xfrm>
        </p:spPr>
        <p:txBody>
          <a:bodyPr/>
          <a:lstStyle/>
          <a:p>
            <a:r>
              <a:rPr lang="en-US" dirty="0"/>
              <a:t>Predicate Calculus</a:t>
            </a:r>
            <a:br>
              <a:rPr lang="en-US" dirty="0"/>
            </a:br>
            <a:endParaRPr lang="en-US" dirty="0"/>
          </a:p>
        </p:txBody>
      </p:sp>
      <p:sp>
        <p:nvSpPr>
          <p:cNvPr id="3" name="Content Placeholder 2">
            <a:extLst>
              <a:ext uri="{FF2B5EF4-FFF2-40B4-BE49-F238E27FC236}">
                <a16:creationId xmlns:a16="http://schemas.microsoft.com/office/drawing/2014/main" id="{71E59E5D-A6C9-66B9-A05A-1730C968B636}"/>
              </a:ext>
            </a:extLst>
          </p:cNvPr>
          <p:cNvSpPr>
            <a:spLocks noGrp="1"/>
          </p:cNvSpPr>
          <p:nvPr>
            <p:ph idx="1"/>
          </p:nvPr>
        </p:nvSpPr>
        <p:spPr>
          <a:xfrm>
            <a:off x="228600" y="533400"/>
            <a:ext cx="8686800" cy="5867400"/>
          </a:xfrm>
        </p:spPr>
        <p:txBody>
          <a:bodyPr>
            <a:normAutofit fontScale="25000" lnSpcReduction="20000"/>
          </a:bodyPr>
          <a:lstStyle/>
          <a:p>
            <a:r>
              <a:rPr lang="en-US" sz="8000" dirty="0">
                <a:solidFill>
                  <a:srgbClr val="B94917"/>
                </a:solidFill>
              </a:rPr>
              <a:t>Notes:  </a:t>
            </a:r>
          </a:p>
          <a:p>
            <a:endParaRPr lang="en-US" dirty="0"/>
          </a:p>
          <a:p>
            <a:r>
              <a:rPr lang="en-US" sz="4800" dirty="0"/>
              <a:t>~  ƎX p(X) = ∀X  ~p(X) </a:t>
            </a:r>
          </a:p>
          <a:p>
            <a:endParaRPr lang="en-US" sz="4800" dirty="0"/>
          </a:p>
          <a:p>
            <a:r>
              <a:rPr lang="en-US" sz="4800" dirty="0"/>
              <a:t>~  ∀X  p(X) =   ƎX  ~ p(X)</a:t>
            </a:r>
          </a:p>
          <a:p>
            <a:endParaRPr lang="en-US" sz="4800" dirty="0"/>
          </a:p>
          <a:p>
            <a:r>
              <a:rPr lang="en-US" sz="4800" dirty="0"/>
              <a:t>ƎX p(X)   =  ƎY p(Y)</a:t>
            </a:r>
          </a:p>
          <a:p>
            <a:endParaRPr lang="en-US" sz="4800" dirty="0"/>
          </a:p>
          <a:p>
            <a:r>
              <a:rPr lang="en-US" sz="4800" dirty="0"/>
              <a:t>∀X  q(X) =  ∀Y q(Y)</a:t>
            </a:r>
          </a:p>
          <a:p>
            <a:endParaRPr lang="en-US" sz="4800" dirty="0"/>
          </a:p>
          <a:p>
            <a:r>
              <a:rPr lang="en-US" sz="4800" dirty="0"/>
              <a:t>∀X  (p(X) and q(X)) =  ∀X  p(X)  and  ∀Y q(Y)</a:t>
            </a:r>
          </a:p>
          <a:p>
            <a:endParaRPr lang="en-US" sz="4800" dirty="0"/>
          </a:p>
          <a:p>
            <a:r>
              <a:rPr lang="en-US" sz="4800" dirty="0"/>
              <a:t>ƎX (p(X)  or  q(X))  =  ƎX p(X)  or  ƎY q(Y)</a:t>
            </a:r>
          </a:p>
          <a:p>
            <a:endParaRPr lang="en-US" sz="4800" dirty="0"/>
          </a:p>
          <a:p>
            <a:r>
              <a:rPr lang="en-US" sz="8000" dirty="0">
                <a:solidFill>
                  <a:srgbClr val="B94917"/>
                </a:solidFill>
              </a:rPr>
              <a:t>Ex.</a:t>
            </a:r>
          </a:p>
          <a:p>
            <a:endParaRPr lang="en-US" sz="4800" dirty="0"/>
          </a:p>
          <a:p>
            <a:r>
              <a:rPr lang="en-US" sz="4800" dirty="0">
                <a:solidFill>
                  <a:srgbClr val="0070C0"/>
                </a:solidFill>
              </a:rPr>
              <a:t>All basketball players are tall</a:t>
            </a:r>
          </a:p>
          <a:p>
            <a:endParaRPr lang="en-US" sz="4800" dirty="0"/>
          </a:p>
          <a:p>
            <a:r>
              <a:rPr lang="en-US" sz="4800" dirty="0"/>
              <a:t>∀X (basketball-player(X)  → tall(X))</a:t>
            </a:r>
          </a:p>
          <a:p>
            <a:endParaRPr lang="en-US" sz="4800" dirty="0"/>
          </a:p>
          <a:p>
            <a:r>
              <a:rPr lang="en-US" sz="4800" dirty="0">
                <a:solidFill>
                  <a:srgbClr val="0070C0"/>
                </a:solidFill>
              </a:rPr>
              <a:t>If it does not rain tomorrow, Tom will go to mounting</a:t>
            </a:r>
          </a:p>
          <a:p>
            <a:endParaRPr lang="en-US" sz="4800" dirty="0"/>
          </a:p>
          <a:p>
            <a:r>
              <a:rPr lang="en-US" sz="4800" dirty="0"/>
              <a:t>~ weather (</a:t>
            </a:r>
            <a:r>
              <a:rPr lang="en-US" sz="4800" dirty="0" err="1"/>
              <a:t>rain,tomorrow</a:t>
            </a:r>
            <a:r>
              <a:rPr lang="en-US" sz="4800" dirty="0"/>
              <a:t>)  →    go(</a:t>
            </a:r>
            <a:r>
              <a:rPr lang="en-US" sz="4800" dirty="0" err="1"/>
              <a:t>tom,mountain</a:t>
            </a:r>
            <a:r>
              <a:rPr lang="en-US" sz="4800" dirty="0"/>
              <a:t>)</a:t>
            </a:r>
          </a:p>
          <a:p>
            <a:endParaRPr lang="en-US" sz="4800" dirty="0"/>
          </a:p>
          <a:p>
            <a:r>
              <a:rPr lang="en-US" sz="4800" dirty="0">
                <a:solidFill>
                  <a:srgbClr val="0070C0"/>
                </a:solidFill>
              </a:rPr>
              <a:t>Some people like reading</a:t>
            </a:r>
          </a:p>
          <a:p>
            <a:endParaRPr lang="en-US" sz="4800" dirty="0"/>
          </a:p>
          <a:p>
            <a:r>
              <a:rPr lang="en-US" sz="4800" dirty="0"/>
              <a:t>ƎX (person(X) and likes (</a:t>
            </a:r>
            <a:r>
              <a:rPr lang="en-US" sz="4800" dirty="0" err="1"/>
              <a:t>X,reading</a:t>
            </a:r>
            <a:r>
              <a:rPr lang="en-US" sz="4800" dirty="0"/>
              <a:t>))</a:t>
            </a:r>
          </a:p>
          <a:p>
            <a:endParaRPr lang="en-US" sz="4800" dirty="0">
              <a:solidFill>
                <a:srgbClr val="0070C0"/>
              </a:solidFill>
            </a:endParaRPr>
          </a:p>
          <a:p>
            <a:r>
              <a:rPr lang="en-US" sz="4800" dirty="0">
                <a:solidFill>
                  <a:srgbClr val="0070C0"/>
                </a:solidFill>
              </a:rPr>
              <a:t>If  day is Friday, It is holiday</a:t>
            </a:r>
          </a:p>
          <a:p>
            <a:endParaRPr lang="en-US" sz="4800" dirty="0"/>
          </a:p>
          <a:p>
            <a:r>
              <a:rPr lang="en-US" sz="4800" dirty="0"/>
              <a:t> ∀X  (Equal (X, Friday) →      holiday(X))</a:t>
            </a:r>
          </a:p>
          <a:p>
            <a:endParaRPr lang="en-US" dirty="0"/>
          </a:p>
        </p:txBody>
      </p:sp>
      <p:sp>
        <p:nvSpPr>
          <p:cNvPr id="4" name="Slide Number Placeholder 3">
            <a:extLst>
              <a:ext uri="{FF2B5EF4-FFF2-40B4-BE49-F238E27FC236}">
                <a16:creationId xmlns:a16="http://schemas.microsoft.com/office/drawing/2014/main" id="{86E52567-18CF-A9A4-2B1F-7D5E82BEB289}"/>
              </a:ext>
            </a:extLst>
          </p:cNvPr>
          <p:cNvSpPr>
            <a:spLocks noGrp="1"/>
          </p:cNvSpPr>
          <p:nvPr>
            <p:ph type="sldNum" sz="quarter" idx="12"/>
          </p:nvPr>
        </p:nvSpPr>
        <p:spPr/>
        <p:txBody>
          <a:bodyPr/>
          <a:lstStyle/>
          <a:p>
            <a:fld id="{71C6F290-D301-4864-9490-340EF11588D9}" type="slidenum">
              <a:rPr lang="en-US" altLang="en-US" smtClean="0"/>
              <a:pPr/>
              <a:t>10</a:t>
            </a:fld>
            <a:endParaRPr lang="en-US" altLang="en-US" dirty="0"/>
          </a:p>
        </p:txBody>
      </p:sp>
    </p:spTree>
    <p:extLst>
      <p:ext uri="{BB962C8B-B14F-4D97-AF65-F5344CB8AC3E}">
        <p14:creationId xmlns:p14="http://schemas.microsoft.com/office/powerpoint/2010/main" val="3418897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379BD-13C7-9D67-3C71-606CF9C2C548}"/>
              </a:ext>
            </a:extLst>
          </p:cNvPr>
          <p:cNvSpPr>
            <a:spLocks noGrp="1"/>
          </p:cNvSpPr>
          <p:nvPr>
            <p:ph type="title"/>
          </p:nvPr>
        </p:nvSpPr>
        <p:spPr>
          <a:xfrm>
            <a:off x="152400" y="0"/>
            <a:ext cx="7696200" cy="609600"/>
          </a:xfrm>
        </p:spPr>
        <p:txBody>
          <a:bodyPr/>
          <a:lstStyle/>
          <a:p>
            <a:r>
              <a:rPr lang="en-US" dirty="0"/>
              <a:t>Theorem Proving</a:t>
            </a:r>
          </a:p>
        </p:txBody>
      </p:sp>
      <p:sp>
        <p:nvSpPr>
          <p:cNvPr id="3" name="Content Placeholder 2">
            <a:extLst>
              <a:ext uri="{FF2B5EF4-FFF2-40B4-BE49-F238E27FC236}">
                <a16:creationId xmlns:a16="http://schemas.microsoft.com/office/drawing/2014/main" id="{446F420A-4517-0D68-3B51-398DB4263DAF}"/>
              </a:ext>
            </a:extLst>
          </p:cNvPr>
          <p:cNvSpPr>
            <a:spLocks noGrp="1"/>
          </p:cNvSpPr>
          <p:nvPr>
            <p:ph idx="1"/>
          </p:nvPr>
        </p:nvSpPr>
        <p:spPr>
          <a:xfrm>
            <a:off x="0" y="685800"/>
            <a:ext cx="8686800" cy="5791200"/>
          </a:xfrm>
        </p:spPr>
        <p:txBody>
          <a:bodyPr>
            <a:normAutofit fontScale="25000" lnSpcReduction="20000"/>
          </a:bodyPr>
          <a:lstStyle/>
          <a:p>
            <a:r>
              <a:rPr lang="en-US" sz="4900" u="sng" dirty="0">
                <a:solidFill>
                  <a:srgbClr val="B94917"/>
                </a:solidFill>
              </a:rPr>
              <a:t>Example on theorem proving in predicate calculus </a:t>
            </a:r>
            <a:r>
              <a:rPr lang="en-US" sz="4900" dirty="0">
                <a:solidFill>
                  <a:srgbClr val="B94917"/>
                </a:solidFill>
              </a:rPr>
              <a:t> </a:t>
            </a:r>
          </a:p>
          <a:p>
            <a:r>
              <a:rPr lang="en-US" sz="4900" b="1" dirty="0">
                <a:solidFill>
                  <a:srgbClr val="0070C0"/>
                </a:solidFill>
              </a:rPr>
              <a:t> </a:t>
            </a:r>
          </a:p>
          <a:p>
            <a:pPr lvl="0"/>
            <a:r>
              <a:rPr lang="en-US" sz="4400" b="1" dirty="0">
                <a:solidFill>
                  <a:srgbClr val="0070C0"/>
                </a:solidFill>
              </a:rPr>
              <a:t>Marcus was a man.</a:t>
            </a:r>
          </a:p>
          <a:p>
            <a:r>
              <a:rPr lang="en-US" sz="4000" dirty="0"/>
              <a:t> </a:t>
            </a:r>
          </a:p>
          <a:p>
            <a:r>
              <a:rPr lang="en-US" sz="4000" dirty="0"/>
              <a:t>man(Marcus)</a:t>
            </a:r>
          </a:p>
          <a:p>
            <a:r>
              <a:rPr lang="en-US" sz="4000" dirty="0"/>
              <a:t> </a:t>
            </a:r>
          </a:p>
          <a:p>
            <a:pPr lvl="0"/>
            <a:r>
              <a:rPr lang="en-US" sz="4400" b="1" dirty="0">
                <a:solidFill>
                  <a:srgbClr val="0070C0"/>
                </a:solidFill>
              </a:rPr>
              <a:t>Marcus was a Pompeian</a:t>
            </a:r>
          </a:p>
          <a:p>
            <a:r>
              <a:rPr lang="en-US" sz="4000" dirty="0"/>
              <a:t> </a:t>
            </a:r>
          </a:p>
          <a:p>
            <a:r>
              <a:rPr lang="en-US" sz="4000" dirty="0"/>
              <a:t>       </a:t>
            </a:r>
            <a:r>
              <a:rPr lang="en-US" sz="4000" dirty="0" err="1"/>
              <a:t>pompeian</a:t>
            </a:r>
            <a:r>
              <a:rPr lang="en-US" sz="4000" dirty="0"/>
              <a:t>(Marcus)</a:t>
            </a:r>
          </a:p>
          <a:p>
            <a:r>
              <a:rPr lang="en-US" sz="4000" dirty="0"/>
              <a:t> </a:t>
            </a:r>
          </a:p>
          <a:p>
            <a:pPr lvl="0"/>
            <a:r>
              <a:rPr lang="en-US" sz="4400" b="1" dirty="0">
                <a:solidFill>
                  <a:srgbClr val="0070C0"/>
                </a:solidFill>
              </a:rPr>
              <a:t>All Pompeians were Romans</a:t>
            </a:r>
          </a:p>
          <a:p>
            <a:r>
              <a:rPr lang="en-US" sz="4000" dirty="0"/>
              <a:t> </a:t>
            </a:r>
          </a:p>
          <a:p>
            <a:r>
              <a:rPr lang="en-US" sz="4000" b="1" dirty="0"/>
              <a:t>∀</a:t>
            </a:r>
            <a:r>
              <a:rPr lang="en-US" sz="4000" dirty="0"/>
              <a:t>X  </a:t>
            </a:r>
            <a:r>
              <a:rPr lang="en-US" sz="4000" dirty="0" err="1"/>
              <a:t>pompeian</a:t>
            </a:r>
            <a:r>
              <a:rPr lang="en-US" sz="4000" dirty="0"/>
              <a:t> (X)  </a:t>
            </a:r>
            <a:r>
              <a:rPr lang="en-US" sz="4000" dirty="0">
                <a:sym typeface="Wingdings" panose="05000000000000000000" pitchFamily="2" charset="2"/>
              </a:rPr>
              <a:t></a:t>
            </a:r>
            <a:r>
              <a:rPr lang="en-US" sz="4000" dirty="0"/>
              <a:t> roman (X)</a:t>
            </a:r>
          </a:p>
          <a:p>
            <a:r>
              <a:rPr lang="en-US" sz="4400" dirty="0"/>
              <a:t> </a:t>
            </a:r>
          </a:p>
          <a:p>
            <a:pPr lvl="0"/>
            <a:r>
              <a:rPr lang="en-US" sz="4400" dirty="0"/>
              <a:t>Caesar was a ruler.</a:t>
            </a:r>
          </a:p>
          <a:p>
            <a:r>
              <a:rPr lang="en-US" sz="4000" dirty="0"/>
              <a:t> </a:t>
            </a:r>
          </a:p>
          <a:p>
            <a:r>
              <a:rPr lang="en-US" sz="4000" dirty="0"/>
              <a:t>ruler (Ceasar)</a:t>
            </a:r>
          </a:p>
          <a:p>
            <a:r>
              <a:rPr lang="en-US" sz="4000" dirty="0"/>
              <a:t> </a:t>
            </a:r>
            <a:endParaRPr lang="en-US" sz="4400" dirty="0"/>
          </a:p>
          <a:p>
            <a:pPr lvl="0"/>
            <a:r>
              <a:rPr lang="en-US" sz="4400" b="1" dirty="0">
                <a:solidFill>
                  <a:srgbClr val="0070C0"/>
                </a:solidFill>
              </a:rPr>
              <a:t>All Romans were either loyal to Caesar or hated him</a:t>
            </a:r>
            <a:r>
              <a:rPr lang="en-US" sz="4000" b="1" dirty="0">
                <a:solidFill>
                  <a:srgbClr val="0070C0"/>
                </a:solidFill>
              </a:rPr>
              <a:t>.</a:t>
            </a:r>
          </a:p>
          <a:p>
            <a:r>
              <a:rPr lang="en-US" sz="4000" dirty="0"/>
              <a:t> </a:t>
            </a:r>
          </a:p>
          <a:p>
            <a:r>
              <a:rPr lang="en-US" sz="4000" b="1" dirty="0"/>
              <a:t>∀</a:t>
            </a:r>
            <a:r>
              <a:rPr lang="en-US" sz="4000" dirty="0"/>
              <a:t>X (roman(X) </a:t>
            </a:r>
            <a:r>
              <a:rPr lang="en-US" sz="4000" dirty="0">
                <a:sym typeface="Wingdings" panose="05000000000000000000" pitchFamily="2" charset="2"/>
              </a:rPr>
              <a:t></a:t>
            </a:r>
            <a:r>
              <a:rPr lang="en-US" sz="4000" dirty="0"/>
              <a:t> ((</a:t>
            </a:r>
            <a:r>
              <a:rPr lang="en-US" sz="4000" dirty="0" err="1"/>
              <a:t>loyalto</a:t>
            </a:r>
            <a:r>
              <a:rPr lang="en-US" sz="4000" dirty="0"/>
              <a:t> (</a:t>
            </a:r>
            <a:r>
              <a:rPr lang="en-US" sz="4000" dirty="0" err="1"/>
              <a:t>X,caesar</a:t>
            </a:r>
            <a:r>
              <a:rPr lang="en-US" sz="4000" dirty="0"/>
              <a:t>) v hate(</a:t>
            </a:r>
            <a:r>
              <a:rPr lang="en-US" sz="4000" dirty="0" err="1"/>
              <a:t>X,caesar</a:t>
            </a:r>
            <a:r>
              <a:rPr lang="en-US" sz="4000" dirty="0"/>
              <a:t>))  ^ ~ (</a:t>
            </a:r>
            <a:r>
              <a:rPr lang="en-US" sz="4000" dirty="0" err="1"/>
              <a:t>loyalto</a:t>
            </a:r>
            <a:r>
              <a:rPr lang="en-US" sz="4000" dirty="0"/>
              <a:t>(</a:t>
            </a:r>
            <a:r>
              <a:rPr lang="en-US" sz="4000" dirty="0" err="1"/>
              <a:t>X,caesar</a:t>
            </a:r>
            <a:r>
              <a:rPr lang="en-US" sz="4000" dirty="0"/>
              <a:t>) ^  hate(</a:t>
            </a:r>
            <a:r>
              <a:rPr lang="en-US" sz="4000" dirty="0" err="1"/>
              <a:t>X,caesar</a:t>
            </a:r>
            <a:r>
              <a:rPr lang="en-US" sz="4000" dirty="0"/>
              <a:t>))</a:t>
            </a:r>
          </a:p>
          <a:p>
            <a:r>
              <a:rPr lang="en-US" sz="4000" dirty="0"/>
              <a:t> </a:t>
            </a:r>
            <a:endParaRPr lang="en-US" sz="4000" b="1" dirty="0"/>
          </a:p>
          <a:p>
            <a:pPr lvl="0"/>
            <a:r>
              <a:rPr lang="en-US" sz="4000" b="1" dirty="0">
                <a:solidFill>
                  <a:srgbClr val="0070C0"/>
                </a:solidFill>
              </a:rPr>
              <a:t>Everyone is loyal to some one.</a:t>
            </a:r>
          </a:p>
          <a:p>
            <a:r>
              <a:rPr lang="en-US" sz="4000" dirty="0"/>
              <a:t> </a:t>
            </a:r>
          </a:p>
          <a:p>
            <a:r>
              <a:rPr lang="en-US" sz="4000" b="1" dirty="0"/>
              <a:t>∀</a:t>
            </a:r>
            <a:r>
              <a:rPr lang="en-US" sz="4000" dirty="0"/>
              <a:t>X  </a:t>
            </a:r>
            <a:r>
              <a:rPr lang="en-US" sz="4000" b="1" dirty="0"/>
              <a:t>Ǝ</a:t>
            </a:r>
            <a:r>
              <a:rPr lang="en-US" sz="4000" dirty="0"/>
              <a:t>Y  </a:t>
            </a:r>
            <a:r>
              <a:rPr lang="en-US" sz="4000" dirty="0" err="1"/>
              <a:t>loyalto</a:t>
            </a:r>
            <a:r>
              <a:rPr lang="en-US" sz="4000" dirty="0"/>
              <a:t>(X,Y)</a:t>
            </a:r>
          </a:p>
          <a:p>
            <a:r>
              <a:rPr lang="en-US" sz="4000" b="1" dirty="0">
                <a:solidFill>
                  <a:srgbClr val="0070C0"/>
                </a:solidFill>
              </a:rPr>
              <a:t> </a:t>
            </a:r>
          </a:p>
          <a:p>
            <a:pPr lvl="0"/>
            <a:r>
              <a:rPr lang="en-US" sz="4000" b="1" dirty="0">
                <a:solidFill>
                  <a:srgbClr val="0070C0"/>
                </a:solidFill>
              </a:rPr>
              <a:t>People only try to assassinate rulers they are not loyal to.</a:t>
            </a:r>
          </a:p>
          <a:p>
            <a:r>
              <a:rPr lang="en-US" sz="4000" dirty="0"/>
              <a:t> </a:t>
            </a:r>
          </a:p>
          <a:p>
            <a:r>
              <a:rPr lang="en-US" sz="4000" b="1" dirty="0"/>
              <a:t>∀</a:t>
            </a:r>
            <a:r>
              <a:rPr lang="en-US" sz="4000" dirty="0"/>
              <a:t>X </a:t>
            </a:r>
            <a:r>
              <a:rPr lang="en-US" sz="4000" b="1" dirty="0"/>
              <a:t>∀</a:t>
            </a:r>
            <a:r>
              <a:rPr lang="en-US" sz="4000" dirty="0"/>
              <a:t>Y person(X) ^ ruler(Y) ^ </a:t>
            </a:r>
            <a:r>
              <a:rPr lang="en-US" sz="4000" dirty="0" err="1"/>
              <a:t>tryassassinate</a:t>
            </a:r>
            <a:r>
              <a:rPr lang="en-US" sz="4000" dirty="0"/>
              <a:t> (X,Y) </a:t>
            </a:r>
            <a:r>
              <a:rPr lang="en-US" sz="4000" dirty="0">
                <a:sym typeface="Wingdings" panose="05000000000000000000" pitchFamily="2" charset="2"/>
              </a:rPr>
              <a:t></a:t>
            </a:r>
            <a:r>
              <a:rPr lang="en-US" sz="4000" dirty="0"/>
              <a:t> ~ </a:t>
            </a:r>
            <a:r>
              <a:rPr lang="en-US" sz="4000" dirty="0" err="1"/>
              <a:t>loyalto</a:t>
            </a:r>
            <a:r>
              <a:rPr lang="en-US" sz="4000" dirty="0"/>
              <a:t> (X,Y)</a:t>
            </a:r>
          </a:p>
          <a:p>
            <a:r>
              <a:rPr lang="en-US" sz="4000" dirty="0"/>
              <a:t> </a:t>
            </a:r>
          </a:p>
          <a:p>
            <a:pPr lvl="0"/>
            <a:r>
              <a:rPr lang="en-US" sz="4000" b="1" dirty="0">
                <a:solidFill>
                  <a:srgbClr val="0070C0"/>
                </a:solidFill>
              </a:rPr>
              <a:t>Marcus tried to assassinate Caesar .</a:t>
            </a:r>
          </a:p>
          <a:p>
            <a:r>
              <a:rPr lang="en-US" sz="4000" dirty="0"/>
              <a:t> </a:t>
            </a:r>
          </a:p>
          <a:p>
            <a:r>
              <a:rPr lang="en-US" sz="4000" dirty="0" err="1"/>
              <a:t>tryassassinate</a:t>
            </a:r>
            <a:r>
              <a:rPr lang="en-US" sz="4000" dirty="0"/>
              <a:t> (</a:t>
            </a:r>
            <a:r>
              <a:rPr lang="en-US" sz="4000" dirty="0" err="1"/>
              <a:t>marcus,caesar</a:t>
            </a:r>
            <a:r>
              <a:rPr lang="en-US" sz="4000" dirty="0"/>
              <a:t>)</a:t>
            </a:r>
          </a:p>
          <a:p>
            <a:r>
              <a:rPr lang="en-US" sz="4000" dirty="0"/>
              <a:t> </a:t>
            </a:r>
          </a:p>
          <a:p>
            <a:r>
              <a:rPr lang="en-US" sz="4800" dirty="0">
                <a:solidFill>
                  <a:srgbClr val="FF0000"/>
                </a:solidFill>
              </a:rPr>
              <a:t>The goal is Was Marcus loyal to Caesar.</a:t>
            </a:r>
          </a:p>
          <a:p>
            <a:r>
              <a:rPr lang="en-US" sz="4800" dirty="0">
                <a:solidFill>
                  <a:srgbClr val="FF0000"/>
                </a:solidFill>
              </a:rPr>
              <a:t> </a:t>
            </a:r>
          </a:p>
          <a:p>
            <a:r>
              <a:rPr lang="en-US" sz="4800" b="1" dirty="0">
                <a:solidFill>
                  <a:srgbClr val="FF0000"/>
                </a:solidFill>
              </a:rPr>
              <a:t>      </a:t>
            </a:r>
            <a:r>
              <a:rPr lang="en-US" sz="4800" b="1" dirty="0" err="1">
                <a:solidFill>
                  <a:srgbClr val="FF0000"/>
                </a:solidFill>
              </a:rPr>
              <a:t>loyalto</a:t>
            </a:r>
            <a:r>
              <a:rPr lang="en-US" sz="4800" b="1" dirty="0">
                <a:solidFill>
                  <a:srgbClr val="FF0000"/>
                </a:solidFill>
              </a:rPr>
              <a:t>(</a:t>
            </a:r>
            <a:r>
              <a:rPr lang="en-US" sz="4800" b="1" dirty="0" err="1">
                <a:solidFill>
                  <a:srgbClr val="FF0000"/>
                </a:solidFill>
              </a:rPr>
              <a:t>marcus,caesar</a:t>
            </a:r>
            <a:r>
              <a:rPr lang="en-US" sz="4800" b="1" dirty="0">
                <a:solidFill>
                  <a:srgbClr val="FF0000"/>
                </a:solidFill>
              </a:rPr>
              <a:t>)</a:t>
            </a:r>
            <a:endParaRPr lang="en-US" sz="4800"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A0FCC3C0-F009-08D7-ECB2-EE5588115829}"/>
              </a:ext>
            </a:extLst>
          </p:cNvPr>
          <p:cNvSpPr>
            <a:spLocks noGrp="1"/>
          </p:cNvSpPr>
          <p:nvPr>
            <p:ph type="sldNum" sz="quarter" idx="12"/>
          </p:nvPr>
        </p:nvSpPr>
        <p:spPr/>
        <p:txBody>
          <a:bodyPr/>
          <a:lstStyle/>
          <a:p>
            <a:fld id="{71C6F290-D301-4864-9490-340EF11588D9}" type="slidenum">
              <a:rPr lang="en-US" altLang="en-US" smtClean="0"/>
              <a:pPr/>
              <a:t>11</a:t>
            </a:fld>
            <a:endParaRPr lang="en-US" altLang="en-US" dirty="0"/>
          </a:p>
        </p:txBody>
      </p:sp>
    </p:spTree>
    <p:extLst>
      <p:ext uri="{BB962C8B-B14F-4D97-AF65-F5344CB8AC3E}">
        <p14:creationId xmlns:p14="http://schemas.microsoft.com/office/powerpoint/2010/main" val="2126375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ADD0E-AA71-B070-CAC2-E25A025681EC}"/>
              </a:ext>
            </a:extLst>
          </p:cNvPr>
          <p:cNvSpPr>
            <a:spLocks noGrp="1"/>
          </p:cNvSpPr>
          <p:nvPr>
            <p:ph type="title"/>
          </p:nvPr>
        </p:nvSpPr>
        <p:spPr>
          <a:xfrm>
            <a:off x="228600" y="228601"/>
            <a:ext cx="7696200" cy="457200"/>
          </a:xfrm>
        </p:spPr>
        <p:txBody>
          <a:bodyPr/>
          <a:lstStyle/>
          <a:p>
            <a:r>
              <a:rPr lang="en-US" dirty="0"/>
              <a:t>Theorem Proving</a:t>
            </a:r>
          </a:p>
        </p:txBody>
      </p:sp>
      <p:sp>
        <p:nvSpPr>
          <p:cNvPr id="3" name="Content Placeholder 2">
            <a:extLst>
              <a:ext uri="{FF2B5EF4-FFF2-40B4-BE49-F238E27FC236}">
                <a16:creationId xmlns:a16="http://schemas.microsoft.com/office/drawing/2014/main" id="{B7E0D3CD-212B-CB29-C62A-DBAB7F244781}"/>
              </a:ext>
            </a:extLst>
          </p:cNvPr>
          <p:cNvSpPr>
            <a:spLocks noGrp="1"/>
          </p:cNvSpPr>
          <p:nvPr>
            <p:ph idx="1"/>
          </p:nvPr>
        </p:nvSpPr>
        <p:spPr>
          <a:xfrm>
            <a:off x="228600" y="609600"/>
            <a:ext cx="8686800" cy="6096000"/>
          </a:xfrm>
        </p:spPr>
        <p:txBody>
          <a:bodyPr/>
          <a:lstStyle/>
          <a:p>
            <a:r>
              <a:rPr lang="en-US" dirty="0"/>
              <a:t>since </a:t>
            </a:r>
            <a:r>
              <a:rPr lang="en-US" dirty="0" err="1"/>
              <a:t>loyalto</a:t>
            </a:r>
            <a:r>
              <a:rPr lang="en-US" dirty="0"/>
              <a:t> as a goal is not available, we try to work with not </a:t>
            </a:r>
            <a:r>
              <a:rPr lang="en-US" dirty="0" err="1"/>
              <a:t>loyalto</a:t>
            </a:r>
            <a:r>
              <a:rPr lang="en-US" dirty="0"/>
              <a:t> which is available.</a:t>
            </a:r>
          </a:p>
          <a:p>
            <a:endParaRPr lang="en-US" dirty="0"/>
          </a:p>
        </p:txBody>
      </p:sp>
      <p:sp>
        <p:nvSpPr>
          <p:cNvPr id="4" name="Slide Number Placeholder 3">
            <a:extLst>
              <a:ext uri="{FF2B5EF4-FFF2-40B4-BE49-F238E27FC236}">
                <a16:creationId xmlns:a16="http://schemas.microsoft.com/office/drawing/2014/main" id="{673333D5-7A02-9D82-946B-D25F15CEE01D}"/>
              </a:ext>
            </a:extLst>
          </p:cNvPr>
          <p:cNvSpPr>
            <a:spLocks noGrp="1"/>
          </p:cNvSpPr>
          <p:nvPr>
            <p:ph type="sldNum" sz="quarter" idx="12"/>
          </p:nvPr>
        </p:nvSpPr>
        <p:spPr>
          <a:xfrm>
            <a:off x="800100" y="5659016"/>
            <a:ext cx="7543800" cy="457200"/>
          </a:xfrm>
        </p:spPr>
        <p:txBody>
          <a:bodyPr/>
          <a:lstStyle/>
          <a:p>
            <a:pPr algn="l"/>
            <a:r>
              <a:rPr lang="en-US" altLang="en-US" sz="1600" dirty="0"/>
              <a:t>We notice it is impossible to reach to nil. This is because no further process can be done. In such cases, we conclude that, either the knowledge is incomplete or we can take a decision about the theorem to be proved is false.</a:t>
            </a:r>
          </a:p>
        </p:txBody>
      </p:sp>
      <p:pic>
        <p:nvPicPr>
          <p:cNvPr id="16" name="Picture 15">
            <a:extLst>
              <a:ext uri="{FF2B5EF4-FFF2-40B4-BE49-F238E27FC236}">
                <a16:creationId xmlns:a16="http://schemas.microsoft.com/office/drawing/2014/main" id="{8BD30B7C-846A-1024-15EC-CA571839D7EB}"/>
              </a:ext>
            </a:extLst>
          </p:cNvPr>
          <p:cNvPicPr>
            <a:picLocks noChangeAspect="1"/>
          </p:cNvPicPr>
          <p:nvPr/>
        </p:nvPicPr>
        <p:blipFill>
          <a:blip r:embed="rId2"/>
          <a:stretch>
            <a:fillRect/>
          </a:stretch>
        </p:blipFill>
        <p:spPr>
          <a:xfrm>
            <a:off x="914400" y="1600200"/>
            <a:ext cx="7010400" cy="4038600"/>
          </a:xfrm>
          <a:prstGeom prst="rect">
            <a:avLst/>
          </a:prstGeom>
        </p:spPr>
      </p:pic>
    </p:spTree>
    <p:extLst>
      <p:ext uri="{BB962C8B-B14F-4D97-AF65-F5344CB8AC3E}">
        <p14:creationId xmlns:p14="http://schemas.microsoft.com/office/powerpoint/2010/main" val="1889418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89AA5-87E2-B0B1-3424-FBBE219F1EA9}"/>
              </a:ext>
            </a:extLst>
          </p:cNvPr>
          <p:cNvSpPr>
            <a:spLocks noGrp="1"/>
          </p:cNvSpPr>
          <p:nvPr>
            <p:ph type="title"/>
          </p:nvPr>
        </p:nvSpPr>
        <p:spPr>
          <a:xfrm>
            <a:off x="228600" y="228600"/>
            <a:ext cx="7696200" cy="693737"/>
          </a:xfrm>
        </p:spPr>
        <p:txBody>
          <a:bodyPr/>
          <a:lstStyle/>
          <a:p>
            <a:r>
              <a:rPr lang="en-US" dirty="0"/>
              <a:t>Theorem Proving</a:t>
            </a:r>
          </a:p>
        </p:txBody>
      </p:sp>
      <p:sp>
        <p:nvSpPr>
          <p:cNvPr id="3" name="Content Placeholder 2">
            <a:extLst>
              <a:ext uri="{FF2B5EF4-FFF2-40B4-BE49-F238E27FC236}">
                <a16:creationId xmlns:a16="http://schemas.microsoft.com/office/drawing/2014/main" id="{B3EB0C36-8897-8066-5F0F-BBD49A74CBAD}"/>
              </a:ext>
            </a:extLst>
          </p:cNvPr>
          <p:cNvSpPr>
            <a:spLocks noGrp="1"/>
          </p:cNvSpPr>
          <p:nvPr>
            <p:ph idx="1"/>
          </p:nvPr>
        </p:nvSpPr>
        <p:spPr>
          <a:xfrm>
            <a:off x="228600" y="990600"/>
            <a:ext cx="8686800" cy="5638800"/>
          </a:xfrm>
        </p:spPr>
        <p:txBody>
          <a:bodyPr/>
          <a:lstStyle/>
          <a:p>
            <a:r>
              <a:rPr lang="en-US" sz="2000" dirty="0"/>
              <a:t>In our case, we know that there is a missing knowledge. If we add</a:t>
            </a:r>
          </a:p>
          <a:p>
            <a:r>
              <a:rPr lang="en-US" sz="2000" b="1" dirty="0">
                <a:solidFill>
                  <a:srgbClr val="0070C0"/>
                </a:solidFill>
              </a:rPr>
              <a:t> 9. All men are people</a:t>
            </a:r>
          </a:p>
          <a:p>
            <a:r>
              <a:rPr lang="en-US" sz="2000" dirty="0"/>
              <a:t>                                            ∀X  man(X)   person(X) </a:t>
            </a:r>
          </a:p>
          <a:p>
            <a:r>
              <a:rPr lang="en-US" sz="2000" dirty="0"/>
              <a:t>We continue the proving process</a:t>
            </a:r>
          </a:p>
          <a:p>
            <a:endParaRPr lang="en-US" sz="2000" dirty="0"/>
          </a:p>
          <a:p>
            <a:endParaRPr lang="en-US" dirty="0"/>
          </a:p>
        </p:txBody>
      </p:sp>
      <p:sp>
        <p:nvSpPr>
          <p:cNvPr id="4" name="Slide Number Placeholder 3">
            <a:extLst>
              <a:ext uri="{FF2B5EF4-FFF2-40B4-BE49-F238E27FC236}">
                <a16:creationId xmlns:a16="http://schemas.microsoft.com/office/drawing/2014/main" id="{FD95B494-5C9F-4463-437F-6D6F9B5D5D15}"/>
              </a:ext>
            </a:extLst>
          </p:cNvPr>
          <p:cNvSpPr>
            <a:spLocks noGrp="1"/>
          </p:cNvSpPr>
          <p:nvPr>
            <p:ph type="sldNum" sz="quarter" idx="12"/>
          </p:nvPr>
        </p:nvSpPr>
        <p:spPr>
          <a:xfrm>
            <a:off x="6629400" y="6469063"/>
            <a:ext cx="2133600" cy="457200"/>
          </a:xfrm>
        </p:spPr>
        <p:txBody>
          <a:bodyPr/>
          <a:lstStyle/>
          <a:p>
            <a:fld id="{71C6F290-D301-4864-9490-340EF11588D9}" type="slidenum">
              <a:rPr lang="en-US" altLang="en-US" smtClean="0"/>
              <a:pPr/>
              <a:t>13</a:t>
            </a:fld>
            <a:endParaRPr lang="en-US" altLang="en-US" dirty="0"/>
          </a:p>
        </p:txBody>
      </p:sp>
      <p:pic>
        <p:nvPicPr>
          <p:cNvPr id="5" name="Picture 4">
            <a:extLst>
              <a:ext uri="{FF2B5EF4-FFF2-40B4-BE49-F238E27FC236}">
                <a16:creationId xmlns:a16="http://schemas.microsoft.com/office/drawing/2014/main" id="{1FE2A0EA-A108-0095-521E-87D0BFDBB975}"/>
              </a:ext>
            </a:extLst>
          </p:cNvPr>
          <p:cNvPicPr>
            <a:picLocks noChangeAspect="1"/>
          </p:cNvPicPr>
          <p:nvPr/>
        </p:nvPicPr>
        <p:blipFill>
          <a:blip r:embed="rId2"/>
          <a:stretch>
            <a:fillRect/>
          </a:stretch>
        </p:blipFill>
        <p:spPr>
          <a:xfrm>
            <a:off x="1143000" y="2667000"/>
            <a:ext cx="6705600" cy="3200400"/>
          </a:xfrm>
          <a:prstGeom prst="rect">
            <a:avLst/>
          </a:prstGeom>
        </p:spPr>
      </p:pic>
      <p:sp>
        <p:nvSpPr>
          <p:cNvPr id="7" name="TextBox 6">
            <a:extLst>
              <a:ext uri="{FF2B5EF4-FFF2-40B4-BE49-F238E27FC236}">
                <a16:creationId xmlns:a16="http://schemas.microsoft.com/office/drawing/2014/main" id="{CEF9EFF8-BD61-0F3E-F505-89B456C33D2F}"/>
              </a:ext>
            </a:extLst>
          </p:cNvPr>
          <p:cNvSpPr txBox="1"/>
          <p:nvPr/>
        </p:nvSpPr>
        <p:spPr>
          <a:xfrm>
            <a:off x="-3200400" y="5867400"/>
            <a:ext cx="10515600" cy="972574"/>
          </a:xfrm>
          <a:prstGeom prst="rect">
            <a:avLst/>
          </a:prstGeom>
          <a:noFill/>
        </p:spPr>
        <p:txBody>
          <a:bodyPr wrap="square">
            <a:spAutoFit/>
          </a:bodyPr>
          <a:lstStyle/>
          <a:p>
            <a:pPr lvl="8"/>
            <a:r>
              <a:rPr lang="en-US" dirty="0">
                <a:solidFill>
                  <a:srgbClr val="FF0000"/>
                </a:solidFill>
              </a:rPr>
              <a:t>this proves that Marcus is not loyal to Caesar.</a:t>
            </a:r>
          </a:p>
          <a:p>
            <a:endParaRPr lang="en-US" dirty="0"/>
          </a:p>
        </p:txBody>
      </p:sp>
    </p:spTree>
    <p:extLst>
      <p:ext uri="{BB962C8B-B14F-4D97-AF65-F5344CB8AC3E}">
        <p14:creationId xmlns:p14="http://schemas.microsoft.com/office/powerpoint/2010/main" val="1205930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B4AE1-64F6-9015-0367-41F01A6B4265}"/>
              </a:ext>
            </a:extLst>
          </p:cNvPr>
          <p:cNvSpPr>
            <a:spLocks noGrp="1"/>
          </p:cNvSpPr>
          <p:nvPr>
            <p:ph type="title"/>
          </p:nvPr>
        </p:nvSpPr>
        <p:spPr>
          <a:xfrm>
            <a:off x="228600" y="152400"/>
            <a:ext cx="7696200" cy="533400"/>
          </a:xfrm>
        </p:spPr>
        <p:txBody>
          <a:bodyPr/>
          <a:lstStyle/>
          <a:p>
            <a:r>
              <a:rPr lang="en-US" dirty="0"/>
              <a:t>Theorem Proving</a:t>
            </a:r>
          </a:p>
        </p:txBody>
      </p:sp>
      <p:sp>
        <p:nvSpPr>
          <p:cNvPr id="3" name="Content Placeholder 2">
            <a:extLst>
              <a:ext uri="{FF2B5EF4-FFF2-40B4-BE49-F238E27FC236}">
                <a16:creationId xmlns:a16="http://schemas.microsoft.com/office/drawing/2014/main" id="{35BB9344-C0D0-0404-39A0-53FD47CFACB8}"/>
              </a:ext>
            </a:extLst>
          </p:cNvPr>
          <p:cNvSpPr>
            <a:spLocks noGrp="1"/>
          </p:cNvSpPr>
          <p:nvPr>
            <p:ph idx="1"/>
          </p:nvPr>
        </p:nvSpPr>
        <p:spPr>
          <a:xfrm>
            <a:off x="205273" y="533400"/>
            <a:ext cx="8686800" cy="6172200"/>
          </a:xfrm>
        </p:spPr>
        <p:txBody>
          <a:bodyPr>
            <a:normAutofit fontScale="25000" lnSpcReduction="20000"/>
          </a:bodyPr>
          <a:lstStyle/>
          <a:p>
            <a:r>
              <a:rPr lang="en-US" sz="7400" dirty="0">
                <a:solidFill>
                  <a:srgbClr val="B94917"/>
                </a:solidFill>
              </a:rPr>
              <a:t>Example</a:t>
            </a:r>
          </a:p>
          <a:p>
            <a:endParaRPr lang="en-US" sz="3200" dirty="0"/>
          </a:p>
          <a:p>
            <a:r>
              <a:rPr lang="en-US" sz="4400" dirty="0"/>
              <a:t>1.	Marcus was a man</a:t>
            </a:r>
          </a:p>
          <a:p>
            <a:endParaRPr lang="en-US" sz="4400" dirty="0"/>
          </a:p>
          <a:p>
            <a:r>
              <a:rPr lang="en-US" sz="4400" b="1" dirty="0">
                <a:solidFill>
                  <a:srgbClr val="B94917"/>
                </a:solidFill>
              </a:rPr>
              <a:t>man(</a:t>
            </a:r>
            <a:r>
              <a:rPr lang="en-US" sz="4400" b="1" dirty="0" err="1">
                <a:solidFill>
                  <a:srgbClr val="B94917"/>
                </a:solidFill>
              </a:rPr>
              <a:t>marcus</a:t>
            </a:r>
            <a:r>
              <a:rPr lang="en-US" sz="4400" b="1" dirty="0">
                <a:solidFill>
                  <a:srgbClr val="B94917"/>
                </a:solidFill>
              </a:rPr>
              <a:t>)</a:t>
            </a:r>
          </a:p>
          <a:p>
            <a:endParaRPr lang="en-US" sz="4400" dirty="0"/>
          </a:p>
          <a:p>
            <a:r>
              <a:rPr lang="en-US" sz="4400" dirty="0"/>
              <a:t>2.	Marcus was a Pompeian.</a:t>
            </a:r>
          </a:p>
          <a:p>
            <a:endParaRPr lang="en-US" sz="4400" b="1" dirty="0"/>
          </a:p>
          <a:p>
            <a:r>
              <a:rPr lang="en-US" sz="4400" b="1" dirty="0" err="1">
                <a:solidFill>
                  <a:srgbClr val="B94917"/>
                </a:solidFill>
              </a:rPr>
              <a:t>pompeian</a:t>
            </a:r>
            <a:r>
              <a:rPr lang="en-US" sz="4400" b="1" dirty="0">
                <a:solidFill>
                  <a:srgbClr val="B94917"/>
                </a:solidFill>
              </a:rPr>
              <a:t> (</a:t>
            </a:r>
            <a:r>
              <a:rPr lang="en-US" sz="4400" b="1" dirty="0" err="1">
                <a:solidFill>
                  <a:srgbClr val="B94917"/>
                </a:solidFill>
              </a:rPr>
              <a:t>marcus</a:t>
            </a:r>
            <a:r>
              <a:rPr lang="en-US" sz="4400" b="1" dirty="0">
                <a:solidFill>
                  <a:srgbClr val="B94917"/>
                </a:solidFill>
              </a:rPr>
              <a:t>)</a:t>
            </a:r>
          </a:p>
          <a:p>
            <a:endParaRPr lang="en-US" sz="4400" dirty="0"/>
          </a:p>
          <a:p>
            <a:r>
              <a:rPr lang="en-US" sz="4400" dirty="0"/>
              <a:t>3.	Marcus was born in 40 A.D.</a:t>
            </a:r>
          </a:p>
          <a:p>
            <a:endParaRPr lang="en-US" sz="4400" dirty="0"/>
          </a:p>
          <a:p>
            <a:r>
              <a:rPr lang="en-US" sz="4400" b="1" dirty="0">
                <a:solidFill>
                  <a:srgbClr val="B94917"/>
                </a:solidFill>
              </a:rPr>
              <a:t>born(marcus,40)</a:t>
            </a:r>
          </a:p>
          <a:p>
            <a:r>
              <a:rPr lang="en-US" sz="4400" dirty="0"/>
              <a:t> </a:t>
            </a:r>
          </a:p>
          <a:p>
            <a:r>
              <a:rPr lang="en-US" sz="4400" dirty="0"/>
              <a:t>4.	All men are mortal</a:t>
            </a:r>
          </a:p>
          <a:p>
            <a:endParaRPr lang="en-US" sz="4400" dirty="0">
              <a:solidFill>
                <a:srgbClr val="B94917"/>
              </a:solidFill>
            </a:endParaRPr>
          </a:p>
          <a:p>
            <a:r>
              <a:rPr lang="en-US" sz="4400" b="1" dirty="0">
                <a:solidFill>
                  <a:srgbClr val="B94917"/>
                </a:solidFill>
              </a:rPr>
              <a:t>∀X man(X)              mortal (X)</a:t>
            </a:r>
          </a:p>
          <a:p>
            <a:r>
              <a:rPr lang="en-US" sz="4400" dirty="0"/>
              <a:t>     </a:t>
            </a:r>
          </a:p>
          <a:p>
            <a:r>
              <a:rPr lang="en-US" sz="4400" dirty="0"/>
              <a:t>5.	All </a:t>
            </a:r>
            <a:r>
              <a:rPr lang="en-US" sz="4400" dirty="0" err="1"/>
              <a:t>pompeians</a:t>
            </a:r>
            <a:r>
              <a:rPr lang="en-US" sz="4400" dirty="0"/>
              <a:t> died when the volcano erupted in 79 AD.</a:t>
            </a:r>
          </a:p>
          <a:p>
            <a:endParaRPr lang="en-US" sz="4400" dirty="0">
              <a:solidFill>
                <a:srgbClr val="B94917"/>
              </a:solidFill>
            </a:endParaRPr>
          </a:p>
          <a:p>
            <a:r>
              <a:rPr lang="en-US" sz="4400" b="1" dirty="0">
                <a:solidFill>
                  <a:srgbClr val="B94917"/>
                </a:solidFill>
              </a:rPr>
              <a:t>erupted(volcano,79) Ʌ ∀X (</a:t>
            </a:r>
            <a:r>
              <a:rPr lang="en-US" sz="4400" b="1" dirty="0" err="1">
                <a:solidFill>
                  <a:srgbClr val="B94917"/>
                </a:solidFill>
              </a:rPr>
              <a:t>pompeian</a:t>
            </a:r>
            <a:r>
              <a:rPr lang="en-US" sz="4400" b="1" dirty="0">
                <a:solidFill>
                  <a:srgbClr val="B94917"/>
                </a:solidFill>
              </a:rPr>
              <a:t> (X)                        died (X,79))</a:t>
            </a:r>
          </a:p>
          <a:p>
            <a:endParaRPr lang="en-US" sz="4400" dirty="0"/>
          </a:p>
          <a:p>
            <a:r>
              <a:rPr lang="en-US" sz="4400" dirty="0"/>
              <a:t>5a)   erupted(volcano,79)</a:t>
            </a:r>
          </a:p>
          <a:p>
            <a:r>
              <a:rPr lang="en-US" sz="4400" dirty="0"/>
              <a:t>5b)  ∀X (</a:t>
            </a:r>
            <a:r>
              <a:rPr lang="en-US" sz="4400" dirty="0" err="1"/>
              <a:t>pompeian</a:t>
            </a:r>
            <a:r>
              <a:rPr lang="en-US" sz="4400" dirty="0"/>
              <a:t> (X)                      died (X,79))</a:t>
            </a:r>
          </a:p>
          <a:p>
            <a:endParaRPr lang="en-US" sz="4400" dirty="0"/>
          </a:p>
          <a:p>
            <a:r>
              <a:rPr lang="en-US" sz="4400" dirty="0"/>
              <a:t>6.	</a:t>
            </a:r>
            <a:r>
              <a:rPr lang="en-US" sz="4400" b="1" dirty="0">
                <a:solidFill>
                  <a:srgbClr val="C00000"/>
                </a:solidFill>
              </a:rPr>
              <a:t>No mortal lives longer than 150 years. (is the person dead in the given date t2)</a:t>
            </a:r>
          </a:p>
          <a:p>
            <a:r>
              <a:rPr lang="en-US" sz="4400" dirty="0"/>
              <a:t>Is the person dead in 2023? 2024 is t2</a:t>
            </a:r>
          </a:p>
          <a:p>
            <a:r>
              <a:rPr lang="en-US" sz="4400" dirty="0"/>
              <a:t>Assume the birth year is 1860,   t2-t1 = 162 &gt; 150</a:t>
            </a:r>
          </a:p>
          <a:p>
            <a:r>
              <a:rPr lang="en-US" sz="4400" dirty="0">
                <a:solidFill>
                  <a:srgbClr val="B94917"/>
                </a:solidFill>
              </a:rPr>
              <a:t>∀X ∀t1 ∀t2 mortal(X) Ʌ born (X,t1) Ʌ </a:t>
            </a:r>
            <a:r>
              <a:rPr lang="en-US" sz="4400" dirty="0" err="1">
                <a:solidFill>
                  <a:srgbClr val="B94917"/>
                </a:solidFill>
              </a:rPr>
              <a:t>gt</a:t>
            </a:r>
            <a:r>
              <a:rPr lang="en-US" sz="4400" dirty="0">
                <a:solidFill>
                  <a:srgbClr val="B94917"/>
                </a:solidFill>
              </a:rPr>
              <a:t>(t2-t1,150)                       dead (X,t2)</a:t>
            </a:r>
          </a:p>
          <a:p>
            <a:endParaRPr lang="en-US" sz="4400" dirty="0"/>
          </a:p>
          <a:p>
            <a:r>
              <a:rPr lang="en-US" sz="4400" dirty="0"/>
              <a:t>7.	 It is now  2025</a:t>
            </a:r>
          </a:p>
          <a:p>
            <a:r>
              <a:rPr lang="en-US" sz="4400" b="1" dirty="0">
                <a:solidFill>
                  <a:srgbClr val="B94917"/>
                </a:solidFill>
              </a:rPr>
              <a:t>Now= 2025</a:t>
            </a:r>
          </a:p>
          <a:p>
            <a:endParaRPr lang="en-US" sz="4400" dirty="0"/>
          </a:p>
          <a:p>
            <a:r>
              <a:rPr lang="en-US" sz="5600" b="1" dirty="0"/>
              <a:t>Is Marcus alive?   alive(</a:t>
            </a:r>
            <a:r>
              <a:rPr lang="en-US" sz="5600" b="1" dirty="0" err="1"/>
              <a:t>marcus</a:t>
            </a:r>
            <a:r>
              <a:rPr lang="en-US" sz="5600" b="1" dirty="0"/>
              <a:t>, now)</a:t>
            </a:r>
          </a:p>
          <a:p>
            <a:endParaRPr lang="en-US" dirty="0"/>
          </a:p>
        </p:txBody>
      </p:sp>
      <p:sp>
        <p:nvSpPr>
          <p:cNvPr id="4" name="Slide Number Placeholder 3">
            <a:extLst>
              <a:ext uri="{FF2B5EF4-FFF2-40B4-BE49-F238E27FC236}">
                <a16:creationId xmlns:a16="http://schemas.microsoft.com/office/drawing/2014/main" id="{62C65A28-EE10-BD6A-B466-7E118E77BE0C}"/>
              </a:ext>
            </a:extLst>
          </p:cNvPr>
          <p:cNvSpPr>
            <a:spLocks noGrp="1"/>
          </p:cNvSpPr>
          <p:nvPr>
            <p:ph type="sldNum" sz="quarter" idx="12"/>
          </p:nvPr>
        </p:nvSpPr>
        <p:spPr/>
        <p:txBody>
          <a:bodyPr/>
          <a:lstStyle/>
          <a:p>
            <a:fld id="{71C6F290-D301-4864-9490-340EF11588D9}" type="slidenum">
              <a:rPr lang="en-US" altLang="en-US" smtClean="0"/>
              <a:pPr/>
              <a:t>14</a:t>
            </a:fld>
            <a:endParaRPr lang="en-US" altLang="en-US" dirty="0"/>
          </a:p>
        </p:txBody>
      </p:sp>
      <p:cxnSp>
        <p:nvCxnSpPr>
          <p:cNvPr id="6" name="Straight Arrow Connector 5">
            <a:extLst>
              <a:ext uri="{FF2B5EF4-FFF2-40B4-BE49-F238E27FC236}">
                <a16:creationId xmlns:a16="http://schemas.microsoft.com/office/drawing/2014/main" id="{659586F7-01AE-3963-D882-130B582E796D}"/>
              </a:ext>
            </a:extLst>
          </p:cNvPr>
          <p:cNvCxnSpPr/>
          <p:nvPr/>
        </p:nvCxnSpPr>
        <p:spPr bwMode="auto">
          <a:xfrm>
            <a:off x="1676400" y="4495800"/>
            <a:ext cx="381000" cy="0"/>
          </a:xfrm>
          <a:prstGeom prst="straightConnector1">
            <a:avLst/>
          </a:prstGeom>
          <a:noFill/>
          <a:ln>
            <a:noFill/>
            <a:tailEnd type="triangle"/>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Arrow Connector 7">
            <a:extLst>
              <a:ext uri="{FF2B5EF4-FFF2-40B4-BE49-F238E27FC236}">
                <a16:creationId xmlns:a16="http://schemas.microsoft.com/office/drawing/2014/main" id="{143672CC-60F4-82BD-5E08-0E8F3D0E5A9F}"/>
              </a:ext>
            </a:extLst>
          </p:cNvPr>
          <p:cNvCxnSpPr/>
          <p:nvPr/>
        </p:nvCxnSpPr>
        <p:spPr bwMode="auto">
          <a:xfrm>
            <a:off x="3505200" y="5562600"/>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8C66CF30-8ACD-1481-C563-CDEA70EE57C4}"/>
              </a:ext>
            </a:extLst>
          </p:cNvPr>
          <p:cNvCxnSpPr/>
          <p:nvPr/>
        </p:nvCxnSpPr>
        <p:spPr bwMode="auto">
          <a:xfrm>
            <a:off x="1752600" y="4724400"/>
            <a:ext cx="609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56B9EA86-B4CD-EF1D-352C-7F714913A211}"/>
              </a:ext>
            </a:extLst>
          </p:cNvPr>
          <p:cNvCxnSpPr/>
          <p:nvPr/>
        </p:nvCxnSpPr>
        <p:spPr bwMode="auto">
          <a:xfrm>
            <a:off x="3124200" y="4191000"/>
            <a:ext cx="381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1FE2059F-8A4B-3358-09F5-717047C4DAC1}"/>
              </a:ext>
            </a:extLst>
          </p:cNvPr>
          <p:cNvCxnSpPr/>
          <p:nvPr/>
        </p:nvCxnSpPr>
        <p:spPr bwMode="auto">
          <a:xfrm>
            <a:off x="1143000" y="35052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37897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2821A-6611-33C8-37F2-D0ADE7D07A8C}"/>
              </a:ext>
            </a:extLst>
          </p:cNvPr>
          <p:cNvSpPr>
            <a:spLocks noGrp="1"/>
          </p:cNvSpPr>
          <p:nvPr>
            <p:ph type="title"/>
          </p:nvPr>
        </p:nvSpPr>
        <p:spPr>
          <a:xfrm>
            <a:off x="228600" y="228600"/>
            <a:ext cx="7696200" cy="381000"/>
          </a:xfrm>
        </p:spPr>
        <p:txBody>
          <a:bodyPr/>
          <a:lstStyle/>
          <a:p>
            <a:r>
              <a:rPr lang="en-US" dirty="0"/>
              <a:t>Theorem Proving</a:t>
            </a:r>
          </a:p>
        </p:txBody>
      </p:sp>
      <p:sp>
        <p:nvSpPr>
          <p:cNvPr id="3" name="Content Placeholder 2">
            <a:extLst>
              <a:ext uri="{FF2B5EF4-FFF2-40B4-BE49-F238E27FC236}">
                <a16:creationId xmlns:a16="http://schemas.microsoft.com/office/drawing/2014/main" id="{D4BE4EE5-9C87-E4EC-7684-B57CD3B12259}"/>
              </a:ext>
            </a:extLst>
          </p:cNvPr>
          <p:cNvSpPr>
            <a:spLocks noGrp="1"/>
          </p:cNvSpPr>
          <p:nvPr>
            <p:ph idx="1"/>
          </p:nvPr>
        </p:nvSpPr>
        <p:spPr>
          <a:xfrm>
            <a:off x="228600" y="762000"/>
            <a:ext cx="8686800" cy="5943600"/>
          </a:xfrm>
        </p:spPr>
        <p:txBody>
          <a:bodyPr>
            <a:normAutofit fontScale="85000" lnSpcReduction="20000"/>
          </a:bodyPr>
          <a:lstStyle/>
          <a:p>
            <a:r>
              <a:rPr lang="en-US" dirty="0"/>
              <a:t>We add additional knowledge. For example, our statements talk about dying, but they say nothing that related to being alive, which is what the question is asking. So we add the following:</a:t>
            </a:r>
          </a:p>
          <a:p>
            <a:endParaRPr lang="en-US" dirty="0"/>
          </a:p>
          <a:p>
            <a:r>
              <a:rPr lang="en-US" dirty="0"/>
              <a:t>8.	Alive means not dead</a:t>
            </a:r>
          </a:p>
          <a:p>
            <a:endParaRPr lang="en-US" dirty="0"/>
          </a:p>
          <a:p>
            <a:r>
              <a:rPr lang="en-US" dirty="0">
                <a:solidFill>
                  <a:srgbClr val="B94917"/>
                </a:solidFill>
              </a:rPr>
              <a:t>∀X ∀t alive (</a:t>
            </a:r>
            <a:r>
              <a:rPr lang="en-US" dirty="0" err="1">
                <a:solidFill>
                  <a:srgbClr val="B94917"/>
                </a:solidFill>
              </a:rPr>
              <a:t>X,t</a:t>
            </a:r>
            <a:r>
              <a:rPr lang="en-US" dirty="0">
                <a:solidFill>
                  <a:srgbClr val="B94917"/>
                </a:solidFill>
              </a:rPr>
              <a:t>)           ~ dead(</a:t>
            </a:r>
            <a:r>
              <a:rPr lang="en-US" dirty="0" err="1">
                <a:solidFill>
                  <a:srgbClr val="B94917"/>
                </a:solidFill>
              </a:rPr>
              <a:t>X,t</a:t>
            </a:r>
            <a:r>
              <a:rPr lang="en-US" dirty="0">
                <a:solidFill>
                  <a:srgbClr val="B94917"/>
                </a:solidFill>
              </a:rPr>
              <a:t>)</a:t>
            </a:r>
          </a:p>
          <a:p>
            <a:r>
              <a:rPr lang="en-US" dirty="0">
                <a:solidFill>
                  <a:srgbClr val="B94917"/>
                </a:solidFill>
              </a:rPr>
              <a:t>∀X ∀t dead (</a:t>
            </a:r>
            <a:r>
              <a:rPr lang="en-US" dirty="0" err="1">
                <a:solidFill>
                  <a:srgbClr val="B94917"/>
                </a:solidFill>
              </a:rPr>
              <a:t>X,t</a:t>
            </a:r>
            <a:r>
              <a:rPr lang="en-US" dirty="0">
                <a:solidFill>
                  <a:srgbClr val="B94917"/>
                </a:solidFill>
              </a:rPr>
              <a:t>)        ~ alive(</a:t>
            </a:r>
            <a:r>
              <a:rPr lang="en-US" dirty="0" err="1">
                <a:solidFill>
                  <a:srgbClr val="B94917"/>
                </a:solidFill>
              </a:rPr>
              <a:t>X,t</a:t>
            </a:r>
            <a:r>
              <a:rPr lang="en-US" dirty="0">
                <a:solidFill>
                  <a:srgbClr val="B94917"/>
                </a:solidFill>
              </a:rPr>
              <a:t>)</a:t>
            </a:r>
          </a:p>
          <a:p>
            <a:endParaRPr lang="en-US" dirty="0">
              <a:solidFill>
                <a:srgbClr val="B94917"/>
              </a:solidFill>
            </a:endParaRPr>
          </a:p>
          <a:p>
            <a:r>
              <a:rPr lang="en-US" dirty="0"/>
              <a:t>(This is not strictly correct, (for example chair))</a:t>
            </a:r>
          </a:p>
          <a:p>
            <a:endParaRPr lang="en-US" dirty="0"/>
          </a:p>
          <a:p>
            <a:r>
              <a:rPr lang="en-US" dirty="0"/>
              <a:t>9.	If some one is dead, then he is dead at all later times.</a:t>
            </a:r>
          </a:p>
          <a:p>
            <a:r>
              <a:rPr lang="en-US" dirty="0"/>
              <a:t>Is the person dead in 2025? 2025 is t2</a:t>
            </a:r>
          </a:p>
          <a:p>
            <a:r>
              <a:rPr lang="en-US" dirty="0"/>
              <a:t>Assume the person died in 2003, 2003 is t1. </a:t>
            </a:r>
          </a:p>
          <a:p>
            <a:r>
              <a:rPr lang="en-US" b="1" dirty="0">
                <a:solidFill>
                  <a:srgbClr val="0070C0"/>
                </a:solidFill>
              </a:rPr>
              <a:t>dead (Marcus, 2015</a:t>
            </a:r>
            <a:r>
              <a:rPr lang="en-US" dirty="0"/>
              <a:t>).</a:t>
            </a:r>
          </a:p>
          <a:p>
            <a:r>
              <a:rPr lang="en-US" dirty="0">
                <a:solidFill>
                  <a:srgbClr val="B94917"/>
                </a:solidFill>
              </a:rPr>
              <a:t>∀X ∀t1 ∀t2  died(X,t1) Ʌ </a:t>
            </a:r>
            <a:r>
              <a:rPr lang="en-US" dirty="0" err="1">
                <a:solidFill>
                  <a:srgbClr val="B94917"/>
                </a:solidFill>
              </a:rPr>
              <a:t>gt</a:t>
            </a:r>
            <a:r>
              <a:rPr lang="en-US" dirty="0">
                <a:solidFill>
                  <a:srgbClr val="B94917"/>
                </a:solidFill>
              </a:rPr>
              <a:t>(t2,t1)        dead(X,t2)</a:t>
            </a:r>
          </a:p>
          <a:p>
            <a:endParaRPr lang="en-US" dirty="0"/>
          </a:p>
          <a:p>
            <a:endParaRPr lang="en-US" dirty="0"/>
          </a:p>
        </p:txBody>
      </p:sp>
      <p:sp>
        <p:nvSpPr>
          <p:cNvPr id="4" name="Slide Number Placeholder 3">
            <a:extLst>
              <a:ext uri="{FF2B5EF4-FFF2-40B4-BE49-F238E27FC236}">
                <a16:creationId xmlns:a16="http://schemas.microsoft.com/office/drawing/2014/main" id="{580BAB1F-D8F6-8A26-8009-85412E579A62}"/>
              </a:ext>
            </a:extLst>
          </p:cNvPr>
          <p:cNvSpPr>
            <a:spLocks noGrp="1"/>
          </p:cNvSpPr>
          <p:nvPr>
            <p:ph type="sldNum" sz="quarter" idx="12"/>
          </p:nvPr>
        </p:nvSpPr>
        <p:spPr/>
        <p:txBody>
          <a:bodyPr/>
          <a:lstStyle/>
          <a:p>
            <a:fld id="{71C6F290-D301-4864-9490-340EF11588D9}" type="slidenum">
              <a:rPr lang="en-US" altLang="en-US" smtClean="0"/>
              <a:pPr/>
              <a:t>15</a:t>
            </a:fld>
            <a:endParaRPr lang="en-US" altLang="en-US" dirty="0"/>
          </a:p>
        </p:txBody>
      </p:sp>
      <p:cxnSp>
        <p:nvCxnSpPr>
          <p:cNvPr id="6" name="Straight Arrow Connector 5">
            <a:extLst>
              <a:ext uri="{FF2B5EF4-FFF2-40B4-BE49-F238E27FC236}">
                <a16:creationId xmlns:a16="http://schemas.microsoft.com/office/drawing/2014/main" id="{5D7C134A-B042-90F4-75CD-967D37393E1C}"/>
              </a:ext>
            </a:extLst>
          </p:cNvPr>
          <p:cNvCxnSpPr/>
          <p:nvPr/>
        </p:nvCxnSpPr>
        <p:spPr bwMode="auto">
          <a:xfrm>
            <a:off x="2438400" y="3200400"/>
            <a:ext cx="381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54F13BD1-791F-CDF9-F729-7CD3127FB226}"/>
              </a:ext>
            </a:extLst>
          </p:cNvPr>
          <p:cNvCxnSpPr/>
          <p:nvPr/>
        </p:nvCxnSpPr>
        <p:spPr bwMode="auto">
          <a:xfrm>
            <a:off x="2514600" y="3657600"/>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A1866D2D-BFB2-8AD0-298D-B423C5C3624B}"/>
              </a:ext>
            </a:extLst>
          </p:cNvPr>
          <p:cNvCxnSpPr/>
          <p:nvPr/>
        </p:nvCxnSpPr>
        <p:spPr bwMode="auto">
          <a:xfrm>
            <a:off x="4648200" y="6477000"/>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31659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C7442-30EA-0A34-942F-2EE86218D9F5}"/>
              </a:ext>
            </a:extLst>
          </p:cNvPr>
          <p:cNvSpPr>
            <a:spLocks noGrp="1"/>
          </p:cNvSpPr>
          <p:nvPr>
            <p:ph type="title"/>
          </p:nvPr>
        </p:nvSpPr>
        <p:spPr>
          <a:xfrm>
            <a:off x="228600" y="228600"/>
            <a:ext cx="7696200" cy="457200"/>
          </a:xfrm>
        </p:spPr>
        <p:txBody>
          <a:bodyPr/>
          <a:lstStyle/>
          <a:p>
            <a:r>
              <a:rPr lang="en-US" dirty="0"/>
              <a:t>Theorem Proving</a:t>
            </a:r>
          </a:p>
        </p:txBody>
      </p:sp>
      <p:pic>
        <p:nvPicPr>
          <p:cNvPr id="5" name="Content Placeholder 4">
            <a:extLst>
              <a:ext uri="{FF2B5EF4-FFF2-40B4-BE49-F238E27FC236}">
                <a16:creationId xmlns:a16="http://schemas.microsoft.com/office/drawing/2014/main" id="{E4C67F8C-BBAA-7563-D1B8-A3CD70F26003}"/>
              </a:ext>
            </a:extLst>
          </p:cNvPr>
          <p:cNvPicPr>
            <a:picLocks noGrp="1" noChangeAspect="1"/>
          </p:cNvPicPr>
          <p:nvPr>
            <p:ph idx="1"/>
          </p:nvPr>
        </p:nvPicPr>
        <p:blipFill>
          <a:blip r:embed="rId2"/>
          <a:stretch>
            <a:fillRect/>
          </a:stretch>
        </p:blipFill>
        <p:spPr>
          <a:xfrm>
            <a:off x="457200" y="618931"/>
            <a:ext cx="7848600" cy="6096000"/>
          </a:xfrm>
          <a:prstGeom prst="rect">
            <a:avLst/>
          </a:prstGeom>
        </p:spPr>
      </p:pic>
      <p:sp>
        <p:nvSpPr>
          <p:cNvPr id="4" name="Slide Number Placeholder 3">
            <a:extLst>
              <a:ext uri="{FF2B5EF4-FFF2-40B4-BE49-F238E27FC236}">
                <a16:creationId xmlns:a16="http://schemas.microsoft.com/office/drawing/2014/main" id="{8090ECDB-4F4B-4D85-F6FE-F0BB0E49DA12}"/>
              </a:ext>
            </a:extLst>
          </p:cNvPr>
          <p:cNvSpPr>
            <a:spLocks noGrp="1"/>
          </p:cNvSpPr>
          <p:nvPr>
            <p:ph type="sldNum" sz="quarter" idx="12"/>
          </p:nvPr>
        </p:nvSpPr>
        <p:spPr/>
        <p:txBody>
          <a:bodyPr/>
          <a:lstStyle/>
          <a:p>
            <a:fld id="{71C6F290-D301-4864-9490-340EF11588D9}" type="slidenum">
              <a:rPr lang="en-US" altLang="en-US" smtClean="0"/>
              <a:pPr/>
              <a:t>16</a:t>
            </a:fld>
            <a:endParaRPr lang="en-US" altLang="en-US" dirty="0"/>
          </a:p>
        </p:txBody>
      </p:sp>
    </p:spTree>
    <p:extLst>
      <p:ext uri="{BB962C8B-B14F-4D97-AF65-F5344CB8AC3E}">
        <p14:creationId xmlns:p14="http://schemas.microsoft.com/office/powerpoint/2010/main" val="3785423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0FB5D-0DDB-7218-7A3E-19CB3F0459F1}"/>
              </a:ext>
            </a:extLst>
          </p:cNvPr>
          <p:cNvSpPr>
            <a:spLocks noGrp="1"/>
          </p:cNvSpPr>
          <p:nvPr>
            <p:ph type="title"/>
          </p:nvPr>
        </p:nvSpPr>
        <p:spPr>
          <a:xfrm>
            <a:off x="228600" y="228600"/>
            <a:ext cx="7696200" cy="533400"/>
          </a:xfrm>
        </p:spPr>
        <p:txBody>
          <a:bodyPr/>
          <a:lstStyle/>
          <a:p>
            <a:r>
              <a:rPr lang="en-US" dirty="0"/>
              <a:t>Resolution</a:t>
            </a:r>
          </a:p>
        </p:txBody>
      </p:sp>
      <p:sp>
        <p:nvSpPr>
          <p:cNvPr id="3" name="Content Placeholder 2">
            <a:extLst>
              <a:ext uri="{FF2B5EF4-FFF2-40B4-BE49-F238E27FC236}">
                <a16:creationId xmlns:a16="http://schemas.microsoft.com/office/drawing/2014/main" id="{B5F3F600-F9C2-6730-3004-DB033433E904}"/>
              </a:ext>
            </a:extLst>
          </p:cNvPr>
          <p:cNvSpPr>
            <a:spLocks noGrp="1"/>
          </p:cNvSpPr>
          <p:nvPr>
            <p:ph idx="1"/>
          </p:nvPr>
        </p:nvSpPr>
        <p:spPr>
          <a:xfrm>
            <a:off x="228600" y="914400"/>
            <a:ext cx="8839200" cy="5562600"/>
          </a:xfrm>
        </p:spPr>
        <p:txBody>
          <a:bodyPr>
            <a:normAutofit fontScale="40000" lnSpcReduction="20000"/>
          </a:bodyPr>
          <a:lstStyle/>
          <a:p>
            <a:r>
              <a:rPr lang="en-US" b="1" dirty="0"/>
              <a:t> </a:t>
            </a:r>
            <a:endParaRPr lang="en-US" dirty="0"/>
          </a:p>
          <a:p>
            <a:pPr algn="just"/>
            <a:r>
              <a:rPr lang="en-US" sz="4500" dirty="0"/>
              <a:t>The ordinary theorem proving process as explained above answers questions of type "yes" or "No" (True or False), but can not answer questions </a:t>
            </a:r>
            <a:r>
              <a:rPr lang="en-US" sz="4500" b="1" dirty="0">
                <a:solidFill>
                  <a:srgbClr val="0070C0"/>
                </a:solidFill>
              </a:rPr>
              <a:t>such as where, when, what, how and who</a:t>
            </a:r>
            <a:r>
              <a:rPr lang="en-US" sz="4500" dirty="0"/>
              <a:t>. Resolution is used to answer such kind of questions. Resolution is way used in Prolog theorem proving mechanism. </a:t>
            </a:r>
            <a:r>
              <a:rPr lang="en-US" sz="4500" b="1" dirty="0">
                <a:solidFill>
                  <a:srgbClr val="0070C0"/>
                </a:solidFill>
              </a:rPr>
              <a:t>It is based on refutation</a:t>
            </a:r>
            <a:r>
              <a:rPr lang="en-US" sz="4500" dirty="0"/>
              <a:t>. </a:t>
            </a:r>
            <a:r>
              <a:rPr lang="en-US" sz="4500" b="1" dirty="0"/>
              <a:t>That is, proving the negation of the goal is false</a:t>
            </a:r>
            <a:r>
              <a:rPr lang="en-US" sz="4500" dirty="0"/>
              <a:t>. This method is base on counter examples. Firstly,  the predicate forms have to be changed to clause forms. Secondly, the goal is negated and start theorem proving by contradictions.</a:t>
            </a:r>
          </a:p>
          <a:p>
            <a:r>
              <a:rPr lang="en-US" dirty="0"/>
              <a:t> </a:t>
            </a:r>
          </a:p>
          <a:p>
            <a:r>
              <a:rPr lang="en-US" sz="4000" b="1" i="1" dirty="0"/>
              <a:t>Example on Resolution</a:t>
            </a:r>
            <a:endParaRPr lang="en-US" sz="4000" dirty="0"/>
          </a:p>
          <a:p>
            <a:r>
              <a:rPr lang="en-US" sz="4000" b="1" i="1" dirty="0"/>
              <a:t> </a:t>
            </a:r>
            <a:endParaRPr lang="en-US" sz="4000" dirty="0"/>
          </a:p>
          <a:p>
            <a:r>
              <a:rPr lang="en-US" sz="4000" dirty="0"/>
              <a:t>Given Axioms                                      Clause form</a:t>
            </a:r>
          </a:p>
          <a:p>
            <a:r>
              <a:rPr lang="en-US" sz="4000" dirty="0"/>
              <a:t> </a:t>
            </a:r>
          </a:p>
          <a:p>
            <a:r>
              <a:rPr lang="en-US" sz="4000" dirty="0"/>
              <a:t>p                                                   1.          p</a:t>
            </a:r>
          </a:p>
          <a:p>
            <a:r>
              <a:rPr lang="en-US" sz="4000" dirty="0"/>
              <a:t> </a:t>
            </a:r>
          </a:p>
          <a:p>
            <a:r>
              <a:rPr lang="en-US" sz="4000" dirty="0"/>
              <a:t>(p ^ q) </a:t>
            </a:r>
            <a:r>
              <a:rPr lang="en-US" sz="4000" dirty="0">
                <a:sym typeface="Wingdings" panose="05000000000000000000" pitchFamily="2" charset="2"/>
              </a:rPr>
              <a:t></a:t>
            </a:r>
            <a:r>
              <a:rPr lang="en-US" sz="4000" dirty="0"/>
              <a:t> r</a:t>
            </a:r>
            <a:r>
              <a:rPr lang="en-US" sz="4000" b="1" i="1" dirty="0"/>
              <a:t>                                   </a:t>
            </a:r>
            <a:r>
              <a:rPr lang="en-US" sz="4000" dirty="0"/>
              <a:t>2.</a:t>
            </a:r>
            <a:r>
              <a:rPr lang="en-US" sz="4000" b="1" i="1" dirty="0"/>
              <a:t>       </a:t>
            </a:r>
            <a:r>
              <a:rPr lang="en-US" sz="4000" dirty="0"/>
              <a:t>~p v ~q v r</a:t>
            </a:r>
          </a:p>
          <a:p>
            <a:r>
              <a:rPr lang="en-US" sz="4000" dirty="0"/>
              <a:t> </a:t>
            </a:r>
          </a:p>
          <a:p>
            <a:r>
              <a:rPr lang="en-US" sz="4000" dirty="0"/>
              <a:t>(s v t) </a:t>
            </a:r>
            <a:r>
              <a:rPr lang="en-US" sz="4000" dirty="0">
                <a:sym typeface="Wingdings" panose="05000000000000000000" pitchFamily="2" charset="2"/>
              </a:rPr>
              <a:t></a:t>
            </a:r>
            <a:r>
              <a:rPr lang="en-US" sz="4000" dirty="0"/>
              <a:t> q                                    3.       ~ t  v q</a:t>
            </a:r>
          </a:p>
          <a:p>
            <a:r>
              <a:rPr lang="en-US" sz="4000" dirty="0"/>
              <a:t>                                                     4.       ~s  v  q</a:t>
            </a:r>
          </a:p>
          <a:p>
            <a:r>
              <a:rPr lang="en-US" sz="4000" dirty="0"/>
              <a:t> </a:t>
            </a:r>
          </a:p>
          <a:p>
            <a:r>
              <a:rPr lang="en-US" sz="4000" dirty="0"/>
              <a:t>t                                                    5.       t </a:t>
            </a:r>
          </a:p>
          <a:p>
            <a:endParaRPr lang="en-US" dirty="0"/>
          </a:p>
        </p:txBody>
      </p:sp>
      <p:sp>
        <p:nvSpPr>
          <p:cNvPr id="4" name="Slide Number Placeholder 3">
            <a:extLst>
              <a:ext uri="{FF2B5EF4-FFF2-40B4-BE49-F238E27FC236}">
                <a16:creationId xmlns:a16="http://schemas.microsoft.com/office/drawing/2014/main" id="{980B352F-9090-6A9C-3736-FDFFD0880279}"/>
              </a:ext>
            </a:extLst>
          </p:cNvPr>
          <p:cNvSpPr>
            <a:spLocks noGrp="1"/>
          </p:cNvSpPr>
          <p:nvPr>
            <p:ph type="sldNum" sz="quarter" idx="12"/>
          </p:nvPr>
        </p:nvSpPr>
        <p:spPr/>
        <p:txBody>
          <a:bodyPr/>
          <a:lstStyle/>
          <a:p>
            <a:fld id="{71C6F290-D301-4864-9490-340EF11588D9}" type="slidenum">
              <a:rPr lang="en-US" altLang="en-US" smtClean="0"/>
              <a:pPr/>
              <a:t>17</a:t>
            </a:fld>
            <a:endParaRPr lang="en-US" altLang="en-US" dirty="0"/>
          </a:p>
        </p:txBody>
      </p:sp>
    </p:spTree>
    <p:extLst>
      <p:ext uri="{BB962C8B-B14F-4D97-AF65-F5344CB8AC3E}">
        <p14:creationId xmlns:p14="http://schemas.microsoft.com/office/powerpoint/2010/main" val="2749714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D8BE1-DC73-017A-21AF-8203766D7295}"/>
              </a:ext>
            </a:extLst>
          </p:cNvPr>
          <p:cNvSpPr>
            <a:spLocks noGrp="1"/>
          </p:cNvSpPr>
          <p:nvPr>
            <p:ph type="title"/>
          </p:nvPr>
        </p:nvSpPr>
        <p:spPr>
          <a:xfrm>
            <a:off x="228600" y="228600"/>
            <a:ext cx="8686800" cy="693737"/>
          </a:xfrm>
        </p:spPr>
        <p:txBody>
          <a:bodyPr/>
          <a:lstStyle/>
          <a:p>
            <a:r>
              <a:rPr lang="en-US" dirty="0"/>
              <a:t>Resolution</a:t>
            </a:r>
          </a:p>
        </p:txBody>
      </p:sp>
      <p:pic>
        <p:nvPicPr>
          <p:cNvPr id="5" name="Content Placeholder 4">
            <a:extLst>
              <a:ext uri="{FF2B5EF4-FFF2-40B4-BE49-F238E27FC236}">
                <a16:creationId xmlns:a16="http://schemas.microsoft.com/office/drawing/2014/main" id="{9C2A66A4-2B88-70BD-92F0-228308F743C5}"/>
              </a:ext>
            </a:extLst>
          </p:cNvPr>
          <p:cNvPicPr>
            <a:picLocks noGrp="1" noChangeAspect="1"/>
          </p:cNvPicPr>
          <p:nvPr>
            <p:ph idx="1"/>
          </p:nvPr>
        </p:nvPicPr>
        <p:blipFill>
          <a:blip r:embed="rId2"/>
          <a:stretch>
            <a:fillRect/>
          </a:stretch>
        </p:blipFill>
        <p:spPr>
          <a:xfrm>
            <a:off x="228600" y="922336"/>
            <a:ext cx="8077200" cy="4868864"/>
          </a:xfrm>
          <a:prstGeom prst="rect">
            <a:avLst/>
          </a:prstGeom>
        </p:spPr>
      </p:pic>
      <p:sp>
        <p:nvSpPr>
          <p:cNvPr id="4" name="Slide Number Placeholder 3">
            <a:extLst>
              <a:ext uri="{FF2B5EF4-FFF2-40B4-BE49-F238E27FC236}">
                <a16:creationId xmlns:a16="http://schemas.microsoft.com/office/drawing/2014/main" id="{C5BC7F85-861D-212C-E71C-939A2AB30989}"/>
              </a:ext>
            </a:extLst>
          </p:cNvPr>
          <p:cNvSpPr>
            <a:spLocks noGrp="1"/>
          </p:cNvSpPr>
          <p:nvPr>
            <p:ph type="sldNum" sz="quarter" idx="12"/>
          </p:nvPr>
        </p:nvSpPr>
        <p:spPr/>
        <p:txBody>
          <a:bodyPr/>
          <a:lstStyle/>
          <a:p>
            <a:fld id="{71C6F290-D301-4864-9490-340EF11588D9}" type="slidenum">
              <a:rPr lang="en-US" altLang="en-US" smtClean="0"/>
              <a:pPr/>
              <a:t>18</a:t>
            </a:fld>
            <a:endParaRPr lang="en-US" altLang="en-US" dirty="0"/>
          </a:p>
        </p:txBody>
      </p:sp>
      <p:sp>
        <p:nvSpPr>
          <p:cNvPr id="7" name="TextBox 6">
            <a:extLst>
              <a:ext uri="{FF2B5EF4-FFF2-40B4-BE49-F238E27FC236}">
                <a16:creationId xmlns:a16="http://schemas.microsoft.com/office/drawing/2014/main" id="{A230FCC5-8CB3-4A64-EB9B-D0CCBFC55AE6}"/>
              </a:ext>
            </a:extLst>
          </p:cNvPr>
          <p:cNvSpPr txBox="1"/>
          <p:nvPr/>
        </p:nvSpPr>
        <p:spPr>
          <a:xfrm>
            <a:off x="533400" y="5889010"/>
            <a:ext cx="8229600" cy="492443"/>
          </a:xfrm>
          <a:prstGeom prst="rect">
            <a:avLst/>
          </a:prstGeom>
          <a:noFill/>
        </p:spPr>
        <p:txBody>
          <a:bodyPr wrap="square">
            <a:spAutoFit/>
          </a:bodyPr>
          <a:lstStyle/>
          <a:p>
            <a:r>
              <a:rPr lang="en-US" dirty="0"/>
              <a:t>This means that ~r is false and r is true.</a:t>
            </a:r>
          </a:p>
        </p:txBody>
      </p:sp>
    </p:spTree>
    <p:extLst>
      <p:ext uri="{BB962C8B-B14F-4D97-AF65-F5344CB8AC3E}">
        <p14:creationId xmlns:p14="http://schemas.microsoft.com/office/powerpoint/2010/main" val="1567901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D31F0-508B-064E-9C6F-0FC8721C47D4}"/>
              </a:ext>
            </a:extLst>
          </p:cNvPr>
          <p:cNvSpPr>
            <a:spLocks noGrp="1"/>
          </p:cNvSpPr>
          <p:nvPr>
            <p:ph type="title"/>
          </p:nvPr>
        </p:nvSpPr>
        <p:spPr>
          <a:xfrm>
            <a:off x="228600" y="228600"/>
            <a:ext cx="7696200" cy="457200"/>
          </a:xfrm>
        </p:spPr>
        <p:txBody>
          <a:bodyPr/>
          <a:lstStyle/>
          <a:p>
            <a:r>
              <a:rPr lang="en-US" dirty="0"/>
              <a:t>Resolution</a:t>
            </a:r>
          </a:p>
        </p:txBody>
      </p:sp>
      <p:pic>
        <p:nvPicPr>
          <p:cNvPr id="5" name="Content Placeholder 4">
            <a:extLst>
              <a:ext uri="{FF2B5EF4-FFF2-40B4-BE49-F238E27FC236}">
                <a16:creationId xmlns:a16="http://schemas.microsoft.com/office/drawing/2014/main" id="{0315661A-07D5-A596-C475-94053AE69A42}"/>
              </a:ext>
            </a:extLst>
          </p:cNvPr>
          <p:cNvPicPr>
            <a:picLocks noGrp="1" noChangeAspect="1"/>
          </p:cNvPicPr>
          <p:nvPr>
            <p:ph idx="1"/>
          </p:nvPr>
        </p:nvPicPr>
        <p:blipFill>
          <a:blip r:embed="rId2"/>
          <a:stretch>
            <a:fillRect/>
          </a:stretch>
        </p:blipFill>
        <p:spPr>
          <a:xfrm>
            <a:off x="533400" y="685800"/>
            <a:ext cx="7620000" cy="6019800"/>
          </a:xfrm>
          <a:prstGeom prst="rect">
            <a:avLst/>
          </a:prstGeom>
        </p:spPr>
      </p:pic>
      <p:sp>
        <p:nvSpPr>
          <p:cNvPr id="4" name="Slide Number Placeholder 3">
            <a:extLst>
              <a:ext uri="{FF2B5EF4-FFF2-40B4-BE49-F238E27FC236}">
                <a16:creationId xmlns:a16="http://schemas.microsoft.com/office/drawing/2014/main" id="{9878798B-BF3D-75C5-3055-C81DBD60AB71}"/>
              </a:ext>
            </a:extLst>
          </p:cNvPr>
          <p:cNvSpPr>
            <a:spLocks noGrp="1"/>
          </p:cNvSpPr>
          <p:nvPr>
            <p:ph type="sldNum" sz="quarter" idx="12"/>
          </p:nvPr>
        </p:nvSpPr>
        <p:spPr/>
        <p:txBody>
          <a:bodyPr/>
          <a:lstStyle/>
          <a:p>
            <a:fld id="{71C6F290-D301-4864-9490-340EF11588D9}" type="slidenum">
              <a:rPr lang="en-US" altLang="en-US" smtClean="0"/>
              <a:pPr/>
              <a:t>19</a:t>
            </a:fld>
            <a:endParaRPr lang="en-US" altLang="en-US" dirty="0"/>
          </a:p>
        </p:txBody>
      </p:sp>
      <p:sp>
        <p:nvSpPr>
          <p:cNvPr id="3" name="TextBox 2">
            <a:extLst>
              <a:ext uri="{FF2B5EF4-FFF2-40B4-BE49-F238E27FC236}">
                <a16:creationId xmlns:a16="http://schemas.microsoft.com/office/drawing/2014/main" id="{998156C4-FC75-B5E1-12CB-DC4B0FB7D425}"/>
              </a:ext>
            </a:extLst>
          </p:cNvPr>
          <p:cNvSpPr txBox="1"/>
          <p:nvPr/>
        </p:nvSpPr>
        <p:spPr>
          <a:xfrm>
            <a:off x="4495800" y="2743200"/>
            <a:ext cx="3124200" cy="400110"/>
          </a:xfrm>
          <a:prstGeom prst="rect">
            <a:avLst/>
          </a:prstGeom>
          <a:noFill/>
        </p:spPr>
        <p:txBody>
          <a:bodyPr wrap="square" rtlCol="0">
            <a:spAutoFit/>
          </a:bodyPr>
          <a:lstStyle/>
          <a:p>
            <a:pPr>
              <a:buNone/>
            </a:pPr>
            <a:r>
              <a:rPr lang="en-US" sz="2000" dirty="0">
                <a:solidFill>
                  <a:srgbClr val="0070C0"/>
                </a:solidFill>
              </a:rPr>
              <a:t>Normal Theorem proving</a:t>
            </a:r>
          </a:p>
        </p:txBody>
      </p:sp>
      <p:sp>
        <p:nvSpPr>
          <p:cNvPr id="6" name="TextBox 5">
            <a:extLst>
              <a:ext uri="{FF2B5EF4-FFF2-40B4-BE49-F238E27FC236}">
                <a16:creationId xmlns:a16="http://schemas.microsoft.com/office/drawing/2014/main" id="{69854DE3-B56A-51A8-8EA6-A0124317F52B}"/>
              </a:ext>
            </a:extLst>
          </p:cNvPr>
          <p:cNvSpPr txBox="1"/>
          <p:nvPr/>
        </p:nvSpPr>
        <p:spPr>
          <a:xfrm>
            <a:off x="5486400" y="4343400"/>
            <a:ext cx="2438400" cy="492443"/>
          </a:xfrm>
          <a:prstGeom prst="rect">
            <a:avLst/>
          </a:prstGeom>
          <a:noFill/>
        </p:spPr>
        <p:txBody>
          <a:bodyPr wrap="square" rtlCol="0">
            <a:spAutoFit/>
          </a:bodyPr>
          <a:lstStyle/>
          <a:p>
            <a:pPr>
              <a:buNone/>
            </a:pPr>
            <a:r>
              <a:rPr lang="en-US" dirty="0">
                <a:solidFill>
                  <a:srgbClr val="0070C0"/>
                </a:solidFill>
              </a:rPr>
              <a:t>Resolution</a:t>
            </a:r>
          </a:p>
        </p:txBody>
      </p:sp>
    </p:spTree>
    <p:extLst>
      <p:ext uri="{BB962C8B-B14F-4D97-AF65-F5344CB8AC3E}">
        <p14:creationId xmlns:p14="http://schemas.microsoft.com/office/powerpoint/2010/main" val="3396140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F33C8-DD25-25E2-DB1D-D9F38852FFE9}"/>
              </a:ext>
            </a:extLst>
          </p:cNvPr>
          <p:cNvSpPr>
            <a:spLocks noGrp="1"/>
          </p:cNvSpPr>
          <p:nvPr>
            <p:ph type="title"/>
          </p:nvPr>
        </p:nvSpPr>
        <p:spPr>
          <a:xfrm>
            <a:off x="228600" y="228600"/>
            <a:ext cx="7696200" cy="533400"/>
          </a:xfrm>
        </p:spPr>
        <p:txBody>
          <a:bodyPr/>
          <a:lstStyle/>
          <a:p>
            <a:r>
              <a:rPr lang="en-US" dirty="0"/>
              <a:t>Resolution</a:t>
            </a:r>
          </a:p>
        </p:txBody>
      </p:sp>
      <p:sp>
        <p:nvSpPr>
          <p:cNvPr id="3" name="Content Placeholder 2">
            <a:extLst>
              <a:ext uri="{FF2B5EF4-FFF2-40B4-BE49-F238E27FC236}">
                <a16:creationId xmlns:a16="http://schemas.microsoft.com/office/drawing/2014/main" id="{EACACE62-1FC7-33AC-7EEC-AA6DF97C191E}"/>
              </a:ext>
            </a:extLst>
          </p:cNvPr>
          <p:cNvSpPr>
            <a:spLocks noGrp="1"/>
          </p:cNvSpPr>
          <p:nvPr>
            <p:ph idx="1"/>
          </p:nvPr>
        </p:nvSpPr>
        <p:spPr>
          <a:xfrm>
            <a:off x="152400" y="914400"/>
            <a:ext cx="8839200" cy="5715000"/>
          </a:xfrm>
        </p:spPr>
        <p:txBody>
          <a:bodyPr>
            <a:normAutofit fontScale="55000" lnSpcReduction="20000"/>
          </a:bodyPr>
          <a:lstStyle/>
          <a:p>
            <a:r>
              <a:rPr lang="en-US" dirty="0"/>
              <a:t>How to remove existentially quantifier</a:t>
            </a:r>
          </a:p>
          <a:p>
            <a:endParaRPr lang="en-US" dirty="0"/>
          </a:p>
          <a:p>
            <a:r>
              <a:rPr lang="en-US" dirty="0"/>
              <a:t>Remove existentially quantifiers by substituting for the variable a reference to a function that produces the desired value.</a:t>
            </a:r>
          </a:p>
          <a:p>
            <a:endParaRPr lang="en-US" dirty="0"/>
          </a:p>
          <a:p>
            <a:r>
              <a:rPr lang="en-US" dirty="0"/>
              <a:t>ƎY president(Y)  can be transformed into formula</a:t>
            </a:r>
          </a:p>
          <a:p>
            <a:endParaRPr lang="en-US" dirty="0"/>
          </a:p>
          <a:p>
            <a:r>
              <a:rPr lang="en-US" dirty="0"/>
              <a:t>      President (S1),</a:t>
            </a:r>
          </a:p>
          <a:p>
            <a:r>
              <a:rPr lang="en-US" dirty="0"/>
              <a:t>Where S1 is a function of no argument that somehow produces a value that satisfies president. The return value of S1 is the value of Y.</a:t>
            </a:r>
          </a:p>
          <a:p>
            <a:endParaRPr lang="en-US" dirty="0"/>
          </a:p>
          <a:p>
            <a:r>
              <a:rPr lang="en-US" b="1" dirty="0">
                <a:solidFill>
                  <a:srgbClr val="0070C0"/>
                </a:solidFill>
              </a:rPr>
              <a:t>Example </a:t>
            </a:r>
          </a:p>
          <a:p>
            <a:r>
              <a:rPr lang="en-US" dirty="0"/>
              <a:t> </a:t>
            </a:r>
          </a:p>
          <a:p>
            <a:r>
              <a:rPr lang="en-US" dirty="0"/>
              <a:t>Y is father of X</a:t>
            </a:r>
          </a:p>
          <a:p>
            <a:endParaRPr lang="en-US" dirty="0"/>
          </a:p>
          <a:p>
            <a:r>
              <a:rPr lang="en-US" dirty="0"/>
              <a:t>   ∀X ƎY father(Y,X)  ……..</a:t>
            </a:r>
            <a:r>
              <a:rPr lang="en-US" dirty="0">
                <a:sym typeface="Wingdings" panose="05000000000000000000" pitchFamily="2" charset="2"/>
              </a:rPr>
              <a:t></a:t>
            </a:r>
            <a:r>
              <a:rPr lang="en-US" dirty="0"/>
              <a:t>   ∀X </a:t>
            </a:r>
            <a:r>
              <a:rPr lang="en-US" dirty="0" err="1"/>
              <a:t>fatherof</a:t>
            </a:r>
            <a:r>
              <a:rPr lang="en-US" dirty="0"/>
              <a:t> (S2(X), X)</a:t>
            </a:r>
          </a:p>
          <a:p>
            <a:endParaRPr lang="en-US" dirty="0"/>
          </a:p>
          <a:p>
            <a:r>
              <a:rPr lang="en-US" dirty="0"/>
              <a:t>    </a:t>
            </a:r>
            <a:r>
              <a:rPr lang="en-US" b="1" dirty="0">
                <a:solidFill>
                  <a:srgbClr val="B94917"/>
                </a:solidFill>
              </a:rPr>
              <a:t>Convert ƎY to a function</a:t>
            </a:r>
          </a:p>
          <a:p>
            <a:endParaRPr lang="en-US" dirty="0"/>
          </a:p>
          <a:p>
            <a:r>
              <a:rPr lang="en-US" dirty="0"/>
              <a:t>   ∀X </a:t>
            </a:r>
            <a:r>
              <a:rPr lang="en-US" dirty="0" err="1"/>
              <a:t>fatherof</a:t>
            </a:r>
            <a:r>
              <a:rPr lang="en-US" dirty="0"/>
              <a:t> (S2(X), X)</a:t>
            </a:r>
          </a:p>
          <a:p>
            <a:r>
              <a:rPr lang="en-US" b="1" dirty="0">
                <a:solidFill>
                  <a:srgbClr val="B94917"/>
                </a:solidFill>
              </a:rPr>
              <a:t>    Remove ∀X</a:t>
            </a:r>
          </a:p>
          <a:p>
            <a:r>
              <a:rPr lang="en-US" dirty="0"/>
              <a:t>   </a:t>
            </a:r>
            <a:r>
              <a:rPr lang="en-US" dirty="0" err="1"/>
              <a:t>fatherof</a:t>
            </a:r>
            <a:r>
              <a:rPr lang="en-US" dirty="0"/>
              <a:t> (S2(X), X)</a:t>
            </a:r>
          </a:p>
          <a:p>
            <a:endParaRPr lang="en-US" dirty="0"/>
          </a:p>
        </p:txBody>
      </p:sp>
      <p:sp>
        <p:nvSpPr>
          <p:cNvPr id="4" name="Slide Number Placeholder 3">
            <a:extLst>
              <a:ext uri="{FF2B5EF4-FFF2-40B4-BE49-F238E27FC236}">
                <a16:creationId xmlns:a16="http://schemas.microsoft.com/office/drawing/2014/main" id="{5571EE0A-56A4-9E59-C276-118CD9B7D5BE}"/>
              </a:ext>
            </a:extLst>
          </p:cNvPr>
          <p:cNvSpPr>
            <a:spLocks noGrp="1"/>
          </p:cNvSpPr>
          <p:nvPr>
            <p:ph type="sldNum" sz="quarter" idx="12"/>
          </p:nvPr>
        </p:nvSpPr>
        <p:spPr/>
        <p:txBody>
          <a:bodyPr/>
          <a:lstStyle/>
          <a:p>
            <a:fld id="{71C6F290-D301-4864-9490-340EF11588D9}" type="slidenum">
              <a:rPr lang="en-US" altLang="en-US" smtClean="0"/>
              <a:pPr/>
              <a:t>20</a:t>
            </a:fld>
            <a:endParaRPr lang="en-US" altLang="en-US" dirty="0"/>
          </a:p>
        </p:txBody>
      </p:sp>
    </p:spTree>
    <p:extLst>
      <p:ext uri="{BB962C8B-B14F-4D97-AF65-F5344CB8AC3E}">
        <p14:creationId xmlns:p14="http://schemas.microsoft.com/office/powerpoint/2010/main" val="1575688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49509-4BBB-8F9F-0329-68D188E6FE06}"/>
              </a:ext>
            </a:extLst>
          </p:cNvPr>
          <p:cNvSpPr>
            <a:spLocks noGrp="1"/>
          </p:cNvSpPr>
          <p:nvPr>
            <p:ph type="title"/>
          </p:nvPr>
        </p:nvSpPr>
        <p:spPr>
          <a:xfrm>
            <a:off x="228600" y="228600"/>
            <a:ext cx="7696200" cy="533400"/>
          </a:xfrm>
        </p:spPr>
        <p:txBody>
          <a:bodyPr/>
          <a:lstStyle/>
          <a:p>
            <a:r>
              <a:rPr lang="en-US" dirty="0"/>
              <a:t>Resolution</a:t>
            </a:r>
          </a:p>
        </p:txBody>
      </p:sp>
      <p:sp>
        <p:nvSpPr>
          <p:cNvPr id="3" name="Content Placeholder 2">
            <a:extLst>
              <a:ext uri="{FF2B5EF4-FFF2-40B4-BE49-F238E27FC236}">
                <a16:creationId xmlns:a16="http://schemas.microsoft.com/office/drawing/2014/main" id="{5993B40C-9EF7-D856-551A-8E24D83289E0}"/>
              </a:ext>
            </a:extLst>
          </p:cNvPr>
          <p:cNvSpPr>
            <a:spLocks noGrp="1"/>
          </p:cNvSpPr>
          <p:nvPr>
            <p:ph idx="1"/>
          </p:nvPr>
        </p:nvSpPr>
        <p:spPr>
          <a:xfrm>
            <a:off x="228600" y="799322"/>
            <a:ext cx="8763000" cy="5906278"/>
          </a:xfrm>
        </p:spPr>
        <p:txBody>
          <a:bodyPr>
            <a:normAutofit lnSpcReduction="10000"/>
          </a:bodyPr>
          <a:lstStyle/>
          <a:p>
            <a:r>
              <a:rPr lang="en-US" dirty="0"/>
              <a:t>Example on </a:t>
            </a:r>
            <a:r>
              <a:rPr lang="en-US" b="1" dirty="0">
                <a:solidFill>
                  <a:srgbClr val="B94917"/>
                </a:solidFill>
              </a:rPr>
              <a:t>conjunction of disjunction</a:t>
            </a:r>
          </a:p>
          <a:p>
            <a:r>
              <a:rPr lang="en-US" dirty="0"/>
              <a:t> </a:t>
            </a:r>
          </a:p>
          <a:p>
            <a:r>
              <a:rPr lang="en-US" dirty="0"/>
              <a:t>(winter ^ wearing boots) V (summer ^ wearing sandal)</a:t>
            </a:r>
          </a:p>
          <a:p>
            <a:r>
              <a:rPr lang="en-US" dirty="0"/>
              <a:t> </a:t>
            </a:r>
          </a:p>
          <a:p>
            <a:r>
              <a:rPr lang="en-US" dirty="0"/>
              <a:t>[winter V (summer ^ wearing sandal)] ^ [wearing boots V (summer ^ wearing sandal)]</a:t>
            </a:r>
          </a:p>
          <a:p>
            <a:r>
              <a:rPr lang="en-US" dirty="0"/>
              <a:t> </a:t>
            </a:r>
          </a:p>
          <a:p>
            <a:r>
              <a:rPr lang="en-US" dirty="0"/>
              <a:t>   (winter V summer) ^</a:t>
            </a:r>
          </a:p>
          <a:p>
            <a:r>
              <a:rPr lang="en-US" dirty="0"/>
              <a:t>  (winter V wearing sandal) ^ </a:t>
            </a:r>
          </a:p>
          <a:p>
            <a:r>
              <a:rPr lang="en-US" dirty="0"/>
              <a:t>  (wearing boots V summer) ^  </a:t>
            </a:r>
          </a:p>
          <a:p>
            <a:r>
              <a:rPr lang="en-US" dirty="0"/>
              <a:t>  (wearing boots V wearing sandal)</a:t>
            </a:r>
          </a:p>
          <a:p>
            <a:r>
              <a:rPr lang="en-US" dirty="0"/>
              <a:t> </a:t>
            </a:r>
          </a:p>
          <a:p>
            <a:endParaRPr lang="en-US" dirty="0"/>
          </a:p>
        </p:txBody>
      </p:sp>
      <p:sp>
        <p:nvSpPr>
          <p:cNvPr id="4" name="Slide Number Placeholder 3">
            <a:extLst>
              <a:ext uri="{FF2B5EF4-FFF2-40B4-BE49-F238E27FC236}">
                <a16:creationId xmlns:a16="http://schemas.microsoft.com/office/drawing/2014/main" id="{02F2CE1C-02CA-27BB-B92E-480DDF145436}"/>
              </a:ext>
            </a:extLst>
          </p:cNvPr>
          <p:cNvSpPr>
            <a:spLocks noGrp="1"/>
          </p:cNvSpPr>
          <p:nvPr>
            <p:ph type="sldNum" sz="quarter" idx="12"/>
          </p:nvPr>
        </p:nvSpPr>
        <p:spPr/>
        <p:txBody>
          <a:bodyPr/>
          <a:lstStyle/>
          <a:p>
            <a:fld id="{71C6F290-D301-4864-9490-340EF11588D9}" type="slidenum">
              <a:rPr lang="en-US" altLang="en-US" smtClean="0"/>
              <a:pPr/>
              <a:t>21</a:t>
            </a:fld>
            <a:endParaRPr lang="en-US" altLang="en-US" dirty="0"/>
          </a:p>
        </p:txBody>
      </p:sp>
    </p:spTree>
    <p:extLst>
      <p:ext uri="{BB962C8B-B14F-4D97-AF65-F5344CB8AC3E}">
        <p14:creationId xmlns:p14="http://schemas.microsoft.com/office/powerpoint/2010/main" val="1001847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3A870-8B7C-F963-F617-357F6E452B38}"/>
              </a:ext>
            </a:extLst>
          </p:cNvPr>
          <p:cNvSpPr>
            <a:spLocks noGrp="1"/>
          </p:cNvSpPr>
          <p:nvPr>
            <p:ph type="title"/>
          </p:nvPr>
        </p:nvSpPr>
        <p:spPr>
          <a:xfrm>
            <a:off x="228600" y="228600"/>
            <a:ext cx="7696200" cy="457200"/>
          </a:xfrm>
        </p:spPr>
        <p:txBody>
          <a:bodyPr/>
          <a:lstStyle/>
          <a:p>
            <a:r>
              <a:rPr lang="en-US" dirty="0"/>
              <a:t>Resolution</a:t>
            </a:r>
          </a:p>
        </p:txBody>
      </p:sp>
      <p:sp>
        <p:nvSpPr>
          <p:cNvPr id="3" name="Content Placeholder 2">
            <a:extLst>
              <a:ext uri="{FF2B5EF4-FFF2-40B4-BE49-F238E27FC236}">
                <a16:creationId xmlns:a16="http://schemas.microsoft.com/office/drawing/2014/main" id="{2D8C8D1C-A80A-FEEE-07E8-3E63516FAAED}"/>
              </a:ext>
            </a:extLst>
          </p:cNvPr>
          <p:cNvSpPr>
            <a:spLocks noGrp="1"/>
          </p:cNvSpPr>
          <p:nvPr>
            <p:ph idx="1"/>
          </p:nvPr>
        </p:nvSpPr>
        <p:spPr>
          <a:xfrm>
            <a:off x="228600" y="762000"/>
            <a:ext cx="8305800" cy="5867400"/>
          </a:xfrm>
        </p:spPr>
        <p:txBody>
          <a:bodyPr>
            <a:normAutofit fontScale="32500" lnSpcReduction="20000"/>
          </a:bodyPr>
          <a:lstStyle/>
          <a:p>
            <a:r>
              <a:rPr lang="en-US" sz="6000" b="1" dirty="0">
                <a:solidFill>
                  <a:srgbClr val="B94917"/>
                </a:solidFill>
              </a:rPr>
              <a:t>Example</a:t>
            </a:r>
          </a:p>
          <a:p>
            <a:r>
              <a:rPr lang="en-US" dirty="0"/>
              <a:t> </a:t>
            </a:r>
          </a:p>
          <a:p>
            <a:r>
              <a:rPr lang="en-US" sz="3700" dirty="0"/>
              <a:t>Anyone passing his history exams and winning the lottery is happy. But anyone who studies or is lucky can pass all his exams. John did not study but he is lucky. Anyone who is lucky wins the lottery. </a:t>
            </a:r>
            <a:r>
              <a:rPr lang="en-US" sz="3700" b="1" dirty="0"/>
              <a:t>Is john happy</a:t>
            </a:r>
            <a:r>
              <a:rPr lang="en-US" sz="3700" dirty="0"/>
              <a:t> ? </a:t>
            </a:r>
          </a:p>
          <a:p>
            <a:r>
              <a:rPr lang="en-US" sz="3700" dirty="0"/>
              <a:t> </a:t>
            </a:r>
          </a:p>
          <a:p>
            <a:r>
              <a:rPr lang="en-US" sz="3700" dirty="0"/>
              <a:t>We change the sentences to predicate form:</a:t>
            </a:r>
          </a:p>
          <a:p>
            <a:r>
              <a:rPr lang="en-US" sz="3700" dirty="0"/>
              <a:t> </a:t>
            </a:r>
          </a:p>
          <a:p>
            <a:r>
              <a:rPr lang="en-US" sz="3700" dirty="0"/>
              <a:t>1.  ∀X  pass(</a:t>
            </a:r>
            <a:r>
              <a:rPr lang="en-US" sz="3700" dirty="0" err="1"/>
              <a:t>X,history</a:t>
            </a:r>
            <a:r>
              <a:rPr lang="en-US" sz="3700" dirty="0"/>
              <a:t>) ^ win(</a:t>
            </a:r>
            <a:r>
              <a:rPr lang="en-US" sz="3700" dirty="0" err="1"/>
              <a:t>X,lottery</a:t>
            </a:r>
            <a:r>
              <a:rPr lang="en-US" sz="3700" dirty="0"/>
              <a:t>) </a:t>
            </a:r>
            <a:r>
              <a:rPr lang="en-US" sz="3700" dirty="0">
                <a:sym typeface="Wingdings" panose="05000000000000000000" pitchFamily="2" charset="2"/>
              </a:rPr>
              <a:t></a:t>
            </a:r>
            <a:r>
              <a:rPr lang="en-US" sz="3700" dirty="0"/>
              <a:t> happy(X)</a:t>
            </a:r>
          </a:p>
          <a:p>
            <a:r>
              <a:rPr lang="en-US" sz="3700" dirty="0"/>
              <a:t> </a:t>
            </a:r>
          </a:p>
          <a:p>
            <a:r>
              <a:rPr lang="en-US" sz="3700" dirty="0">
                <a:solidFill>
                  <a:srgbClr val="B94917"/>
                </a:solidFill>
              </a:rPr>
              <a:t>  1.  ~ pass(</a:t>
            </a:r>
            <a:r>
              <a:rPr lang="en-US" sz="3700" dirty="0" err="1">
                <a:solidFill>
                  <a:srgbClr val="B94917"/>
                </a:solidFill>
              </a:rPr>
              <a:t>X,history</a:t>
            </a:r>
            <a:r>
              <a:rPr lang="en-US" sz="3700" dirty="0">
                <a:solidFill>
                  <a:srgbClr val="B94917"/>
                </a:solidFill>
              </a:rPr>
              <a:t>) V ~ win (</a:t>
            </a:r>
            <a:r>
              <a:rPr lang="en-US" sz="3700" dirty="0" err="1">
                <a:solidFill>
                  <a:srgbClr val="B94917"/>
                </a:solidFill>
              </a:rPr>
              <a:t>X,lottery</a:t>
            </a:r>
            <a:r>
              <a:rPr lang="en-US" sz="3700" dirty="0">
                <a:solidFill>
                  <a:srgbClr val="B94917"/>
                </a:solidFill>
              </a:rPr>
              <a:t>) V happy(X)</a:t>
            </a:r>
          </a:p>
          <a:p>
            <a:r>
              <a:rPr lang="en-US" sz="3700" dirty="0"/>
              <a:t> </a:t>
            </a:r>
          </a:p>
          <a:p>
            <a:r>
              <a:rPr lang="en-US" sz="3700" dirty="0"/>
              <a:t>2. ∀X ∀Y (study(X) V lucky (X) </a:t>
            </a:r>
            <a:r>
              <a:rPr lang="en-US" sz="3700" dirty="0">
                <a:sym typeface="Wingdings" panose="05000000000000000000" pitchFamily="2" charset="2"/>
              </a:rPr>
              <a:t></a:t>
            </a:r>
            <a:r>
              <a:rPr lang="en-US" sz="3700" dirty="0"/>
              <a:t> pass (X,Y))</a:t>
            </a:r>
          </a:p>
          <a:p>
            <a:r>
              <a:rPr lang="en-US" sz="3700" dirty="0"/>
              <a:t> </a:t>
            </a:r>
          </a:p>
          <a:p>
            <a:r>
              <a:rPr lang="en-US" sz="3700" dirty="0">
                <a:solidFill>
                  <a:srgbClr val="B94917"/>
                </a:solidFill>
              </a:rPr>
              <a:t>   (~ study(X) ^  ~ lucky (X)) V pass(X,Y)</a:t>
            </a:r>
          </a:p>
          <a:p>
            <a:r>
              <a:rPr lang="en-US" sz="3700" dirty="0">
                <a:solidFill>
                  <a:srgbClr val="B94917"/>
                </a:solidFill>
              </a:rPr>
              <a:t> </a:t>
            </a:r>
          </a:p>
          <a:p>
            <a:r>
              <a:rPr lang="en-US" sz="3700" dirty="0">
                <a:solidFill>
                  <a:srgbClr val="B94917"/>
                </a:solidFill>
              </a:rPr>
              <a:t>  2.  ~ study(Y) V pass(Y,Z)</a:t>
            </a:r>
          </a:p>
          <a:p>
            <a:r>
              <a:rPr lang="en-US" sz="3700" dirty="0">
                <a:solidFill>
                  <a:srgbClr val="B94917"/>
                </a:solidFill>
              </a:rPr>
              <a:t>  3.   ~ lucky(W) V pass(W,V)</a:t>
            </a:r>
          </a:p>
          <a:p>
            <a:r>
              <a:rPr lang="en-US" sz="3700" dirty="0">
                <a:solidFill>
                  <a:srgbClr val="B94917"/>
                </a:solidFill>
              </a:rPr>
              <a:t> </a:t>
            </a:r>
          </a:p>
          <a:p>
            <a:r>
              <a:rPr lang="en-US" sz="3700" dirty="0"/>
              <a:t>3. ~ study (john) ^ lucky(john)</a:t>
            </a:r>
          </a:p>
          <a:p>
            <a:r>
              <a:rPr lang="en-US" sz="3700" dirty="0"/>
              <a:t> </a:t>
            </a:r>
          </a:p>
          <a:p>
            <a:r>
              <a:rPr lang="en-US" sz="3700" dirty="0">
                <a:solidFill>
                  <a:srgbClr val="B94917"/>
                </a:solidFill>
              </a:rPr>
              <a:t>   4.    ~ study(john)</a:t>
            </a:r>
          </a:p>
          <a:p>
            <a:r>
              <a:rPr lang="en-US" sz="3700" dirty="0">
                <a:solidFill>
                  <a:srgbClr val="B94917"/>
                </a:solidFill>
              </a:rPr>
              <a:t>   5.    lucky(john)</a:t>
            </a:r>
          </a:p>
          <a:p>
            <a:r>
              <a:rPr lang="en-US" sz="3700" dirty="0"/>
              <a:t> </a:t>
            </a:r>
          </a:p>
          <a:p>
            <a:r>
              <a:rPr lang="en-US" sz="3700" dirty="0"/>
              <a:t>4. ∀X (lucky(X) </a:t>
            </a:r>
            <a:r>
              <a:rPr lang="en-US" sz="3700" dirty="0">
                <a:sym typeface="Wingdings" panose="05000000000000000000" pitchFamily="2" charset="2"/>
              </a:rPr>
              <a:t></a:t>
            </a:r>
            <a:r>
              <a:rPr lang="en-US" sz="3700" dirty="0"/>
              <a:t> win (</a:t>
            </a:r>
            <a:r>
              <a:rPr lang="en-US" sz="3700" dirty="0" err="1"/>
              <a:t>X,lottery</a:t>
            </a:r>
            <a:r>
              <a:rPr lang="en-US" sz="3700" dirty="0"/>
              <a:t>))</a:t>
            </a:r>
          </a:p>
          <a:p>
            <a:r>
              <a:rPr lang="en-US" sz="3700" dirty="0"/>
              <a:t> </a:t>
            </a:r>
          </a:p>
          <a:p>
            <a:r>
              <a:rPr lang="en-US" sz="3700" dirty="0">
                <a:solidFill>
                  <a:srgbClr val="B94917"/>
                </a:solidFill>
              </a:rPr>
              <a:t>     6.  ~ lucky(U) V win (</a:t>
            </a:r>
            <a:r>
              <a:rPr lang="en-US" sz="3700" dirty="0" err="1">
                <a:solidFill>
                  <a:srgbClr val="B94917"/>
                </a:solidFill>
              </a:rPr>
              <a:t>U,lottery</a:t>
            </a:r>
            <a:r>
              <a:rPr lang="en-US" sz="3700" dirty="0">
                <a:solidFill>
                  <a:srgbClr val="B94917"/>
                </a:solidFill>
              </a:rPr>
              <a:t>)</a:t>
            </a:r>
          </a:p>
          <a:p>
            <a:r>
              <a:rPr lang="en-US" sz="3700" dirty="0"/>
              <a:t> </a:t>
            </a:r>
          </a:p>
          <a:p>
            <a:r>
              <a:rPr lang="en-US" sz="3700" dirty="0"/>
              <a:t>prove John is happy  (We add)</a:t>
            </a:r>
          </a:p>
          <a:p>
            <a:r>
              <a:rPr lang="en-US" sz="3700" dirty="0"/>
              <a:t> </a:t>
            </a:r>
          </a:p>
          <a:p>
            <a:r>
              <a:rPr lang="en-US" sz="4400" b="1" dirty="0">
                <a:solidFill>
                  <a:srgbClr val="B94917"/>
                </a:solidFill>
              </a:rPr>
              <a:t>5. ~ happy (john)</a:t>
            </a:r>
          </a:p>
          <a:p>
            <a:endParaRPr lang="en-US" dirty="0"/>
          </a:p>
        </p:txBody>
      </p:sp>
      <p:sp>
        <p:nvSpPr>
          <p:cNvPr id="4" name="Slide Number Placeholder 3">
            <a:extLst>
              <a:ext uri="{FF2B5EF4-FFF2-40B4-BE49-F238E27FC236}">
                <a16:creationId xmlns:a16="http://schemas.microsoft.com/office/drawing/2014/main" id="{7A77E715-3388-B69C-EC28-CA4C0D9D4A4F}"/>
              </a:ext>
            </a:extLst>
          </p:cNvPr>
          <p:cNvSpPr>
            <a:spLocks noGrp="1"/>
          </p:cNvSpPr>
          <p:nvPr>
            <p:ph type="sldNum" sz="quarter" idx="12"/>
          </p:nvPr>
        </p:nvSpPr>
        <p:spPr/>
        <p:txBody>
          <a:bodyPr/>
          <a:lstStyle/>
          <a:p>
            <a:fld id="{71C6F290-D301-4864-9490-340EF11588D9}" type="slidenum">
              <a:rPr lang="en-US" altLang="en-US" smtClean="0"/>
              <a:pPr/>
              <a:t>22</a:t>
            </a:fld>
            <a:endParaRPr lang="en-US" altLang="en-US" dirty="0"/>
          </a:p>
        </p:txBody>
      </p:sp>
    </p:spTree>
    <p:extLst>
      <p:ext uri="{BB962C8B-B14F-4D97-AF65-F5344CB8AC3E}">
        <p14:creationId xmlns:p14="http://schemas.microsoft.com/office/powerpoint/2010/main" val="762776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FF25C-A36F-4324-D149-8C769342B750}"/>
              </a:ext>
            </a:extLst>
          </p:cNvPr>
          <p:cNvSpPr>
            <a:spLocks noGrp="1"/>
          </p:cNvSpPr>
          <p:nvPr>
            <p:ph type="title"/>
          </p:nvPr>
        </p:nvSpPr>
        <p:spPr>
          <a:xfrm>
            <a:off x="228600" y="228600"/>
            <a:ext cx="7696200" cy="685800"/>
          </a:xfrm>
        </p:spPr>
        <p:txBody>
          <a:bodyPr/>
          <a:lstStyle/>
          <a:p>
            <a:r>
              <a:rPr lang="en-US" dirty="0"/>
              <a:t>Resolution</a:t>
            </a:r>
          </a:p>
        </p:txBody>
      </p:sp>
      <p:sp>
        <p:nvSpPr>
          <p:cNvPr id="3" name="Content Placeholder 2">
            <a:extLst>
              <a:ext uri="{FF2B5EF4-FFF2-40B4-BE49-F238E27FC236}">
                <a16:creationId xmlns:a16="http://schemas.microsoft.com/office/drawing/2014/main" id="{79BE4061-7BBB-A842-1C2D-330CB113D352}"/>
              </a:ext>
            </a:extLst>
          </p:cNvPr>
          <p:cNvSpPr>
            <a:spLocks noGrp="1"/>
          </p:cNvSpPr>
          <p:nvPr>
            <p:ph idx="1"/>
          </p:nvPr>
        </p:nvSpPr>
        <p:spPr>
          <a:xfrm>
            <a:off x="152400" y="914400"/>
            <a:ext cx="8382000" cy="5715000"/>
          </a:xfrm>
        </p:spPr>
        <p:txBody>
          <a:bodyPr/>
          <a:lstStyle/>
          <a:p>
            <a:endParaRPr lang="en-US" dirty="0"/>
          </a:p>
        </p:txBody>
      </p:sp>
      <p:sp>
        <p:nvSpPr>
          <p:cNvPr id="4" name="Slide Number Placeholder 3">
            <a:extLst>
              <a:ext uri="{FF2B5EF4-FFF2-40B4-BE49-F238E27FC236}">
                <a16:creationId xmlns:a16="http://schemas.microsoft.com/office/drawing/2014/main" id="{29576DDA-A4E4-23BC-64D0-458DB8836EB5}"/>
              </a:ext>
            </a:extLst>
          </p:cNvPr>
          <p:cNvSpPr>
            <a:spLocks noGrp="1"/>
          </p:cNvSpPr>
          <p:nvPr>
            <p:ph type="sldNum" sz="quarter" idx="12"/>
          </p:nvPr>
        </p:nvSpPr>
        <p:spPr/>
        <p:txBody>
          <a:bodyPr/>
          <a:lstStyle/>
          <a:p>
            <a:fld id="{71C6F290-D301-4864-9490-340EF11588D9}" type="slidenum">
              <a:rPr lang="en-US" altLang="en-US" smtClean="0"/>
              <a:pPr/>
              <a:t>23</a:t>
            </a:fld>
            <a:endParaRPr lang="en-US" altLang="en-US" dirty="0"/>
          </a:p>
        </p:txBody>
      </p:sp>
      <p:graphicFrame>
        <p:nvGraphicFramePr>
          <p:cNvPr id="5" name="Object 4">
            <a:extLst>
              <a:ext uri="{FF2B5EF4-FFF2-40B4-BE49-F238E27FC236}">
                <a16:creationId xmlns:a16="http://schemas.microsoft.com/office/drawing/2014/main" id="{C33CF8CA-94BC-C9D7-E3EB-D55AA8B566EB}"/>
              </a:ext>
            </a:extLst>
          </p:cNvPr>
          <p:cNvGraphicFramePr>
            <a:graphicFrameLocks noChangeAspect="1"/>
          </p:cNvGraphicFramePr>
          <p:nvPr>
            <p:extLst>
              <p:ext uri="{D42A27DB-BD31-4B8C-83A1-F6EECF244321}">
                <p14:modId xmlns:p14="http://schemas.microsoft.com/office/powerpoint/2010/main" val="883561009"/>
              </p:ext>
            </p:extLst>
          </p:nvPr>
        </p:nvGraphicFramePr>
        <p:xfrm>
          <a:off x="457200" y="1397000"/>
          <a:ext cx="7848600" cy="5156200"/>
        </p:xfrm>
        <a:graphic>
          <a:graphicData uri="http://schemas.openxmlformats.org/presentationml/2006/ole">
            <mc:AlternateContent xmlns:mc="http://schemas.openxmlformats.org/markup-compatibility/2006">
              <mc:Choice xmlns:v="urn:schemas-microsoft-com:vml" Requires="v">
                <p:oleObj name="Bitmap Image" r:id="rId2" imgW="7354753" imgH="9078012" progId="Paint.Picture.1">
                  <p:embed/>
                </p:oleObj>
              </mc:Choice>
              <mc:Fallback>
                <p:oleObj name="Bitmap Image" r:id="rId2" imgW="7354753" imgH="9078012" progId="Paint.Picture.1">
                  <p:embed/>
                  <p:pic>
                    <p:nvPicPr>
                      <p:cNvPr id="0" name=""/>
                      <p:cNvPicPr/>
                      <p:nvPr/>
                    </p:nvPicPr>
                    <p:blipFill>
                      <a:blip r:embed="rId3"/>
                      <a:stretch>
                        <a:fillRect/>
                      </a:stretch>
                    </p:blipFill>
                    <p:spPr>
                      <a:xfrm>
                        <a:off x="457200" y="1397000"/>
                        <a:ext cx="7848600" cy="5156200"/>
                      </a:xfrm>
                      <a:prstGeom prst="rect">
                        <a:avLst/>
                      </a:prstGeom>
                    </p:spPr>
                  </p:pic>
                </p:oleObj>
              </mc:Fallback>
            </mc:AlternateContent>
          </a:graphicData>
        </a:graphic>
      </p:graphicFrame>
    </p:spTree>
    <p:extLst>
      <p:ext uri="{BB962C8B-B14F-4D97-AF65-F5344CB8AC3E}">
        <p14:creationId xmlns:p14="http://schemas.microsoft.com/office/powerpoint/2010/main" val="2528448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B1C52-EA2A-3FCC-F1C8-A88ADEDBFF23}"/>
              </a:ext>
            </a:extLst>
          </p:cNvPr>
          <p:cNvSpPr>
            <a:spLocks noGrp="1"/>
          </p:cNvSpPr>
          <p:nvPr>
            <p:ph type="title"/>
          </p:nvPr>
        </p:nvSpPr>
        <p:spPr>
          <a:xfrm>
            <a:off x="228600" y="228600"/>
            <a:ext cx="7696200" cy="533400"/>
          </a:xfrm>
        </p:spPr>
        <p:txBody>
          <a:bodyPr/>
          <a:lstStyle/>
          <a:p>
            <a:r>
              <a:rPr lang="en-US" dirty="0"/>
              <a:t>Resolution</a:t>
            </a:r>
          </a:p>
        </p:txBody>
      </p:sp>
      <p:sp>
        <p:nvSpPr>
          <p:cNvPr id="3" name="Content Placeholder 2">
            <a:extLst>
              <a:ext uri="{FF2B5EF4-FFF2-40B4-BE49-F238E27FC236}">
                <a16:creationId xmlns:a16="http://schemas.microsoft.com/office/drawing/2014/main" id="{EBBA3951-DAB5-3583-2653-E9D37EEFA9DC}"/>
              </a:ext>
            </a:extLst>
          </p:cNvPr>
          <p:cNvSpPr>
            <a:spLocks noGrp="1"/>
          </p:cNvSpPr>
          <p:nvPr>
            <p:ph idx="1"/>
          </p:nvPr>
        </p:nvSpPr>
        <p:spPr>
          <a:xfrm>
            <a:off x="152400" y="762000"/>
            <a:ext cx="8763000" cy="5867400"/>
          </a:xfrm>
        </p:spPr>
        <p:txBody>
          <a:bodyPr>
            <a:normAutofit fontScale="70000" lnSpcReduction="20000"/>
          </a:bodyPr>
          <a:lstStyle/>
          <a:p>
            <a:r>
              <a:rPr lang="en-US" dirty="0"/>
              <a:t>Example (the system tries all the options)</a:t>
            </a:r>
          </a:p>
          <a:p>
            <a:r>
              <a:rPr lang="en-US" dirty="0"/>
              <a:t>Given a set of facts in which some of them are</a:t>
            </a:r>
          </a:p>
          <a:p>
            <a:r>
              <a:rPr lang="en-US" dirty="0"/>
              <a:t> </a:t>
            </a:r>
          </a:p>
          <a:p>
            <a:r>
              <a:rPr lang="en-US" dirty="0"/>
              <a:t>ruler (Caesar)</a:t>
            </a:r>
          </a:p>
          <a:p>
            <a:r>
              <a:rPr lang="en-US" dirty="0"/>
              <a:t>hate(</a:t>
            </a:r>
            <a:r>
              <a:rPr lang="en-US" dirty="0" err="1"/>
              <a:t>marcus,ceasar</a:t>
            </a:r>
            <a:r>
              <a:rPr lang="en-US" dirty="0"/>
              <a:t>)</a:t>
            </a:r>
          </a:p>
          <a:p>
            <a:r>
              <a:rPr lang="en-US" dirty="0"/>
              <a:t> </a:t>
            </a:r>
          </a:p>
          <a:p>
            <a:r>
              <a:rPr lang="en-US" dirty="0"/>
              <a:t>and we have</a:t>
            </a:r>
          </a:p>
          <a:p>
            <a:r>
              <a:rPr lang="en-US" dirty="0"/>
              <a:t> </a:t>
            </a:r>
          </a:p>
          <a:p>
            <a:r>
              <a:rPr lang="en-US" dirty="0"/>
              <a:t>hate(</a:t>
            </a:r>
            <a:r>
              <a:rPr lang="en-US" dirty="0" err="1"/>
              <a:t>marcus,paulus</a:t>
            </a:r>
            <a:r>
              <a:rPr lang="en-US" dirty="0"/>
              <a:t>)</a:t>
            </a:r>
          </a:p>
          <a:p>
            <a:r>
              <a:rPr lang="en-US" dirty="0"/>
              <a:t>hate(</a:t>
            </a:r>
            <a:r>
              <a:rPr lang="en-US" dirty="0" err="1"/>
              <a:t>marcus,julian</a:t>
            </a:r>
            <a:r>
              <a:rPr lang="en-US" dirty="0"/>
              <a:t>)</a:t>
            </a:r>
          </a:p>
          <a:p>
            <a:r>
              <a:rPr lang="en-US" dirty="0"/>
              <a:t> </a:t>
            </a:r>
          </a:p>
          <a:p>
            <a:r>
              <a:rPr lang="en-US" b="1" dirty="0"/>
              <a:t>Prove:</a:t>
            </a:r>
            <a:endParaRPr lang="en-US" dirty="0"/>
          </a:p>
          <a:p>
            <a:r>
              <a:rPr lang="en-US" b="1" dirty="0"/>
              <a:t>           Marcus hates some ruler</a:t>
            </a:r>
            <a:endParaRPr lang="en-US" dirty="0"/>
          </a:p>
          <a:p>
            <a:r>
              <a:rPr lang="en-US" dirty="0"/>
              <a:t> </a:t>
            </a:r>
          </a:p>
          <a:p>
            <a:r>
              <a:rPr lang="en-US" dirty="0"/>
              <a:t>  ƎX    hate (</a:t>
            </a:r>
            <a:r>
              <a:rPr lang="en-US" dirty="0" err="1"/>
              <a:t>marcus,X</a:t>
            </a:r>
            <a:r>
              <a:rPr lang="en-US" dirty="0"/>
              <a:t>) ^ ruler (X)</a:t>
            </a:r>
          </a:p>
          <a:p>
            <a:r>
              <a:rPr lang="en-US" dirty="0"/>
              <a:t> </a:t>
            </a:r>
          </a:p>
          <a:p>
            <a:r>
              <a:rPr lang="en-US" dirty="0"/>
              <a:t>   ~ ƎX hate (</a:t>
            </a:r>
            <a:r>
              <a:rPr lang="en-US" dirty="0" err="1"/>
              <a:t>marcus,X</a:t>
            </a:r>
            <a:r>
              <a:rPr lang="en-US" dirty="0"/>
              <a:t>) ^ ruler (X)</a:t>
            </a:r>
          </a:p>
          <a:p>
            <a:r>
              <a:rPr lang="en-US" dirty="0"/>
              <a:t>    ∀X  ~hate(</a:t>
            </a:r>
            <a:r>
              <a:rPr lang="en-US" dirty="0" err="1"/>
              <a:t>marcus,X</a:t>
            </a:r>
            <a:r>
              <a:rPr lang="en-US" dirty="0"/>
              <a:t>) v ~ruler(X)</a:t>
            </a:r>
          </a:p>
          <a:p>
            <a:r>
              <a:rPr lang="en-US" dirty="0"/>
              <a:t> </a:t>
            </a:r>
          </a:p>
          <a:p>
            <a:endParaRPr lang="en-US" dirty="0"/>
          </a:p>
        </p:txBody>
      </p:sp>
      <p:sp>
        <p:nvSpPr>
          <p:cNvPr id="4" name="Slide Number Placeholder 3">
            <a:extLst>
              <a:ext uri="{FF2B5EF4-FFF2-40B4-BE49-F238E27FC236}">
                <a16:creationId xmlns:a16="http://schemas.microsoft.com/office/drawing/2014/main" id="{18A75DDF-8E65-C5FC-281E-E1DA0CA094CC}"/>
              </a:ext>
            </a:extLst>
          </p:cNvPr>
          <p:cNvSpPr>
            <a:spLocks noGrp="1"/>
          </p:cNvSpPr>
          <p:nvPr>
            <p:ph type="sldNum" sz="quarter" idx="12"/>
          </p:nvPr>
        </p:nvSpPr>
        <p:spPr/>
        <p:txBody>
          <a:bodyPr/>
          <a:lstStyle/>
          <a:p>
            <a:fld id="{71C6F290-D301-4864-9490-340EF11588D9}" type="slidenum">
              <a:rPr lang="en-US" altLang="en-US" smtClean="0"/>
              <a:pPr/>
              <a:t>24</a:t>
            </a:fld>
            <a:endParaRPr lang="en-US" altLang="en-US" dirty="0"/>
          </a:p>
        </p:txBody>
      </p:sp>
    </p:spTree>
    <p:extLst>
      <p:ext uri="{BB962C8B-B14F-4D97-AF65-F5344CB8AC3E}">
        <p14:creationId xmlns:p14="http://schemas.microsoft.com/office/powerpoint/2010/main" val="2183409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A5AC5-CF63-CF83-BAE5-21997567B623}"/>
              </a:ext>
            </a:extLst>
          </p:cNvPr>
          <p:cNvSpPr>
            <a:spLocks noGrp="1"/>
          </p:cNvSpPr>
          <p:nvPr>
            <p:ph type="title"/>
          </p:nvPr>
        </p:nvSpPr>
        <p:spPr>
          <a:xfrm>
            <a:off x="228600" y="228600"/>
            <a:ext cx="7696200" cy="457200"/>
          </a:xfrm>
        </p:spPr>
        <p:txBody>
          <a:bodyPr/>
          <a:lstStyle/>
          <a:p>
            <a:r>
              <a:rPr lang="en-US" dirty="0"/>
              <a:t>Resolution</a:t>
            </a:r>
          </a:p>
        </p:txBody>
      </p:sp>
      <p:pic>
        <p:nvPicPr>
          <p:cNvPr id="5" name="Content Placeholder 4">
            <a:extLst>
              <a:ext uri="{FF2B5EF4-FFF2-40B4-BE49-F238E27FC236}">
                <a16:creationId xmlns:a16="http://schemas.microsoft.com/office/drawing/2014/main" id="{163A6691-5640-9A54-AA74-7CB15370A109}"/>
              </a:ext>
            </a:extLst>
          </p:cNvPr>
          <p:cNvPicPr>
            <a:picLocks noGrp="1" noChangeAspect="1"/>
          </p:cNvPicPr>
          <p:nvPr>
            <p:ph idx="1"/>
          </p:nvPr>
        </p:nvPicPr>
        <p:blipFill>
          <a:blip r:embed="rId2"/>
          <a:stretch>
            <a:fillRect/>
          </a:stretch>
        </p:blipFill>
        <p:spPr>
          <a:xfrm>
            <a:off x="457200" y="838200"/>
            <a:ext cx="8077200" cy="5867400"/>
          </a:xfrm>
          <a:prstGeom prst="rect">
            <a:avLst/>
          </a:prstGeom>
        </p:spPr>
      </p:pic>
      <p:sp>
        <p:nvSpPr>
          <p:cNvPr id="4" name="Slide Number Placeholder 3">
            <a:extLst>
              <a:ext uri="{FF2B5EF4-FFF2-40B4-BE49-F238E27FC236}">
                <a16:creationId xmlns:a16="http://schemas.microsoft.com/office/drawing/2014/main" id="{8859552D-FD00-11A1-6EA0-20DD05F941E5}"/>
              </a:ext>
            </a:extLst>
          </p:cNvPr>
          <p:cNvSpPr>
            <a:spLocks noGrp="1"/>
          </p:cNvSpPr>
          <p:nvPr>
            <p:ph type="sldNum" sz="quarter" idx="12"/>
          </p:nvPr>
        </p:nvSpPr>
        <p:spPr/>
        <p:txBody>
          <a:bodyPr/>
          <a:lstStyle/>
          <a:p>
            <a:fld id="{71C6F290-D301-4864-9490-340EF11588D9}" type="slidenum">
              <a:rPr lang="en-US" altLang="en-US" smtClean="0"/>
              <a:pPr/>
              <a:t>25</a:t>
            </a:fld>
            <a:endParaRPr lang="en-US" altLang="en-US" dirty="0"/>
          </a:p>
        </p:txBody>
      </p:sp>
    </p:spTree>
    <p:extLst>
      <p:ext uri="{BB962C8B-B14F-4D97-AF65-F5344CB8AC3E}">
        <p14:creationId xmlns:p14="http://schemas.microsoft.com/office/powerpoint/2010/main" val="1268157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E3088-5085-D975-DBD9-5ECADE7914AB}"/>
              </a:ext>
            </a:extLst>
          </p:cNvPr>
          <p:cNvSpPr>
            <a:spLocks noGrp="1"/>
          </p:cNvSpPr>
          <p:nvPr>
            <p:ph type="title"/>
          </p:nvPr>
        </p:nvSpPr>
        <p:spPr>
          <a:xfrm>
            <a:off x="228600" y="228600"/>
            <a:ext cx="7696200" cy="609600"/>
          </a:xfrm>
        </p:spPr>
        <p:txBody>
          <a:bodyPr/>
          <a:lstStyle/>
          <a:p>
            <a:r>
              <a:rPr lang="en-US" dirty="0"/>
              <a:t>Resolution</a:t>
            </a:r>
          </a:p>
        </p:txBody>
      </p:sp>
      <p:pic>
        <p:nvPicPr>
          <p:cNvPr id="12" name="Content Placeholder 11">
            <a:extLst>
              <a:ext uri="{FF2B5EF4-FFF2-40B4-BE49-F238E27FC236}">
                <a16:creationId xmlns:a16="http://schemas.microsoft.com/office/drawing/2014/main" id="{2002AC42-D34E-2D2B-2287-F9A29878EA74}"/>
              </a:ext>
            </a:extLst>
          </p:cNvPr>
          <p:cNvPicPr>
            <a:picLocks noGrp="1" noChangeAspect="1"/>
          </p:cNvPicPr>
          <p:nvPr>
            <p:ph idx="1"/>
          </p:nvPr>
        </p:nvPicPr>
        <p:blipFill>
          <a:blip r:embed="rId2"/>
          <a:stretch>
            <a:fillRect/>
          </a:stretch>
        </p:blipFill>
        <p:spPr>
          <a:xfrm>
            <a:off x="76200" y="838200"/>
            <a:ext cx="8458200" cy="5791199"/>
          </a:xfrm>
          <a:prstGeom prst="rect">
            <a:avLst/>
          </a:prstGeom>
        </p:spPr>
      </p:pic>
      <p:sp>
        <p:nvSpPr>
          <p:cNvPr id="4" name="Slide Number Placeholder 3">
            <a:extLst>
              <a:ext uri="{FF2B5EF4-FFF2-40B4-BE49-F238E27FC236}">
                <a16:creationId xmlns:a16="http://schemas.microsoft.com/office/drawing/2014/main" id="{427B50F4-D7A6-588A-3D8E-21C70F68647D}"/>
              </a:ext>
            </a:extLst>
          </p:cNvPr>
          <p:cNvSpPr>
            <a:spLocks noGrp="1"/>
          </p:cNvSpPr>
          <p:nvPr>
            <p:ph type="sldNum" sz="quarter" idx="12"/>
          </p:nvPr>
        </p:nvSpPr>
        <p:spPr/>
        <p:txBody>
          <a:bodyPr/>
          <a:lstStyle/>
          <a:p>
            <a:fld id="{71C6F290-D301-4864-9490-340EF11588D9}" type="slidenum">
              <a:rPr lang="en-US" altLang="en-US" smtClean="0"/>
              <a:pPr/>
              <a:t>26</a:t>
            </a:fld>
            <a:endParaRPr lang="en-US" altLang="en-US" dirty="0"/>
          </a:p>
        </p:txBody>
      </p:sp>
    </p:spTree>
    <p:extLst>
      <p:ext uri="{BB962C8B-B14F-4D97-AF65-F5344CB8AC3E}">
        <p14:creationId xmlns:p14="http://schemas.microsoft.com/office/powerpoint/2010/main" val="1550330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1950-F265-B877-AF86-143FFFB3D160}"/>
              </a:ext>
            </a:extLst>
          </p:cNvPr>
          <p:cNvSpPr>
            <a:spLocks noGrp="1"/>
          </p:cNvSpPr>
          <p:nvPr>
            <p:ph type="title"/>
          </p:nvPr>
        </p:nvSpPr>
        <p:spPr>
          <a:xfrm>
            <a:off x="228600" y="228600"/>
            <a:ext cx="7696200" cy="457200"/>
          </a:xfrm>
        </p:spPr>
        <p:txBody>
          <a:bodyPr/>
          <a:lstStyle/>
          <a:p>
            <a:r>
              <a:rPr lang="en-US" dirty="0"/>
              <a:t>Resolution</a:t>
            </a:r>
          </a:p>
        </p:txBody>
      </p:sp>
      <p:pic>
        <p:nvPicPr>
          <p:cNvPr id="15" name="Content Placeholder 14">
            <a:extLst>
              <a:ext uri="{FF2B5EF4-FFF2-40B4-BE49-F238E27FC236}">
                <a16:creationId xmlns:a16="http://schemas.microsoft.com/office/drawing/2014/main" id="{99570B67-1091-341C-2DEF-90C532492151}"/>
              </a:ext>
            </a:extLst>
          </p:cNvPr>
          <p:cNvPicPr>
            <a:picLocks noGrp="1" noChangeAspect="1"/>
          </p:cNvPicPr>
          <p:nvPr>
            <p:ph idx="1"/>
          </p:nvPr>
        </p:nvPicPr>
        <p:blipFill>
          <a:blip r:embed="rId2"/>
          <a:stretch>
            <a:fillRect/>
          </a:stretch>
        </p:blipFill>
        <p:spPr>
          <a:xfrm>
            <a:off x="457200" y="685800"/>
            <a:ext cx="8001000" cy="6096000"/>
          </a:xfrm>
          <a:prstGeom prst="rect">
            <a:avLst/>
          </a:prstGeom>
        </p:spPr>
      </p:pic>
      <p:sp>
        <p:nvSpPr>
          <p:cNvPr id="4" name="Slide Number Placeholder 3">
            <a:extLst>
              <a:ext uri="{FF2B5EF4-FFF2-40B4-BE49-F238E27FC236}">
                <a16:creationId xmlns:a16="http://schemas.microsoft.com/office/drawing/2014/main" id="{66C331BC-2B80-8658-16E9-A60948A6302A}"/>
              </a:ext>
            </a:extLst>
          </p:cNvPr>
          <p:cNvSpPr>
            <a:spLocks noGrp="1"/>
          </p:cNvSpPr>
          <p:nvPr>
            <p:ph type="sldNum" sz="quarter" idx="12"/>
          </p:nvPr>
        </p:nvSpPr>
        <p:spPr/>
        <p:txBody>
          <a:bodyPr/>
          <a:lstStyle/>
          <a:p>
            <a:fld id="{71C6F290-D301-4864-9490-340EF11588D9}" type="slidenum">
              <a:rPr lang="en-US" altLang="en-US" smtClean="0"/>
              <a:pPr/>
              <a:t>27</a:t>
            </a:fld>
            <a:endParaRPr lang="en-US" altLang="en-US" dirty="0"/>
          </a:p>
        </p:txBody>
      </p:sp>
    </p:spTree>
    <p:extLst>
      <p:ext uri="{BB962C8B-B14F-4D97-AF65-F5344CB8AC3E}">
        <p14:creationId xmlns:p14="http://schemas.microsoft.com/office/powerpoint/2010/main" val="23554208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1675E-5ACF-2A41-406B-B16EFD7B4646}"/>
              </a:ext>
            </a:extLst>
          </p:cNvPr>
          <p:cNvSpPr>
            <a:spLocks noGrp="1"/>
          </p:cNvSpPr>
          <p:nvPr>
            <p:ph type="title"/>
          </p:nvPr>
        </p:nvSpPr>
        <p:spPr>
          <a:xfrm>
            <a:off x="228600" y="228600"/>
            <a:ext cx="7696200" cy="533400"/>
          </a:xfrm>
        </p:spPr>
        <p:txBody>
          <a:bodyPr/>
          <a:lstStyle/>
          <a:p>
            <a:r>
              <a:rPr lang="en-US" dirty="0"/>
              <a:t>Semantic Networks</a:t>
            </a:r>
          </a:p>
        </p:txBody>
      </p:sp>
      <p:sp>
        <p:nvSpPr>
          <p:cNvPr id="3" name="Content Placeholder 2">
            <a:extLst>
              <a:ext uri="{FF2B5EF4-FFF2-40B4-BE49-F238E27FC236}">
                <a16:creationId xmlns:a16="http://schemas.microsoft.com/office/drawing/2014/main" id="{86125392-541B-E63B-A36A-9503318FC924}"/>
              </a:ext>
            </a:extLst>
          </p:cNvPr>
          <p:cNvSpPr>
            <a:spLocks noGrp="1"/>
          </p:cNvSpPr>
          <p:nvPr>
            <p:ph idx="1"/>
          </p:nvPr>
        </p:nvSpPr>
        <p:spPr>
          <a:xfrm>
            <a:off x="228600" y="990600"/>
            <a:ext cx="8305800" cy="4945063"/>
          </a:xfrm>
        </p:spPr>
        <p:txBody>
          <a:bodyPr>
            <a:normAutofit fontScale="70000" lnSpcReduction="20000"/>
          </a:bodyPr>
          <a:lstStyle/>
          <a:p>
            <a:pPr algn="just"/>
            <a:r>
              <a:rPr lang="en-US" dirty="0"/>
              <a:t>It is not enough to describe a car by listing its component parts; the description must also describe the ways in which those parts are combined and the interaction between them. It is essential to a range of situations including taxonomic information, such as the classification of plants by genus and species, or description of complex objects such as a diesel engine or human body in terms of their component parts. Semantic nets is also important in describing casual relationships between events occurring over time. This is good to understand simple narrative such as a child 's story or to represent a robot 's plan of actions.</a:t>
            </a:r>
          </a:p>
          <a:p>
            <a:pPr algn="just"/>
            <a:endParaRPr lang="en-US" dirty="0"/>
          </a:p>
          <a:p>
            <a:pPr algn="just"/>
            <a:r>
              <a:rPr lang="en-US" dirty="0" err="1"/>
              <a:t>hassize</a:t>
            </a:r>
            <a:r>
              <a:rPr lang="en-US" dirty="0"/>
              <a:t>(</a:t>
            </a:r>
            <a:r>
              <a:rPr lang="en-US" dirty="0" err="1"/>
              <a:t>bluebird,small</a:t>
            </a:r>
            <a:r>
              <a:rPr lang="en-US" dirty="0"/>
              <a:t>)</a:t>
            </a:r>
          </a:p>
          <a:p>
            <a:pPr algn="just"/>
            <a:r>
              <a:rPr lang="en-US" dirty="0" err="1"/>
              <a:t>hascovering</a:t>
            </a:r>
            <a:r>
              <a:rPr lang="en-US" dirty="0"/>
              <a:t>(</a:t>
            </a:r>
            <a:r>
              <a:rPr lang="en-US" dirty="0" err="1"/>
              <a:t>bird,feathers</a:t>
            </a:r>
            <a:r>
              <a:rPr lang="en-US" dirty="0"/>
              <a:t>)</a:t>
            </a:r>
          </a:p>
          <a:p>
            <a:pPr algn="just"/>
            <a:r>
              <a:rPr lang="en-US" dirty="0" err="1"/>
              <a:t>hascolor</a:t>
            </a:r>
            <a:r>
              <a:rPr lang="en-US" dirty="0"/>
              <a:t>(</a:t>
            </a:r>
            <a:r>
              <a:rPr lang="en-US" dirty="0" err="1"/>
              <a:t>bluebird,blue</a:t>
            </a:r>
            <a:r>
              <a:rPr lang="en-US" dirty="0"/>
              <a:t>)</a:t>
            </a:r>
          </a:p>
          <a:p>
            <a:pPr algn="just"/>
            <a:r>
              <a:rPr lang="en-US" dirty="0" err="1"/>
              <a:t>hasproperty</a:t>
            </a:r>
            <a:r>
              <a:rPr lang="en-US" dirty="0"/>
              <a:t>(</a:t>
            </a:r>
            <a:r>
              <a:rPr lang="en-US" dirty="0" err="1"/>
              <a:t>bird,flies</a:t>
            </a:r>
            <a:r>
              <a:rPr lang="en-US" dirty="0"/>
              <a:t>)</a:t>
            </a:r>
          </a:p>
          <a:p>
            <a:pPr algn="just"/>
            <a:r>
              <a:rPr lang="en-US" dirty="0"/>
              <a:t>isa(</a:t>
            </a:r>
            <a:r>
              <a:rPr lang="en-US" dirty="0" err="1"/>
              <a:t>bluebird,bird</a:t>
            </a:r>
            <a:r>
              <a:rPr lang="en-US" dirty="0"/>
              <a:t>)</a:t>
            </a:r>
          </a:p>
          <a:p>
            <a:pPr algn="just"/>
            <a:r>
              <a:rPr lang="en-US" dirty="0"/>
              <a:t>isa(</a:t>
            </a:r>
            <a:r>
              <a:rPr lang="en-US" dirty="0" err="1"/>
              <a:t>bird,vertebrate</a:t>
            </a:r>
            <a:r>
              <a:rPr lang="en-US" dirty="0"/>
              <a:t>)</a:t>
            </a:r>
          </a:p>
          <a:p>
            <a:endParaRPr lang="en-US" dirty="0"/>
          </a:p>
          <a:p>
            <a:endParaRPr lang="en-US" dirty="0"/>
          </a:p>
        </p:txBody>
      </p:sp>
      <p:sp>
        <p:nvSpPr>
          <p:cNvPr id="4" name="Slide Number Placeholder 3">
            <a:extLst>
              <a:ext uri="{FF2B5EF4-FFF2-40B4-BE49-F238E27FC236}">
                <a16:creationId xmlns:a16="http://schemas.microsoft.com/office/drawing/2014/main" id="{16AACFB6-ED0B-50F9-1795-DD011E9F702D}"/>
              </a:ext>
            </a:extLst>
          </p:cNvPr>
          <p:cNvSpPr>
            <a:spLocks noGrp="1"/>
          </p:cNvSpPr>
          <p:nvPr>
            <p:ph type="sldNum" sz="quarter" idx="12"/>
          </p:nvPr>
        </p:nvSpPr>
        <p:spPr/>
        <p:txBody>
          <a:bodyPr/>
          <a:lstStyle/>
          <a:p>
            <a:fld id="{71C6F290-D301-4864-9490-340EF11588D9}" type="slidenum">
              <a:rPr lang="en-US" altLang="en-US" smtClean="0"/>
              <a:pPr/>
              <a:t>28</a:t>
            </a:fld>
            <a:endParaRPr lang="en-US" altLang="en-US" dirty="0"/>
          </a:p>
        </p:txBody>
      </p:sp>
      <p:pic>
        <p:nvPicPr>
          <p:cNvPr id="5" name="Picture 4">
            <a:extLst>
              <a:ext uri="{FF2B5EF4-FFF2-40B4-BE49-F238E27FC236}">
                <a16:creationId xmlns:a16="http://schemas.microsoft.com/office/drawing/2014/main" id="{C19FABD2-67D2-97B2-9FB2-02744BA51A24}"/>
              </a:ext>
            </a:extLst>
          </p:cNvPr>
          <p:cNvPicPr>
            <a:picLocks noChangeAspect="1"/>
          </p:cNvPicPr>
          <p:nvPr/>
        </p:nvPicPr>
        <p:blipFill>
          <a:blip r:embed="rId2"/>
          <a:stretch>
            <a:fillRect/>
          </a:stretch>
        </p:blipFill>
        <p:spPr>
          <a:xfrm>
            <a:off x="3200400" y="3208337"/>
            <a:ext cx="4809186" cy="3421063"/>
          </a:xfrm>
          <a:prstGeom prst="rect">
            <a:avLst/>
          </a:prstGeom>
        </p:spPr>
      </p:pic>
    </p:spTree>
    <p:extLst>
      <p:ext uri="{BB962C8B-B14F-4D97-AF65-F5344CB8AC3E}">
        <p14:creationId xmlns:p14="http://schemas.microsoft.com/office/powerpoint/2010/main" val="4098908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14750-EC39-F84D-299A-788E9FDD711E}"/>
              </a:ext>
            </a:extLst>
          </p:cNvPr>
          <p:cNvSpPr>
            <a:spLocks noGrp="1"/>
          </p:cNvSpPr>
          <p:nvPr>
            <p:ph type="title"/>
          </p:nvPr>
        </p:nvSpPr>
        <p:spPr>
          <a:xfrm>
            <a:off x="228600" y="228600"/>
            <a:ext cx="7696200" cy="533400"/>
          </a:xfrm>
        </p:spPr>
        <p:txBody>
          <a:bodyPr/>
          <a:lstStyle/>
          <a:p>
            <a:r>
              <a:rPr lang="en-US" dirty="0"/>
              <a:t>Semantic Networks</a:t>
            </a:r>
          </a:p>
        </p:txBody>
      </p:sp>
      <p:pic>
        <p:nvPicPr>
          <p:cNvPr id="5" name="Content Placeholder 4">
            <a:extLst>
              <a:ext uri="{FF2B5EF4-FFF2-40B4-BE49-F238E27FC236}">
                <a16:creationId xmlns:a16="http://schemas.microsoft.com/office/drawing/2014/main" id="{FED4B76B-4BDB-9990-71EA-9F732EA4873E}"/>
              </a:ext>
            </a:extLst>
          </p:cNvPr>
          <p:cNvPicPr>
            <a:picLocks noGrp="1" noChangeAspect="1"/>
          </p:cNvPicPr>
          <p:nvPr>
            <p:ph idx="1"/>
          </p:nvPr>
        </p:nvPicPr>
        <p:blipFill>
          <a:blip r:embed="rId2"/>
          <a:stretch>
            <a:fillRect/>
          </a:stretch>
        </p:blipFill>
        <p:spPr>
          <a:xfrm>
            <a:off x="457200" y="952838"/>
            <a:ext cx="8001000" cy="5752762"/>
          </a:xfrm>
          <a:prstGeom prst="rect">
            <a:avLst/>
          </a:prstGeom>
        </p:spPr>
      </p:pic>
      <p:sp>
        <p:nvSpPr>
          <p:cNvPr id="4" name="Slide Number Placeholder 3">
            <a:extLst>
              <a:ext uri="{FF2B5EF4-FFF2-40B4-BE49-F238E27FC236}">
                <a16:creationId xmlns:a16="http://schemas.microsoft.com/office/drawing/2014/main" id="{836D02DD-5E08-E02D-CB8B-F115739CF008}"/>
              </a:ext>
            </a:extLst>
          </p:cNvPr>
          <p:cNvSpPr>
            <a:spLocks noGrp="1"/>
          </p:cNvSpPr>
          <p:nvPr>
            <p:ph type="sldNum" sz="quarter" idx="12"/>
          </p:nvPr>
        </p:nvSpPr>
        <p:spPr/>
        <p:txBody>
          <a:bodyPr/>
          <a:lstStyle/>
          <a:p>
            <a:fld id="{71C6F290-D301-4864-9490-340EF11588D9}" type="slidenum">
              <a:rPr lang="en-US" altLang="en-US" smtClean="0"/>
              <a:pPr/>
              <a:t>29</a:t>
            </a:fld>
            <a:endParaRPr lang="en-US" altLang="en-US" dirty="0"/>
          </a:p>
        </p:txBody>
      </p:sp>
    </p:spTree>
    <p:extLst>
      <p:ext uri="{BB962C8B-B14F-4D97-AF65-F5344CB8AC3E}">
        <p14:creationId xmlns:p14="http://schemas.microsoft.com/office/powerpoint/2010/main" val="2020743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CDCBA-D29D-FD1F-74C5-795EB90BCB27}"/>
              </a:ext>
            </a:extLst>
          </p:cNvPr>
          <p:cNvSpPr>
            <a:spLocks noGrp="1"/>
          </p:cNvSpPr>
          <p:nvPr>
            <p:ph type="title"/>
          </p:nvPr>
        </p:nvSpPr>
        <p:spPr>
          <a:xfrm>
            <a:off x="228600" y="228600"/>
            <a:ext cx="7696200" cy="533400"/>
          </a:xfrm>
        </p:spPr>
        <p:txBody>
          <a:bodyPr/>
          <a:lstStyle/>
          <a:p>
            <a:r>
              <a:rPr lang="en-US" dirty="0"/>
              <a:t>Semantic Networks</a:t>
            </a:r>
          </a:p>
        </p:txBody>
      </p:sp>
      <p:pic>
        <p:nvPicPr>
          <p:cNvPr id="5" name="Content Placeholder 4">
            <a:extLst>
              <a:ext uri="{FF2B5EF4-FFF2-40B4-BE49-F238E27FC236}">
                <a16:creationId xmlns:a16="http://schemas.microsoft.com/office/drawing/2014/main" id="{5799BFC8-C4E4-8978-F5D2-26B13CED47CA}"/>
              </a:ext>
            </a:extLst>
          </p:cNvPr>
          <p:cNvPicPr>
            <a:picLocks noGrp="1" noChangeAspect="1"/>
          </p:cNvPicPr>
          <p:nvPr>
            <p:ph idx="1"/>
          </p:nvPr>
        </p:nvPicPr>
        <p:blipFill>
          <a:blip r:embed="rId2"/>
          <a:stretch>
            <a:fillRect/>
          </a:stretch>
        </p:blipFill>
        <p:spPr>
          <a:xfrm>
            <a:off x="457200" y="914400"/>
            <a:ext cx="8077200" cy="5715000"/>
          </a:xfrm>
          <a:prstGeom prst="rect">
            <a:avLst/>
          </a:prstGeom>
        </p:spPr>
      </p:pic>
      <p:sp>
        <p:nvSpPr>
          <p:cNvPr id="4" name="Slide Number Placeholder 3">
            <a:extLst>
              <a:ext uri="{FF2B5EF4-FFF2-40B4-BE49-F238E27FC236}">
                <a16:creationId xmlns:a16="http://schemas.microsoft.com/office/drawing/2014/main" id="{0AB27846-1984-943F-6EED-EA4867AC836F}"/>
              </a:ext>
            </a:extLst>
          </p:cNvPr>
          <p:cNvSpPr>
            <a:spLocks noGrp="1"/>
          </p:cNvSpPr>
          <p:nvPr>
            <p:ph type="sldNum" sz="quarter" idx="12"/>
          </p:nvPr>
        </p:nvSpPr>
        <p:spPr/>
        <p:txBody>
          <a:bodyPr/>
          <a:lstStyle/>
          <a:p>
            <a:fld id="{71C6F290-D301-4864-9490-340EF11588D9}" type="slidenum">
              <a:rPr lang="en-US" altLang="en-US" smtClean="0"/>
              <a:pPr/>
              <a:t>30</a:t>
            </a:fld>
            <a:endParaRPr lang="en-US" altLang="en-US" dirty="0"/>
          </a:p>
        </p:txBody>
      </p:sp>
    </p:spTree>
    <p:extLst>
      <p:ext uri="{BB962C8B-B14F-4D97-AF65-F5344CB8AC3E}">
        <p14:creationId xmlns:p14="http://schemas.microsoft.com/office/powerpoint/2010/main" val="2768246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B219A-A901-8FA6-2493-40024C9847AE}"/>
              </a:ext>
            </a:extLst>
          </p:cNvPr>
          <p:cNvSpPr>
            <a:spLocks noGrp="1"/>
          </p:cNvSpPr>
          <p:nvPr>
            <p:ph type="title"/>
          </p:nvPr>
        </p:nvSpPr>
        <p:spPr>
          <a:xfrm>
            <a:off x="228600" y="228600"/>
            <a:ext cx="7696200" cy="533400"/>
          </a:xfrm>
        </p:spPr>
        <p:txBody>
          <a:bodyPr/>
          <a:lstStyle/>
          <a:p>
            <a:r>
              <a:rPr lang="en-US" dirty="0"/>
              <a:t>Semantic Networks</a:t>
            </a:r>
          </a:p>
        </p:txBody>
      </p:sp>
      <p:pic>
        <p:nvPicPr>
          <p:cNvPr id="5" name="Content Placeholder 4">
            <a:extLst>
              <a:ext uri="{FF2B5EF4-FFF2-40B4-BE49-F238E27FC236}">
                <a16:creationId xmlns:a16="http://schemas.microsoft.com/office/drawing/2014/main" id="{C8C4DBBB-0278-3CC7-CCA9-D1C221F89508}"/>
              </a:ext>
            </a:extLst>
          </p:cNvPr>
          <p:cNvPicPr>
            <a:picLocks noGrp="1" noChangeAspect="1"/>
          </p:cNvPicPr>
          <p:nvPr>
            <p:ph idx="1"/>
          </p:nvPr>
        </p:nvPicPr>
        <p:blipFill>
          <a:blip r:embed="rId2"/>
          <a:stretch>
            <a:fillRect/>
          </a:stretch>
        </p:blipFill>
        <p:spPr>
          <a:xfrm>
            <a:off x="533400" y="762000"/>
            <a:ext cx="6019800" cy="1819086"/>
          </a:xfrm>
          <a:prstGeom prst="rect">
            <a:avLst/>
          </a:prstGeom>
        </p:spPr>
      </p:pic>
      <p:sp>
        <p:nvSpPr>
          <p:cNvPr id="4" name="Slide Number Placeholder 3">
            <a:extLst>
              <a:ext uri="{FF2B5EF4-FFF2-40B4-BE49-F238E27FC236}">
                <a16:creationId xmlns:a16="http://schemas.microsoft.com/office/drawing/2014/main" id="{3D651006-4818-4C25-256A-F76A3EFBCFB2}"/>
              </a:ext>
            </a:extLst>
          </p:cNvPr>
          <p:cNvSpPr>
            <a:spLocks noGrp="1"/>
          </p:cNvSpPr>
          <p:nvPr>
            <p:ph type="sldNum" sz="quarter" idx="12"/>
          </p:nvPr>
        </p:nvSpPr>
        <p:spPr/>
        <p:txBody>
          <a:bodyPr/>
          <a:lstStyle/>
          <a:p>
            <a:fld id="{71C6F290-D301-4864-9490-340EF11588D9}" type="slidenum">
              <a:rPr lang="en-US" altLang="en-US" smtClean="0"/>
              <a:pPr/>
              <a:t>31</a:t>
            </a:fld>
            <a:endParaRPr lang="en-US" altLang="en-US" dirty="0"/>
          </a:p>
        </p:txBody>
      </p:sp>
      <p:pic>
        <p:nvPicPr>
          <p:cNvPr id="6" name="Picture 5">
            <a:extLst>
              <a:ext uri="{FF2B5EF4-FFF2-40B4-BE49-F238E27FC236}">
                <a16:creationId xmlns:a16="http://schemas.microsoft.com/office/drawing/2014/main" id="{1CC5F4EA-0D0B-F6FC-9905-610AF62AC62C}"/>
              </a:ext>
            </a:extLst>
          </p:cNvPr>
          <p:cNvPicPr>
            <a:picLocks noChangeAspect="1"/>
          </p:cNvPicPr>
          <p:nvPr/>
        </p:nvPicPr>
        <p:blipFill>
          <a:blip r:embed="rId3"/>
          <a:stretch>
            <a:fillRect/>
          </a:stretch>
        </p:blipFill>
        <p:spPr>
          <a:xfrm>
            <a:off x="685800" y="2209620"/>
            <a:ext cx="6705600" cy="2209980"/>
          </a:xfrm>
          <a:prstGeom prst="rect">
            <a:avLst/>
          </a:prstGeom>
        </p:spPr>
      </p:pic>
      <p:pic>
        <p:nvPicPr>
          <p:cNvPr id="7" name="Picture 6">
            <a:extLst>
              <a:ext uri="{FF2B5EF4-FFF2-40B4-BE49-F238E27FC236}">
                <a16:creationId xmlns:a16="http://schemas.microsoft.com/office/drawing/2014/main" id="{B33644D1-FB22-CF2D-8822-15DAD6412702}"/>
              </a:ext>
            </a:extLst>
          </p:cNvPr>
          <p:cNvPicPr>
            <a:picLocks noChangeAspect="1"/>
          </p:cNvPicPr>
          <p:nvPr/>
        </p:nvPicPr>
        <p:blipFill>
          <a:blip r:embed="rId4"/>
          <a:stretch>
            <a:fillRect/>
          </a:stretch>
        </p:blipFill>
        <p:spPr>
          <a:xfrm>
            <a:off x="499188" y="4267200"/>
            <a:ext cx="7239000" cy="2362200"/>
          </a:xfrm>
          <a:prstGeom prst="rect">
            <a:avLst/>
          </a:prstGeom>
        </p:spPr>
      </p:pic>
    </p:spTree>
    <p:extLst>
      <p:ext uri="{BB962C8B-B14F-4D97-AF65-F5344CB8AC3E}">
        <p14:creationId xmlns:p14="http://schemas.microsoft.com/office/powerpoint/2010/main" val="1261088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997E4-7174-1D03-8AD1-506972E3C59C}"/>
              </a:ext>
            </a:extLst>
          </p:cNvPr>
          <p:cNvSpPr>
            <a:spLocks noGrp="1"/>
          </p:cNvSpPr>
          <p:nvPr>
            <p:ph type="title"/>
          </p:nvPr>
        </p:nvSpPr>
        <p:spPr>
          <a:xfrm>
            <a:off x="228600" y="228600"/>
            <a:ext cx="7696200" cy="533400"/>
          </a:xfrm>
        </p:spPr>
        <p:txBody>
          <a:bodyPr/>
          <a:lstStyle/>
          <a:p>
            <a:r>
              <a:rPr lang="en-US" dirty="0"/>
              <a:t>Semantic Networks</a:t>
            </a:r>
          </a:p>
        </p:txBody>
      </p:sp>
      <p:sp>
        <p:nvSpPr>
          <p:cNvPr id="3" name="Content Placeholder 2">
            <a:extLst>
              <a:ext uri="{FF2B5EF4-FFF2-40B4-BE49-F238E27FC236}">
                <a16:creationId xmlns:a16="http://schemas.microsoft.com/office/drawing/2014/main" id="{E85C4EEE-E6A4-FB50-8243-E1F34D2E8826}"/>
              </a:ext>
            </a:extLst>
          </p:cNvPr>
          <p:cNvSpPr>
            <a:spLocks noGrp="1"/>
          </p:cNvSpPr>
          <p:nvPr>
            <p:ph idx="1"/>
          </p:nvPr>
        </p:nvSpPr>
        <p:spPr>
          <a:xfrm>
            <a:off x="228600" y="914400"/>
            <a:ext cx="8382000" cy="5791200"/>
          </a:xfrm>
        </p:spPr>
        <p:txBody>
          <a:bodyPr>
            <a:normAutofit fontScale="62500" lnSpcReduction="20000"/>
          </a:bodyPr>
          <a:lstStyle/>
          <a:p>
            <a:r>
              <a:rPr lang="en-US" dirty="0" err="1"/>
              <a:t>hasproperty</a:t>
            </a:r>
            <a:r>
              <a:rPr lang="en-US" dirty="0"/>
              <a:t>(ostrich, </a:t>
            </a:r>
            <a:r>
              <a:rPr lang="en-US" dirty="0" err="1"/>
              <a:t>travel,walk</a:t>
            </a:r>
            <a:r>
              <a:rPr lang="en-US" dirty="0"/>
              <a:t>).               true</a:t>
            </a:r>
          </a:p>
          <a:p>
            <a:r>
              <a:rPr lang="en-US" dirty="0" err="1"/>
              <a:t>hasproperty</a:t>
            </a:r>
            <a:r>
              <a:rPr lang="en-US" dirty="0"/>
              <a:t>(</a:t>
            </a:r>
            <a:r>
              <a:rPr lang="en-US" dirty="0" err="1"/>
              <a:t>canary,color,yellow</a:t>
            </a:r>
            <a:r>
              <a:rPr lang="en-US" dirty="0"/>
              <a:t>).              true</a:t>
            </a:r>
          </a:p>
          <a:p>
            <a:r>
              <a:rPr lang="en-US" dirty="0" err="1"/>
              <a:t>hasproperty</a:t>
            </a:r>
            <a:r>
              <a:rPr lang="en-US" dirty="0"/>
              <a:t>(</a:t>
            </a:r>
            <a:r>
              <a:rPr lang="en-US" dirty="0" err="1"/>
              <a:t>tweety,sound</a:t>
            </a:r>
            <a:r>
              <a:rPr lang="en-US" dirty="0"/>
              <a:t>, sing).                true</a:t>
            </a:r>
          </a:p>
          <a:p>
            <a:r>
              <a:rPr lang="en-US" dirty="0" err="1"/>
              <a:t>hasproperty</a:t>
            </a:r>
            <a:r>
              <a:rPr lang="en-US" dirty="0"/>
              <a:t>(</a:t>
            </a:r>
            <a:r>
              <a:rPr lang="en-US" dirty="0" err="1"/>
              <a:t>robin,covering,feather</a:t>
            </a:r>
            <a:r>
              <a:rPr lang="en-US" dirty="0"/>
              <a:t>).          true</a:t>
            </a:r>
          </a:p>
          <a:p>
            <a:r>
              <a:rPr lang="en-US" dirty="0" err="1"/>
              <a:t>hasproperty</a:t>
            </a:r>
            <a:r>
              <a:rPr lang="en-US" dirty="0"/>
              <a:t>(</a:t>
            </a:r>
            <a:r>
              <a:rPr lang="en-US" dirty="0" err="1"/>
              <a:t>X,sound,sing</a:t>
            </a:r>
            <a:r>
              <a:rPr lang="en-US" dirty="0"/>
              <a:t>).  robin,  </a:t>
            </a:r>
            <a:r>
              <a:rPr lang="en-US" dirty="0" err="1"/>
              <a:t>cannary</a:t>
            </a:r>
            <a:r>
              <a:rPr lang="en-US" dirty="0"/>
              <a:t>, </a:t>
            </a:r>
            <a:r>
              <a:rPr lang="en-US" dirty="0" err="1"/>
              <a:t>tweety</a:t>
            </a:r>
            <a:endParaRPr lang="en-US" dirty="0"/>
          </a:p>
          <a:p>
            <a:endParaRPr lang="en-US" dirty="0"/>
          </a:p>
          <a:p>
            <a:endParaRPr lang="en-US" dirty="0"/>
          </a:p>
          <a:p>
            <a:r>
              <a:rPr lang="en-US" dirty="0"/>
              <a:t> In semantic nets, to answer questions like  is(</a:t>
            </a:r>
            <a:r>
              <a:rPr lang="en-US" dirty="0" err="1"/>
              <a:t>canary,animal</a:t>
            </a:r>
            <a:r>
              <a:rPr lang="en-US" dirty="0"/>
              <a:t>). We need to add one more rule</a:t>
            </a:r>
          </a:p>
          <a:p>
            <a:endParaRPr lang="en-US" dirty="0"/>
          </a:p>
          <a:p>
            <a:r>
              <a:rPr lang="en-US" dirty="0" err="1">
                <a:solidFill>
                  <a:srgbClr val="B94917"/>
                </a:solidFill>
              </a:rPr>
              <a:t>iSA</a:t>
            </a:r>
            <a:r>
              <a:rPr lang="en-US" dirty="0">
                <a:solidFill>
                  <a:srgbClr val="B94917"/>
                </a:solidFill>
              </a:rPr>
              <a:t>(</a:t>
            </a:r>
            <a:r>
              <a:rPr lang="en-US" dirty="0" err="1">
                <a:solidFill>
                  <a:srgbClr val="B94917"/>
                </a:solidFill>
              </a:rPr>
              <a:t>Object,Parent</a:t>
            </a:r>
            <a:r>
              <a:rPr lang="en-US" dirty="0">
                <a:solidFill>
                  <a:srgbClr val="B94917"/>
                </a:solidFill>
              </a:rPr>
              <a:t>):- isa(</a:t>
            </a:r>
            <a:r>
              <a:rPr lang="en-US" dirty="0" err="1">
                <a:solidFill>
                  <a:srgbClr val="B94917"/>
                </a:solidFill>
              </a:rPr>
              <a:t>Object,Parent</a:t>
            </a:r>
            <a:r>
              <a:rPr lang="en-US" dirty="0">
                <a:solidFill>
                  <a:srgbClr val="B94917"/>
                </a:solidFill>
              </a:rPr>
              <a:t>)</a:t>
            </a:r>
          </a:p>
          <a:p>
            <a:r>
              <a:rPr lang="en-US" dirty="0" err="1">
                <a:solidFill>
                  <a:srgbClr val="B94917"/>
                </a:solidFill>
              </a:rPr>
              <a:t>iSA</a:t>
            </a:r>
            <a:r>
              <a:rPr lang="en-US" dirty="0">
                <a:solidFill>
                  <a:srgbClr val="B94917"/>
                </a:solidFill>
              </a:rPr>
              <a:t>(</a:t>
            </a:r>
            <a:r>
              <a:rPr lang="en-US" dirty="0" err="1">
                <a:solidFill>
                  <a:srgbClr val="B94917"/>
                </a:solidFill>
              </a:rPr>
              <a:t>Object,Parent</a:t>
            </a:r>
            <a:r>
              <a:rPr lang="en-US" dirty="0">
                <a:solidFill>
                  <a:srgbClr val="B94917"/>
                </a:solidFill>
              </a:rPr>
              <a:t>):- isa(Object, X), </a:t>
            </a:r>
            <a:r>
              <a:rPr lang="en-US" dirty="0" err="1">
                <a:solidFill>
                  <a:srgbClr val="B94917"/>
                </a:solidFill>
              </a:rPr>
              <a:t>iSA</a:t>
            </a:r>
            <a:r>
              <a:rPr lang="en-US" dirty="0">
                <a:solidFill>
                  <a:srgbClr val="B94917"/>
                </a:solidFill>
              </a:rPr>
              <a:t>(</a:t>
            </a:r>
            <a:r>
              <a:rPr lang="en-US" dirty="0" err="1">
                <a:solidFill>
                  <a:srgbClr val="B94917"/>
                </a:solidFill>
              </a:rPr>
              <a:t>X,Parent</a:t>
            </a:r>
            <a:r>
              <a:rPr lang="en-US" dirty="0">
                <a:solidFill>
                  <a:srgbClr val="B94917"/>
                </a:solidFill>
              </a:rPr>
              <a:t>)</a:t>
            </a:r>
          </a:p>
          <a:p>
            <a:endParaRPr lang="en-US" dirty="0"/>
          </a:p>
          <a:p>
            <a:r>
              <a:rPr lang="en-US" dirty="0"/>
              <a:t>Assume we have     canary      birds      animals         </a:t>
            </a:r>
            <a:r>
              <a:rPr lang="en-US" b="1" dirty="0">
                <a:solidFill>
                  <a:srgbClr val="000066"/>
                </a:solidFill>
              </a:rPr>
              <a:t>ISA(</a:t>
            </a:r>
            <a:r>
              <a:rPr lang="en-US" b="1" dirty="0" err="1">
                <a:solidFill>
                  <a:srgbClr val="000066"/>
                </a:solidFill>
              </a:rPr>
              <a:t>canary,animal</a:t>
            </a:r>
            <a:r>
              <a:rPr lang="en-US" b="1" dirty="0">
                <a:solidFill>
                  <a:srgbClr val="000066"/>
                </a:solidFill>
              </a:rPr>
              <a:t>).</a:t>
            </a:r>
          </a:p>
          <a:p>
            <a:r>
              <a:rPr lang="en-US" dirty="0" err="1">
                <a:solidFill>
                  <a:srgbClr val="B94917"/>
                </a:solidFill>
              </a:rPr>
              <a:t>iSA</a:t>
            </a:r>
            <a:r>
              <a:rPr lang="en-US" dirty="0">
                <a:solidFill>
                  <a:srgbClr val="B94917"/>
                </a:solidFill>
              </a:rPr>
              <a:t>(</a:t>
            </a:r>
            <a:r>
              <a:rPr lang="en-US" dirty="0" err="1">
                <a:solidFill>
                  <a:srgbClr val="B94917"/>
                </a:solidFill>
              </a:rPr>
              <a:t>canary,animal</a:t>
            </a:r>
            <a:r>
              <a:rPr lang="en-US" dirty="0">
                <a:solidFill>
                  <a:srgbClr val="B94917"/>
                </a:solidFill>
              </a:rPr>
              <a:t>) :- isa(</a:t>
            </a:r>
            <a:r>
              <a:rPr lang="en-US" dirty="0" err="1">
                <a:solidFill>
                  <a:srgbClr val="B94917"/>
                </a:solidFill>
              </a:rPr>
              <a:t>canary,bird</a:t>
            </a:r>
            <a:r>
              <a:rPr lang="en-US" dirty="0">
                <a:solidFill>
                  <a:srgbClr val="B94917"/>
                </a:solidFill>
              </a:rPr>
              <a:t>),</a:t>
            </a:r>
            <a:r>
              <a:rPr lang="en-US" dirty="0" err="1">
                <a:solidFill>
                  <a:srgbClr val="B94917"/>
                </a:solidFill>
              </a:rPr>
              <a:t>iSA</a:t>
            </a:r>
            <a:r>
              <a:rPr lang="en-US" dirty="0">
                <a:solidFill>
                  <a:srgbClr val="B94917"/>
                </a:solidFill>
              </a:rPr>
              <a:t>(bird, animal)    (2)</a:t>
            </a:r>
          </a:p>
          <a:p>
            <a:r>
              <a:rPr lang="en-US" dirty="0" err="1">
                <a:solidFill>
                  <a:srgbClr val="B94917"/>
                </a:solidFill>
              </a:rPr>
              <a:t>iSA</a:t>
            </a:r>
            <a:r>
              <a:rPr lang="en-US" dirty="0">
                <a:solidFill>
                  <a:srgbClr val="B94917"/>
                </a:solidFill>
              </a:rPr>
              <a:t>(</a:t>
            </a:r>
            <a:r>
              <a:rPr lang="en-US" dirty="0" err="1">
                <a:solidFill>
                  <a:srgbClr val="B94917"/>
                </a:solidFill>
              </a:rPr>
              <a:t>bird,animal</a:t>
            </a:r>
            <a:r>
              <a:rPr lang="en-US" dirty="0">
                <a:solidFill>
                  <a:srgbClr val="B94917"/>
                </a:solidFill>
              </a:rPr>
              <a:t>):- isa(</a:t>
            </a:r>
            <a:r>
              <a:rPr lang="en-US" dirty="0" err="1">
                <a:solidFill>
                  <a:srgbClr val="B94917"/>
                </a:solidFill>
              </a:rPr>
              <a:t>bird,animal</a:t>
            </a:r>
            <a:r>
              <a:rPr lang="en-US" dirty="0">
                <a:solidFill>
                  <a:srgbClr val="B94917"/>
                </a:solidFill>
              </a:rPr>
              <a:t>)                                         (1)</a:t>
            </a:r>
          </a:p>
          <a:p>
            <a:endParaRPr lang="en-US" dirty="0">
              <a:solidFill>
                <a:srgbClr val="B94917"/>
              </a:solidFill>
            </a:endParaRPr>
          </a:p>
          <a:p>
            <a:r>
              <a:rPr lang="en-US" dirty="0"/>
              <a:t>Assume we have  canary      beautiful       birds       </a:t>
            </a:r>
            <a:r>
              <a:rPr lang="en-US" dirty="0" err="1"/>
              <a:t>birds</a:t>
            </a:r>
            <a:r>
              <a:rPr lang="en-US" dirty="0"/>
              <a:t>       animals</a:t>
            </a:r>
          </a:p>
          <a:p>
            <a:r>
              <a:rPr lang="en-US" dirty="0" err="1">
                <a:solidFill>
                  <a:srgbClr val="B94917"/>
                </a:solidFill>
              </a:rPr>
              <a:t>iSA</a:t>
            </a:r>
            <a:r>
              <a:rPr lang="en-US" dirty="0">
                <a:solidFill>
                  <a:srgbClr val="B94917"/>
                </a:solidFill>
              </a:rPr>
              <a:t>(</a:t>
            </a:r>
            <a:r>
              <a:rPr lang="en-US" dirty="0" err="1">
                <a:solidFill>
                  <a:srgbClr val="B94917"/>
                </a:solidFill>
              </a:rPr>
              <a:t>canary,animal</a:t>
            </a:r>
            <a:r>
              <a:rPr lang="en-US" dirty="0">
                <a:solidFill>
                  <a:srgbClr val="B94917"/>
                </a:solidFill>
              </a:rPr>
              <a:t>) :- isa(canary, beautiful-birds),ISA(</a:t>
            </a:r>
            <a:r>
              <a:rPr lang="en-US" dirty="0" err="1">
                <a:solidFill>
                  <a:srgbClr val="B94917"/>
                </a:solidFill>
              </a:rPr>
              <a:t>beutiful</a:t>
            </a:r>
            <a:r>
              <a:rPr lang="en-US" dirty="0">
                <a:solidFill>
                  <a:srgbClr val="B94917"/>
                </a:solidFill>
              </a:rPr>
              <a:t>-birds, animal)    (2)</a:t>
            </a:r>
          </a:p>
          <a:p>
            <a:r>
              <a:rPr lang="en-US" dirty="0" err="1">
                <a:solidFill>
                  <a:srgbClr val="B94917"/>
                </a:solidFill>
              </a:rPr>
              <a:t>iSA</a:t>
            </a:r>
            <a:r>
              <a:rPr lang="en-US" dirty="0">
                <a:solidFill>
                  <a:srgbClr val="B94917"/>
                </a:solidFill>
              </a:rPr>
              <a:t>(</a:t>
            </a:r>
            <a:r>
              <a:rPr lang="en-US" dirty="0" err="1">
                <a:solidFill>
                  <a:srgbClr val="B94917"/>
                </a:solidFill>
              </a:rPr>
              <a:t>beutiful-birds,animal</a:t>
            </a:r>
            <a:r>
              <a:rPr lang="en-US" dirty="0">
                <a:solidFill>
                  <a:srgbClr val="B94917"/>
                </a:solidFill>
              </a:rPr>
              <a:t>):- isa(</a:t>
            </a:r>
            <a:r>
              <a:rPr lang="en-US" dirty="0" err="1">
                <a:solidFill>
                  <a:srgbClr val="B94917"/>
                </a:solidFill>
              </a:rPr>
              <a:t>beutiful-birds,birds</a:t>
            </a:r>
            <a:r>
              <a:rPr lang="en-US" dirty="0">
                <a:solidFill>
                  <a:srgbClr val="B94917"/>
                </a:solidFill>
              </a:rPr>
              <a:t>), ISA(</a:t>
            </a:r>
            <a:r>
              <a:rPr lang="en-US" dirty="0" err="1">
                <a:solidFill>
                  <a:srgbClr val="B94917"/>
                </a:solidFill>
              </a:rPr>
              <a:t>birds,animal</a:t>
            </a:r>
            <a:r>
              <a:rPr lang="en-US" dirty="0">
                <a:solidFill>
                  <a:srgbClr val="B94917"/>
                </a:solidFill>
              </a:rPr>
              <a:t>)     (2)</a:t>
            </a:r>
          </a:p>
          <a:p>
            <a:r>
              <a:rPr lang="en-US" dirty="0" err="1">
                <a:solidFill>
                  <a:srgbClr val="B94917"/>
                </a:solidFill>
              </a:rPr>
              <a:t>iSA</a:t>
            </a:r>
            <a:r>
              <a:rPr lang="en-US" dirty="0">
                <a:solidFill>
                  <a:srgbClr val="B94917"/>
                </a:solidFill>
              </a:rPr>
              <a:t>(</a:t>
            </a:r>
            <a:r>
              <a:rPr lang="en-US" dirty="0" err="1">
                <a:solidFill>
                  <a:srgbClr val="B94917"/>
                </a:solidFill>
              </a:rPr>
              <a:t>bird,animal</a:t>
            </a:r>
            <a:r>
              <a:rPr lang="en-US" dirty="0">
                <a:solidFill>
                  <a:srgbClr val="B94917"/>
                </a:solidFill>
              </a:rPr>
              <a:t>):- isa(</a:t>
            </a:r>
            <a:r>
              <a:rPr lang="en-US" dirty="0" err="1">
                <a:solidFill>
                  <a:srgbClr val="B94917"/>
                </a:solidFill>
              </a:rPr>
              <a:t>bird,animal</a:t>
            </a:r>
            <a:r>
              <a:rPr lang="en-US" dirty="0">
                <a:solidFill>
                  <a:srgbClr val="B94917"/>
                </a:solidFill>
              </a:rPr>
              <a:t>)     (1)</a:t>
            </a:r>
          </a:p>
          <a:p>
            <a:endParaRPr lang="en-US" dirty="0"/>
          </a:p>
        </p:txBody>
      </p:sp>
      <p:sp>
        <p:nvSpPr>
          <p:cNvPr id="4" name="Slide Number Placeholder 3">
            <a:extLst>
              <a:ext uri="{FF2B5EF4-FFF2-40B4-BE49-F238E27FC236}">
                <a16:creationId xmlns:a16="http://schemas.microsoft.com/office/drawing/2014/main" id="{3BA24563-83F8-A3A6-63C7-0E29A922D42F}"/>
              </a:ext>
            </a:extLst>
          </p:cNvPr>
          <p:cNvSpPr>
            <a:spLocks noGrp="1"/>
          </p:cNvSpPr>
          <p:nvPr>
            <p:ph type="sldNum" sz="quarter" idx="12"/>
          </p:nvPr>
        </p:nvSpPr>
        <p:spPr/>
        <p:txBody>
          <a:bodyPr/>
          <a:lstStyle/>
          <a:p>
            <a:fld id="{71C6F290-D301-4864-9490-340EF11588D9}" type="slidenum">
              <a:rPr lang="en-US" altLang="en-US" smtClean="0"/>
              <a:pPr/>
              <a:t>32</a:t>
            </a:fld>
            <a:endParaRPr lang="en-US" altLang="en-US" dirty="0"/>
          </a:p>
        </p:txBody>
      </p:sp>
      <p:cxnSp>
        <p:nvCxnSpPr>
          <p:cNvPr id="6" name="Straight Arrow Connector 5">
            <a:extLst>
              <a:ext uri="{FF2B5EF4-FFF2-40B4-BE49-F238E27FC236}">
                <a16:creationId xmlns:a16="http://schemas.microsoft.com/office/drawing/2014/main" id="{D45F9B84-852A-C301-42A3-52EC41CA0321}"/>
              </a:ext>
            </a:extLst>
          </p:cNvPr>
          <p:cNvCxnSpPr/>
          <p:nvPr/>
        </p:nvCxnSpPr>
        <p:spPr bwMode="auto">
          <a:xfrm>
            <a:off x="2819400" y="5638800"/>
            <a:ext cx="76200" cy="0"/>
          </a:xfrm>
          <a:prstGeom prst="straightConnector1">
            <a:avLst/>
          </a:prstGeom>
          <a:noFill/>
          <a:ln>
            <a:noFill/>
            <a:tailEnd type="triangle"/>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Arrow Connector 7">
            <a:extLst>
              <a:ext uri="{FF2B5EF4-FFF2-40B4-BE49-F238E27FC236}">
                <a16:creationId xmlns:a16="http://schemas.microsoft.com/office/drawing/2014/main" id="{ACEE5EE9-C7A9-2D23-3D5B-0C9EE96DF145}"/>
              </a:ext>
            </a:extLst>
          </p:cNvPr>
          <p:cNvCxnSpPr/>
          <p:nvPr/>
        </p:nvCxnSpPr>
        <p:spPr bwMode="auto">
          <a:xfrm>
            <a:off x="2819400" y="5638800"/>
            <a:ext cx="228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439A2487-0F78-1724-997F-DB14BB2FE2C0}"/>
              </a:ext>
            </a:extLst>
          </p:cNvPr>
          <p:cNvCxnSpPr/>
          <p:nvPr/>
        </p:nvCxnSpPr>
        <p:spPr bwMode="auto">
          <a:xfrm>
            <a:off x="3886200" y="56388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C9033F3E-EE48-3383-DDF7-983823707A11}"/>
              </a:ext>
            </a:extLst>
          </p:cNvPr>
          <p:cNvCxnSpPr/>
          <p:nvPr/>
        </p:nvCxnSpPr>
        <p:spPr bwMode="auto">
          <a:xfrm>
            <a:off x="4876800" y="5638800"/>
            <a:ext cx="228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4D1F281-53E0-E174-2FE3-B1C270B4F6F6}"/>
              </a:ext>
            </a:extLst>
          </p:cNvPr>
          <p:cNvCxnSpPr/>
          <p:nvPr/>
        </p:nvCxnSpPr>
        <p:spPr bwMode="auto">
          <a:xfrm>
            <a:off x="5791200" y="5638800"/>
            <a:ext cx="228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FA91B7F9-FB1E-C5C0-D0E0-554039C7B4C3}"/>
              </a:ext>
            </a:extLst>
          </p:cNvPr>
          <p:cNvCxnSpPr/>
          <p:nvPr/>
        </p:nvCxnSpPr>
        <p:spPr bwMode="auto">
          <a:xfrm>
            <a:off x="3048000" y="4572000"/>
            <a:ext cx="228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0C8AD4BB-C600-F250-6F4B-FC97884A9C5B}"/>
              </a:ext>
            </a:extLst>
          </p:cNvPr>
          <p:cNvCxnSpPr/>
          <p:nvPr/>
        </p:nvCxnSpPr>
        <p:spPr bwMode="auto">
          <a:xfrm>
            <a:off x="3886200" y="4572000"/>
            <a:ext cx="304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125714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F3FA3E-4369-0C34-D417-3C00CBE82B32}"/>
              </a:ext>
            </a:extLst>
          </p:cNvPr>
          <p:cNvSpPr>
            <a:spLocks noGrp="1"/>
          </p:cNvSpPr>
          <p:nvPr>
            <p:ph idx="1"/>
          </p:nvPr>
        </p:nvSpPr>
        <p:spPr>
          <a:xfrm>
            <a:off x="228600" y="152400"/>
            <a:ext cx="8763000" cy="6553200"/>
          </a:xfrm>
        </p:spPr>
        <p:txBody>
          <a:bodyPr>
            <a:normAutofit fontScale="25000" lnSpcReduction="20000"/>
          </a:bodyPr>
          <a:lstStyle/>
          <a:p>
            <a:r>
              <a:rPr lang="en-US" sz="4800" dirty="0" err="1"/>
              <a:t>hasprop</a:t>
            </a:r>
            <a:r>
              <a:rPr lang="en-US" sz="4800" dirty="0"/>
              <a:t>(</a:t>
            </a:r>
            <a:r>
              <a:rPr lang="en-US" sz="4800" dirty="0" err="1"/>
              <a:t>tweety</a:t>
            </a:r>
            <a:r>
              <a:rPr lang="en-US" sz="4800" dirty="0"/>
              <a:t>, color, white).</a:t>
            </a:r>
          </a:p>
          <a:p>
            <a:r>
              <a:rPr lang="en-US" sz="4800" dirty="0" err="1"/>
              <a:t>hasprop</a:t>
            </a:r>
            <a:r>
              <a:rPr lang="en-US" sz="4800" dirty="0"/>
              <a:t>(canary, color, yellow).</a:t>
            </a:r>
          </a:p>
          <a:p>
            <a:r>
              <a:rPr lang="en-US" sz="4800" dirty="0" err="1"/>
              <a:t>hasprop</a:t>
            </a:r>
            <a:r>
              <a:rPr lang="en-US" sz="4800" dirty="0"/>
              <a:t>(robin, color, red).</a:t>
            </a:r>
          </a:p>
          <a:p>
            <a:r>
              <a:rPr lang="en-US" sz="4800" dirty="0" err="1"/>
              <a:t>hasprop</a:t>
            </a:r>
            <a:r>
              <a:rPr lang="en-US" sz="4800" dirty="0"/>
              <a:t>(penguin, color, brown).</a:t>
            </a:r>
          </a:p>
          <a:p>
            <a:endParaRPr lang="en-US" sz="4800" dirty="0"/>
          </a:p>
          <a:p>
            <a:r>
              <a:rPr lang="en-US" sz="4800" dirty="0" err="1"/>
              <a:t>hasprop</a:t>
            </a:r>
            <a:r>
              <a:rPr lang="en-US" sz="4800" dirty="0"/>
              <a:t>(canary, sound, sing).</a:t>
            </a:r>
          </a:p>
          <a:p>
            <a:r>
              <a:rPr lang="en-US" sz="4800" dirty="0" err="1"/>
              <a:t>hasprop</a:t>
            </a:r>
            <a:r>
              <a:rPr lang="en-US" sz="4800" dirty="0"/>
              <a:t>(robin, sound, sing).</a:t>
            </a:r>
          </a:p>
          <a:p>
            <a:endParaRPr lang="en-US" sz="4800" dirty="0"/>
          </a:p>
          <a:p>
            <a:r>
              <a:rPr lang="en-US" sz="4800" dirty="0" err="1"/>
              <a:t>hasprop</a:t>
            </a:r>
            <a:r>
              <a:rPr lang="en-US" sz="4800" dirty="0"/>
              <a:t>(ostrich, travel, walk).</a:t>
            </a:r>
          </a:p>
          <a:p>
            <a:r>
              <a:rPr lang="en-US" sz="4800" dirty="0" err="1"/>
              <a:t>hasprop</a:t>
            </a:r>
            <a:r>
              <a:rPr lang="en-US" sz="4800" dirty="0"/>
              <a:t>(penguin, travel, walk).</a:t>
            </a:r>
          </a:p>
          <a:p>
            <a:r>
              <a:rPr lang="en-US" sz="4800" dirty="0" err="1"/>
              <a:t>hasprop</a:t>
            </a:r>
            <a:r>
              <a:rPr lang="en-US" sz="4800" dirty="0"/>
              <a:t>(fish, travel, swim).</a:t>
            </a:r>
          </a:p>
          <a:p>
            <a:r>
              <a:rPr lang="en-US" sz="4800" dirty="0" err="1"/>
              <a:t>hasprop</a:t>
            </a:r>
            <a:r>
              <a:rPr lang="en-US" sz="4800" dirty="0"/>
              <a:t>(bird, travel, fly).</a:t>
            </a:r>
          </a:p>
          <a:p>
            <a:endParaRPr lang="en-US" sz="4800" dirty="0"/>
          </a:p>
          <a:p>
            <a:r>
              <a:rPr lang="en-US" sz="4800" dirty="0" err="1"/>
              <a:t>hasprop</a:t>
            </a:r>
            <a:r>
              <a:rPr lang="en-US" sz="4800" dirty="0"/>
              <a:t>(bird, cover, feathers).</a:t>
            </a:r>
          </a:p>
          <a:p>
            <a:r>
              <a:rPr lang="en-US" sz="4800" dirty="0" err="1"/>
              <a:t>hasprop</a:t>
            </a:r>
            <a:r>
              <a:rPr lang="en-US" sz="4800" dirty="0"/>
              <a:t>(animal, cover, skin).</a:t>
            </a:r>
          </a:p>
          <a:p>
            <a:endParaRPr lang="en-US" sz="4800" dirty="0"/>
          </a:p>
          <a:p>
            <a:r>
              <a:rPr lang="en-US" sz="4800" dirty="0"/>
              <a:t>% Classification hierarchy</a:t>
            </a:r>
          </a:p>
          <a:p>
            <a:r>
              <a:rPr lang="en-US" sz="4800" dirty="0"/>
              <a:t>isa(</a:t>
            </a:r>
            <a:r>
              <a:rPr lang="en-US" sz="4800" dirty="0" err="1"/>
              <a:t>tweety</a:t>
            </a:r>
            <a:r>
              <a:rPr lang="en-US" sz="4800" dirty="0"/>
              <a:t>, canary).</a:t>
            </a:r>
          </a:p>
          <a:p>
            <a:r>
              <a:rPr lang="en-US" sz="4800" dirty="0"/>
              <a:t>isa(canary, bird).</a:t>
            </a:r>
          </a:p>
          <a:p>
            <a:r>
              <a:rPr lang="en-US" sz="4800" dirty="0"/>
              <a:t>isa(robin, bird).</a:t>
            </a:r>
          </a:p>
          <a:p>
            <a:r>
              <a:rPr lang="en-US" sz="4800" dirty="0"/>
              <a:t>isa(ostrich, bird).</a:t>
            </a:r>
          </a:p>
          <a:p>
            <a:r>
              <a:rPr lang="en-US" sz="4800" dirty="0"/>
              <a:t>isa(penguin, bird).</a:t>
            </a:r>
          </a:p>
          <a:p>
            <a:r>
              <a:rPr lang="en-US" sz="4800" dirty="0"/>
              <a:t>isa(bird, animal).</a:t>
            </a:r>
          </a:p>
          <a:p>
            <a:r>
              <a:rPr lang="en-US" sz="4800" dirty="0"/>
              <a:t>isa(fish, animal).</a:t>
            </a:r>
          </a:p>
          <a:p>
            <a:r>
              <a:rPr lang="en-US" sz="4800" dirty="0" err="1"/>
              <a:t>iSA</a:t>
            </a:r>
            <a:r>
              <a:rPr lang="en-US" sz="4800" dirty="0"/>
              <a:t>(</a:t>
            </a:r>
            <a:r>
              <a:rPr lang="en-US" sz="4800" dirty="0" err="1"/>
              <a:t>Object,Parent</a:t>
            </a:r>
            <a:r>
              <a:rPr lang="en-US" sz="4800" dirty="0"/>
              <a:t>) :- isa(</a:t>
            </a:r>
            <a:r>
              <a:rPr lang="en-US" sz="4800" dirty="0" err="1"/>
              <a:t>Object,Parent</a:t>
            </a:r>
            <a:r>
              <a:rPr lang="en-US" sz="4800" dirty="0"/>
              <a:t>).</a:t>
            </a:r>
          </a:p>
          <a:p>
            <a:r>
              <a:rPr lang="en-US" sz="4800" dirty="0" err="1"/>
              <a:t>iSA</a:t>
            </a:r>
            <a:r>
              <a:rPr lang="en-US" sz="4800" dirty="0"/>
              <a:t>(</a:t>
            </a:r>
            <a:r>
              <a:rPr lang="en-US" sz="4800" dirty="0" err="1"/>
              <a:t>Object,Parent</a:t>
            </a:r>
            <a:r>
              <a:rPr lang="en-US" sz="4800" dirty="0"/>
              <a:t>) :- isa(Object, X), </a:t>
            </a:r>
            <a:r>
              <a:rPr lang="en-US" sz="4800" dirty="0" err="1"/>
              <a:t>iSA</a:t>
            </a:r>
            <a:r>
              <a:rPr lang="en-US" sz="4800" dirty="0"/>
              <a:t>(</a:t>
            </a:r>
            <a:r>
              <a:rPr lang="en-US" sz="4800" dirty="0" err="1"/>
              <a:t>X,Parent</a:t>
            </a:r>
            <a:r>
              <a:rPr lang="en-US" sz="4800" dirty="0"/>
              <a:t>).</a:t>
            </a:r>
          </a:p>
          <a:p>
            <a:endParaRPr lang="en-US" sz="4800" dirty="0"/>
          </a:p>
          <a:p>
            <a:endParaRPr lang="en-US" sz="4800" dirty="0"/>
          </a:p>
          <a:p>
            <a:r>
              <a:rPr lang="en-US" sz="4800" dirty="0" err="1"/>
              <a:t>hasproperty</a:t>
            </a:r>
            <a:r>
              <a:rPr lang="en-US" sz="4800" dirty="0"/>
              <a:t>(Object, Property, Value) :-</a:t>
            </a:r>
          </a:p>
          <a:p>
            <a:r>
              <a:rPr lang="en-US" sz="4800" dirty="0"/>
              <a:t>    </a:t>
            </a:r>
            <a:r>
              <a:rPr lang="en-US" sz="4800" dirty="0" err="1"/>
              <a:t>hasprop</a:t>
            </a:r>
            <a:r>
              <a:rPr lang="en-US" sz="4800" dirty="0"/>
              <a:t>(Object, Property, Value).</a:t>
            </a:r>
          </a:p>
          <a:p>
            <a:endParaRPr lang="en-US" sz="4800" dirty="0"/>
          </a:p>
          <a:p>
            <a:r>
              <a:rPr lang="en-US" sz="4800" dirty="0" err="1"/>
              <a:t>hasproperty</a:t>
            </a:r>
            <a:r>
              <a:rPr lang="en-US" sz="4800" dirty="0"/>
              <a:t>(Object, Property, Value) :-</a:t>
            </a:r>
          </a:p>
          <a:p>
            <a:r>
              <a:rPr lang="en-US" sz="4800" dirty="0"/>
              <a:t>    </a:t>
            </a:r>
            <a:r>
              <a:rPr lang="en-US" sz="4800" dirty="0" err="1"/>
              <a:t>iSA</a:t>
            </a:r>
            <a:r>
              <a:rPr lang="en-US" sz="4800" dirty="0"/>
              <a:t>(Object, Parent),</a:t>
            </a:r>
          </a:p>
          <a:p>
            <a:r>
              <a:rPr lang="en-US" sz="4800" dirty="0"/>
              <a:t>    </a:t>
            </a:r>
            <a:r>
              <a:rPr lang="en-US" sz="4800" dirty="0" err="1"/>
              <a:t>hasproperty</a:t>
            </a:r>
            <a:r>
              <a:rPr lang="en-US" sz="4800" dirty="0"/>
              <a:t>(Parent, Property, Value).</a:t>
            </a:r>
            <a:endParaRPr lang="en-US" dirty="0"/>
          </a:p>
        </p:txBody>
      </p:sp>
      <p:sp>
        <p:nvSpPr>
          <p:cNvPr id="4" name="Slide Number Placeholder 3">
            <a:extLst>
              <a:ext uri="{FF2B5EF4-FFF2-40B4-BE49-F238E27FC236}">
                <a16:creationId xmlns:a16="http://schemas.microsoft.com/office/drawing/2014/main" id="{B6BF46F9-E9A5-BD8E-B73C-928999229F34}"/>
              </a:ext>
            </a:extLst>
          </p:cNvPr>
          <p:cNvSpPr>
            <a:spLocks noGrp="1"/>
          </p:cNvSpPr>
          <p:nvPr>
            <p:ph type="sldNum" sz="quarter" idx="12"/>
          </p:nvPr>
        </p:nvSpPr>
        <p:spPr/>
        <p:txBody>
          <a:bodyPr/>
          <a:lstStyle/>
          <a:p>
            <a:fld id="{71C6F290-D301-4864-9490-340EF11588D9}" type="slidenum">
              <a:rPr lang="en-US" altLang="en-US" smtClean="0"/>
              <a:pPr/>
              <a:t>33</a:t>
            </a:fld>
            <a:endParaRPr lang="en-US" altLang="en-US" dirty="0"/>
          </a:p>
        </p:txBody>
      </p:sp>
      <p:sp>
        <p:nvSpPr>
          <p:cNvPr id="5" name="TextBox 4">
            <a:extLst>
              <a:ext uri="{FF2B5EF4-FFF2-40B4-BE49-F238E27FC236}">
                <a16:creationId xmlns:a16="http://schemas.microsoft.com/office/drawing/2014/main" id="{008672E2-A302-0F87-080C-521771F15847}"/>
              </a:ext>
            </a:extLst>
          </p:cNvPr>
          <p:cNvSpPr txBox="1"/>
          <p:nvPr/>
        </p:nvSpPr>
        <p:spPr>
          <a:xfrm>
            <a:off x="3429000" y="1828800"/>
            <a:ext cx="5486400" cy="369332"/>
          </a:xfrm>
          <a:prstGeom prst="rect">
            <a:avLst/>
          </a:prstGeom>
          <a:noFill/>
        </p:spPr>
        <p:txBody>
          <a:bodyPr wrap="square" rtlCol="0">
            <a:spAutoFit/>
          </a:bodyPr>
          <a:lstStyle/>
          <a:p>
            <a:r>
              <a:rPr lang="en-US" sz="1800" dirty="0">
                <a:hlinkClick r:id="rId2" action="ppaction://hlinkfile"/>
              </a:rPr>
              <a:t>SEMANTIC NETWORKS PROGRAM.txt</a:t>
            </a:r>
            <a:endParaRPr lang="en-US" sz="1800" dirty="0"/>
          </a:p>
        </p:txBody>
      </p:sp>
    </p:spTree>
    <p:extLst>
      <p:ext uri="{BB962C8B-B14F-4D97-AF65-F5344CB8AC3E}">
        <p14:creationId xmlns:p14="http://schemas.microsoft.com/office/powerpoint/2010/main" val="2255365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E96C4-FB3E-0218-AFCA-37EC3E02A812}"/>
              </a:ext>
            </a:extLst>
          </p:cNvPr>
          <p:cNvSpPr>
            <a:spLocks noGrp="1"/>
          </p:cNvSpPr>
          <p:nvPr>
            <p:ph type="title"/>
          </p:nvPr>
        </p:nvSpPr>
        <p:spPr>
          <a:xfrm>
            <a:off x="228600" y="228600"/>
            <a:ext cx="7696200" cy="533400"/>
          </a:xfrm>
        </p:spPr>
        <p:txBody>
          <a:bodyPr/>
          <a:lstStyle/>
          <a:p>
            <a:r>
              <a:rPr lang="en-US" dirty="0"/>
              <a:t>Frames</a:t>
            </a:r>
          </a:p>
        </p:txBody>
      </p:sp>
      <p:pic>
        <p:nvPicPr>
          <p:cNvPr id="5" name="Content Placeholder 4">
            <a:extLst>
              <a:ext uri="{FF2B5EF4-FFF2-40B4-BE49-F238E27FC236}">
                <a16:creationId xmlns:a16="http://schemas.microsoft.com/office/drawing/2014/main" id="{8FB8AA3A-48B3-0B29-E602-5780417629D7}"/>
              </a:ext>
            </a:extLst>
          </p:cNvPr>
          <p:cNvPicPr>
            <a:picLocks noGrp="1" noChangeAspect="1"/>
          </p:cNvPicPr>
          <p:nvPr>
            <p:ph idx="1"/>
          </p:nvPr>
        </p:nvPicPr>
        <p:blipFill>
          <a:blip r:embed="rId2"/>
          <a:stretch>
            <a:fillRect/>
          </a:stretch>
        </p:blipFill>
        <p:spPr>
          <a:xfrm>
            <a:off x="685800" y="914400"/>
            <a:ext cx="8153400" cy="5714999"/>
          </a:xfrm>
          <a:prstGeom prst="rect">
            <a:avLst/>
          </a:prstGeom>
        </p:spPr>
      </p:pic>
      <p:sp>
        <p:nvSpPr>
          <p:cNvPr id="4" name="Slide Number Placeholder 3">
            <a:extLst>
              <a:ext uri="{FF2B5EF4-FFF2-40B4-BE49-F238E27FC236}">
                <a16:creationId xmlns:a16="http://schemas.microsoft.com/office/drawing/2014/main" id="{E35B7E2C-BD75-889E-F770-55A942721293}"/>
              </a:ext>
            </a:extLst>
          </p:cNvPr>
          <p:cNvSpPr>
            <a:spLocks noGrp="1"/>
          </p:cNvSpPr>
          <p:nvPr>
            <p:ph type="sldNum" sz="quarter" idx="12"/>
          </p:nvPr>
        </p:nvSpPr>
        <p:spPr/>
        <p:txBody>
          <a:bodyPr/>
          <a:lstStyle/>
          <a:p>
            <a:fld id="{71C6F290-D301-4864-9490-340EF11588D9}" type="slidenum">
              <a:rPr lang="en-US" altLang="en-US" smtClean="0"/>
              <a:pPr/>
              <a:t>34</a:t>
            </a:fld>
            <a:endParaRPr lang="en-US" altLang="en-US" dirty="0"/>
          </a:p>
        </p:txBody>
      </p:sp>
    </p:spTree>
    <p:extLst>
      <p:ext uri="{BB962C8B-B14F-4D97-AF65-F5344CB8AC3E}">
        <p14:creationId xmlns:p14="http://schemas.microsoft.com/office/powerpoint/2010/main" val="3246276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89C12-60FA-685B-05DA-CF84353A0ECC}"/>
              </a:ext>
            </a:extLst>
          </p:cNvPr>
          <p:cNvSpPr>
            <a:spLocks noGrp="1"/>
          </p:cNvSpPr>
          <p:nvPr>
            <p:ph type="title"/>
          </p:nvPr>
        </p:nvSpPr>
        <p:spPr>
          <a:xfrm>
            <a:off x="228600" y="228600"/>
            <a:ext cx="7696200" cy="533400"/>
          </a:xfrm>
        </p:spPr>
        <p:txBody>
          <a:bodyPr/>
          <a:lstStyle/>
          <a:p>
            <a:r>
              <a:rPr lang="en-US" dirty="0"/>
              <a:t>Frames</a:t>
            </a:r>
          </a:p>
        </p:txBody>
      </p:sp>
      <p:pic>
        <p:nvPicPr>
          <p:cNvPr id="5" name="Content Placeholder 4">
            <a:extLst>
              <a:ext uri="{FF2B5EF4-FFF2-40B4-BE49-F238E27FC236}">
                <a16:creationId xmlns:a16="http://schemas.microsoft.com/office/drawing/2014/main" id="{C3D0B34A-5E41-8C54-4EAA-5A8D9318A203}"/>
              </a:ext>
            </a:extLst>
          </p:cNvPr>
          <p:cNvPicPr>
            <a:picLocks noGrp="1" noChangeAspect="1"/>
          </p:cNvPicPr>
          <p:nvPr>
            <p:ph idx="1"/>
          </p:nvPr>
        </p:nvPicPr>
        <p:blipFill>
          <a:blip r:embed="rId2"/>
          <a:stretch>
            <a:fillRect/>
          </a:stretch>
        </p:blipFill>
        <p:spPr>
          <a:xfrm>
            <a:off x="228600" y="914400"/>
            <a:ext cx="7924800" cy="5791199"/>
          </a:xfrm>
          <a:prstGeom prst="rect">
            <a:avLst/>
          </a:prstGeom>
        </p:spPr>
      </p:pic>
      <p:sp>
        <p:nvSpPr>
          <p:cNvPr id="4" name="Slide Number Placeholder 3">
            <a:extLst>
              <a:ext uri="{FF2B5EF4-FFF2-40B4-BE49-F238E27FC236}">
                <a16:creationId xmlns:a16="http://schemas.microsoft.com/office/drawing/2014/main" id="{3BD71F98-B83C-ACB6-05C3-BA54CBCE60A0}"/>
              </a:ext>
            </a:extLst>
          </p:cNvPr>
          <p:cNvSpPr>
            <a:spLocks noGrp="1"/>
          </p:cNvSpPr>
          <p:nvPr>
            <p:ph type="sldNum" sz="quarter" idx="12"/>
          </p:nvPr>
        </p:nvSpPr>
        <p:spPr/>
        <p:txBody>
          <a:bodyPr/>
          <a:lstStyle/>
          <a:p>
            <a:fld id="{71C6F290-D301-4864-9490-340EF11588D9}" type="slidenum">
              <a:rPr lang="en-US" altLang="en-US" smtClean="0"/>
              <a:pPr/>
              <a:t>35</a:t>
            </a:fld>
            <a:endParaRPr lang="en-US" altLang="en-US" dirty="0"/>
          </a:p>
        </p:txBody>
      </p:sp>
    </p:spTree>
    <p:extLst>
      <p:ext uri="{BB962C8B-B14F-4D97-AF65-F5344CB8AC3E}">
        <p14:creationId xmlns:p14="http://schemas.microsoft.com/office/powerpoint/2010/main" val="3848869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3AE3-315E-6443-4C1F-56B5C85C2177}"/>
              </a:ext>
            </a:extLst>
          </p:cNvPr>
          <p:cNvSpPr>
            <a:spLocks noGrp="1"/>
          </p:cNvSpPr>
          <p:nvPr>
            <p:ph type="title"/>
          </p:nvPr>
        </p:nvSpPr>
        <p:spPr>
          <a:xfrm>
            <a:off x="228600" y="228600"/>
            <a:ext cx="7696200" cy="609600"/>
          </a:xfrm>
        </p:spPr>
        <p:txBody>
          <a:bodyPr/>
          <a:lstStyle/>
          <a:p>
            <a:r>
              <a:rPr lang="en-US" dirty="0"/>
              <a:t>Frames</a:t>
            </a:r>
          </a:p>
        </p:txBody>
      </p:sp>
      <p:pic>
        <p:nvPicPr>
          <p:cNvPr id="5" name="Content Placeholder 4">
            <a:extLst>
              <a:ext uri="{FF2B5EF4-FFF2-40B4-BE49-F238E27FC236}">
                <a16:creationId xmlns:a16="http://schemas.microsoft.com/office/drawing/2014/main" id="{E74A7389-512A-8E21-D1FA-3DE5F0AD4635}"/>
              </a:ext>
            </a:extLst>
          </p:cNvPr>
          <p:cNvPicPr>
            <a:picLocks noGrp="1" noChangeAspect="1"/>
          </p:cNvPicPr>
          <p:nvPr>
            <p:ph idx="1"/>
          </p:nvPr>
        </p:nvPicPr>
        <p:blipFill>
          <a:blip r:embed="rId2"/>
          <a:stretch>
            <a:fillRect/>
          </a:stretch>
        </p:blipFill>
        <p:spPr>
          <a:xfrm>
            <a:off x="381000" y="914400"/>
            <a:ext cx="8382000" cy="5943600"/>
          </a:xfrm>
          <a:prstGeom prst="rect">
            <a:avLst/>
          </a:prstGeom>
        </p:spPr>
      </p:pic>
      <p:sp>
        <p:nvSpPr>
          <p:cNvPr id="4" name="Slide Number Placeholder 3">
            <a:extLst>
              <a:ext uri="{FF2B5EF4-FFF2-40B4-BE49-F238E27FC236}">
                <a16:creationId xmlns:a16="http://schemas.microsoft.com/office/drawing/2014/main" id="{77BA9535-C7EA-881E-6C2A-C5A0F24EEB73}"/>
              </a:ext>
            </a:extLst>
          </p:cNvPr>
          <p:cNvSpPr>
            <a:spLocks noGrp="1"/>
          </p:cNvSpPr>
          <p:nvPr>
            <p:ph type="sldNum" sz="quarter" idx="12"/>
          </p:nvPr>
        </p:nvSpPr>
        <p:spPr/>
        <p:txBody>
          <a:bodyPr/>
          <a:lstStyle/>
          <a:p>
            <a:fld id="{71C6F290-D301-4864-9490-340EF11588D9}" type="slidenum">
              <a:rPr lang="en-US" altLang="en-US" smtClean="0"/>
              <a:pPr/>
              <a:t>36</a:t>
            </a:fld>
            <a:endParaRPr lang="en-US" altLang="en-US" dirty="0"/>
          </a:p>
        </p:txBody>
      </p:sp>
      <p:pic>
        <p:nvPicPr>
          <p:cNvPr id="6" name="Picture 5">
            <a:extLst>
              <a:ext uri="{FF2B5EF4-FFF2-40B4-BE49-F238E27FC236}">
                <a16:creationId xmlns:a16="http://schemas.microsoft.com/office/drawing/2014/main" id="{5B7F0F5E-4DBF-5D6A-E427-D6AC5C731FD0}"/>
              </a:ext>
            </a:extLst>
          </p:cNvPr>
          <p:cNvPicPr>
            <a:picLocks noChangeAspect="1"/>
          </p:cNvPicPr>
          <p:nvPr/>
        </p:nvPicPr>
        <p:blipFill>
          <a:blip r:embed="rId3"/>
          <a:stretch>
            <a:fillRect/>
          </a:stretch>
        </p:blipFill>
        <p:spPr>
          <a:xfrm>
            <a:off x="3886200" y="2400191"/>
            <a:ext cx="3421591" cy="1943209"/>
          </a:xfrm>
          <a:prstGeom prst="rect">
            <a:avLst/>
          </a:prstGeom>
        </p:spPr>
      </p:pic>
    </p:spTree>
    <p:extLst>
      <p:ext uri="{BB962C8B-B14F-4D97-AF65-F5344CB8AC3E}">
        <p14:creationId xmlns:p14="http://schemas.microsoft.com/office/powerpoint/2010/main" val="3701730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FBD08-9414-1ADA-EFEE-5A6ECADF38AA}"/>
              </a:ext>
            </a:extLst>
          </p:cNvPr>
          <p:cNvSpPr>
            <a:spLocks noGrp="1"/>
          </p:cNvSpPr>
          <p:nvPr>
            <p:ph type="title"/>
          </p:nvPr>
        </p:nvSpPr>
        <p:spPr>
          <a:xfrm>
            <a:off x="228600" y="228600"/>
            <a:ext cx="7696200" cy="457200"/>
          </a:xfrm>
        </p:spPr>
        <p:txBody>
          <a:bodyPr/>
          <a:lstStyle/>
          <a:p>
            <a:r>
              <a:rPr lang="en-US" dirty="0"/>
              <a:t>Frames</a:t>
            </a:r>
          </a:p>
        </p:txBody>
      </p:sp>
      <p:sp>
        <p:nvSpPr>
          <p:cNvPr id="4" name="Slide Number Placeholder 3">
            <a:extLst>
              <a:ext uri="{FF2B5EF4-FFF2-40B4-BE49-F238E27FC236}">
                <a16:creationId xmlns:a16="http://schemas.microsoft.com/office/drawing/2014/main" id="{F7A492F2-D001-608E-DF8C-073A0FD9744E}"/>
              </a:ext>
            </a:extLst>
          </p:cNvPr>
          <p:cNvSpPr>
            <a:spLocks noGrp="1"/>
          </p:cNvSpPr>
          <p:nvPr>
            <p:ph type="sldNum" sz="quarter" idx="12"/>
          </p:nvPr>
        </p:nvSpPr>
        <p:spPr/>
        <p:txBody>
          <a:bodyPr/>
          <a:lstStyle/>
          <a:p>
            <a:fld id="{71C6F290-D301-4864-9490-340EF11588D9}" type="slidenum">
              <a:rPr lang="en-US" altLang="en-US" smtClean="0"/>
              <a:pPr/>
              <a:t>37</a:t>
            </a:fld>
            <a:endParaRPr lang="en-US" altLang="en-US" dirty="0"/>
          </a:p>
        </p:txBody>
      </p:sp>
      <p:pic>
        <p:nvPicPr>
          <p:cNvPr id="6" name="Content Placeholder 5">
            <a:extLst>
              <a:ext uri="{FF2B5EF4-FFF2-40B4-BE49-F238E27FC236}">
                <a16:creationId xmlns:a16="http://schemas.microsoft.com/office/drawing/2014/main" id="{4D31D74A-2B8A-3D9C-6DCA-9FE21C398794}"/>
              </a:ext>
            </a:extLst>
          </p:cNvPr>
          <p:cNvPicPr>
            <a:picLocks noGrp="1" noChangeAspect="1"/>
          </p:cNvPicPr>
          <p:nvPr>
            <p:ph idx="1"/>
          </p:nvPr>
        </p:nvPicPr>
        <p:blipFill>
          <a:blip r:embed="rId2"/>
          <a:stretch>
            <a:fillRect/>
          </a:stretch>
        </p:blipFill>
        <p:spPr>
          <a:xfrm>
            <a:off x="609600" y="685800"/>
            <a:ext cx="7467600" cy="5791200"/>
          </a:xfrm>
          <a:prstGeom prst="rect">
            <a:avLst/>
          </a:prstGeom>
        </p:spPr>
      </p:pic>
    </p:spTree>
    <p:extLst>
      <p:ext uri="{BB962C8B-B14F-4D97-AF65-F5344CB8AC3E}">
        <p14:creationId xmlns:p14="http://schemas.microsoft.com/office/powerpoint/2010/main" val="2168762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FAAB-D014-0544-55AD-5723932DACF6}"/>
              </a:ext>
            </a:extLst>
          </p:cNvPr>
          <p:cNvSpPr>
            <a:spLocks noGrp="1"/>
          </p:cNvSpPr>
          <p:nvPr>
            <p:ph type="title"/>
          </p:nvPr>
        </p:nvSpPr>
        <p:spPr>
          <a:xfrm>
            <a:off x="228600" y="228600"/>
            <a:ext cx="7696200" cy="533400"/>
          </a:xfrm>
        </p:spPr>
        <p:txBody>
          <a:bodyPr/>
          <a:lstStyle/>
          <a:p>
            <a:r>
              <a:rPr lang="en-US" dirty="0"/>
              <a:t>Frames</a:t>
            </a:r>
          </a:p>
        </p:txBody>
      </p:sp>
      <p:pic>
        <p:nvPicPr>
          <p:cNvPr id="5" name="Content Placeholder 4">
            <a:extLst>
              <a:ext uri="{FF2B5EF4-FFF2-40B4-BE49-F238E27FC236}">
                <a16:creationId xmlns:a16="http://schemas.microsoft.com/office/drawing/2014/main" id="{28116757-E81F-70B7-68E0-66FD4CDF4E76}"/>
              </a:ext>
            </a:extLst>
          </p:cNvPr>
          <p:cNvPicPr>
            <a:picLocks noGrp="1" noChangeAspect="1"/>
          </p:cNvPicPr>
          <p:nvPr>
            <p:ph idx="1"/>
          </p:nvPr>
        </p:nvPicPr>
        <p:blipFill>
          <a:blip r:embed="rId2"/>
          <a:stretch>
            <a:fillRect/>
          </a:stretch>
        </p:blipFill>
        <p:spPr>
          <a:xfrm>
            <a:off x="647578" y="1219200"/>
            <a:ext cx="7201021" cy="4343400"/>
          </a:xfrm>
          <a:prstGeom prst="rect">
            <a:avLst/>
          </a:prstGeom>
        </p:spPr>
      </p:pic>
      <p:sp>
        <p:nvSpPr>
          <p:cNvPr id="4" name="Slide Number Placeholder 3">
            <a:extLst>
              <a:ext uri="{FF2B5EF4-FFF2-40B4-BE49-F238E27FC236}">
                <a16:creationId xmlns:a16="http://schemas.microsoft.com/office/drawing/2014/main" id="{7AABE313-A76E-285C-C83F-E1923B1101F0}"/>
              </a:ext>
            </a:extLst>
          </p:cNvPr>
          <p:cNvSpPr>
            <a:spLocks noGrp="1"/>
          </p:cNvSpPr>
          <p:nvPr>
            <p:ph type="sldNum" sz="quarter" idx="12"/>
          </p:nvPr>
        </p:nvSpPr>
        <p:spPr/>
        <p:txBody>
          <a:bodyPr/>
          <a:lstStyle/>
          <a:p>
            <a:fld id="{71C6F290-D301-4864-9490-340EF11588D9}" type="slidenum">
              <a:rPr lang="en-US" altLang="en-US" smtClean="0"/>
              <a:pPr/>
              <a:t>38</a:t>
            </a:fld>
            <a:endParaRPr lang="en-US" altLang="en-US" dirty="0"/>
          </a:p>
        </p:txBody>
      </p:sp>
    </p:spTree>
    <p:extLst>
      <p:ext uri="{BB962C8B-B14F-4D97-AF65-F5344CB8AC3E}">
        <p14:creationId xmlns:p14="http://schemas.microsoft.com/office/powerpoint/2010/main" val="1848327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17B0-7DF5-9D3D-0E8D-53A41A7CC7B5}"/>
              </a:ext>
            </a:extLst>
          </p:cNvPr>
          <p:cNvSpPr>
            <a:spLocks noGrp="1"/>
          </p:cNvSpPr>
          <p:nvPr>
            <p:ph type="title"/>
          </p:nvPr>
        </p:nvSpPr>
        <p:spPr>
          <a:xfrm>
            <a:off x="228600" y="228600"/>
            <a:ext cx="7696200" cy="533400"/>
          </a:xfrm>
        </p:spPr>
        <p:txBody>
          <a:bodyPr/>
          <a:lstStyle/>
          <a:p>
            <a:r>
              <a:rPr lang="en-US" dirty="0"/>
              <a:t>Frames</a:t>
            </a:r>
          </a:p>
        </p:txBody>
      </p:sp>
      <p:pic>
        <p:nvPicPr>
          <p:cNvPr id="5" name="Content Placeholder 4">
            <a:extLst>
              <a:ext uri="{FF2B5EF4-FFF2-40B4-BE49-F238E27FC236}">
                <a16:creationId xmlns:a16="http://schemas.microsoft.com/office/drawing/2014/main" id="{614DBD0E-1E8A-047A-B92E-B343B9A5F463}"/>
              </a:ext>
            </a:extLst>
          </p:cNvPr>
          <p:cNvPicPr>
            <a:picLocks noGrp="1" noChangeAspect="1"/>
          </p:cNvPicPr>
          <p:nvPr>
            <p:ph idx="1"/>
          </p:nvPr>
        </p:nvPicPr>
        <p:blipFill>
          <a:blip r:embed="rId2"/>
          <a:stretch>
            <a:fillRect/>
          </a:stretch>
        </p:blipFill>
        <p:spPr>
          <a:xfrm>
            <a:off x="228600" y="1314061"/>
            <a:ext cx="7848600" cy="2438400"/>
          </a:xfrm>
          <a:prstGeom prst="rect">
            <a:avLst/>
          </a:prstGeom>
        </p:spPr>
      </p:pic>
      <p:sp>
        <p:nvSpPr>
          <p:cNvPr id="4" name="Slide Number Placeholder 3">
            <a:extLst>
              <a:ext uri="{FF2B5EF4-FFF2-40B4-BE49-F238E27FC236}">
                <a16:creationId xmlns:a16="http://schemas.microsoft.com/office/drawing/2014/main" id="{A9A5B3FB-9E55-22D4-7662-F0A9178124E3}"/>
              </a:ext>
            </a:extLst>
          </p:cNvPr>
          <p:cNvSpPr>
            <a:spLocks noGrp="1"/>
          </p:cNvSpPr>
          <p:nvPr>
            <p:ph type="sldNum" sz="quarter" idx="12"/>
          </p:nvPr>
        </p:nvSpPr>
        <p:spPr/>
        <p:txBody>
          <a:bodyPr/>
          <a:lstStyle/>
          <a:p>
            <a:fld id="{71C6F290-D301-4864-9490-340EF11588D9}" type="slidenum">
              <a:rPr lang="en-US" altLang="en-US" smtClean="0"/>
              <a:pPr/>
              <a:t>39</a:t>
            </a:fld>
            <a:endParaRPr lang="en-US" altLang="en-US" dirty="0"/>
          </a:p>
        </p:txBody>
      </p:sp>
    </p:spTree>
    <p:extLst>
      <p:ext uri="{BB962C8B-B14F-4D97-AF65-F5344CB8AC3E}">
        <p14:creationId xmlns:p14="http://schemas.microsoft.com/office/powerpoint/2010/main" val="40153357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8D12E-FE5E-D653-69DE-6C282CCD1F44}"/>
              </a:ext>
            </a:extLst>
          </p:cNvPr>
          <p:cNvSpPr>
            <a:spLocks noGrp="1"/>
          </p:cNvSpPr>
          <p:nvPr>
            <p:ph type="title"/>
          </p:nvPr>
        </p:nvSpPr>
        <p:spPr>
          <a:xfrm>
            <a:off x="228600" y="228601"/>
            <a:ext cx="7696200" cy="381000"/>
          </a:xfrm>
        </p:spPr>
        <p:txBody>
          <a:bodyPr/>
          <a:lstStyle/>
          <a:p>
            <a:r>
              <a:rPr lang="en-US" dirty="0"/>
              <a:t>Frames Program</a:t>
            </a:r>
          </a:p>
        </p:txBody>
      </p:sp>
      <p:sp>
        <p:nvSpPr>
          <p:cNvPr id="3" name="Content Placeholder 2">
            <a:extLst>
              <a:ext uri="{FF2B5EF4-FFF2-40B4-BE49-F238E27FC236}">
                <a16:creationId xmlns:a16="http://schemas.microsoft.com/office/drawing/2014/main" id="{E2A2EAE3-846B-8A4F-1C3F-FB251570E940}"/>
              </a:ext>
            </a:extLst>
          </p:cNvPr>
          <p:cNvSpPr>
            <a:spLocks noGrp="1"/>
          </p:cNvSpPr>
          <p:nvPr>
            <p:ph idx="1"/>
          </p:nvPr>
        </p:nvSpPr>
        <p:spPr>
          <a:xfrm>
            <a:off x="304800" y="609601"/>
            <a:ext cx="5486400" cy="6095999"/>
          </a:xfrm>
        </p:spPr>
        <p:txBody>
          <a:bodyPr>
            <a:normAutofit fontScale="25000" lnSpcReduction="20000"/>
          </a:bodyPr>
          <a:lstStyle/>
          <a:p>
            <a:r>
              <a:rPr lang="en-US" sz="3200" dirty="0"/>
              <a:t>% Try  </a:t>
            </a:r>
          </a:p>
          <a:p>
            <a:r>
              <a:rPr lang="en-US" sz="3200" dirty="0"/>
              <a:t>% get(travel(flies), opus).</a:t>
            </a:r>
          </a:p>
          <a:p>
            <a:r>
              <a:rPr lang="en-US" sz="3200" dirty="0"/>
              <a:t>% get(travel(walks),opus).</a:t>
            </a:r>
          </a:p>
          <a:p>
            <a:r>
              <a:rPr lang="en-US" sz="3200" dirty="0"/>
              <a:t>% get(travel(speed),opus).</a:t>
            </a:r>
          </a:p>
          <a:p>
            <a:endParaRPr lang="en-US" sz="3200" dirty="0"/>
          </a:p>
          <a:p>
            <a:r>
              <a:rPr lang="en-US" sz="3200" dirty="0"/>
              <a:t>% Frame facts</a:t>
            </a:r>
          </a:p>
          <a:p>
            <a:r>
              <a:rPr lang="en-US" sz="3200" dirty="0"/>
              <a:t>frame(name(bird),</a:t>
            </a:r>
          </a:p>
          <a:p>
            <a:r>
              <a:rPr lang="en-US" sz="3200" dirty="0"/>
              <a:t>      isa([animal]),</a:t>
            </a:r>
          </a:p>
          <a:p>
            <a:r>
              <a:rPr lang="en-US" sz="3200" dirty="0"/>
              <a:t>      [travel(flies), cove(feathers)],</a:t>
            </a:r>
          </a:p>
          <a:p>
            <a:r>
              <a:rPr lang="en-US" sz="3200" dirty="0"/>
              <a:t>      []).</a:t>
            </a:r>
          </a:p>
          <a:p>
            <a:endParaRPr lang="en-US" sz="3200" dirty="0"/>
          </a:p>
          <a:p>
            <a:r>
              <a:rPr lang="en-US" sz="3200" dirty="0"/>
              <a:t>frame(name(penguin),</a:t>
            </a:r>
          </a:p>
          <a:p>
            <a:r>
              <a:rPr lang="en-US" sz="3200" dirty="0"/>
              <a:t>      isa([bird]),</a:t>
            </a:r>
          </a:p>
          <a:p>
            <a:r>
              <a:rPr lang="en-US" sz="3200" dirty="0"/>
              <a:t>      [color(brown)],</a:t>
            </a:r>
          </a:p>
          <a:p>
            <a:r>
              <a:rPr lang="en-US" sz="3200" dirty="0"/>
              <a:t>      [travel(walks)]).</a:t>
            </a:r>
          </a:p>
          <a:p>
            <a:endParaRPr lang="en-US" sz="3200" dirty="0"/>
          </a:p>
          <a:p>
            <a:r>
              <a:rPr lang="en-US" sz="3200" dirty="0"/>
              <a:t>frame(name(canary),</a:t>
            </a:r>
          </a:p>
          <a:p>
            <a:r>
              <a:rPr lang="en-US" sz="3200" dirty="0"/>
              <a:t>      isa([bird]),</a:t>
            </a:r>
          </a:p>
          <a:p>
            <a:r>
              <a:rPr lang="en-US" sz="3200" dirty="0"/>
              <a:t>      [color(yellow), call(sing)],</a:t>
            </a:r>
          </a:p>
          <a:p>
            <a:r>
              <a:rPr lang="en-US" sz="3200" dirty="0"/>
              <a:t>      [size(small)]).</a:t>
            </a:r>
          </a:p>
          <a:p>
            <a:endParaRPr lang="en-US" sz="3200" dirty="0"/>
          </a:p>
          <a:p>
            <a:r>
              <a:rPr lang="en-US" sz="3200" dirty="0"/>
              <a:t>frame(name(</a:t>
            </a:r>
            <a:r>
              <a:rPr lang="en-US" sz="3200" dirty="0" err="1"/>
              <a:t>tweety</a:t>
            </a:r>
            <a:r>
              <a:rPr lang="en-US" sz="3200" dirty="0"/>
              <a:t>),</a:t>
            </a:r>
          </a:p>
          <a:p>
            <a:r>
              <a:rPr lang="en-US" sz="3200" dirty="0"/>
              <a:t>      isa([canary]),</a:t>
            </a:r>
          </a:p>
          <a:p>
            <a:r>
              <a:rPr lang="en-US" sz="3200" dirty="0"/>
              <a:t>      [],</a:t>
            </a:r>
          </a:p>
          <a:p>
            <a:r>
              <a:rPr lang="en-US" sz="3200" dirty="0"/>
              <a:t>      [color(white)]).</a:t>
            </a:r>
          </a:p>
          <a:p>
            <a:r>
              <a:rPr lang="en-US" sz="3200" dirty="0"/>
              <a:t>frame(name(opus), isa([</a:t>
            </a:r>
            <a:r>
              <a:rPr lang="en-US" sz="3200" dirty="0" err="1"/>
              <a:t>penguin,tweety</a:t>
            </a:r>
            <a:r>
              <a:rPr lang="en-US" sz="3200" dirty="0"/>
              <a:t>]),[color(black)],[]).</a:t>
            </a:r>
          </a:p>
          <a:p>
            <a:endParaRPr lang="en-US" sz="3200" dirty="0"/>
          </a:p>
          <a:p>
            <a:endParaRPr lang="en-US" sz="3200" dirty="0"/>
          </a:p>
          <a:p>
            <a:r>
              <a:rPr lang="en-US" sz="3200" dirty="0"/>
              <a:t>get(Prop, Object):- frame(name(Object),_,L,_), member(</a:t>
            </a:r>
            <a:r>
              <a:rPr lang="en-US" sz="3200" dirty="0" err="1"/>
              <a:t>Prop,L</a:t>
            </a:r>
            <a:r>
              <a:rPr lang="en-US" sz="3200" dirty="0"/>
              <a:t>).</a:t>
            </a:r>
          </a:p>
          <a:p>
            <a:r>
              <a:rPr lang="en-US" sz="3200" dirty="0"/>
              <a:t>get(Prop, Object):- frame(name(Object),_,_,L), member(</a:t>
            </a:r>
            <a:r>
              <a:rPr lang="en-US" sz="3200" dirty="0" err="1"/>
              <a:t>Prop,L</a:t>
            </a:r>
            <a:r>
              <a:rPr lang="en-US" sz="3200" dirty="0"/>
              <a:t>).</a:t>
            </a:r>
          </a:p>
          <a:p>
            <a:r>
              <a:rPr lang="en-US" sz="3200" dirty="0"/>
              <a:t>get(Prop, Object):- frame(name(Object),isa(L),_,_), getMultiple(</a:t>
            </a:r>
            <a:r>
              <a:rPr lang="en-US" sz="3200" dirty="0" err="1"/>
              <a:t>Prop,L</a:t>
            </a:r>
            <a:r>
              <a:rPr lang="en-US" sz="3200" dirty="0"/>
              <a:t>).</a:t>
            </a:r>
          </a:p>
          <a:p>
            <a:r>
              <a:rPr lang="en-US" sz="3200" dirty="0"/>
              <a:t>get(</a:t>
            </a:r>
            <a:r>
              <a:rPr lang="en-US" sz="3200" dirty="0" err="1"/>
              <a:t>Prop,Object</a:t>
            </a:r>
            <a:r>
              <a:rPr lang="en-US" sz="3200" dirty="0"/>
              <a:t>):- frame(name(Object),isa(L),_,_), getMultiple(</a:t>
            </a:r>
            <a:r>
              <a:rPr lang="en-US" sz="3200" dirty="0" err="1"/>
              <a:t>Prop,L</a:t>
            </a:r>
            <a:r>
              <a:rPr lang="en-US" sz="3200" dirty="0"/>
              <a:t>). </a:t>
            </a:r>
          </a:p>
          <a:p>
            <a:endParaRPr lang="en-US" sz="3200" dirty="0"/>
          </a:p>
          <a:p>
            <a:endParaRPr lang="en-US" sz="3200" dirty="0"/>
          </a:p>
          <a:p>
            <a:r>
              <a:rPr lang="en-US" sz="3200" dirty="0"/>
              <a:t>% The semicolon (;) acts as "OR"</a:t>
            </a:r>
          </a:p>
          <a:p>
            <a:r>
              <a:rPr lang="en-US" sz="3200" dirty="0"/>
              <a:t>% The cut (!) stops backtracking if the property is found</a:t>
            </a:r>
          </a:p>
          <a:p>
            <a:r>
              <a:rPr lang="en-US" sz="3200" dirty="0"/>
              <a:t>% If not found in P, it tries the rest (T)</a:t>
            </a:r>
          </a:p>
          <a:p>
            <a:endParaRPr lang="en-US" sz="3200" dirty="0"/>
          </a:p>
          <a:p>
            <a:r>
              <a:rPr lang="en-US" sz="3200" dirty="0"/>
              <a:t>getMultiple(Prop, [P|T]) :-</a:t>
            </a:r>
          </a:p>
          <a:p>
            <a:r>
              <a:rPr lang="en-US" sz="3200" dirty="0"/>
              <a:t>    get(Prop, P), !;</a:t>
            </a:r>
          </a:p>
          <a:p>
            <a:r>
              <a:rPr lang="en-US" sz="3200" dirty="0"/>
              <a:t>    getMultiple(Prop, T).</a:t>
            </a:r>
          </a:p>
          <a:p>
            <a:endParaRPr lang="en-US" sz="3200" dirty="0"/>
          </a:p>
          <a:p>
            <a:r>
              <a:rPr lang="en-US" sz="3200" dirty="0"/>
              <a:t>%getMultiple(Prop,[P|_]):- get(Prop, P).</a:t>
            </a:r>
          </a:p>
          <a:p>
            <a:r>
              <a:rPr lang="en-US" sz="3200" dirty="0"/>
              <a:t>%getMultiple(Prop,[_|T]):-getMultiple(</a:t>
            </a:r>
            <a:r>
              <a:rPr lang="en-US" sz="3200" dirty="0" err="1"/>
              <a:t>Prop,T</a:t>
            </a:r>
            <a:r>
              <a:rPr lang="en-US" sz="3200" dirty="0"/>
              <a:t>).</a:t>
            </a:r>
          </a:p>
          <a:p>
            <a:r>
              <a:rPr lang="en-US" sz="3200" dirty="0"/>
              <a:t>%member(X,[X|_]).</a:t>
            </a:r>
          </a:p>
          <a:p>
            <a:r>
              <a:rPr lang="en-US" sz="3200" dirty="0"/>
              <a:t>%member(X,[Y|T]):- member(X,T).</a:t>
            </a:r>
          </a:p>
          <a:p>
            <a:endParaRPr lang="en-US" sz="3200" dirty="0"/>
          </a:p>
          <a:p>
            <a:endParaRPr lang="en-US" sz="3200" dirty="0"/>
          </a:p>
          <a:p>
            <a:endParaRPr lang="en-US" dirty="0"/>
          </a:p>
        </p:txBody>
      </p:sp>
      <p:sp>
        <p:nvSpPr>
          <p:cNvPr id="4" name="Slide Number Placeholder 3">
            <a:extLst>
              <a:ext uri="{FF2B5EF4-FFF2-40B4-BE49-F238E27FC236}">
                <a16:creationId xmlns:a16="http://schemas.microsoft.com/office/drawing/2014/main" id="{44B1F534-E079-6F90-C323-4F45DDBD8497}"/>
              </a:ext>
            </a:extLst>
          </p:cNvPr>
          <p:cNvSpPr>
            <a:spLocks noGrp="1"/>
          </p:cNvSpPr>
          <p:nvPr>
            <p:ph type="sldNum" sz="quarter" idx="12"/>
          </p:nvPr>
        </p:nvSpPr>
        <p:spPr/>
        <p:txBody>
          <a:bodyPr/>
          <a:lstStyle/>
          <a:p>
            <a:fld id="{71C6F290-D301-4864-9490-340EF11588D9}" type="slidenum">
              <a:rPr lang="en-US" altLang="en-US" smtClean="0"/>
              <a:pPr/>
              <a:t>40</a:t>
            </a:fld>
            <a:endParaRPr lang="en-US" altLang="en-US" dirty="0"/>
          </a:p>
        </p:txBody>
      </p:sp>
    </p:spTree>
    <p:extLst>
      <p:ext uri="{BB962C8B-B14F-4D97-AF65-F5344CB8AC3E}">
        <p14:creationId xmlns:p14="http://schemas.microsoft.com/office/powerpoint/2010/main" val="14693992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8B21-3811-F856-7C88-268C8EF27C6C}"/>
              </a:ext>
            </a:extLst>
          </p:cNvPr>
          <p:cNvSpPr>
            <a:spLocks noGrp="1"/>
          </p:cNvSpPr>
          <p:nvPr>
            <p:ph type="title"/>
          </p:nvPr>
        </p:nvSpPr>
        <p:spPr>
          <a:xfrm>
            <a:off x="228600" y="228600"/>
            <a:ext cx="7696200" cy="457200"/>
          </a:xfrm>
        </p:spPr>
        <p:txBody>
          <a:bodyPr/>
          <a:lstStyle/>
          <a:p>
            <a:r>
              <a:rPr lang="en-US" dirty="0"/>
              <a:t>Frames Program</a:t>
            </a:r>
          </a:p>
        </p:txBody>
      </p:sp>
      <p:sp>
        <p:nvSpPr>
          <p:cNvPr id="3" name="Content Placeholder 2">
            <a:extLst>
              <a:ext uri="{FF2B5EF4-FFF2-40B4-BE49-F238E27FC236}">
                <a16:creationId xmlns:a16="http://schemas.microsoft.com/office/drawing/2014/main" id="{949B3610-4FC6-C22F-0323-A182DFF35FB7}"/>
              </a:ext>
            </a:extLst>
          </p:cNvPr>
          <p:cNvSpPr>
            <a:spLocks noGrp="1"/>
          </p:cNvSpPr>
          <p:nvPr>
            <p:ph idx="1"/>
          </p:nvPr>
        </p:nvSpPr>
        <p:spPr>
          <a:xfrm>
            <a:off x="228600" y="838200"/>
            <a:ext cx="8763000" cy="5715000"/>
          </a:xfrm>
        </p:spPr>
        <p:txBody>
          <a:bodyPr/>
          <a:lstStyle/>
          <a:p>
            <a:endParaRPr lang="en-US" dirty="0">
              <a:solidFill>
                <a:srgbClr val="D8D8EC"/>
              </a:solidFill>
              <a:hlinkClick r:id="rId2" action="ppaction://hlinkfile">
                <a:extLst>
                  <a:ext uri="{A12FA001-AC4F-418D-AE19-62706E023703}">
                    <ahyp:hlinkClr xmlns:ahyp="http://schemas.microsoft.com/office/drawing/2018/hyperlinkcolor" val="tx"/>
                  </a:ext>
                </a:extLst>
              </a:hlinkClick>
            </a:endParaRPr>
          </a:p>
          <a:p>
            <a:endParaRPr lang="en-US" dirty="0">
              <a:solidFill>
                <a:srgbClr val="D8D8EC"/>
              </a:solidFill>
              <a:hlinkClick r:id="rId2" action="ppaction://hlinkfile">
                <a:extLst>
                  <a:ext uri="{A12FA001-AC4F-418D-AE19-62706E023703}">
                    <ahyp:hlinkClr xmlns:ahyp="http://schemas.microsoft.com/office/drawing/2018/hyperlinkcolor" val="tx"/>
                  </a:ext>
                </a:extLst>
              </a:hlinkClick>
            </a:endParaRPr>
          </a:p>
          <a:p>
            <a:r>
              <a:rPr lang="en-US" dirty="0">
                <a:solidFill>
                  <a:srgbClr val="FF0000"/>
                </a:solidFill>
                <a:hlinkClick r:id="rId2" action="ppaction://hlinkfile">
                  <a:extLst>
                    <a:ext uri="{A12FA001-AC4F-418D-AE19-62706E023703}">
                      <ahyp:hlinkClr xmlns:ahyp="http://schemas.microsoft.com/office/drawing/2018/hyperlinkcolor" val="tx"/>
                    </a:ext>
                  </a:extLst>
                </a:hlinkClick>
              </a:rPr>
              <a:t>FRAMES PROGRAM.txt</a:t>
            </a:r>
            <a:endParaRPr lang="en-US" dirty="0">
              <a:solidFill>
                <a:srgbClr val="FF0000"/>
              </a:solidFill>
            </a:endParaRPr>
          </a:p>
        </p:txBody>
      </p:sp>
      <p:sp>
        <p:nvSpPr>
          <p:cNvPr id="4" name="Slide Number Placeholder 3">
            <a:extLst>
              <a:ext uri="{FF2B5EF4-FFF2-40B4-BE49-F238E27FC236}">
                <a16:creationId xmlns:a16="http://schemas.microsoft.com/office/drawing/2014/main" id="{940D57F9-8F91-04B6-0E00-9DC07E37A2E8}"/>
              </a:ext>
            </a:extLst>
          </p:cNvPr>
          <p:cNvSpPr>
            <a:spLocks noGrp="1"/>
          </p:cNvSpPr>
          <p:nvPr>
            <p:ph type="sldNum" sz="quarter" idx="12"/>
          </p:nvPr>
        </p:nvSpPr>
        <p:spPr/>
        <p:txBody>
          <a:bodyPr/>
          <a:lstStyle/>
          <a:p>
            <a:fld id="{71C6F290-D301-4864-9490-340EF11588D9}" type="slidenum">
              <a:rPr lang="en-US" altLang="en-US" smtClean="0"/>
              <a:pPr/>
              <a:t>41</a:t>
            </a:fld>
            <a:endParaRPr lang="en-US" altLang="en-US" dirty="0"/>
          </a:p>
        </p:txBody>
      </p:sp>
    </p:spTree>
    <p:extLst>
      <p:ext uri="{BB962C8B-B14F-4D97-AF65-F5344CB8AC3E}">
        <p14:creationId xmlns:p14="http://schemas.microsoft.com/office/powerpoint/2010/main" val="39113517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1D79-560C-4E00-64A4-759195819B72}"/>
              </a:ext>
            </a:extLst>
          </p:cNvPr>
          <p:cNvSpPr>
            <a:spLocks noGrp="1"/>
          </p:cNvSpPr>
          <p:nvPr>
            <p:ph type="title"/>
          </p:nvPr>
        </p:nvSpPr>
        <p:spPr>
          <a:xfrm>
            <a:off x="228600" y="228600"/>
            <a:ext cx="7696200" cy="533400"/>
          </a:xfrm>
        </p:spPr>
        <p:txBody>
          <a:bodyPr/>
          <a:lstStyle/>
          <a:p>
            <a:r>
              <a:rPr lang="en-US" dirty="0"/>
              <a:t>Ontology</a:t>
            </a:r>
          </a:p>
        </p:txBody>
      </p:sp>
      <p:sp>
        <p:nvSpPr>
          <p:cNvPr id="3" name="Content Placeholder 2">
            <a:extLst>
              <a:ext uri="{FF2B5EF4-FFF2-40B4-BE49-F238E27FC236}">
                <a16:creationId xmlns:a16="http://schemas.microsoft.com/office/drawing/2014/main" id="{1E4BA7FA-9A32-567E-FDDF-4B863FF32A2E}"/>
              </a:ext>
            </a:extLst>
          </p:cNvPr>
          <p:cNvSpPr>
            <a:spLocks noGrp="1"/>
          </p:cNvSpPr>
          <p:nvPr>
            <p:ph idx="1"/>
          </p:nvPr>
        </p:nvSpPr>
        <p:spPr>
          <a:xfrm>
            <a:off x="205272" y="1003041"/>
            <a:ext cx="8710127" cy="5626359"/>
          </a:xfrm>
        </p:spPr>
        <p:txBody>
          <a:bodyPr/>
          <a:lstStyle/>
          <a:p>
            <a:r>
              <a:rPr lang="en-US" dirty="0"/>
              <a:t> It defines concepts (classes), relationships, and rules among them.</a:t>
            </a:r>
          </a:p>
          <a:p>
            <a:r>
              <a:rPr lang="en-US" b="1" dirty="0" err="1">
                <a:solidFill>
                  <a:srgbClr val="000066"/>
                </a:solidFill>
              </a:rPr>
              <a:t>Example:In</a:t>
            </a:r>
            <a:r>
              <a:rPr lang="en-US" b="1" dirty="0">
                <a:solidFill>
                  <a:srgbClr val="000066"/>
                </a:solidFill>
              </a:rPr>
              <a:t> a medical domain ontology</a:t>
            </a:r>
            <a:r>
              <a:rPr lang="en-US" dirty="0"/>
              <a:t>:- </a:t>
            </a:r>
          </a:p>
          <a:p>
            <a:r>
              <a:rPr lang="en-US" dirty="0">
                <a:solidFill>
                  <a:srgbClr val="B94917"/>
                </a:solidFill>
              </a:rPr>
              <a:t>Classes: </a:t>
            </a:r>
            <a:r>
              <a:rPr lang="en-US" dirty="0"/>
              <a:t>Patient, Doctor, Disease, Treatment </a:t>
            </a:r>
          </a:p>
          <a:p>
            <a:r>
              <a:rPr lang="en-US" dirty="0">
                <a:solidFill>
                  <a:srgbClr val="B94917"/>
                </a:solidFill>
              </a:rPr>
              <a:t>Relations:    </a:t>
            </a:r>
          </a:p>
          <a:p>
            <a:r>
              <a:rPr lang="en-US" dirty="0"/>
              <a:t> - </a:t>
            </a:r>
            <a:r>
              <a:rPr lang="en-US" dirty="0" err="1"/>
              <a:t>hasDisease</a:t>
            </a:r>
            <a:r>
              <a:rPr lang="en-US" dirty="0"/>
              <a:t>(Patient, Disease)   </a:t>
            </a:r>
          </a:p>
          <a:p>
            <a:r>
              <a:rPr lang="en-US" dirty="0"/>
              <a:t> - prescribes(Doctor, Treatment) </a:t>
            </a:r>
          </a:p>
          <a:p>
            <a:r>
              <a:rPr lang="en-US" dirty="0"/>
              <a:t> - treats(Treatment, Disease) </a:t>
            </a:r>
          </a:p>
          <a:p>
            <a:r>
              <a:rPr lang="en-US" dirty="0">
                <a:solidFill>
                  <a:srgbClr val="B94917"/>
                </a:solidFill>
              </a:rPr>
              <a:t>So, you could say:  Dr. Smith prescribes Antibiotics to treat Bacterial Infection in John (a patient).</a:t>
            </a:r>
          </a:p>
        </p:txBody>
      </p:sp>
      <p:sp>
        <p:nvSpPr>
          <p:cNvPr id="4" name="Slide Number Placeholder 3">
            <a:extLst>
              <a:ext uri="{FF2B5EF4-FFF2-40B4-BE49-F238E27FC236}">
                <a16:creationId xmlns:a16="http://schemas.microsoft.com/office/drawing/2014/main" id="{EF9EA918-729D-C3CD-350B-A7F46EF08F4C}"/>
              </a:ext>
            </a:extLst>
          </p:cNvPr>
          <p:cNvSpPr>
            <a:spLocks noGrp="1"/>
          </p:cNvSpPr>
          <p:nvPr>
            <p:ph type="sldNum" sz="quarter" idx="12"/>
          </p:nvPr>
        </p:nvSpPr>
        <p:spPr/>
        <p:txBody>
          <a:bodyPr/>
          <a:lstStyle/>
          <a:p>
            <a:fld id="{71C6F290-D301-4864-9490-340EF11588D9}" type="slidenum">
              <a:rPr lang="en-US" altLang="en-US" smtClean="0"/>
              <a:pPr/>
              <a:t>42</a:t>
            </a:fld>
            <a:endParaRPr lang="en-US" altLang="en-US" dirty="0"/>
          </a:p>
        </p:txBody>
      </p:sp>
    </p:spTree>
    <p:extLst>
      <p:ext uri="{BB962C8B-B14F-4D97-AF65-F5344CB8AC3E}">
        <p14:creationId xmlns:p14="http://schemas.microsoft.com/office/powerpoint/2010/main" val="3451941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BE8CA-E70E-C13F-7CC9-66389F463834}"/>
              </a:ext>
            </a:extLst>
          </p:cNvPr>
          <p:cNvSpPr>
            <a:spLocks noGrp="1"/>
          </p:cNvSpPr>
          <p:nvPr>
            <p:ph type="title"/>
          </p:nvPr>
        </p:nvSpPr>
        <p:spPr>
          <a:xfrm>
            <a:off x="228600" y="228600"/>
            <a:ext cx="7696200" cy="457200"/>
          </a:xfrm>
        </p:spPr>
        <p:txBody>
          <a:bodyPr/>
          <a:lstStyle/>
          <a:p>
            <a:r>
              <a:rPr lang="en-US" dirty="0"/>
              <a:t>Ontology</a:t>
            </a:r>
          </a:p>
        </p:txBody>
      </p:sp>
      <p:sp>
        <p:nvSpPr>
          <p:cNvPr id="3" name="Content Placeholder 2">
            <a:extLst>
              <a:ext uri="{FF2B5EF4-FFF2-40B4-BE49-F238E27FC236}">
                <a16:creationId xmlns:a16="http://schemas.microsoft.com/office/drawing/2014/main" id="{5C29588D-44CB-2771-65F4-72BAF5FAA572}"/>
              </a:ext>
            </a:extLst>
          </p:cNvPr>
          <p:cNvSpPr>
            <a:spLocks noGrp="1"/>
          </p:cNvSpPr>
          <p:nvPr>
            <p:ph idx="1"/>
          </p:nvPr>
        </p:nvSpPr>
        <p:spPr>
          <a:xfrm>
            <a:off x="190500" y="1527969"/>
            <a:ext cx="8763000" cy="5177631"/>
          </a:xfrm>
        </p:spPr>
        <p:txBody>
          <a:bodyPr/>
          <a:lstStyle/>
          <a:p>
            <a:pPr algn="just"/>
            <a:r>
              <a:rPr lang="en-US" dirty="0">
                <a:solidFill>
                  <a:srgbClr val="000066"/>
                </a:solidFill>
              </a:rPr>
              <a:t>An ontology is like a dictionary that defines the terms and relationships within a specific domain.</a:t>
            </a:r>
            <a:r>
              <a:rPr lang="en-US" dirty="0"/>
              <a:t> </a:t>
            </a:r>
            <a:r>
              <a:rPr lang="en-US" b="1" dirty="0"/>
              <a:t>It describes concepts, their properties, and how they relate to one another.</a:t>
            </a:r>
            <a:r>
              <a:rPr lang="en-US" dirty="0"/>
              <a:t> </a:t>
            </a:r>
            <a:r>
              <a:rPr lang="en-US" dirty="0">
                <a:solidFill>
                  <a:srgbClr val="FF0000"/>
                </a:solidFill>
              </a:rPr>
              <a:t>These definitions are often represented using a standardized language such as OWL (Web Ontology Language) or RDF (Resource Description Framework).</a:t>
            </a:r>
          </a:p>
        </p:txBody>
      </p:sp>
      <p:sp>
        <p:nvSpPr>
          <p:cNvPr id="4" name="Slide Number Placeholder 3">
            <a:extLst>
              <a:ext uri="{FF2B5EF4-FFF2-40B4-BE49-F238E27FC236}">
                <a16:creationId xmlns:a16="http://schemas.microsoft.com/office/drawing/2014/main" id="{474EB85C-7ADE-29EA-3CCE-8DDFB5F88CDD}"/>
              </a:ext>
            </a:extLst>
          </p:cNvPr>
          <p:cNvSpPr>
            <a:spLocks noGrp="1"/>
          </p:cNvSpPr>
          <p:nvPr>
            <p:ph type="sldNum" sz="quarter" idx="12"/>
          </p:nvPr>
        </p:nvSpPr>
        <p:spPr/>
        <p:txBody>
          <a:bodyPr/>
          <a:lstStyle/>
          <a:p>
            <a:fld id="{71C6F290-D301-4864-9490-340EF11588D9}" type="slidenum">
              <a:rPr lang="en-US" altLang="en-US" smtClean="0"/>
              <a:pPr/>
              <a:t>43</a:t>
            </a:fld>
            <a:endParaRPr lang="en-US" altLang="en-US" dirty="0"/>
          </a:p>
        </p:txBody>
      </p:sp>
    </p:spTree>
    <p:extLst>
      <p:ext uri="{BB962C8B-B14F-4D97-AF65-F5344CB8AC3E}">
        <p14:creationId xmlns:p14="http://schemas.microsoft.com/office/powerpoint/2010/main" val="427879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8ACF7-04BB-D776-5EE9-D3569DFE2876}"/>
              </a:ext>
            </a:extLst>
          </p:cNvPr>
          <p:cNvSpPr>
            <a:spLocks noGrp="1"/>
          </p:cNvSpPr>
          <p:nvPr>
            <p:ph type="title"/>
          </p:nvPr>
        </p:nvSpPr>
        <p:spPr>
          <a:xfrm>
            <a:off x="228600" y="228600"/>
            <a:ext cx="7696200" cy="457200"/>
          </a:xfrm>
        </p:spPr>
        <p:txBody>
          <a:bodyPr/>
          <a:lstStyle/>
          <a:p>
            <a:r>
              <a:rPr lang="en-US" dirty="0"/>
              <a:t>Ontology</a:t>
            </a:r>
          </a:p>
        </p:txBody>
      </p:sp>
      <p:sp>
        <p:nvSpPr>
          <p:cNvPr id="3" name="Content Placeholder 2">
            <a:extLst>
              <a:ext uri="{FF2B5EF4-FFF2-40B4-BE49-F238E27FC236}">
                <a16:creationId xmlns:a16="http://schemas.microsoft.com/office/drawing/2014/main" id="{16374A52-6F0D-A2B2-4723-C549899261F2}"/>
              </a:ext>
            </a:extLst>
          </p:cNvPr>
          <p:cNvSpPr>
            <a:spLocks noGrp="1"/>
          </p:cNvSpPr>
          <p:nvPr>
            <p:ph idx="1"/>
          </p:nvPr>
        </p:nvSpPr>
        <p:spPr>
          <a:xfrm>
            <a:off x="228600" y="838200"/>
            <a:ext cx="8382000" cy="5562599"/>
          </a:xfrm>
        </p:spPr>
        <p:txBody>
          <a:bodyPr>
            <a:normAutofit fontScale="92500" lnSpcReduction="10000"/>
          </a:bodyPr>
          <a:lstStyle/>
          <a:p>
            <a:r>
              <a:rPr lang="en-US" dirty="0"/>
              <a:t>Ontology can be represented in terms of graphs as below:</a:t>
            </a:r>
          </a:p>
          <a:p>
            <a:r>
              <a:rPr lang="en-US" sz="2000" b="1" dirty="0">
                <a:solidFill>
                  <a:srgbClr val="B94917"/>
                </a:solidFill>
              </a:rPr>
              <a:t>Nodes (entities/concepts):  </a:t>
            </a:r>
            <a:r>
              <a:rPr lang="en-US" sz="2000" dirty="0"/>
              <a:t>- Patient  - Doctor  - Disease  - Treatment  - Specific instances like John, Dr. Smith, Antibiotics, Bacterial Infection</a:t>
            </a:r>
          </a:p>
          <a:p>
            <a:endParaRPr lang="en-US" sz="2000" b="1" dirty="0">
              <a:solidFill>
                <a:srgbClr val="B94917"/>
              </a:solidFill>
            </a:endParaRPr>
          </a:p>
          <a:p>
            <a:r>
              <a:rPr lang="en-US" sz="2000" b="1" dirty="0">
                <a:solidFill>
                  <a:srgbClr val="B94917"/>
                </a:solidFill>
              </a:rPr>
              <a:t>Edges (relationships): </a:t>
            </a:r>
          </a:p>
          <a:p>
            <a:r>
              <a:rPr lang="en-US" sz="2000" dirty="0">
                <a:solidFill>
                  <a:srgbClr val="B94917"/>
                </a:solidFill>
              </a:rPr>
              <a:t> </a:t>
            </a:r>
            <a:r>
              <a:rPr lang="en-US" sz="2000" dirty="0"/>
              <a:t>- John —[</a:t>
            </a:r>
            <a:r>
              <a:rPr lang="en-US" sz="2000" dirty="0" err="1"/>
              <a:t>hasDisease</a:t>
            </a:r>
            <a:r>
              <a:rPr lang="en-US" sz="2000" dirty="0"/>
              <a:t>]→ Bacterial Infection  </a:t>
            </a:r>
          </a:p>
          <a:p>
            <a:pPr marL="388620" indent="-342900">
              <a:buFontTx/>
              <a:buChar char="-"/>
            </a:pPr>
            <a:r>
              <a:rPr lang="en-US" sz="2000" dirty="0"/>
              <a:t>Dr. Smith —[prescribes]→ Antibiotics  </a:t>
            </a:r>
          </a:p>
          <a:p>
            <a:pPr marL="388620" indent="-342900">
              <a:buFontTx/>
              <a:buChar char="-"/>
            </a:pPr>
            <a:r>
              <a:rPr lang="en-US" sz="2000" dirty="0"/>
              <a:t>- Antibiotics —[treats]→ Bacterial Infection  </a:t>
            </a:r>
          </a:p>
          <a:p>
            <a:pPr marL="388620" indent="-342900">
              <a:buFontTx/>
              <a:buChar char="-"/>
            </a:pPr>
            <a:r>
              <a:rPr lang="en-US" sz="2000" dirty="0"/>
              <a:t>- Dr. Smith —[treats]→ John (indirectly through treatment)</a:t>
            </a:r>
          </a:p>
          <a:p>
            <a:r>
              <a:rPr lang="en-US" sz="2000" b="1" dirty="0">
                <a:solidFill>
                  <a:srgbClr val="B94917"/>
                </a:solidFill>
              </a:rPr>
              <a:t>This graph shows:- </a:t>
            </a:r>
          </a:p>
          <a:p>
            <a:r>
              <a:rPr lang="en-US" sz="2000" dirty="0"/>
              <a:t>-    Classes (Patient, Doctor, etc.)</a:t>
            </a:r>
          </a:p>
          <a:p>
            <a:pPr marL="388620" indent="-342900">
              <a:buFontTx/>
              <a:buChar char="-"/>
            </a:pPr>
            <a:r>
              <a:rPr lang="en-US" sz="2000" dirty="0"/>
              <a:t>Instances (John, Dr. Smith, etc.)</a:t>
            </a:r>
          </a:p>
          <a:p>
            <a:pPr marL="388620" indent="-342900">
              <a:buFontTx/>
              <a:buChar char="-"/>
            </a:pPr>
            <a:r>
              <a:rPr lang="en-US" sz="2000" dirty="0"/>
              <a:t>Relations (</a:t>
            </a:r>
            <a:r>
              <a:rPr lang="en-US" sz="2000" dirty="0" err="1"/>
              <a:t>hasDisease</a:t>
            </a:r>
            <a:r>
              <a:rPr lang="en-US" sz="2000" dirty="0"/>
              <a:t>, prescribes, treats)Such a graph can be modeled in tools like Protégé using OWL or RDF, and used in systems that support semantic reasoning.</a:t>
            </a:r>
          </a:p>
        </p:txBody>
      </p:sp>
      <p:sp>
        <p:nvSpPr>
          <p:cNvPr id="4" name="Slide Number Placeholder 3">
            <a:extLst>
              <a:ext uri="{FF2B5EF4-FFF2-40B4-BE49-F238E27FC236}">
                <a16:creationId xmlns:a16="http://schemas.microsoft.com/office/drawing/2014/main" id="{FDB4F41C-9065-2B68-2BD0-8630C6E08839}"/>
              </a:ext>
            </a:extLst>
          </p:cNvPr>
          <p:cNvSpPr>
            <a:spLocks noGrp="1"/>
          </p:cNvSpPr>
          <p:nvPr>
            <p:ph type="sldNum" sz="quarter" idx="12"/>
          </p:nvPr>
        </p:nvSpPr>
        <p:spPr/>
        <p:txBody>
          <a:bodyPr/>
          <a:lstStyle/>
          <a:p>
            <a:fld id="{71C6F290-D301-4864-9490-340EF11588D9}" type="slidenum">
              <a:rPr lang="en-US" altLang="en-US" smtClean="0"/>
              <a:pPr/>
              <a:t>44</a:t>
            </a:fld>
            <a:endParaRPr lang="en-US" altLang="en-US" dirty="0"/>
          </a:p>
        </p:txBody>
      </p:sp>
    </p:spTree>
    <p:extLst>
      <p:ext uri="{BB962C8B-B14F-4D97-AF65-F5344CB8AC3E}">
        <p14:creationId xmlns:p14="http://schemas.microsoft.com/office/powerpoint/2010/main" val="41152251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51E5-B4C7-2048-0195-DE7C6C699629}"/>
              </a:ext>
            </a:extLst>
          </p:cNvPr>
          <p:cNvSpPr>
            <a:spLocks noGrp="1"/>
          </p:cNvSpPr>
          <p:nvPr>
            <p:ph type="title"/>
          </p:nvPr>
        </p:nvSpPr>
        <p:spPr>
          <a:xfrm>
            <a:off x="228600" y="228600"/>
            <a:ext cx="7696200" cy="693737"/>
          </a:xfrm>
        </p:spPr>
        <p:txBody>
          <a:bodyPr/>
          <a:lstStyle/>
          <a:p>
            <a:r>
              <a:rPr lang="en-US" dirty="0"/>
              <a:t>Ontology</a:t>
            </a:r>
          </a:p>
        </p:txBody>
      </p:sp>
      <p:sp>
        <p:nvSpPr>
          <p:cNvPr id="3" name="Content Placeholder 2">
            <a:extLst>
              <a:ext uri="{FF2B5EF4-FFF2-40B4-BE49-F238E27FC236}">
                <a16:creationId xmlns:a16="http://schemas.microsoft.com/office/drawing/2014/main" id="{D52186DF-2159-E20A-A400-47162E4378CD}"/>
              </a:ext>
            </a:extLst>
          </p:cNvPr>
          <p:cNvSpPr>
            <a:spLocks noGrp="1"/>
          </p:cNvSpPr>
          <p:nvPr>
            <p:ph idx="1"/>
          </p:nvPr>
        </p:nvSpPr>
        <p:spPr>
          <a:xfrm>
            <a:off x="228600" y="1066800"/>
            <a:ext cx="8686800" cy="5257800"/>
          </a:xfrm>
        </p:spPr>
        <p:txBody>
          <a:bodyPr>
            <a:normAutofit lnSpcReduction="10000"/>
          </a:bodyPr>
          <a:lstStyle/>
          <a:p>
            <a:r>
              <a:rPr lang="en-US" b="1" dirty="0"/>
              <a:t>Example: domain of animals:</a:t>
            </a:r>
            <a:endParaRPr lang="en-US" dirty="0"/>
          </a:p>
          <a:p>
            <a:r>
              <a:rPr lang="en-US" dirty="0">
                <a:solidFill>
                  <a:srgbClr val="B94917"/>
                </a:solidFill>
              </a:rPr>
              <a:t>Class: </a:t>
            </a:r>
            <a:r>
              <a:rPr lang="en-US" dirty="0"/>
              <a:t>Animal</a:t>
            </a:r>
          </a:p>
          <a:p>
            <a:r>
              <a:rPr lang="en-US" dirty="0">
                <a:solidFill>
                  <a:srgbClr val="B94917"/>
                </a:solidFill>
              </a:rPr>
              <a:t>Properties</a:t>
            </a:r>
            <a:r>
              <a:rPr lang="en-US" dirty="0"/>
              <a:t>: Name, Age, Characteristic</a:t>
            </a:r>
          </a:p>
          <a:p>
            <a:r>
              <a:rPr lang="en-US" dirty="0">
                <a:solidFill>
                  <a:srgbClr val="B94917"/>
                </a:solidFill>
              </a:rPr>
              <a:t>Subclass: </a:t>
            </a:r>
            <a:r>
              <a:rPr lang="en-US" dirty="0"/>
              <a:t>Mammal, Bird, </a:t>
            </a:r>
            <a:r>
              <a:rPr lang="en-US" dirty="0" err="1"/>
              <a:t>Reptile,Fish</a:t>
            </a:r>
            <a:endParaRPr lang="en-US" dirty="0"/>
          </a:p>
          <a:p>
            <a:r>
              <a:rPr lang="en-US" b="1" dirty="0"/>
              <a:t>Example</a:t>
            </a:r>
            <a:r>
              <a:rPr lang="en-US" dirty="0"/>
              <a:t> : In a </a:t>
            </a:r>
            <a:r>
              <a:rPr lang="en-US" b="1" dirty="0"/>
              <a:t>healthcare</a:t>
            </a:r>
            <a:r>
              <a:rPr lang="en-US" dirty="0"/>
              <a:t> ontology, terms like “</a:t>
            </a:r>
            <a:r>
              <a:rPr lang="en-US" dirty="0">
                <a:solidFill>
                  <a:srgbClr val="FF0000"/>
                </a:solidFill>
              </a:rPr>
              <a:t>patient</a:t>
            </a:r>
            <a:r>
              <a:rPr lang="en-US" dirty="0"/>
              <a:t>,” </a:t>
            </a:r>
            <a:r>
              <a:rPr lang="en-US" dirty="0">
                <a:solidFill>
                  <a:srgbClr val="FF0000"/>
                </a:solidFill>
              </a:rPr>
              <a:t>“doctor</a:t>
            </a:r>
            <a:r>
              <a:rPr lang="en-US" dirty="0"/>
              <a:t>,” and their relationships would be defined.</a:t>
            </a:r>
          </a:p>
          <a:p>
            <a:pPr algn="just"/>
            <a:r>
              <a:rPr lang="en-US" b="1" dirty="0"/>
              <a:t>Example: </a:t>
            </a:r>
            <a:r>
              <a:rPr lang="en-US" dirty="0"/>
              <a:t>Creating an ontology for e-commerce product categorization involves </a:t>
            </a:r>
            <a:r>
              <a:rPr lang="en-US" b="1" dirty="0"/>
              <a:t>defining classes, properties, and relationships</a:t>
            </a:r>
            <a:r>
              <a:rPr lang="en-US" dirty="0"/>
              <a:t> that help organize and classify products effectively. Below, is a basic ontology for e-commerce product categorization.</a:t>
            </a:r>
          </a:p>
          <a:p>
            <a:endParaRPr lang="en-US" dirty="0"/>
          </a:p>
        </p:txBody>
      </p:sp>
      <p:sp>
        <p:nvSpPr>
          <p:cNvPr id="4" name="Slide Number Placeholder 3">
            <a:extLst>
              <a:ext uri="{FF2B5EF4-FFF2-40B4-BE49-F238E27FC236}">
                <a16:creationId xmlns:a16="http://schemas.microsoft.com/office/drawing/2014/main" id="{7C9EE7F8-1F26-5348-7C79-851C253F2220}"/>
              </a:ext>
            </a:extLst>
          </p:cNvPr>
          <p:cNvSpPr>
            <a:spLocks noGrp="1"/>
          </p:cNvSpPr>
          <p:nvPr>
            <p:ph type="sldNum" sz="quarter" idx="12"/>
          </p:nvPr>
        </p:nvSpPr>
        <p:spPr/>
        <p:txBody>
          <a:bodyPr/>
          <a:lstStyle/>
          <a:p>
            <a:fld id="{71C6F290-D301-4864-9490-340EF11588D9}" type="slidenum">
              <a:rPr lang="en-US" altLang="en-US" smtClean="0"/>
              <a:pPr/>
              <a:t>45</a:t>
            </a:fld>
            <a:endParaRPr lang="en-US" altLang="en-US" dirty="0"/>
          </a:p>
        </p:txBody>
      </p:sp>
    </p:spTree>
    <p:extLst>
      <p:ext uri="{BB962C8B-B14F-4D97-AF65-F5344CB8AC3E}">
        <p14:creationId xmlns:p14="http://schemas.microsoft.com/office/powerpoint/2010/main" val="22939643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2D495-AF5B-3E74-042B-D1A6AB2327B2}"/>
              </a:ext>
            </a:extLst>
          </p:cNvPr>
          <p:cNvSpPr>
            <a:spLocks noGrp="1"/>
          </p:cNvSpPr>
          <p:nvPr>
            <p:ph type="title"/>
          </p:nvPr>
        </p:nvSpPr>
        <p:spPr>
          <a:xfrm>
            <a:off x="228600" y="228600"/>
            <a:ext cx="7696200" cy="381000"/>
          </a:xfrm>
        </p:spPr>
        <p:txBody>
          <a:bodyPr/>
          <a:lstStyle/>
          <a:p>
            <a:r>
              <a:rPr lang="en-US" dirty="0"/>
              <a:t>Ontology</a:t>
            </a:r>
          </a:p>
        </p:txBody>
      </p:sp>
      <p:sp>
        <p:nvSpPr>
          <p:cNvPr id="3" name="Content Placeholder 2">
            <a:extLst>
              <a:ext uri="{FF2B5EF4-FFF2-40B4-BE49-F238E27FC236}">
                <a16:creationId xmlns:a16="http://schemas.microsoft.com/office/drawing/2014/main" id="{510A08AB-188B-8667-6310-97DA7CC5AF6A}"/>
              </a:ext>
            </a:extLst>
          </p:cNvPr>
          <p:cNvSpPr>
            <a:spLocks noGrp="1"/>
          </p:cNvSpPr>
          <p:nvPr>
            <p:ph idx="1"/>
          </p:nvPr>
        </p:nvSpPr>
        <p:spPr>
          <a:xfrm>
            <a:off x="228600" y="762000"/>
            <a:ext cx="8686800" cy="5867399"/>
          </a:xfrm>
        </p:spPr>
        <p:txBody>
          <a:bodyPr>
            <a:normAutofit fontScale="77500" lnSpcReduction="20000"/>
          </a:bodyPr>
          <a:lstStyle/>
          <a:p>
            <a:r>
              <a:rPr lang="en-US" b="0" i="0" dirty="0">
                <a:solidFill>
                  <a:srgbClr val="1C00CF"/>
                </a:solidFill>
                <a:effectLst/>
                <a:latin typeface="source-code-pro"/>
              </a:rPr>
              <a:t>Ontology:</a:t>
            </a:r>
            <a:r>
              <a:rPr lang="en-US" b="0" i="0" dirty="0">
                <a:solidFill>
                  <a:srgbClr val="242424"/>
                </a:solidFill>
                <a:effectLst/>
                <a:latin typeface="source-code-pro"/>
              </a:rPr>
              <a:t> </a:t>
            </a:r>
            <a:r>
              <a:rPr lang="en-US" b="0" i="0" dirty="0" err="1">
                <a:solidFill>
                  <a:srgbClr val="242424"/>
                </a:solidFill>
                <a:effectLst/>
                <a:latin typeface="source-code-pro"/>
              </a:rPr>
              <a:t>EcommerceProductOntology</a:t>
            </a:r>
            <a:br>
              <a:rPr lang="en-US" dirty="0"/>
            </a:br>
            <a:br>
              <a:rPr lang="en-US" dirty="0"/>
            </a:br>
            <a:r>
              <a:rPr lang="en-US" b="0" i="0" dirty="0">
                <a:solidFill>
                  <a:srgbClr val="1C00CF"/>
                </a:solidFill>
                <a:effectLst/>
                <a:latin typeface="source-code-pro"/>
              </a:rPr>
              <a:t>Classes:</a:t>
            </a:r>
            <a:br>
              <a:rPr lang="en-US" dirty="0"/>
            </a:br>
            <a:r>
              <a:rPr lang="en-US" b="0" i="0" dirty="0">
                <a:solidFill>
                  <a:srgbClr val="242424"/>
                </a:solidFill>
                <a:effectLst/>
                <a:latin typeface="source-code-pro"/>
              </a:rPr>
              <a:t>- Product</a:t>
            </a:r>
            <a:br>
              <a:rPr lang="en-US" dirty="0"/>
            </a:br>
            <a:r>
              <a:rPr lang="en-US" b="0" i="0" dirty="0">
                <a:solidFill>
                  <a:srgbClr val="242424"/>
                </a:solidFill>
                <a:effectLst/>
                <a:latin typeface="source-code-pro"/>
              </a:rPr>
              <a:t>- Category</a:t>
            </a:r>
            <a:br>
              <a:rPr lang="en-US" dirty="0"/>
            </a:br>
            <a:r>
              <a:rPr lang="en-US" b="0" i="0" dirty="0">
                <a:solidFill>
                  <a:srgbClr val="242424"/>
                </a:solidFill>
                <a:effectLst/>
                <a:latin typeface="source-code-pro"/>
              </a:rPr>
              <a:t>- Brand</a:t>
            </a:r>
            <a:br>
              <a:rPr lang="en-US" dirty="0"/>
            </a:br>
            <a:br>
              <a:rPr lang="en-US" dirty="0"/>
            </a:br>
            <a:r>
              <a:rPr lang="en-US" b="0" i="0" dirty="0">
                <a:solidFill>
                  <a:srgbClr val="1C00CF"/>
                </a:solidFill>
                <a:effectLst/>
                <a:latin typeface="source-code-pro"/>
              </a:rPr>
              <a:t>Properties:</a:t>
            </a:r>
            <a:br>
              <a:rPr lang="en-US" dirty="0"/>
            </a:br>
            <a:r>
              <a:rPr lang="en-US" b="0" i="0" dirty="0">
                <a:solidFill>
                  <a:srgbClr val="242424"/>
                </a:solidFill>
                <a:effectLst/>
                <a:latin typeface="source-code-pro"/>
              </a:rPr>
              <a:t>- </a:t>
            </a:r>
            <a:r>
              <a:rPr lang="en-US" b="0" i="0" dirty="0" err="1">
                <a:solidFill>
                  <a:srgbClr val="242424"/>
                </a:solidFill>
                <a:effectLst/>
                <a:latin typeface="source-code-pro"/>
              </a:rPr>
              <a:t>hasCategory</a:t>
            </a:r>
            <a:br>
              <a:rPr lang="en-US" dirty="0"/>
            </a:br>
            <a:r>
              <a:rPr lang="en-US" b="0" i="0" dirty="0">
                <a:solidFill>
                  <a:srgbClr val="242424"/>
                </a:solidFill>
                <a:effectLst/>
                <a:latin typeface="source-code-pro"/>
              </a:rPr>
              <a:t>- </a:t>
            </a:r>
            <a:r>
              <a:rPr lang="en-US" b="0" i="0" dirty="0" err="1">
                <a:solidFill>
                  <a:srgbClr val="242424"/>
                </a:solidFill>
                <a:effectLst/>
                <a:latin typeface="source-code-pro"/>
              </a:rPr>
              <a:t>belongsToBrand</a:t>
            </a:r>
            <a:br>
              <a:rPr lang="en-US" dirty="0"/>
            </a:br>
            <a:br>
              <a:rPr lang="en-US" dirty="0"/>
            </a:br>
            <a:r>
              <a:rPr lang="en-US" b="0" i="0" dirty="0">
                <a:solidFill>
                  <a:srgbClr val="1C00CF"/>
                </a:solidFill>
                <a:effectLst/>
                <a:latin typeface="source-code-pro"/>
              </a:rPr>
              <a:t>Instances:</a:t>
            </a:r>
            <a:br>
              <a:rPr lang="en-US" dirty="0"/>
            </a:br>
            <a:r>
              <a:rPr lang="en-US" b="0" i="0" dirty="0">
                <a:solidFill>
                  <a:srgbClr val="242424"/>
                </a:solidFill>
                <a:effectLst/>
                <a:latin typeface="source-code-pro"/>
              </a:rPr>
              <a:t>- Product instances (Smartphone, Laptop, T-shirt, Sneakers, etc.)</a:t>
            </a:r>
            <a:br>
              <a:rPr lang="en-US" dirty="0"/>
            </a:br>
            <a:r>
              <a:rPr lang="en-US" b="0" i="0" dirty="0">
                <a:solidFill>
                  <a:srgbClr val="242424"/>
                </a:solidFill>
                <a:effectLst/>
                <a:latin typeface="source-code-pro"/>
              </a:rPr>
              <a:t>- Category instances (Electronics, Clothing, Footwear, etc.)</a:t>
            </a:r>
            <a:br>
              <a:rPr lang="en-US" dirty="0"/>
            </a:br>
            <a:r>
              <a:rPr lang="en-US" b="0" i="0" dirty="0">
                <a:solidFill>
                  <a:srgbClr val="242424"/>
                </a:solidFill>
                <a:effectLst/>
                <a:latin typeface="source-code-pro"/>
              </a:rPr>
              <a:t>- Brand instances (Apple, Samsung, Nike, Adidas, etc.)</a:t>
            </a:r>
            <a:br>
              <a:rPr lang="en-US" dirty="0"/>
            </a:br>
            <a:br>
              <a:rPr lang="en-US" dirty="0"/>
            </a:br>
            <a:r>
              <a:rPr lang="en-US" b="0" i="0" dirty="0">
                <a:solidFill>
                  <a:srgbClr val="1C00CF"/>
                </a:solidFill>
                <a:effectLst/>
                <a:latin typeface="source-code-pro"/>
              </a:rPr>
              <a:t>Relationships:</a:t>
            </a:r>
            <a:br>
              <a:rPr lang="en-US" dirty="0"/>
            </a:br>
            <a:r>
              <a:rPr lang="en-US" b="0" i="0" dirty="0">
                <a:solidFill>
                  <a:srgbClr val="AA0D91"/>
                </a:solidFill>
                <a:effectLst/>
                <a:latin typeface="source-code-pro"/>
              </a:rPr>
              <a:t>Each</a:t>
            </a:r>
            <a:r>
              <a:rPr lang="en-US" b="0" i="0" dirty="0">
                <a:solidFill>
                  <a:srgbClr val="242424"/>
                </a:solidFill>
                <a:effectLst/>
                <a:latin typeface="source-code-pro"/>
              </a:rPr>
              <a:t> Product instance belongs </a:t>
            </a:r>
            <a:r>
              <a:rPr lang="en-US" b="0" i="0" dirty="0">
                <a:solidFill>
                  <a:srgbClr val="AA0D91"/>
                </a:solidFill>
                <a:effectLst/>
                <a:latin typeface="source-code-pro"/>
              </a:rPr>
              <a:t>to</a:t>
            </a:r>
            <a:r>
              <a:rPr lang="en-US" b="0" i="0" dirty="0">
                <a:solidFill>
                  <a:srgbClr val="242424"/>
                </a:solidFill>
                <a:effectLst/>
                <a:latin typeface="source-code-pro"/>
              </a:rPr>
              <a:t> a specific Category (</a:t>
            </a:r>
            <a:r>
              <a:rPr lang="en-US" b="0" i="0" dirty="0" err="1">
                <a:solidFill>
                  <a:srgbClr val="242424"/>
                </a:solidFill>
                <a:effectLst/>
                <a:latin typeface="source-code-pro"/>
              </a:rPr>
              <a:t>hasCategory</a:t>
            </a:r>
            <a:r>
              <a:rPr lang="en-US" b="0" i="0" dirty="0">
                <a:solidFill>
                  <a:srgbClr val="242424"/>
                </a:solidFill>
                <a:effectLst/>
                <a:latin typeface="source-code-pro"/>
              </a:rPr>
              <a:t> </a:t>
            </a:r>
            <a:r>
              <a:rPr lang="en-US" b="0" i="0" dirty="0">
                <a:solidFill>
                  <a:srgbClr val="AA0D91"/>
                </a:solidFill>
                <a:effectLst/>
                <a:latin typeface="source-code-pro"/>
              </a:rPr>
              <a:t>property</a:t>
            </a:r>
            <a:r>
              <a:rPr lang="en-US" b="0" i="0" dirty="0">
                <a:solidFill>
                  <a:srgbClr val="242424"/>
                </a:solidFill>
                <a:effectLst/>
                <a:latin typeface="source-code-pro"/>
              </a:rPr>
              <a:t>).</a:t>
            </a:r>
            <a:br>
              <a:rPr lang="en-US" dirty="0"/>
            </a:br>
            <a:r>
              <a:rPr lang="en-US" b="0" i="0" dirty="0">
                <a:solidFill>
                  <a:srgbClr val="AA0D91"/>
                </a:solidFill>
                <a:effectLst/>
                <a:latin typeface="source-code-pro"/>
              </a:rPr>
              <a:t>Each</a:t>
            </a:r>
            <a:r>
              <a:rPr lang="en-US" b="0" i="0" dirty="0">
                <a:solidFill>
                  <a:srgbClr val="242424"/>
                </a:solidFill>
                <a:effectLst/>
                <a:latin typeface="source-code-pro"/>
              </a:rPr>
              <a:t> Product instance belongs </a:t>
            </a:r>
            <a:r>
              <a:rPr lang="en-US" b="0" i="0" dirty="0">
                <a:solidFill>
                  <a:srgbClr val="AA0D91"/>
                </a:solidFill>
                <a:effectLst/>
                <a:latin typeface="source-code-pro"/>
              </a:rPr>
              <a:t>to</a:t>
            </a:r>
            <a:r>
              <a:rPr lang="en-US" b="0" i="0" dirty="0">
                <a:solidFill>
                  <a:srgbClr val="242424"/>
                </a:solidFill>
                <a:effectLst/>
                <a:latin typeface="source-code-pro"/>
              </a:rPr>
              <a:t> a specific Brand (</a:t>
            </a:r>
            <a:r>
              <a:rPr lang="en-US" b="0" i="0" dirty="0" err="1">
                <a:solidFill>
                  <a:srgbClr val="242424"/>
                </a:solidFill>
                <a:effectLst/>
                <a:latin typeface="source-code-pro"/>
              </a:rPr>
              <a:t>belongsToBrand</a:t>
            </a:r>
            <a:r>
              <a:rPr lang="en-US" b="0" i="0" dirty="0">
                <a:solidFill>
                  <a:srgbClr val="242424"/>
                </a:solidFill>
                <a:effectLst/>
                <a:latin typeface="source-code-pro"/>
              </a:rPr>
              <a:t> </a:t>
            </a:r>
            <a:r>
              <a:rPr lang="en-US" b="0" i="0" dirty="0">
                <a:solidFill>
                  <a:srgbClr val="AA0D91"/>
                </a:solidFill>
                <a:effectLst/>
                <a:latin typeface="source-code-pro"/>
              </a:rPr>
              <a:t>property</a:t>
            </a:r>
            <a:r>
              <a:rPr lang="en-US" b="0" i="0" dirty="0">
                <a:solidFill>
                  <a:srgbClr val="242424"/>
                </a:solidFill>
                <a:effectLst/>
                <a:latin typeface="source-code-pro"/>
              </a:rPr>
              <a:t>).</a:t>
            </a:r>
            <a:endParaRPr lang="en-US" dirty="0"/>
          </a:p>
        </p:txBody>
      </p:sp>
      <p:sp>
        <p:nvSpPr>
          <p:cNvPr id="4" name="Slide Number Placeholder 3">
            <a:extLst>
              <a:ext uri="{FF2B5EF4-FFF2-40B4-BE49-F238E27FC236}">
                <a16:creationId xmlns:a16="http://schemas.microsoft.com/office/drawing/2014/main" id="{46B632BD-CB31-5923-1375-A78D8309770B}"/>
              </a:ext>
            </a:extLst>
          </p:cNvPr>
          <p:cNvSpPr>
            <a:spLocks noGrp="1"/>
          </p:cNvSpPr>
          <p:nvPr>
            <p:ph type="sldNum" sz="quarter" idx="12"/>
          </p:nvPr>
        </p:nvSpPr>
        <p:spPr/>
        <p:txBody>
          <a:bodyPr/>
          <a:lstStyle/>
          <a:p>
            <a:fld id="{71C6F290-D301-4864-9490-340EF11588D9}" type="slidenum">
              <a:rPr lang="en-US" altLang="en-US" smtClean="0"/>
              <a:pPr/>
              <a:t>46</a:t>
            </a:fld>
            <a:endParaRPr lang="en-US" altLang="en-US" dirty="0"/>
          </a:p>
        </p:txBody>
      </p:sp>
    </p:spTree>
    <p:extLst>
      <p:ext uri="{BB962C8B-B14F-4D97-AF65-F5344CB8AC3E}">
        <p14:creationId xmlns:p14="http://schemas.microsoft.com/office/powerpoint/2010/main" val="36111963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15D24-8B58-B6BA-8DF6-338A3AE3848D}"/>
              </a:ext>
            </a:extLst>
          </p:cNvPr>
          <p:cNvSpPr>
            <a:spLocks noGrp="1"/>
          </p:cNvSpPr>
          <p:nvPr>
            <p:ph type="title"/>
          </p:nvPr>
        </p:nvSpPr>
        <p:spPr>
          <a:xfrm>
            <a:off x="228600" y="228600"/>
            <a:ext cx="7696200" cy="381000"/>
          </a:xfrm>
        </p:spPr>
        <p:txBody>
          <a:bodyPr/>
          <a:lstStyle/>
          <a:p>
            <a:r>
              <a:rPr lang="en-US" dirty="0"/>
              <a:t>Ontology</a:t>
            </a:r>
          </a:p>
        </p:txBody>
      </p:sp>
      <p:sp>
        <p:nvSpPr>
          <p:cNvPr id="3" name="Content Placeholder 2">
            <a:extLst>
              <a:ext uri="{FF2B5EF4-FFF2-40B4-BE49-F238E27FC236}">
                <a16:creationId xmlns:a16="http://schemas.microsoft.com/office/drawing/2014/main" id="{ACCD864A-7755-A3DE-1245-A99E5A17550B}"/>
              </a:ext>
            </a:extLst>
          </p:cNvPr>
          <p:cNvSpPr>
            <a:spLocks noGrp="1"/>
          </p:cNvSpPr>
          <p:nvPr>
            <p:ph idx="1"/>
          </p:nvPr>
        </p:nvSpPr>
        <p:spPr>
          <a:xfrm>
            <a:off x="190500" y="609600"/>
            <a:ext cx="8877300" cy="6096000"/>
          </a:xfrm>
        </p:spPr>
        <p:txBody>
          <a:bodyPr>
            <a:normAutofit fontScale="92500" lnSpcReduction="10000"/>
          </a:bodyPr>
          <a:lstStyle/>
          <a:p>
            <a:r>
              <a:rPr lang="en-US" sz="1600" b="0" i="0" dirty="0">
                <a:solidFill>
                  <a:srgbClr val="242424"/>
                </a:solidFill>
                <a:effectLst/>
                <a:latin typeface="source-code-pro"/>
              </a:rPr>
              <a:t>Ontology: </a:t>
            </a:r>
            <a:r>
              <a:rPr lang="en-US" sz="1600" b="0" i="0" dirty="0" err="1">
                <a:solidFill>
                  <a:srgbClr val="242424"/>
                </a:solidFill>
                <a:effectLst/>
                <a:latin typeface="source-code-pro"/>
              </a:rPr>
              <a:t>AnimalOntology</a:t>
            </a:r>
            <a:br>
              <a:rPr lang="en-US" sz="1600" dirty="0"/>
            </a:br>
            <a:br>
              <a:rPr lang="en-US" sz="1600" dirty="0"/>
            </a:br>
            <a:r>
              <a:rPr lang="en-US" sz="1600" b="0" i="0" dirty="0">
                <a:solidFill>
                  <a:srgbClr val="242424"/>
                </a:solidFill>
                <a:effectLst/>
                <a:latin typeface="source-code-pro"/>
              </a:rPr>
              <a:t>Classes:</a:t>
            </a:r>
            <a:br>
              <a:rPr lang="en-US" sz="1600" dirty="0"/>
            </a:br>
            <a:r>
              <a:rPr lang="en-US" sz="1600" b="0" i="0" dirty="0">
                <a:solidFill>
                  <a:srgbClr val="242424"/>
                </a:solidFill>
                <a:effectLst/>
                <a:latin typeface="source-code-pro"/>
              </a:rPr>
              <a:t>- Animal</a:t>
            </a:r>
            <a:br>
              <a:rPr lang="en-US" sz="1600" dirty="0"/>
            </a:br>
            <a:r>
              <a:rPr lang="en-US" sz="1600" b="0" i="0" dirty="0">
                <a:solidFill>
                  <a:srgbClr val="242424"/>
                </a:solidFill>
                <a:effectLst/>
                <a:latin typeface="source-code-pro"/>
              </a:rPr>
              <a:t>- Mammal</a:t>
            </a:r>
            <a:br>
              <a:rPr lang="en-US" sz="1600" dirty="0"/>
            </a:br>
            <a:r>
              <a:rPr lang="en-US" sz="1600" b="0" i="0" dirty="0">
                <a:solidFill>
                  <a:srgbClr val="242424"/>
                </a:solidFill>
                <a:effectLst/>
                <a:latin typeface="source-code-pro"/>
              </a:rPr>
              <a:t>- Bird</a:t>
            </a:r>
            <a:br>
              <a:rPr lang="en-US" sz="1600" dirty="0"/>
            </a:br>
            <a:r>
              <a:rPr lang="en-US" sz="1600" b="0" i="0" dirty="0">
                <a:solidFill>
                  <a:srgbClr val="242424"/>
                </a:solidFill>
                <a:effectLst/>
                <a:latin typeface="source-code-pro"/>
              </a:rPr>
              <a:t>- Reptile</a:t>
            </a:r>
            <a:br>
              <a:rPr lang="en-US" sz="1600" dirty="0"/>
            </a:br>
            <a:r>
              <a:rPr lang="en-US" sz="1600" b="0" i="0" dirty="0">
                <a:solidFill>
                  <a:srgbClr val="242424"/>
                </a:solidFill>
                <a:effectLst/>
                <a:latin typeface="source-code-pro"/>
              </a:rPr>
              <a:t>- Characteristic</a:t>
            </a:r>
            <a:br>
              <a:rPr lang="en-US" sz="1600" dirty="0"/>
            </a:br>
            <a:r>
              <a:rPr lang="en-US" sz="1600" b="0" i="0" dirty="0">
                <a:solidFill>
                  <a:srgbClr val="242424"/>
                </a:solidFill>
                <a:effectLst/>
                <a:latin typeface="source-code-pro"/>
              </a:rPr>
              <a:t>- Behavior</a:t>
            </a:r>
            <a:br>
              <a:rPr lang="en-US" sz="1600" dirty="0"/>
            </a:br>
            <a:br>
              <a:rPr lang="en-US" sz="1600" dirty="0"/>
            </a:br>
            <a:r>
              <a:rPr lang="en-US" sz="1600" b="0" i="0" dirty="0">
                <a:solidFill>
                  <a:srgbClr val="242424"/>
                </a:solidFill>
                <a:effectLst/>
                <a:latin typeface="source-code-pro"/>
              </a:rPr>
              <a:t>Properties:</a:t>
            </a:r>
            <a:br>
              <a:rPr lang="en-US" sz="1600" dirty="0"/>
            </a:br>
            <a:r>
              <a:rPr lang="en-US" sz="1600" b="0" i="0" dirty="0">
                <a:solidFill>
                  <a:srgbClr val="242424"/>
                </a:solidFill>
                <a:effectLst/>
                <a:latin typeface="source-code-pro"/>
              </a:rPr>
              <a:t>- </a:t>
            </a:r>
            <a:r>
              <a:rPr lang="en-US" sz="1600" b="0" i="0" dirty="0" err="1">
                <a:solidFill>
                  <a:srgbClr val="242424"/>
                </a:solidFill>
                <a:effectLst/>
                <a:latin typeface="source-code-pro"/>
              </a:rPr>
              <a:t>hasHabitat</a:t>
            </a:r>
            <a:br>
              <a:rPr lang="en-US" sz="1600" dirty="0"/>
            </a:br>
            <a:r>
              <a:rPr lang="en-US" sz="1600" b="0" i="0" dirty="0">
                <a:solidFill>
                  <a:srgbClr val="242424"/>
                </a:solidFill>
                <a:effectLst/>
                <a:latin typeface="source-code-pro"/>
              </a:rPr>
              <a:t>- </a:t>
            </a:r>
            <a:r>
              <a:rPr lang="en-US" sz="1600" b="0" i="0" dirty="0" err="1">
                <a:solidFill>
                  <a:srgbClr val="242424"/>
                </a:solidFill>
                <a:effectLst/>
                <a:latin typeface="source-code-pro"/>
              </a:rPr>
              <a:t>hasDiet</a:t>
            </a:r>
            <a:br>
              <a:rPr lang="en-US" sz="1600" dirty="0"/>
            </a:br>
            <a:r>
              <a:rPr lang="en-US" sz="1600" b="0" i="0" dirty="0">
                <a:solidFill>
                  <a:srgbClr val="242424"/>
                </a:solidFill>
                <a:effectLst/>
                <a:latin typeface="source-code-pro"/>
              </a:rPr>
              <a:t>- </a:t>
            </a:r>
            <a:r>
              <a:rPr lang="en-US" sz="1600" b="0" i="0" dirty="0" err="1">
                <a:solidFill>
                  <a:srgbClr val="242424"/>
                </a:solidFill>
                <a:effectLst/>
                <a:latin typeface="source-code-pro"/>
              </a:rPr>
              <a:t>hasCharacteristic</a:t>
            </a:r>
            <a:br>
              <a:rPr lang="en-US" sz="1600" dirty="0"/>
            </a:br>
            <a:r>
              <a:rPr lang="en-US" sz="1600" b="0" i="0" dirty="0">
                <a:solidFill>
                  <a:srgbClr val="242424"/>
                </a:solidFill>
                <a:effectLst/>
                <a:latin typeface="source-code-pro"/>
              </a:rPr>
              <a:t>- </a:t>
            </a:r>
            <a:r>
              <a:rPr lang="en-US" sz="1600" b="0" i="0" dirty="0" err="1">
                <a:solidFill>
                  <a:srgbClr val="242424"/>
                </a:solidFill>
                <a:effectLst/>
                <a:latin typeface="source-code-pro"/>
              </a:rPr>
              <a:t>hasBehavior</a:t>
            </a:r>
            <a:br>
              <a:rPr lang="en-US" sz="1600" dirty="0"/>
            </a:br>
            <a:br>
              <a:rPr lang="en-US" sz="1600" dirty="0"/>
            </a:br>
            <a:r>
              <a:rPr lang="en-US" sz="1600" b="0" i="0" dirty="0">
                <a:solidFill>
                  <a:srgbClr val="242424"/>
                </a:solidFill>
                <a:effectLst/>
                <a:latin typeface="source-code-pro"/>
              </a:rPr>
              <a:t>Instances:</a:t>
            </a:r>
            <a:br>
              <a:rPr lang="en-US" sz="1600" dirty="0"/>
            </a:br>
            <a:r>
              <a:rPr lang="en-US" sz="1600" b="0" i="0" dirty="0">
                <a:solidFill>
                  <a:srgbClr val="242424"/>
                </a:solidFill>
                <a:effectLst/>
                <a:latin typeface="source-code-pro"/>
              </a:rPr>
              <a:t>- Animal instances (Lion, Elephant, Penguin, Snake, etc.)</a:t>
            </a:r>
            <a:br>
              <a:rPr lang="en-US" sz="1600" dirty="0"/>
            </a:br>
            <a:r>
              <a:rPr lang="en-US" sz="1600" b="0" i="0" dirty="0">
                <a:solidFill>
                  <a:srgbClr val="242424"/>
                </a:solidFill>
                <a:effectLst/>
                <a:latin typeface="source-code-pro"/>
              </a:rPr>
              <a:t>- Habitat instances (Savanna, Forest, Ocean, Desert, etc.)</a:t>
            </a:r>
            <a:br>
              <a:rPr lang="en-US" sz="1600" dirty="0"/>
            </a:br>
            <a:r>
              <a:rPr lang="en-US" sz="1600" b="0" i="0" dirty="0">
                <a:solidFill>
                  <a:srgbClr val="242424"/>
                </a:solidFill>
                <a:effectLst/>
                <a:latin typeface="source-code-pro"/>
              </a:rPr>
              <a:t>- Diet Type instances (Herbivore, Carnivore, Omnivore, etc.)</a:t>
            </a:r>
            <a:br>
              <a:rPr lang="en-US" sz="1600" dirty="0"/>
            </a:br>
            <a:r>
              <a:rPr lang="en-US" sz="1600" b="0" i="0" dirty="0">
                <a:solidFill>
                  <a:srgbClr val="242424"/>
                </a:solidFill>
                <a:effectLst/>
                <a:latin typeface="source-code-pro"/>
              </a:rPr>
              <a:t>- Characteristic instances (Fur, Feathers, Scales, etc.)</a:t>
            </a:r>
            <a:br>
              <a:rPr lang="en-US" sz="1600" dirty="0"/>
            </a:br>
            <a:r>
              <a:rPr lang="en-US" sz="1600" b="0" i="0" dirty="0">
                <a:solidFill>
                  <a:srgbClr val="242424"/>
                </a:solidFill>
                <a:effectLst/>
                <a:latin typeface="source-code-pro"/>
              </a:rPr>
              <a:t>- Behavior instances (Nocturnal, Diurnal, Migratory, etc.)</a:t>
            </a:r>
            <a:br>
              <a:rPr lang="en-US" sz="1600" dirty="0"/>
            </a:br>
            <a:br>
              <a:rPr lang="en-US" sz="1600" dirty="0"/>
            </a:br>
            <a:r>
              <a:rPr lang="en-US" sz="1600" b="0" i="0" dirty="0">
                <a:solidFill>
                  <a:srgbClr val="242424"/>
                </a:solidFill>
                <a:effectLst/>
                <a:latin typeface="source-code-pro"/>
              </a:rPr>
              <a:t>Relationships</a:t>
            </a:r>
            <a:br>
              <a:rPr lang="en-US" sz="1600" dirty="0"/>
            </a:br>
            <a:r>
              <a:rPr lang="en-US" sz="1600" b="0" i="0" dirty="0">
                <a:solidFill>
                  <a:srgbClr val="242424"/>
                </a:solidFill>
                <a:effectLst/>
                <a:latin typeface="source-code-pro"/>
              </a:rPr>
              <a:t>Each Animal instance has a specific habitat (</a:t>
            </a:r>
            <a:r>
              <a:rPr lang="en-US" sz="1600" b="0" i="0" dirty="0" err="1">
                <a:solidFill>
                  <a:srgbClr val="242424"/>
                </a:solidFill>
                <a:effectLst/>
                <a:latin typeface="source-code-pro"/>
              </a:rPr>
              <a:t>hasHabitat</a:t>
            </a:r>
            <a:r>
              <a:rPr lang="en-US" sz="1600" b="0" i="0" dirty="0">
                <a:solidFill>
                  <a:srgbClr val="242424"/>
                </a:solidFill>
                <a:effectLst/>
                <a:latin typeface="source-code-pro"/>
              </a:rPr>
              <a:t> property).</a:t>
            </a:r>
            <a:br>
              <a:rPr lang="en-US" sz="1600" dirty="0"/>
            </a:br>
            <a:r>
              <a:rPr lang="en-US" sz="1600" b="0" i="0" dirty="0">
                <a:solidFill>
                  <a:srgbClr val="242424"/>
                </a:solidFill>
                <a:effectLst/>
                <a:latin typeface="source-code-pro"/>
              </a:rPr>
              <a:t>Each Animal instance has a specific diet type (</a:t>
            </a:r>
            <a:r>
              <a:rPr lang="en-US" sz="1600" b="0" i="0" dirty="0" err="1">
                <a:solidFill>
                  <a:srgbClr val="242424"/>
                </a:solidFill>
                <a:effectLst/>
                <a:latin typeface="source-code-pro"/>
              </a:rPr>
              <a:t>hasDiet</a:t>
            </a:r>
            <a:r>
              <a:rPr lang="en-US" sz="1600" b="0" i="0" dirty="0">
                <a:solidFill>
                  <a:srgbClr val="242424"/>
                </a:solidFill>
                <a:effectLst/>
                <a:latin typeface="source-code-pro"/>
              </a:rPr>
              <a:t> property).</a:t>
            </a:r>
            <a:br>
              <a:rPr lang="en-US" sz="1600" dirty="0"/>
            </a:br>
            <a:r>
              <a:rPr lang="en-US" sz="1600" b="0" i="0" dirty="0">
                <a:solidFill>
                  <a:srgbClr val="242424"/>
                </a:solidFill>
                <a:effectLst/>
                <a:latin typeface="source-code-pro"/>
              </a:rPr>
              <a:t>Each Animal instance possesses characteristic features (</a:t>
            </a:r>
            <a:r>
              <a:rPr lang="en-US" sz="1600" b="0" i="0" dirty="0" err="1">
                <a:solidFill>
                  <a:srgbClr val="242424"/>
                </a:solidFill>
                <a:effectLst/>
                <a:latin typeface="source-code-pro"/>
              </a:rPr>
              <a:t>hasCharacteristic</a:t>
            </a:r>
            <a:r>
              <a:rPr lang="en-US" sz="1600" b="0" i="0" dirty="0">
                <a:solidFill>
                  <a:srgbClr val="242424"/>
                </a:solidFill>
                <a:effectLst/>
                <a:latin typeface="source-code-pro"/>
              </a:rPr>
              <a:t> property).</a:t>
            </a:r>
            <a:br>
              <a:rPr lang="en-US" sz="1600" dirty="0"/>
            </a:br>
            <a:r>
              <a:rPr lang="en-US" sz="1600" b="0" i="0" dirty="0">
                <a:solidFill>
                  <a:srgbClr val="242424"/>
                </a:solidFill>
                <a:effectLst/>
                <a:latin typeface="source-code-pro"/>
              </a:rPr>
              <a:t>Each Animal instance exhibits typical behaviors (</a:t>
            </a:r>
            <a:r>
              <a:rPr lang="en-US" sz="1600" b="0" i="0" dirty="0" err="1">
                <a:solidFill>
                  <a:srgbClr val="242424"/>
                </a:solidFill>
                <a:effectLst/>
                <a:latin typeface="source-code-pro"/>
              </a:rPr>
              <a:t>hasBehavior</a:t>
            </a:r>
            <a:r>
              <a:rPr lang="en-US" sz="1600" b="0" i="0" dirty="0">
                <a:solidFill>
                  <a:srgbClr val="242424"/>
                </a:solidFill>
                <a:effectLst/>
                <a:latin typeface="source-code-pro"/>
              </a:rPr>
              <a:t> property).</a:t>
            </a:r>
            <a:endParaRPr lang="en-US" sz="1600" dirty="0"/>
          </a:p>
        </p:txBody>
      </p:sp>
      <p:sp>
        <p:nvSpPr>
          <p:cNvPr id="4" name="Slide Number Placeholder 3">
            <a:extLst>
              <a:ext uri="{FF2B5EF4-FFF2-40B4-BE49-F238E27FC236}">
                <a16:creationId xmlns:a16="http://schemas.microsoft.com/office/drawing/2014/main" id="{A074038C-4D08-27BA-033E-A8E5B096D380}"/>
              </a:ext>
            </a:extLst>
          </p:cNvPr>
          <p:cNvSpPr>
            <a:spLocks noGrp="1"/>
          </p:cNvSpPr>
          <p:nvPr>
            <p:ph type="sldNum" sz="quarter" idx="12"/>
          </p:nvPr>
        </p:nvSpPr>
        <p:spPr/>
        <p:txBody>
          <a:bodyPr/>
          <a:lstStyle/>
          <a:p>
            <a:fld id="{71C6F290-D301-4864-9490-340EF11588D9}" type="slidenum">
              <a:rPr lang="en-US" altLang="en-US" smtClean="0"/>
              <a:pPr/>
              <a:t>47</a:t>
            </a:fld>
            <a:endParaRPr lang="en-US" altLang="en-US" dirty="0"/>
          </a:p>
        </p:txBody>
      </p:sp>
    </p:spTree>
    <p:extLst>
      <p:ext uri="{BB962C8B-B14F-4D97-AF65-F5344CB8AC3E}">
        <p14:creationId xmlns:p14="http://schemas.microsoft.com/office/powerpoint/2010/main" val="19800124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964C-CD3D-C9B7-F8C4-407309D27151}"/>
              </a:ext>
            </a:extLst>
          </p:cNvPr>
          <p:cNvSpPr>
            <a:spLocks noGrp="1"/>
          </p:cNvSpPr>
          <p:nvPr>
            <p:ph type="title"/>
          </p:nvPr>
        </p:nvSpPr>
        <p:spPr>
          <a:xfrm>
            <a:off x="228600" y="228600"/>
            <a:ext cx="7696200" cy="381000"/>
          </a:xfrm>
        </p:spPr>
        <p:txBody>
          <a:bodyPr/>
          <a:lstStyle/>
          <a:p>
            <a:r>
              <a:rPr lang="en-US" dirty="0"/>
              <a:t>Ontology</a:t>
            </a:r>
          </a:p>
        </p:txBody>
      </p:sp>
      <p:sp>
        <p:nvSpPr>
          <p:cNvPr id="3" name="Content Placeholder 2">
            <a:extLst>
              <a:ext uri="{FF2B5EF4-FFF2-40B4-BE49-F238E27FC236}">
                <a16:creationId xmlns:a16="http://schemas.microsoft.com/office/drawing/2014/main" id="{83BEDF4F-C5CA-4F3C-C62B-4DAC2C56FFF1}"/>
              </a:ext>
            </a:extLst>
          </p:cNvPr>
          <p:cNvSpPr>
            <a:spLocks noGrp="1"/>
          </p:cNvSpPr>
          <p:nvPr>
            <p:ph idx="1"/>
          </p:nvPr>
        </p:nvSpPr>
        <p:spPr>
          <a:xfrm>
            <a:off x="152400" y="762000"/>
            <a:ext cx="8763000" cy="6240463"/>
          </a:xfrm>
        </p:spPr>
        <p:txBody>
          <a:bodyPr>
            <a:normAutofit/>
          </a:bodyPr>
          <a:lstStyle/>
          <a:p>
            <a:pPr algn="just"/>
            <a:r>
              <a:rPr lang="en-US" sz="2000" b="1" dirty="0"/>
              <a:t>Utilizing Ontologies in Data Science</a:t>
            </a:r>
          </a:p>
          <a:p>
            <a:pPr algn="just"/>
            <a:endParaRPr lang="en-US" sz="2000" b="1" dirty="0"/>
          </a:p>
          <a:p>
            <a:pPr algn="just"/>
            <a:r>
              <a:rPr lang="en-US" sz="2000" b="1" dirty="0"/>
              <a:t>1. Data Integration and Interoperability</a:t>
            </a:r>
          </a:p>
          <a:p>
            <a:pPr algn="just"/>
            <a:r>
              <a:rPr lang="en-US" sz="2000" dirty="0"/>
              <a:t>Ontologies facilitate the integration of diverse data sources. By establishing a common vocabulary and structure, data from various systems can be combined and analyzed more effectively.</a:t>
            </a:r>
          </a:p>
          <a:p>
            <a:pPr algn="just"/>
            <a:r>
              <a:rPr lang="en-US" sz="2000" dirty="0"/>
              <a:t>Example: Imagine merging data about birds from different databases. An ontology ensures that terms like “wingspan” or “nesting habits” are consistent and compatible across all datasets.</a:t>
            </a:r>
          </a:p>
          <a:p>
            <a:pPr algn="just"/>
            <a:endParaRPr lang="en-US" sz="2000" dirty="0"/>
          </a:p>
          <a:p>
            <a:pPr algn="just"/>
            <a:r>
              <a:rPr lang="en-US" sz="2000" b="1" dirty="0"/>
              <a:t>2. Semantic Searching and Retrieval</a:t>
            </a:r>
          </a:p>
          <a:p>
            <a:pPr algn="just"/>
            <a:r>
              <a:rPr lang="en-US" sz="2000" dirty="0"/>
              <a:t>Ontologies enhance search capabilities by enabling semantic queries. Rather than simple keyword searches, users can query based on the meaning and relationships defined within the ontology.</a:t>
            </a:r>
          </a:p>
          <a:p>
            <a:pPr algn="just"/>
            <a:r>
              <a:rPr lang="en-US" sz="2000" dirty="0"/>
              <a:t>Example: Searching for “large birds” using an ontology would retrieve data about birds classified as “large” based on defined criteria.</a:t>
            </a:r>
          </a:p>
          <a:p>
            <a:endParaRPr lang="en-US" dirty="0"/>
          </a:p>
        </p:txBody>
      </p:sp>
      <p:sp>
        <p:nvSpPr>
          <p:cNvPr id="4" name="Slide Number Placeholder 3">
            <a:extLst>
              <a:ext uri="{FF2B5EF4-FFF2-40B4-BE49-F238E27FC236}">
                <a16:creationId xmlns:a16="http://schemas.microsoft.com/office/drawing/2014/main" id="{0BB472A7-72D3-0E8E-BA6B-D0F7EA0DF47E}"/>
              </a:ext>
            </a:extLst>
          </p:cNvPr>
          <p:cNvSpPr>
            <a:spLocks noGrp="1"/>
          </p:cNvSpPr>
          <p:nvPr>
            <p:ph type="sldNum" sz="quarter" idx="12"/>
          </p:nvPr>
        </p:nvSpPr>
        <p:spPr/>
        <p:txBody>
          <a:bodyPr/>
          <a:lstStyle/>
          <a:p>
            <a:fld id="{71C6F290-D301-4864-9490-340EF11588D9}" type="slidenum">
              <a:rPr lang="en-US" altLang="en-US" smtClean="0"/>
              <a:pPr/>
              <a:t>48</a:t>
            </a:fld>
            <a:endParaRPr lang="en-US" altLang="en-US" dirty="0"/>
          </a:p>
        </p:txBody>
      </p:sp>
    </p:spTree>
    <p:extLst>
      <p:ext uri="{BB962C8B-B14F-4D97-AF65-F5344CB8AC3E}">
        <p14:creationId xmlns:p14="http://schemas.microsoft.com/office/powerpoint/2010/main" val="9996218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F21AE-0022-433B-29ED-2CA44E9C5300}"/>
              </a:ext>
            </a:extLst>
          </p:cNvPr>
          <p:cNvSpPr>
            <a:spLocks noGrp="1"/>
          </p:cNvSpPr>
          <p:nvPr>
            <p:ph type="title"/>
          </p:nvPr>
        </p:nvSpPr>
        <p:spPr>
          <a:xfrm>
            <a:off x="228600" y="228600"/>
            <a:ext cx="7696200" cy="533400"/>
          </a:xfrm>
        </p:spPr>
        <p:txBody>
          <a:bodyPr/>
          <a:lstStyle/>
          <a:p>
            <a:r>
              <a:rPr lang="en-US" dirty="0"/>
              <a:t>Ontology-Person Ontology</a:t>
            </a:r>
          </a:p>
        </p:txBody>
      </p:sp>
      <p:sp>
        <p:nvSpPr>
          <p:cNvPr id="4" name="Slide Number Placeholder 3">
            <a:extLst>
              <a:ext uri="{FF2B5EF4-FFF2-40B4-BE49-F238E27FC236}">
                <a16:creationId xmlns:a16="http://schemas.microsoft.com/office/drawing/2014/main" id="{C31F86CC-3F70-64B6-AC8A-06A9982F765B}"/>
              </a:ext>
            </a:extLst>
          </p:cNvPr>
          <p:cNvSpPr>
            <a:spLocks noGrp="1"/>
          </p:cNvSpPr>
          <p:nvPr>
            <p:ph type="sldNum" sz="quarter" idx="12"/>
          </p:nvPr>
        </p:nvSpPr>
        <p:spPr/>
        <p:txBody>
          <a:bodyPr/>
          <a:lstStyle/>
          <a:p>
            <a:fld id="{71C6F290-D301-4864-9490-340EF11588D9}" type="slidenum">
              <a:rPr lang="en-US" altLang="en-US" smtClean="0"/>
              <a:pPr/>
              <a:t>49</a:t>
            </a:fld>
            <a:endParaRPr lang="en-US" altLang="en-US" dirty="0"/>
          </a:p>
        </p:txBody>
      </p:sp>
      <p:pic>
        <p:nvPicPr>
          <p:cNvPr id="7" name="Content Placeholder 6">
            <a:extLst>
              <a:ext uri="{FF2B5EF4-FFF2-40B4-BE49-F238E27FC236}">
                <a16:creationId xmlns:a16="http://schemas.microsoft.com/office/drawing/2014/main" id="{FA8F9E67-B842-1AE9-BE43-12175224A581}"/>
              </a:ext>
            </a:extLst>
          </p:cNvPr>
          <p:cNvPicPr>
            <a:picLocks noGrp="1" noChangeAspect="1"/>
          </p:cNvPicPr>
          <p:nvPr>
            <p:ph idx="1"/>
          </p:nvPr>
        </p:nvPicPr>
        <p:blipFill>
          <a:blip r:embed="rId2"/>
          <a:stretch>
            <a:fillRect/>
          </a:stretch>
        </p:blipFill>
        <p:spPr>
          <a:xfrm>
            <a:off x="609600" y="1371600"/>
            <a:ext cx="7315200" cy="4724399"/>
          </a:xfrm>
          <a:prstGeom prst="rect">
            <a:avLst/>
          </a:prstGeom>
        </p:spPr>
      </p:pic>
      <p:sp>
        <p:nvSpPr>
          <p:cNvPr id="8" name="TextBox 7">
            <a:extLst>
              <a:ext uri="{FF2B5EF4-FFF2-40B4-BE49-F238E27FC236}">
                <a16:creationId xmlns:a16="http://schemas.microsoft.com/office/drawing/2014/main" id="{816855ED-48EF-496B-0186-78A82FE943FE}"/>
              </a:ext>
            </a:extLst>
          </p:cNvPr>
          <p:cNvSpPr txBox="1"/>
          <p:nvPr/>
        </p:nvSpPr>
        <p:spPr>
          <a:xfrm>
            <a:off x="5486400" y="1676400"/>
            <a:ext cx="3581400" cy="492443"/>
          </a:xfrm>
          <a:prstGeom prst="rect">
            <a:avLst/>
          </a:prstGeom>
          <a:noFill/>
        </p:spPr>
        <p:txBody>
          <a:bodyPr wrap="square" rtlCol="0">
            <a:spAutoFit/>
          </a:bodyPr>
          <a:lstStyle/>
          <a:p>
            <a:r>
              <a:rPr lang="en-US" dirty="0"/>
              <a:t>Person ontology</a:t>
            </a:r>
          </a:p>
        </p:txBody>
      </p:sp>
    </p:spTree>
    <p:extLst>
      <p:ext uri="{BB962C8B-B14F-4D97-AF65-F5344CB8AC3E}">
        <p14:creationId xmlns:p14="http://schemas.microsoft.com/office/powerpoint/2010/main" val="7942335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3223B-D8C2-51FA-2397-6DFF0965738C}"/>
              </a:ext>
            </a:extLst>
          </p:cNvPr>
          <p:cNvSpPr>
            <a:spLocks noGrp="1"/>
          </p:cNvSpPr>
          <p:nvPr>
            <p:ph type="title"/>
          </p:nvPr>
        </p:nvSpPr>
        <p:spPr>
          <a:xfrm>
            <a:off x="228600" y="228600"/>
            <a:ext cx="7696200" cy="457200"/>
          </a:xfrm>
        </p:spPr>
        <p:txBody>
          <a:bodyPr/>
          <a:lstStyle/>
          <a:p>
            <a:r>
              <a:rPr lang="en-US" dirty="0"/>
              <a:t>Ontology</a:t>
            </a:r>
          </a:p>
        </p:txBody>
      </p:sp>
      <p:pic>
        <p:nvPicPr>
          <p:cNvPr id="5" name="Content Placeholder 4">
            <a:extLst>
              <a:ext uri="{FF2B5EF4-FFF2-40B4-BE49-F238E27FC236}">
                <a16:creationId xmlns:a16="http://schemas.microsoft.com/office/drawing/2014/main" id="{53A69E46-0AAC-0F12-56C2-5354E8968964}"/>
              </a:ext>
            </a:extLst>
          </p:cNvPr>
          <p:cNvPicPr>
            <a:picLocks noGrp="1" noChangeAspect="1"/>
          </p:cNvPicPr>
          <p:nvPr>
            <p:ph idx="1"/>
          </p:nvPr>
        </p:nvPicPr>
        <p:blipFill>
          <a:blip r:embed="rId2"/>
          <a:stretch>
            <a:fillRect/>
          </a:stretch>
        </p:blipFill>
        <p:spPr>
          <a:xfrm>
            <a:off x="152400" y="914400"/>
            <a:ext cx="4267200" cy="2590800"/>
          </a:xfrm>
          <a:prstGeom prst="rect">
            <a:avLst/>
          </a:prstGeom>
        </p:spPr>
      </p:pic>
      <p:sp>
        <p:nvSpPr>
          <p:cNvPr id="4" name="Slide Number Placeholder 3">
            <a:extLst>
              <a:ext uri="{FF2B5EF4-FFF2-40B4-BE49-F238E27FC236}">
                <a16:creationId xmlns:a16="http://schemas.microsoft.com/office/drawing/2014/main" id="{6DA07DC8-74D5-57F5-F240-4EA85756D908}"/>
              </a:ext>
            </a:extLst>
          </p:cNvPr>
          <p:cNvSpPr>
            <a:spLocks noGrp="1"/>
          </p:cNvSpPr>
          <p:nvPr>
            <p:ph type="sldNum" sz="quarter" idx="12"/>
          </p:nvPr>
        </p:nvSpPr>
        <p:spPr/>
        <p:txBody>
          <a:bodyPr/>
          <a:lstStyle/>
          <a:p>
            <a:fld id="{71C6F290-D301-4864-9490-340EF11588D9}" type="slidenum">
              <a:rPr lang="en-US" altLang="en-US" smtClean="0"/>
              <a:pPr/>
              <a:t>50</a:t>
            </a:fld>
            <a:endParaRPr lang="en-US" altLang="en-US" dirty="0"/>
          </a:p>
        </p:txBody>
      </p:sp>
      <p:pic>
        <p:nvPicPr>
          <p:cNvPr id="6" name="Picture 5">
            <a:extLst>
              <a:ext uri="{FF2B5EF4-FFF2-40B4-BE49-F238E27FC236}">
                <a16:creationId xmlns:a16="http://schemas.microsoft.com/office/drawing/2014/main" id="{60687FD0-A3CF-EDCB-BB36-BA015530ECB4}"/>
              </a:ext>
            </a:extLst>
          </p:cNvPr>
          <p:cNvPicPr>
            <a:picLocks noChangeAspect="1"/>
          </p:cNvPicPr>
          <p:nvPr/>
        </p:nvPicPr>
        <p:blipFill>
          <a:blip r:embed="rId3"/>
          <a:stretch>
            <a:fillRect/>
          </a:stretch>
        </p:blipFill>
        <p:spPr>
          <a:xfrm>
            <a:off x="0" y="3579118"/>
            <a:ext cx="9144000" cy="3109376"/>
          </a:xfrm>
          <a:prstGeom prst="rect">
            <a:avLst/>
          </a:prstGeom>
        </p:spPr>
      </p:pic>
      <p:sp>
        <p:nvSpPr>
          <p:cNvPr id="7" name="TextBox 6">
            <a:extLst>
              <a:ext uri="{FF2B5EF4-FFF2-40B4-BE49-F238E27FC236}">
                <a16:creationId xmlns:a16="http://schemas.microsoft.com/office/drawing/2014/main" id="{820E2ED9-F2BF-4461-C337-415871BDE99A}"/>
              </a:ext>
            </a:extLst>
          </p:cNvPr>
          <p:cNvSpPr txBox="1"/>
          <p:nvPr/>
        </p:nvSpPr>
        <p:spPr>
          <a:xfrm>
            <a:off x="4648200" y="1371600"/>
            <a:ext cx="2895600" cy="492443"/>
          </a:xfrm>
          <a:prstGeom prst="rect">
            <a:avLst/>
          </a:prstGeom>
          <a:noFill/>
        </p:spPr>
        <p:txBody>
          <a:bodyPr wrap="square" rtlCol="0">
            <a:spAutoFit/>
          </a:bodyPr>
          <a:lstStyle/>
          <a:p>
            <a:r>
              <a:rPr lang="en-US" dirty="0"/>
              <a:t>Time ontology</a:t>
            </a:r>
          </a:p>
        </p:txBody>
      </p:sp>
      <p:sp>
        <p:nvSpPr>
          <p:cNvPr id="8" name="TextBox 7">
            <a:extLst>
              <a:ext uri="{FF2B5EF4-FFF2-40B4-BE49-F238E27FC236}">
                <a16:creationId xmlns:a16="http://schemas.microsoft.com/office/drawing/2014/main" id="{E74E0117-F139-C058-8609-C443A837BD7F}"/>
              </a:ext>
            </a:extLst>
          </p:cNvPr>
          <p:cNvSpPr txBox="1"/>
          <p:nvPr/>
        </p:nvSpPr>
        <p:spPr>
          <a:xfrm>
            <a:off x="5105400" y="2971800"/>
            <a:ext cx="3733800" cy="492443"/>
          </a:xfrm>
          <a:prstGeom prst="rect">
            <a:avLst/>
          </a:prstGeom>
          <a:noFill/>
        </p:spPr>
        <p:txBody>
          <a:bodyPr wrap="square" rtlCol="0">
            <a:spAutoFit/>
          </a:bodyPr>
          <a:lstStyle/>
          <a:p>
            <a:r>
              <a:rPr lang="en-US" dirty="0"/>
              <a:t>Location ontology</a:t>
            </a:r>
          </a:p>
        </p:txBody>
      </p:sp>
    </p:spTree>
    <p:extLst>
      <p:ext uri="{BB962C8B-B14F-4D97-AF65-F5344CB8AC3E}">
        <p14:creationId xmlns:p14="http://schemas.microsoft.com/office/powerpoint/2010/main" val="37042838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47C6C-34C7-7612-1E4F-4760283570ED}"/>
              </a:ext>
            </a:extLst>
          </p:cNvPr>
          <p:cNvSpPr>
            <a:spLocks noGrp="1"/>
          </p:cNvSpPr>
          <p:nvPr>
            <p:ph type="title"/>
          </p:nvPr>
        </p:nvSpPr>
        <p:spPr>
          <a:xfrm>
            <a:off x="228600" y="228600"/>
            <a:ext cx="7696200" cy="533400"/>
          </a:xfrm>
        </p:spPr>
        <p:txBody>
          <a:bodyPr/>
          <a:lstStyle/>
          <a:p>
            <a:r>
              <a:rPr lang="en-US" dirty="0"/>
              <a:t>Ontology</a:t>
            </a:r>
          </a:p>
        </p:txBody>
      </p:sp>
      <p:pic>
        <p:nvPicPr>
          <p:cNvPr id="5" name="Content Placeholder 4">
            <a:extLst>
              <a:ext uri="{FF2B5EF4-FFF2-40B4-BE49-F238E27FC236}">
                <a16:creationId xmlns:a16="http://schemas.microsoft.com/office/drawing/2014/main" id="{CD25E61F-C4D1-8D2C-7F9B-565119754B7C}"/>
              </a:ext>
            </a:extLst>
          </p:cNvPr>
          <p:cNvPicPr>
            <a:picLocks noGrp="1" noChangeAspect="1"/>
          </p:cNvPicPr>
          <p:nvPr>
            <p:ph idx="1"/>
          </p:nvPr>
        </p:nvPicPr>
        <p:blipFill>
          <a:blip r:embed="rId2"/>
          <a:stretch>
            <a:fillRect/>
          </a:stretch>
        </p:blipFill>
        <p:spPr>
          <a:xfrm>
            <a:off x="762000" y="1483043"/>
            <a:ext cx="7010400" cy="4993957"/>
          </a:xfrm>
          <a:prstGeom prst="rect">
            <a:avLst/>
          </a:prstGeom>
        </p:spPr>
      </p:pic>
      <p:sp>
        <p:nvSpPr>
          <p:cNvPr id="4" name="Slide Number Placeholder 3">
            <a:extLst>
              <a:ext uri="{FF2B5EF4-FFF2-40B4-BE49-F238E27FC236}">
                <a16:creationId xmlns:a16="http://schemas.microsoft.com/office/drawing/2014/main" id="{3AE33431-25D5-B78C-63D1-6D2D4DF07820}"/>
              </a:ext>
            </a:extLst>
          </p:cNvPr>
          <p:cNvSpPr>
            <a:spLocks noGrp="1"/>
          </p:cNvSpPr>
          <p:nvPr>
            <p:ph type="sldNum" sz="quarter" idx="12"/>
          </p:nvPr>
        </p:nvSpPr>
        <p:spPr/>
        <p:txBody>
          <a:bodyPr/>
          <a:lstStyle/>
          <a:p>
            <a:fld id="{71C6F290-D301-4864-9490-340EF11588D9}" type="slidenum">
              <a:rPr lang="en-US" altLang="en-US" smtClean="0"/>
              <a:pPr/>
              <a:t>51</a:t>
            </a:fld>
            <a:endParaRPr lang="en-US" altLang="en-US" dirty="0"/>
          </a:p>
        </p:txBody>
      </p:sp>
      <p:sp>
        <p:nvSpPr>
          <p:cNvPr id="6" name="TextBox 5">
            <a:extLst>
              <a:ext uri="{FF2B5EF4-FFF2-40B4-BE49-F238E27FC236}">
                <a16:creationId xmlns:a16="http://schemas.microsoft.com/office/drawing/2014/main" id="{A9666D5D-40B5-DDEB-C77F-96989ED8BBBF}"/>
              </a:ext>
            </a:extLst>
          </p:cNvPr>
          <p:cNvSpPr txBox="1"/>
          <p:nvPr/>
        </p:nvSpPr>
        <p:spPr>
          <a:xfrm>
            <a:off x="685800" y="990600"/>
            <a:ext cx="3505200" cy="492443"/>
          </a:xfrm>
          <a:prstGeom prst="rect">
            <a:avLst/>
          </a:prstGeom>
          <a:noFill/>
        </p:spPr>
        <p:txBody>
          <a:bodyPr wrap="square" rtlCol="0">
            <a:spAutoFit/>
          </a:bodyPr>
          <a:lstStyle/>
          <a:p>
            <a:r>
              <a:rPr lang="en-US" dirty="0"/>
              <a:t>Network ontology</a:t>
            </a:r>
          </a:p>
        </p:txBody>
      </p:sp>
    </p:spTree>
    <p:extLst>
      <p:ext uri="{BB962C8B-B14F-4D97-AF65-F5344CB8AC3E}">
        <p14:creationId xmlns:p14="http://schemas.microsoft.com/office/powerpoint/2010/main" val="3950533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A9D9F-44F6-002B-FDCA-624C0257B225}"/>
              </a:ext>
            </a:extLst>
          </p:cNvPr>
          <p:cNvSpPr>
            <a:spLocks noGrp="1"/>
          </p:cNvSpPr>
          <p:nvPr>
            <p:ph type="title"/>
          </p:nvPr>
        </p:nvSpPr>
        <p:spPr>
          <a:xfrm>
            <a:off x="228600" y="228600"/>
            <a:ext cx="7696200" cy="533400"/>
          </a:xfrm>
        </p:spPr>
        <p:txBody>
          <a:bodyPr/>
          <a:lstStyle/>
          <a:p>
            <a:r>
              <a:rPr lang="en-US" dirty="0"/>
              <a:t>Ontology</a:t>
            </a:r>
          </a:p>
        </p:txBody>
      </p:sp>
      <p:pic>
        <p:nvPicPr>
          <p:cNvPr id="5" name="Content Placeholder 4">
            <a:extLst>
              <a:ext uri="{FF2B5EF4-FFF2-40B4-BE49-F238E27FC236}">
                <a16:creationId xmlns:a16="http://schemas.microsoft.com/office/drawing/2014/main" id="{223794F1-0026-0E09-B5BE-6783C5503017}"/>
              </a:ext>
            </a:extLst>
          </p:cNvPr>
          <p:cNvPicPr>
            <a:picLocks noGrp="1" noChangeAspect="1"/>
          </p:cNvPicPr>
          <p:nvPr>
            <p:ph idx="1"/>
          </p:nvPr>
        </p:nvPicPr>
        <p:blipFill>
          <a:blip r:embed="rId2"/>
          <a:stretch>
            <a:fillRect/>
          </a:stretch>
        </p:blipFill>
        <p:spPr>
          <a:xfrm>
            <a:off x="228600" y="990600"/>
            <a:ext cx="8763000" cy="5105400"/>
          </a:xfrm>
          <a:prstGeom prst="rect">
            <a:avLst/>
          </a:prstGeom>
        </p:spPr>
      </p:pic>
      <p:sp>
        <p:nvSpPr>
          <p:cNvPr id="4" name="Slide Number Placeholder 3">
            <a:extLst>
              <a:ext uri="{FF2B5EF4-FFF2-40B4-BE49-F238E27FC236}">
                <a16:creationId xmlns:a16="http://schemas.microsoft.com/office/drawing/2014/main" id="{9596D7B7-3BE1-5FDF-5560-5ADAEA1E098E}"/>
              </a:ext>
            </a:extLst>
          </p:cNvPr>
          <p:cNvSpPr>
            <a:spLocks noGrp="1"/>
          </p:cNvSpPr>
          <p:nvPr>
            <p:ph type="sldNum" sz="quarter" idx="12"/>
          </p:nvPr>
        </p:nvSpPr>
        <p:spPr/>
        <p:txBody>
          <a:bodyPr/>
          <a:lstStyle/>
          <a:p>
            <a:fld id="{71C6F290-D301-4864-9490-340EF11588D9}" type="slidenum">
              <a:rPr lang="en-US" altLang="en-US" smtClean="0"/>
              <a:pPr/>
              <a:t>52</a:t>
            </a:fld>
            <a:endParaRPr lang="en-US" altLang="en-US" dirty="0"/>
          </a:p>
        </p:txBody>
      </p:sp>
      <p:sp>
        <p:nvSpPr>
          <p:cNvPr id="6" name="TextBox 5">
            <a:extLst>
              <a:ext uri="{FF2B5EF4-FFF2-40B4-BE49-F238E27FC236}">
                <a16:creationId xmlns:a16="http://schemas.microsoft.com/office/drawing/2014/main" id="{231CFBD0-976B-B589-EAB3-22E3A0E8F1F8}"/>
              </a:ext>
            </a:extLst>
          </p:cNvPr>
          <p:cNvSpPr txBox="1"/>
          <p:nvPr/>
        </p:nvSpPr>
        <p:spPr>
          <a:xfrm>
            <a:off x="381000" y="5715000"/>
            <a:ext cx="5029200" cy="914400"/>
          </a:xfrm>
          <a:prstGeom prst="rect">
            <a:avLst/>
          </a:prstGeom>
          <a:noFill/>
        </p:spPr>
        <p:txBody>
          <a:bodyPr wrap="square" rtlCol="0">
            <a:spAutoFit/>
          </a:bodyPr>
          <a:lstStyle/>
          <a:p>
            <a:r>
              <a:rPr lang="en-US" dirty="0"/>
              <a:t> Class hierarchy for event ontology.</a:t>
            </a:r>
          </a:p>
        </p:txBody>
      </p:sp>
    </p:spTree>
    <p:extLst>
      <p:ext uri="{BB962C8B-B14F-4D97-AF65-F5344CB8AC3E}">
        <p14:creationId xmlns:p14="http://schemas.microsoft.com/office/powerpoint/2010/main" val="7611622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C3C7A-21C5-1915-AA8F-440012940B5F}"/>
              </a:ext>
            </a:extLst>
          </p:cNvPr>
          <p:cNvSpPr>
            <a:spLocks noGrp="1"/>
          </p:cNvSpPr>
          <p:nvPr>
            <p:ph type="title"/>
          </p:nvPr>
        </p:nvSpPr>
        <p:spPr>
          <a:xfrm>
            <a:off x="228600" y="228600"/>
            <a:ext cx="7696200" cy="533400"/>
          </a:xfrm>
        </p:spPr>
        <p:txBody>
          <a:bodyPr/>
          <a:lstStyle/>
          <a:p>
            <a:r>
              <a:rPr lang="en-US" dirty="0"/>
              <a:t>Ontology</a:t>
            </a:r>
          </a:p>
        </p:txBody>
      </p:sp>
      <p:sp>
        <p:nvSpPr>
          <p:cNvPr id="3" name="Content Placeholder 2">
            <a:extLst>
              <a:ext uri="{FF2B5EF4-FFF2-40B4-BE49-F238E27FC236}">
                <a16:creationId xmlns:a16="http://schemas.microsoft.com/office/drawing/2014/main" id="{2040FBA5-F09B-17C4-2163-16C101592F98}"/>
              </a:ext>
            </a:extLst>
          </p:cNvPr>
          <p:cNvSpPr>
            <a:spLocks noGrp="1"/>
          </p:cNvSpPr>
          <p:nvPr>
            <p:ph idx="1"/>
          </p:nvPr>
        </p:nvSpPr>
        <p:spPr>
          <a:xfrm>
            <a:off x="228600" y="914400"/>
            <a:ext cx="8763000" cy="5791200"/>
          </a:xfrm>
        </p:spPr>
        <p:txBody>
          <a:bodyPr>
            <a:normAutofit/>
          </a:bodyPr>
          <a:lstStyle/>
          <a:p>
            <a:endParaRPr lang="en-US" u="sng" dirty="0">
              <a:solidFill>
                <a:srgbClr val="D8D8EC"/>
              </a:solidFill>
              <a:hlinkClick r:id="rId2" action="ppaction://hlinkfile">
                <a:extLst>
                  <a:ext uri="{A12FA001-AC4F-418D-AE19-62706E023703}">
                    <ahyp:hlinkClr xmlns:ahyp="http://schemas.microsoft.com/office/drawing/2018/hyperlinkcolor" val="tx"/>
                  </a:ext>
                </a:extLst>
              </a:hlinkClick>
            </a:endParaRPr>
          </a:p>
          <a:p>
            <a:pPr algn="just"/>
            <a:r>
              <a:rPr lang="en-US" dirty="0">
                <a:hlinkClick r:id="rId2" action="ppaction://hlinkfile">
                  <a:extLst>
                    <a:ext uri="{A12FA001-AC4F-418D-AE19-62706E023703}">
                      <ahyp:hlinkClr xmlns:ahyp="http://schemas.microsoft.com/office/drawing/2018/hyperlinkcolor" val="tx"/>
                    </a:ext>
                  </a:extLst>
                </a:hlinkClick>
              </a:rPr>
              <a:t>Each line </a:t>
            </a:r>
            <a:r>
              <a:rPr lang="en-US" dirty="0" err="1">
                <a:hlinkClick r:id="rId2" action="ppaction://hlinkfile">
                  <a:extLst>
                    <a:ext uri="{A12FA001-AC4F-418D-AE19-62706E023703}">
                      <ahyp:hlinkClr xmlns:ahyp="http://schemas.microsoft.com/office/drawing/2018/hyperlinkcolor" val="tx"/>
                    </a:ext>
                  </a:extLst>
                </a:hlinkClick>
              </a:rPr>
              <a:t>shows:Subject</a:t>
            </a:r>
            <a:r>
              <a:rPr lang="en-US" dirty="0">
                <a:hlinkClick r:id="rId2" action="ppaction://hlinkfile">
                  <a:extLst>
                    <a:ext uri="{A12FA001-AC4F-418D-AE19-62706E023703}">
                      <ahyp:hlinkClr xmlns:ahyp="http://schemas.microsoft.com/office/drawing/2018/hyperlinkcolor" val="tx"/>
                    </a:ext>
                  </a:extLst>
                </a:hlinkClick>
              </a:rPr>
              <a:t>  Predicate  </a:t>
            </a:r>
            <a:r>
              <a:rPr lang="en-US" dirty="0" err="1">
                <a:hlinkClick r:id="rId2" action="ppaction://hlinkfile">
                  <a:extLst>
                    <a:ext uri="{A12FA001-AC4F-418D-AE19-62706E023703}">
                      <ahyp:hlinkClr xmlns:ahyp="http://schemas.microsoft.com/office/drawing/2018/hyperlinkcolor" val="tx"/>
                    </a:ext>
                  </a:extLst>
                </a:hlinkClick>
              </a:rPr>
              <a:t>Object```This</a:t>
            </a:r>
            <a:r>
              <a:rPr lang="en-US" dirty="0">
                <a:hlinkClick r:id="rId2" action="ppaction://hlinkfile">
                  <a:extLst>
                    <a:ext uri="{A12FA001-AC4F-418D-AE19-62706E023703}">
                      <ahyp:hlinkClr xmlns:ahyp="http://schemas.microsoft.com/office/drawing/2018/hyperlinkcolor" val="tx"/>
                    </a:ext>
                  </a:extLst>
                </a:hlinkClick>
              </a:rPr>
              <a:t> reflects:- Class declarations- Subclass relations- Individuals and their types- Properties applied to </a:t>
            </a:r>
            <a:r>
              <a:rPr lang="en-US" dirty="0" err="1">
                <a:hlinkClick r:id="rId2" action="ppaction://hlinkfile">
                  <a:extLst>
                    <a:ext uri="{A12FA001-AC4F-418D-AE19-62706E023703}">
                      <ahyp:hlinkClr xmlns:ahyp="http://schemas.microsoft.com/office/drawing/2018/hyperlinkcolor" val="tx"/>
                    </a:ext>
                  </a:extLst>
                </a:hlinkClick>
              </a:rPr>
              <a:t>individualsYou</a:t>
            </a:r>
            <a:r>
              <a:rPr lang="en-US" dirty="0">
                <a:hlinkClick r:id="rId2" action="ppaction://hlinkfile">
                  <a:extLst>
                    <a:ext uri="{A12FA001-AC4F-418D-AE19-62706E023703}">
                      <ahyp:hlinkClr xmlns:ahyp="http://schemas.microsoft.com/office/drawing/2018/hyperlinkcolor" val="tx"/>
                    </a:ext>
                  </a:extLst>
                </a:hlinkClick>
              </a:rPr>
              <a:t> can also serialize this graph to Turtle or RDF/XML formats if needed.</a:t>
            </a:r>
            <a:endParaRPr lang="en-US" dirty="0">
              <a:solidFill>
                <a:srgbClr val="D8D8EC"/>
              </a:solidFill>
              <a:hlinkClick r:id="rId2" action="ppaction://hlinkfile">
                <a:extLst>
                  <a:ext uri="{A12FA001-AC4F-418D-AE19-62706E023703}">
                    <ahyp:hlinkClr xmlns:ahyp="http://schemas.microsoft.com/office/drawing/2018/hyperlinkcolor" val="tx"/>
                  </a:ext>
                </a:extLst>
              </a:hlinkClick>
            </a:endParaRPr>
          </a:p>
          <a:p>
            <a:r>
              <a:rPr lang="en-US" dirty="0">
                <a:hlinkClick r:id="rId2" action="ppaction://hlinkfile">
                  <a:extLst>
                    <a:ext uri="{A12FA001-AC4F-418D-AE19-62706E023703}">
                      <ahyp:hlinkClr xmlns:ahyp="http://schemas.microsoft.com/office/drawing/2018/hyperlinkcolor" val="tx"/>
                    </a:ext>
                  </a:extLst>
                </a:hlinkClick>
              </a:rPr>
              <a:t>Rdf.txt</a:t>
            </a:r>
            <a:endParaRPr lang="en-US" dirty="0"/>
          </a:p>
        </p:txBody>
      </p:sp>
      <p:sp>
        <p:nvSpPr>
          <p:cNvPr id="4" name="Slide Number Placeholder 3">
            <a:extLst>
              <a:ext uri="{FF2B5EF4-FFF2-40B4-BE49-F238E27FC236}">
                <a16:creationId xmlns:a16="http://schemas.microsoft.com/office/drawing/2014/main" id="{4CD64D0D-E3FA-0729-292A-90C6A9571D80}"/>
              </a:ext>
            </a:extLst>
          </p:cNvPr>
          <p:cNvSpPr>
            <a:spLocks noGrp="1"/>
          </p:cNvSpPr>
          <p:nvPr>
            <p:ph type="sldNum" sz="quarter" idx="12"/>
          </p:nvPr>
        </p:nvSpPr>
        <p:spPr/>
        <p:txBody>
          <a:bodyPr/>
          <a:lstStyle/>
          <a:p>
            <a:fld id="{71C6F290-D301-4864-9490-340EF11588D9}" type="slidenum">
              <a:rPr lang="en-US" altLang="en-US" smtClean="0"/>
              <a:pPr/>
              <a:t>53</a:t>
            </a:fld>
            <a:endParaRPr lang="en-US" altLang="en-US" dirty="0"/>
          </a:p>
        </p:txBody>
      </p:sp>
    </p:spTree>
    <p:extLst>
      <p:ext uri="{BB962C8B-B14F-4D97-AF65-F5344CB8AC3E}">
        <p14:creationId xmlns:p14="http://schemas.microsoft.com/office/powerpoint/2010/main" val="34814675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EADF-1AC4-EC71-E86D-A963B3061A0F}"/>
              </a:ext>
            </a:extLst>
          </p:cNvPr>
          <p:cNvSpPr>
            <a:spLocks noGrp="1"/>
          </p:cNvSpPr>
          <p:nvPr>
            <p:ph type="title"/>
          </p:nvPr>
        </p:nvSpPr>
        <p:spPr>
          <a:xfrm>
            <a:off x="228600" y="152400"/>
            <a:ext cx="8229600" cy="533400"/>
          </a:xfrm>
        </p:spPr>
        <p:txBody>
          <a:bodyPr/>
          <a:lstStyle/>
          <a:p>
            <a:r>
              <a:rPr lang="en-US" dirty="0"/>
              <a:t>Ontology</a:t>
            </a:r>
          </a:p>
        </p:txBody>
      </p:sp>
      <p:sp>
        <p:nvSpPr>
          <p:cNvPr id="3" name="Content Placeholder 2">
            <a:extLst>
              <a:ext uri="{FF2B5EF4-FFF2-40B4-BE49-F238E27FC236}">
                <a16:creationId xmlns:a16="http://schemas.microsoft.com/office/drawing/2014/main" id="{08CEE809-D0B9-CC4C-4AE4-64CF650D581C}"/>
              </a:ext>
            </a:extLst>
          </p:cNvPr>
          <p:cNvSpPr>
            <a:spLocks noGrp="1"/>
          </p:cNvSpPr>
          <p:nvPr>
            <p:ph idx="1"/>
          </p:nvPr>
        </p:nvSpPr>
        <p:spPr>
          <a:xfrm>
            <a:off x="214604" y="914400"/>
            <a:ext cx="8776996" cy="5638800"/>
          </a:xfrm>
        </p:spPr>
        <p:txBody>
          <a:bodyPr>
            <a:normAutofit fontScale="85000" lnSpcReduction="20000"/>
          </a:bodyPr>
          <a:lstStyle/>
          <a:p>
            <a:r>
              <a:rPr lang="en-US" dirty="0">
                <a:solidFill>
                  <a:srgbClr val="C00000"/>
                </a:solidFill>
              </a:rPr>
              <a:t>RDF</a:t>
            </a:r>
            <a:r>
              <a:rPr lang="en-US" dirty="0"/>
              <a:t>: Resource Description Framework   </a:t>
            </a:r>
          </a:p>
          <a:p>
            <a:r>
              <a:rPr lang="en-US" dirty="0"/>
              <a:t> - Used to represent information about resources in the web. </a:t>
            </a:r>
          </a:p>
          <a:p>
            <a:r>
              <a:rPr lang="en-US" dirty="0"/>
              <a:t> - </a:t>
            </a:r>
            <a:r>
              <a:rPr lang="en-US" dirty="0">
                <a:solidFill>
                  <a:srgbClr val="0070C0"/>
                </a:solidFill>
              </a:rPr>
              <a:t>It structures data as triples: (subject, predicate, object).  - Example: (Person, </a:t>
            </a:r>
            <a:r>
              <a:rPr lang="en-US" dirty="0" err="1">
                <a:solidFill>
                  <a:srgbClr val="0070C0"/>
                </a:solidFill>
              </a:rPr>
              <a:t>hasName</a:t>
            </a:r>
            <a:r>
              <a:rPr lang="en-US" dirty="0">
                <a:solidFill>
                  <a:srgbClr val="0070C0"/>
                </a:solidFill>
              </a:rPr>
              <a:t>, "Alice")- </a:t>
            </a:r>
          </a:p>
          <a:p>
            <a:endParaRPr lang="en-US" dirty="0"/>
          </a:p>
          <a:p>
            <a:r>
              <a:rPr lang="en-US" dirty="0">
                <a:solidFill>
                  <a:srgbClr val="C00000"/>
                </a:solidFill>
              </a:rPr>
              <a:t>OWL: </a:t>
            </a:r>
            <a:r>
              <a:rPr lang="en-US" dirty="0"/>
              <a:t>Web Ontology Language   </a:t>
            </a:r>
          </a:p>
          <a:p>
            <a:r>
              <a:rPr lang="en-US" dirty="0"/>
              <a:t> - Built on top of RDF.  </a:t>
            </a:r>
          </a:p>
          <a:p>
            <a:pPr marL="502920" indent="-457200">
              <a:buFontTx/>
              <a:buChar char="-"/>
            </a:pPr>
            <a:r>
              <a:rPr lang="en-US" dirty="0"/>
              <a:t>Used to define rich ontologies </a:t>
            </a:r>
          </a:p>
          <a:p>
            <a:pPr marL="502920" indent="-457200">
              <a:buFontTx/>
              <a:buChar char="-"/>
            </a:pPr>
            <a:r>
              <a:rPr lang="en-US" dirty="0"/>
              <a:t> classes, relationships, constraints.  </a:t>
            </a:r>
          </a:p>
          <a:p>
            <a:pPr marL="502920" indent="-457200">
              <a:buFontTx/>
              <a:buChar char="-"/>
            </a:pPr>
            <a:r>
              <a:rPr lang="en-US" dirty="0"/>
              <a:t>Enables reasoning about data (e.g., if A is a subclass of B, then A inherits B’s properties).</a:t>
            </a:r>
          </a:p>
          <a:p>
            <a:endParaRPr lang="en-US" dirty="0"/>
          </a:p>
          <a:p>
            <a:r>
              <a:rPr lang="en-US" dirty="0"/>
              <a:t>In summary:</a:t>
            </a:r>
          </a:p>
          <a:p>
            <a:pPr marL="502920" indent="-457200">
              <a:buFontTx/>
              <a:buChar char="-"/>
            </a:pPr>
            <a:r>
              <a:rPr lang="en-US" dirty="0"/>
              <a:t>   </a:t>
            </a:r>
            <a:r>
              <a:rPr lang="en-US" dirty="0">
                <a:solidFill>
                  <a:srgbClr val="0070C0"/>
                </a:solidFill>
              </a:rPr>
              <a:t>RDF is for data representation</a:t>
            </a:r>
            <a:r>
              <a:rPr lang="en-US" dirty="0"/>
              <a:t>,  - </a:t>
            </a:r>
            <a:r>
              <a:rPr lang="en-US" dirty="0">
                <a:solidFill>
                  <a:srgbClr val="0070C0"/>
                </a:solidFill>
              </a:rPr>
              <a:t>OWL is for defining and reasoning over ontologies.</a:t>
            </a:r>
          </a:p>
          <a:p>
            <a:endParaRPr lang="en-US" dirty="0"/>
          </a:p>
        </p:txBody>
      </p:sp>
      <p:sp>
        <p:nvSpPr>
          <p:cNvPr id="4" name="Slide Number Placeholder 3">
            <a:extLst>
              <a:ext uri="{FF2B5EF4-FFF2-40B4-BE49-F238E27FC236}">
                <a16:creationId xmlns:a16="http://schemas.microsoft.com/office/drawing/2014/main" id="{7A443863-629D-D27B-F63A-FEA620188A56}"/>
              </a:ext>
            </a:extLst>
          </p:cNvPr>
          <p:cNvSpPr>
            <a:spLocks noGrp="1"/>
          </p:cNvSpPr>
          <p:nvPr>
            <p:ph type="sldNum" sz="quarter" idx="12"/>
          </p:nvPr>
        </p:nvSpPr>
        <p:spPr/>
        <p:txBody>
          <a:bodyPr/>
          <a:lstStyle/>
          <a:p>
            <a:fld id="{71C6F290-D301-4864-9490-340EF11588D9}" type="slidenum">
              <a:rPr lang="en-US" altLang="en-US" smtClean="0"/>
              <a:pPr/>
              <a:t>54</a:t>
            </a:fld>
            <a:endParaRPr lang="en-US" altLang="en-US" dirty="0"/>
          </a:p>
        </p:txBody>
      </p:sp>
    </p:spTree>
    <p:extLst>
      <p:ext uri="{BB962C8B-B14F-4D97-AF65-F5344CB8AC3E}">
        <p14:creationId xmlns:p14="http://schemas.microsoft.com/office/powerpoint/2010/main" val="23182113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7AF53-9C8C-2D7B-2451-41729ACCB3D2}"/>
              </a:ext>
            </a:extLst>
          </p:cNvPr>
          <p:cNvSpPr>
            <a:spLocks noGrp="1"/>
          </p:cNvSpPr>
          <p:nvPr>
            <p:ph type="title"/>
          </p:nvPr>
        </p:nvSpPr>
        <p:spPr>
          <a:xfrm>
            <a:off x="228600" y="228600"/>
            <a:ext cx="7696200" cy="457200"/>
          </a:xfrm>
        </p:spPr>
        <p:txBody>
          <a:bodyPr/>
          <a:lstStyle/>
          <a:p>
            <a:r>
              <a:rPr lang="en-US" dirty="0"/>
              <a:t>Ontology Program</a:t>
            </a:r>
          </a:p>
        </p:txBody>
      </p:sp>
      <p:sp>
        <p:nvSpPr>
          <p:cNvPr id="3" name="Content Placeholder 2">
            <a:extLst>
              <a:ext uri="{FF2B5EF4-FFF2-40B4-BE49-F238E27FC236}">
                <a16:creationId xmlns:a16="http://schemas.microsoft.com/office/drawing/2014/main" id="{F0C40CF0-0CA8-54D2-D5F6-FC0FC8163035}"/>
              </a:ext>
            </a:extLst>
          </p:cNvPr>
          <p:cNvSpPr>
            <a:spLocks noGrp="1"/>
          </p:cNvSpPr>
          <p:nvPr>
            <p:ph idx="1"/>
          </p:nvPr>
        </p:nvSpPr>
        <p:spPr>
          <a:xfrm>
            <a:off x="228600" y="838200"/>
            <a:ext cx="8610600" cy="5867400"/>
          </a:xfrm>
        </p:spPr>
        <p:txBody>
          <a:bodyPr/>
          <a:lstStyle/>
          <a:p>
            <a:endParaRPr lang="en-US" dirty="0"/>
          </a:p>
          <a:p>
            <a:r>
              <a:rPr lang="en-US" dirty="0">
                <a:solidFill>
                  <a:srgbClr val="FF0000"/>
                </a:solidFill>
              </a:rPr>
              <a:t>  </a:t>
            </a:r>
            <a:r>
              <a:rPr lang="en-US" dirty="0">
                <a:solidFill>
                  <a:srgbClr val="FF0000"/>
                </a:solidFill>
                <a:hlinkClick r:id="rId2" action="ppaction://hlinkfile">
                  <a:extLst>
                    <a:ext uri="{A12FA001-AC4F-418D-AE19-62706E023703}">
                      <ahyp:hlinkClr xmlns:ahyp="http://schemas.microsoft.com/office/drawing/2018/hyperlinkcolor" val="tx"/>
                    </a:ext>
                  </a:extLst>
                </a:hlinkClick>
              </a:rPr>
              <a:t>rdf.txt</a:t>
            </a:r>
            <a:endParaRPr lang="en-US" dirty="0">
              <a:solidFill>
                <a:srgbClr val="FF0000"/>
              </a:solidFill>
            </a:endParaRPr>
          </a:p>
        </p:txBody>
      </p:sp>
      <p:sp>
        <p:nvSpPr>
          <p:cNvPr id="4" name="Slide Number Placeholder 3">
            <a:extLst>
              <a:ext uri="{FF2B5EF4-FFF2-40B4-BE49-F238E27FC236}">
                <a16:creationId xmlns:a16="http://schemas.microsoft.com/office/drawing/2014/main" id="{20C5E26D-B4D4-0FA3-FC08-FDA2E44D027E}"/>
              </a:ext>
            </a:extLst>
          </p:cNvPr>
          <p:cNvSpPr>
            <a:spLocks noGrp="1"/>
          </p:cNvSpPr>
          <p:nvPr>
            <p:ph type="sldNum" sz="quarter" idx="12"/>
          </p:nvPr>
        </p:nvSpPr>
        <p:spPr/>
        <p:txBody>
          <a:bodyPr/>
          <a:lstStyle/>
          <a:p>
            <a:fld id="{71C6F290-D301-4864-9490-340EF11588D9}" type="slidenum">
              <a:rPr lang="en-US" altLang="en-US" smtClean="0"/>
              <a:pPr/>
              <a:t>55</a:t>
            </a:fld>
            <a:endParaRPr lang="en-US" altLang="en-US" dirty="0"/>
          </a:p>
        </p:txBody>
      </p:sp>
    </p:spTree>
    <p:extLst>
      <p:ext uri="{BB962C8B-B14F-4D97-AF65-F5344CB8AC3E}">
        <p14:creationId xmlns:p14="http://schemas.microsoft.com/office/powerpoint/2010/main" val="18273921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1E2E6-1E1C-8971-EA39-F96746AEBB50}"/>
              </a:ext>
            </a:extLst>
          </p:cNvPr>
          <p:cNvSpPr>
            <a:spLocks noGrp="1"/>
          </p:cNvSpPr>
          <p:nvPr>
            <p:ph type="title"/>
          </p:nvPr>
        </p:nvSpPr>
        <p:spPr>
          <a:xfrm>
            <a:off x="228600" y="228600"/>
            <a:ext cx="7696200" cy="457200"/>
          </a:xfrm>
        </p:spPr>
        <p:txBody>
          <a:bodyPr/>
          <a:lstStyle/>
          <a:p>
            <a:endParaRPr lang="en-US" dirty="0"/>
          </a:p>
        </p:txBody>
      </p:sp>
      <p:sp>
        <p:nvSpPr>
          <p:cNvPr id="3" name="Content Placeholder 2">
            <a:extLst>
              <a:ext uri="{FF2B5EF4-FFF2-40B4-BE49-F238E27FC236}">
                <a16:creationId xmlns:a16="http://schemas.microsoft.com/office/drawing/2014/main" id="{DC6CDFBE-5A9C-6C65-3328-7F72F982FE37}"/>
              </a:ext>
            </a:extLst>
          </p:cNvPr>
          <p:cNvSpPr>
            <a:spLocks noGrp="1"/>
          </p:cNvSpPr>
          <p:nvPr>
            <p:ph idx="1"/>
          </p:nvPr>
        </p:nvSpPr>
        <p:spPr>
          <a:xfrm>
            <a:off x="304800" y="762000"/>
            <a:ext cx="8610600" cy="5943600"/>
          </a:xfrm>
        </p:spPr>
        <p:txBody>
          <a:bodyPr>
            <a:normAutofit/>
          </a:bodyPr>
          <a:lstStyle/>
          <a:p>
            <a:r>
              <a:rPr lang="en-US" dirty="0"/>
              <a:t>Tools You Can Use Depending on your goal, you can use:</a:t>
            </a:r>
          </a:p>
          <a:p>
            <a:pPr marL="560070" indent="-514350">
              <a:buAutoNum type="alphaUcPeriod"/>
            </a:pPr>
            <a:r>
              <a:rPr lang="en-US" dirty="0">
                <a:solidFill>
                  <a:srgbClr val="FF0000"/>
                </a:solidFill>
              </a:rPr>
              <a:t>Protégé (GUI-based</a:t>
            </a:r>
            <a:r>
              <a:rPr lang="en-US" dirty="0"/>
              <a:t>)- Most popular tool to load, edit, and explore ontologies (.</a:t>
            </a:r>
            <a:r>
              <a:rPr lang="en-US" dirty="0" err="1"/>
              <a:t>rdf</a:t>
            </a:r>
            <a:r>
              <a:rPr lang="en-US" dirty="0"/>
              <a:t>, .owl)- Steps: </a:t>
            </a:r>
          </a:p>
          <a:p>
            <a:r>
              <a:rPr lang="en-US" dirty="0"/>
              <a:t> 1. Install Protégé (from Stanford) </a:t>
            </a:r>
          </a:p>
          <a:p>
            <a:r>
              <a:rPr lang="en-US" dirty="0"/>
              <a:t> 2. File → Open → Load your .</a:t>
            </a:r>
            <a:r>
              <a:rPr lang="en-US" dirty="0" err="1"/>
              <a:t>rdf</a:t>
            </a:r>
            <a:r>
              <a:rPr lang="en-US" dirty="0"/>
              <a:t> file  </a:t>
            </a:r>
          </a:p>
          <a:p>
            <a:r>
              <a:rPr lang="en-US" dirty="0"/>
              <a:t>3. Browse classes, properties, individuals  </a:t>
            </a:r>
          </a:p>
          <a:p>
            <a:r>
              <a:rPr lang="en-US" dirty="0"/>
              <a:t>4. Add rules (e.g., SWRL), reasoners (e.g., </a:t>
            </a:r>
            <a:r>
              <a:rPr lang="en-US" dirty="0" err="1"/>
              <a:t>HermiT</a:t>
            </a:r>
            <a:r>
              <a:rPr lang="en-US" dirty="0"/>
              <a:t>)B.</a:t>
            </a:r>
          </a:p>
        </p:txBody>
      </p:sp>
      <p:sp>
        <p:nvSpPr>
          <p:cNvPr id="4" name="Slide Number Placeholder 3">
            <a:extLst>
              <a:ext uri="{FF2B5EF4-FFF2-40B4-BE49-F238E27FC236}">
                <a16:creationId xmlns:a16="http://schemas.microsoft.com/office/drawing/2014/main" id="{74EAE8EC-1D34-2536-D766-DCA589FC5B96}"/>
              </a:ext>
            </a:extLst>
          </p:cNvPr>
          <p:cNvSpPr>
            <a:spLocks noGrp="1"/>
          </p:cNvSpPr>
          <p:nvPr>
            <p:ph type="sldNum" sz="quarter" idx="12"/>
          </p:nvPr>
        </p:nvSpPr>
        <p:spPr/>
        <p:txBody>
          <a:bodyPr/>
          <a:lstStyle/>
          <a:p>
            <a:fld id="{71C6F290-D301-4864-9490-340EF11588D9}" type="slidenum">
              <a:rPr lang="en-US" altLang="en-US" smtClean="0"/>
              <a:pPr/>
              <a:t>56</a:t>
            </a:fld>
            <a:endParaRPr lang="en-US" altLang="en-US" dirty="0"/>
          </a:p>
        </p:txBody>
      </p:sp>
    </p:spTree>
    <p:extLst>
      <p:ext uri="{BB962C8B-B14F-4D97-AF65-F5344CB8AC3E}">
        <p14:creationId xmlns:p14="http://schemas.microsoft.com/office/powerpoint/2010/main" val="19481631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74011-AA35-0AB1-08BD-9FFC9BDB174B}"/>
              </a:ext>
            </a:extLst>
          </p:cNvPr>
          <p:cNvSpPr>
            <a:spLocks noGrp="1"/>
          </p:cNvSpPr>
          <p:nvPr>
            <p:ph type="title"/>
          </p:nvPr>
        </p:nvSpPr>
        <p:spPr>
          <a:xfrm>
            <a:off x="118188" y="152400"/>
            <a:ext cx="7696200" cy="1219200"/>
          </a:xfrm>
        </p:spPr>
        <p:txBody>
          <a:bodyPr/>
          <a:lstStyle/>
          <a:p>
            <a:r>
              <a:rPr lang="en-US" dirty="0"/>
              <a:t>RDF Libraries in Programming</a:t>
            </a:r>
            <a:br>
              <a:rPr lang="en-US" dirty="0"/>
            </a:br>
            <a:endParaRPr lang="en-US" dirty="0"/>
          </a:p>
        </p:txBody>
      </p:sp>
      <p:sp>
        <p:nvSpPr>
          <p:cNvPr id="3" name="Content Placeholder 2">
            <a:extLst>
              <a:ext uri="{FF2B5EF4-FFF2-40B4-BE49-F238E27FC236}">
                <a16:creationId xmlns:a16="http://schemas.microsoft.com/office/drawing/2014/main" id="{BC6C20A3-B902-D99D-84B9-A6168F43CA7A}"/>
              </a:ext>
            </a:extLst>
          </p:cNvPr>
          <p:cNvSpPr>
            <a:spLocks noGrp="1"/>
          </p:cNvSpPr>
          <p:nvPr>
            <p:ph idx="1"/>
          </p:nvPr>
        </p:nvSpPr>
        <p:spPr>
          <a:xfrm>
            <a:off x="152400" y="838200"/>
            <a:ext cx="8839200" cy="5867400"/>
          </a:xfrm>
        </p:spPr>
        <p:txBody>
          <a:bodyPr>
            <a:normAutofit fontScale="92500"/>
          </a:bodyPr>
          <a:lstStyle/>
          <a:p>
            <a:r>
              <a:rPr lang="en-US" dirty="0"/>
              <a:t>RDF Libraries in Programming</a:t>
            </a:r>
          </a:p>
          <a:p>
            <a:r>
              <a:rPr lang="en-US" dirty="0"/>
              <a:t>- Python (</a:t>
            </a:r>
            <a:r>
              <a:rPr lang="en-US" dirty="0" err="1"/>
              <a:t>RDFlib</a:t>
            </a:r>
            <a:r>
              <a:rPr lang="en-US" dirty="0"/>
              <a:t>): </a:t>
            </a:r>
          </a:p>
          <a:p>
            <a:r>
              <a:rPr lang="en-US" dirty="0"/>
              <a:t> </a:t>
            </a:r>
            <a:r>
              <a:rPr lang="en-US" dirty="0">
                <a:solidFill>
                  <a:srgbClr val="FF0000"/>
                </a:solidFill>
              </a:rPr>
              <a:t>python </a:t>
            </a:r>
          </a:p>
          <a:p>
            <a:r>
              <a:rPr lang="en-US" dirty="0"/>
              <a:t> from </a:t>
            </a:r>
            <a:r>
              <a:rPr lang="en-US" dirty="0" err="1"/>
              <a:t>rdflib</a:t>
            </a:r>
            <a:r>
              <a:rPr lang="en-US" dirty="0"/>
              <a:t> import Graph </a:t>
            </a:r>
          </a:p>
          <a:p>
            <a:r>
              <a:rPr lang="en-US" dirty="0"/>
              <a:t> g = Graph()  </a:t>
            </a:r>
          </a:p>
          <a:p>
            <a:r>
              <a:rPr lang="en-US" dirty="0"/>
              <a:t> </a:t>
            </a:r>
            <a:r>
              <a:rPr lang="en-US" dirty="0" err="1"/>
              <a:t>g.parse</a:t>
            </a:r>
            <a:r>
              <a:rPr lang="en-US" dirty="0"/>
              <a:t>("</a:t>
            </a:r>
            <a:r>
              <a:rPr lang="en-US" dirty="0" err="1"/>
              <a:t>ontology.rdf</a:t>
            </a:r>
            <a:r>
              <a:rPr lang="en-US" dirty="0"/>
              <a:t>")  # or .owl, .</a:t>
            </a:r>
            <a:r>
              <a:rPr lang="en-US" dirty="0" err="1"/>
              <a:t>ttl</a:t>
            </a:r>
            <a:r>
              <a:rPr lang="en-US" dirty="0"/>
              <a:t>  </a:t>
            </a:r>
          </a:p>
          <a:p>
            <a:r>
              <a:rPr lang="en-US" dirty="0"/>
              <a:t> for subj, pred, obj in g:      </a:t>
            </a:r>
          </a:p>
          <a:p>
            <a:r>
              <a:rPr lang="en-US" dirty="0"/>
              <a:t>    print(subj, pred, obj)  </a:t>
            </a:r>
          </a:p>
          <a:p>
            <a:r>
              <a:rPr lang="en-US" dirty="0">
                <a:solidFill>
                  <a:srgbClr val="FF0000"/>
                </a:solidFill>
              </a:rPr>
              <a:t>Java (Apache Jena):  </a:t>
            </a:r>
          </a:p>
          <a:p>
            <a:r>
              <a:rPr lang="en-US" dirty="0"/>
              <a:t>java  Model </a:t>
            </a:r>
            <a:r>
              <a:rPr lang="en-US" dirty="0" err="1"/>
              <a:t>model</a:t>
            </a:r>
            <a:r>
              <a:rPr lang="en-US" dirty="0"/>
              <a:t> = </a:t>
            </a:r>
            <a:r>
              <a:rPr lang="en-US" dirty="0" err="1"/>
              <a:t>ModelFactory.createDefaultModel</a:t>
            </a:r>
            <a:r>
              <a:rPr lang="en-US" dirty="0"/>
              <a:t>(); </a:t>
            </a:r>
          </a:p>
          <a:p>
            <a:r>
              <a:rPr lang="en-US" dirty="0" err="1"/>
              <a:t>model.read</a:t>
            </a:r>
            <a:r>
              <a:rPr lang="en-US" dirty="0"/>
              <a:t>("</a:t>
            </a:r>
            <a:r>
              <a:rPr lang="en-US" dirty="0" err="1"/>
              <a:t>ontology.rdf</a:t>
            </a:r>
            <a:r>
              <a:rPr lang="en-US" dirty="0"/>
              <a:t>");  </a:t>
            </a:r>
          </a:p>
          <a:p>
            <a:r>
              <a:rPr lang="en-US" dirty="0" err="1"/>
              <a:t>model.write</a:t>
            </a:r>
            <a:r>
              <a:rPr lang="en-US" dirty="0"/>
              <a:t>(</a:t>
            </a:r>
            <a:r>
              <a:rPr lang="en-US" dirty="0" err="1"/>
              <a:t>System.out</a:t>
            </a:r>
            <a:r>
              <a:rPr lang="en-US" dirty="0"/>
              <a:t>);  </a:t>
            </a:r>
          </a:p>
          <a:p>
            <a:endParaRPr lang="en-US" dirty="0"/>
          </a:p>
        </p:txBody>
      </p:sp>
      <p:sp>
        <p:nvSpPr>
          <p:cNvPr id="4" name="Slide Number Placeholder 3">
            <a:extLst>
              <a:ext uri="{FF2B5EF4-FFF2-40B4-BE49-F238E27FC236}">
                <a16:creationId xmlns:a16="http://schemas.microsoft.com/office/drawing/2014/main" id="{CEBE7EDB-2625-7F5F-B61F-6A43FC6C1F59}"/>
              </a:ext>
            </a:extLst>
          </p:cNvPr>
          <p:cNvSpPr>
            <a:spLocks noGrp="1"/>
          </p:cNvSpPr>
          <p:nvPr>
            <p:ph type="sldNum" sz="quarter" idx="12"/>
          </p:nvPr>
        </p:nvSpPr>
        <p:spPr/>
        <p:txBody>
          <a:bodyPr/>
          <a:lstStyle/>
          <a:p>
            <a:fld id="{71C6F290-D301-4864-9490-340EF11588D9}" type="slidenum">
              <a:rPr lang="en-US" altLang="en-US" smtClean="0"/>
              <a:pPr/>
              <a:t>57</a:t>
            </a:fld>
            <a:endParaRPr lang="en-US" altLang="en-US" dirty="0"/>
          </a:p>
        </p:txBody>
      </p:sp>
    </p:spTree>
    <p:extLst>
      <p:ext uri="{BB962C8B-B14F-4D97-AF65-F5344CB8AC3E}">
        <p14:creationId xmlns:p14="http://schemas.microsoft.com/office/powerpoint/2010/main" val="36370154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1FC66-86DB-C711-7955-02CF9BB3EE1A}"/>
              </a:ext>
            </a:extLst>
          </p:cNvPr>
          <p:cNvSpPr>
            <a:spLocks noGrp="1"/>
          </p:cNvSpPr>
          <p:nvPr>
            <p:ph type="title"/>
          </p:nvPr>
        </p:nvSpPr>
        <p:spPr>
          <a:xfrm>
            <a:off x="228600" y="228600"/>
            <a:ext cx="7696200" cy="381000"/>
          </a:xfrm>
        </p:spPr>
        <p:txBody>
          <a:bodyPr/>
          <a:lstStyle/>
          <a:p>
            <a:r>
              <a:rPr lang="en-US" dirty="0"/>
              <a:t>RDF Libraries in Programming</a:t>
            </a:r>
          </a:p>
        </p:txBody>
      </p:sp>
      <p:sp>
        <p:nvSpPr>
          <p:cNvPr id="3" name="Content Placeholder 2">
            <a:extLst>
              <a:ext uri="{FF2B5EF4-FFF2-40B4-BE49-F238E27FC236}">
                <a16:creationId xmlns:a16="http://schemas.microsoft.com/office/drawing/2014/main" id="{1B7B43FD-8484-CE5B-89CB-75B038EE351C}"/>
              </a:ext>
            </a:extLst>
          </p:cNvPr>
          <p:cNvSpPr>
            <a:spLocks noGrp="1"/>
          </p:cNvSpPr>
          <p:nvPr>
            <p:ph idx="1"/>
          </p:nvPr>
        </p:nvSpPr>
        <p:spPr>
          <a:xfrm>
            <a:off x="228600" y="762000"/>
            <a:ext cx="8534400" cy="5943600"/>
          </a:xfrm>
        </p:spPr>
        <p:txBody>
          <a:bodyPr>
            <a:normAutofit/>
          </a:bodyPr>
          <a:lstStyle/>
          <a:p>
            <a:pPr marL="502920" indent="-457200">
              <a:buFontTx/>
              <a:buChar char="-"/>
            </a:pPr>
            <a:r>
              <a:rPr lang="en-US" sz="2400" dirty="0">
                <a:solidFill>
                  <a:srgbClr val="FF0000"/>
                </a:solidFill>
              </a:rPr>
              <a:t>Prolog (SWI-Prolog): </a:t>
            </a:r>
          </a:p>
          <a:p>
            <a:r>
              <a:rPr lang="en-US" sz="2400" dirty="0"/>
              <a:t>:- </a:t>
            </a:r>
            <a:r>
              <a:rPr lang="en-US" sz="2400" dirty="0" err="1"/>
              <a:t>use_module</a:t>
            </a:r>
            <a:r>
              <a:rPr lang="en-US" sz="2400" dirty="0"/>
              <a:t>(library(</a:t>
            </a:r>
            <a:r>
              <a:rPr lang="en-US" sz="2400" dirty="0" err="1"/>
              <a:t>semweb</a:t>
            </a:r>
            <a:r>
              <a:rPr lang="en-US" sz="2400" dirty="0"/>
              <a:t>/</a:t>
            </a:r>
            <a:r>
              <a:rPr lang="en-US" sz="2400" dirty="0" err="1"/>
              <a:t>rdf_db</a:t>
            </a:r>
            <a:r>
              <a:rPr lang="en-US" sz="2400" dirty="0"/>
              <a:t>)). </a:t>
            </a:r>
          </a:p>
          <a:p>
            <a:r>
              <a:rPr lang="en-US" sz="2400" dirty="0"/>
              <a:t> :- </a:t>
            </a:r>
            <a:r>
              <a:rPr lang="en-US" sz="2400" dirty="0" err="1"/>
              <a:t>rdf_load</a:t>
            </a:r>
            <a:r>
              <a:rPr lang="en-US" sz="2400" dirty="0"/>
              <a:t>('</a:t>
            </a:r>
            <a:r>
              <a:rPr lang="en-US" sz="2400" dirty="0" err="1"/>
              <a:t>ontology.rdf</a:t>
            </a:r>
            <a:r>
              <a:rPr lang="en-US" sz="2400" dirty="0"/>
              <a:t>’). </a:t>
            </a:r>
          </a:p>
          <a:p>
            <a:endParaRPr lang="en-US" sz="2400" dirty="0"/>
          </a:p>
          <a:p>
            <a:r>
              <a:rPr lang="en-US" sz="2400" dirty="0"/>
              <a:t> ?- </a:t>
            </a:r>
            <a:r>
              <a:rPr lang="en-US" sz="2400" dirty="0" err="1"/>
              <a:t>rdf</a:t>
            </a:r>
            <a:r>
              <a:rPr lang="en-US" sz="2400" dirty="0"/>
              <a:t>(S, P, O).  </a:t>
            </a:r>
          </a:p>
          <a:p>
            <a:r>
              <a:rPr lang="en-US" sz="2400" dirty="0">
                <a:solidFill>
                  <a:srgbClr val="FF0000"/>
                </a:solidFill>
              </a:rPr>
              <a:t>C. SPARQL Queries-</a:t>
            </a:r>
          </a:p>
          <a:p>
            <a:r>
              <a:rPr lang="en-US" sz="2400" dirty="0">
                <a:solidFill>
                  <a:srgbClr val="FF0000"/>
                </a:solidFill>
              </a:rPr>
              <a:t> </a:t>
            </a:r>
            <a:r>
              <a:rPr lang="en-US" sz="2400" dirty="0"/>
              <a:t>Use SPARQL to query RDF data:  </a:t>
            </a:r>
          </a:p>
          <a:p>
            <a:r>
              <a:rPr lang="en-US" sz="2400" dirty="0"/>
              <a:t>```</a:t>
            </a:r>
            <a:r>
              <a:rPr lang="en-US" sz="2400" dirty="0" err="1"/>
              <a:t>sparql</a:t>
            </a:r>
            <a:endParaRPr lang="en-US" sz="2400" dirty="0"/>
          </a:p>
          <a:p>
            <a:r>
              <a:rPr lang="en-US" sz="2400" dirty="0"/>
              <a:t>SELECT ?subject ?object </a:t>
            </a:r>
          </a:p>
          <a:p>
            <a:r>
              <a:rPr lang="en-US" sz="2400" dirty="0"/>
              <a:t> WHERE {    ?subject &lt;http://example.org/hasPart&gt; ?object .  }  ```</a:t>
            </a:r>
          </a:p>
        </p:txBody>
      </p:sp>
      <p:sp>
        <p:nvSpPr>
          <p:cNvPr id="4" name="Slide Number Placeholder 3">
            <a:extLst>
              <a:ext uri="{FF2B5EF4-FFF2-40B4-BE49-F238E27FC236}">
                <a16:creationId xmlns:a16="http://schemas.microsoft.com/office/drawing/2014/main" id="{BD46DCC7-3B69-A83F-EECA-B4FB110E1002}"/>
              </a:ext>
            </a:extLst>
          </p:cNvPr>
          <p:cNvSpPr>
            <a:spLocks noGrp="1"/>
          </p:cNvSpPr>
          <p:nvPr>
            <p:ph type="sldNum" sz="quarter" idx="12"/>
          </p:nvPr>
        </p:nvSpPr>
        <p:spPr/>
        <p:txBody>
          <a:bodyPr/>
          <a:lstStyle/>
          <a:p>
            <a:fld id="{71C6F290-D301-4864-9490-340EF11588D9}" type="slidenum">
              <a:rPr lang="en-US" altLang="en-US" smtClean="0"/>
              <a:pPr/>
              <a:t>58</a:t>
            </a:fld>
            <a:endParaRPr lang="en-US" altLang="en-US" dirty="0"/>
          </a:p>
        </p:txBody>
      </p:sp>
    </p:spTree>
    <p:extLst>
      <p:ext uri="{BB962C8B-B14F-4D97-AF65-F5344CB8AC3E}">
        <p14:creationId xmlns:p14="http://schemas.microsoft.com/office/powerpoint/2010/main" val="3175297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B4D2-0394-4C74-B561-4969D9A3F178}"/>
              </a:ext>
            </a:extLst>
          </p:cNvPr>
          <p:cNvSpPr>
            <a:spLocks noGrp="1"/>
          </p:cNvSpPr>
          <p:nvPr>
            <p:ph type="title"/>
          </p:nvPr>
        </p:nvSpPr>
        <p:spPr>
          <a:xfrm>
            <a:off x="228600" y="228600"/>
            <a:ext cx="7696200" cy="685800"/>
          </a:xfrm>
        </p:spPr>
        <p:txBody>
          <a:bodyPr/>
          <a:lstStyle/>
          <a:p>
            <a:r>
              <a:rPr lang="en-US" dirty="0"/>
              <a:t>Ontology</a:t>
            </a:r>
          </a:p>
        </p:txBody>
      </p:sp>
      <p:sp>
        <p:nvSpPr>
          <p:cNvPr id="3" name="Content Placeholder 2">
            <a:extLst>
              <a:ext uri="{FF2B5EF4-FFF2-40B4-BE49-F238E27FC236}">
                <a16:creationId xmlns:a16="http://schemas.microsoft.com/office/drawing/2014/main" id="{88A3E5C2-BEE3-D21D-7C00-C06A06DB7565}"/>
              </a:ext>
            </a:extLst>
          </p:cNvPr>
          <p:cNvSpPr>
            <a:spLocks noGrp="1"/>
          </p:cNvSpPr>
          <p:nvPr>
            <p:ph idx="1"/>
          </p:nvPr>
        </p:nvSpPr>
        <p:spPr>
          <a:xfrm>
            <a:off x="228600" y="990600"/>
            <a:ext cx="8763000" cy="5715000"/>
          </a:xfrm>
        </p:spPr>
        <p:txBody>
          <a:bodyPr>
            <a:normAutofit fontScale="70000" lnSpcReduction="20000"/>
          </a:bodyPr>
          <a:lstStyle/>
          <a:p>
            <a:r>
              <a:rPr lang="en-US" dirty="0"/>
              <a:t>The RDF triples output by the ontology program can be used in many semantic web and AI applications. Here's how you can use them:</a:t>
            </a:r>
          </a:p>
          <a:p>
            <a:endParaRPr lang="en-US" dirty="0"/>
          </a:p>
          <a:p>
            <a:pPr marL="560070" indent="-514350">
              <a:buAutoNum type="arabicPeriod"/>
            </a:pPr>
            <a:r>
              <a:rPr lang="en-US" dirty="0"/>
              <a:t>Storing in a Triple Store- Use tools like Apache Jena </a:t>
            </a:r>
            <a:r>
              <a:rPr lang="en-US" dirty="0" err="1"/>
              <a:t>Fuseki</a:t>
            </a:r>
            <a:r>
              <a:rPr lang="en-US" dirty="0"/>
              <a:t> or </a:t>
            </a:r>
            <a:r>
              <a:rPr lang="en-US" dirty="0" err="1"/>
              <a:t>Blazegraph</a:t>
            </a:r>
            <a:r>
              <a:rPr lang="en-US" dirty="0"/>
              <a:t> to store RDF triples.- You can then query them using SPARQL.- Example use case: educational platform querying relationships like who teaches what</a:t>
            </a:r>
          </a:p>
          <a:p>
            <a:pPr marL="560070" indent="-514350">
              <a:buAutoNum type="arabicPeriod"/>
            </a:pPr>
            <a:r>
              <a:rPr lang="en-US" dirty="0"/>
              <a:t>Using in a Knowledge Graph- The output can be integrated into a knowledge graph to connect data semantically.- Applications: chatbots, recommendation systems, semantic search.</a:t>
            </a:r>
          </a:p>
          <a:p>
            <a:endParaRPr lang="en-US" dirty="0"/>
          </a:p>
          <a:p>
            <a:r>
              <a:rPr lang="en-US" dirty="0"/>
              <a:t>3. Integrating with Web Apps- Convert RDF to formats like JSON-LD for use in web applications.- Useful in structured data for SEO, dynamic content rendering, etc.</a:t>
            </a:r>
          </a:p>
          <a:p>
            <a:endParaRPr lang="en-US" dirty="0"/>
          </a:p>
          <a:p>
            <a:r>
              <a:rPr lang="en-US" dirty="0"/>
              <a:t>4. Reasoning and Inference- Use OWL reasoners (like Pellet, </a:t>
            </a:r>
            <a:r>
              <a:rPr lang="en-US" dirty="0" err="1"/>
              <a:t>HermiT</a:t>
            </a:r>
            <a:r>
              <a:rPr lang="en-US" dirty="0"/>
              <a:t>) to infer new knowledge.- For example, infer that Alice is a Person because she is a Professor, and Professor is a subclass of Person.5. Export/Serialization- Save the RDF graph in formats like Turtle (.</a:t>
            </a:r>
            <a:r>
              <a:rPr lang="en-US" dirty="0" err="1"/>
              <a:t>ttl</a:t>
            </a:r>
            <a:r>
              <a:rPr lang="en-US" dirty="0"/>
              <a:t>), RDF/XML, or JSON-LD.- These can be shared, published, or reused by other semantic web tools.</a:t>
            </a:r>
          </a:p>
          <a:p>
            <a:endParaRPr lang="en-US" dirty="0"/>
          </a:p>
        </p:txBody>
      </p:sp>
      <p:sp>
        <p:nvSpPr>
          <p:cNvPr id="4" name="Slide Number Placeholder 3">
            <a:extLst>
              <a:ext uri="{FF2B5EF4-FFF2-40B4-BE49-F238E27FC236}">
                <a16:creationId xmlns:a16="http://schemas.microsoft.com/office/drawing/2014/main" id="{FD580096-96C8-492F-F1C7-BAED0F84C60A}"/>
              </a:ext>
            </a:extLst>
          </p:cNvPr>
          <p:cNvSpPr>
            <a:spLocks noGrp="1"/>
          </p:cNvSpPr>
          <p:nvPr>
            <p:ph type="sldNum" sz="quarter" idx="12"/>
          </p:nvPr>
        </p:nvSpPr>
        <p:spPr/>
        <p:txBody>
          <a:bodyPr/>
          <a:lstStyle/>
          <a:p>
            <a:fld id="{71C6F290-D301-4864-9490-340EF11588D9}" type="slidenum">
              <a:rPr lang="en-US" altLang="en-US" smtClean="0"/>
              <a:pPr/>
              <a:t>59</a:t>
            </a:fld>
            <a:endParaRPr lang="en-US" altLang="en-US" dirty="0"/>
          </a:p>
        </p:txBody>
      </p:sp>
    </p:spTree>
    <p:extLst>
      <p:ext uri="{BB962C8B-B14F-4D97-AF65-F5344CB8AC3E}">
        <p14:creationId xmlns:p14="http://schemas.microsoft.com/office/powerpoint/2010/main" val="2558806311"/>
      </p:ext>
    </p:extLst>
  </p:cSld>
  <p:clrMapOvr>
    <a:masterClrMapping/>
  </p:clrMapOvr>
</p:sld>
</file>

<file path=ppt/theme/theme1.xml><?xml version="1.0" encoding="utf-8"?>
<a:theme xmlns:a="http://schemas.openxmlformats.org/drawingml/2006/main" name="Sales training presentation">
  <a:themeElements>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Sales Training_final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lnDef>
  </a:objectDefaults>
  <a:extraClrSchemeLst>
    <a:extraClrScheme>
      <a:clrScheme name="Sales Training_final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Sales Training_final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Sales Training_final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Sales Training_final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Sales Training_final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Sales Training_final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Sales Training_final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Sales Training_final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Sales Training_final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ales training presentation.potx" id="{3181A242-BAE2-485E-97E8-919259126601}" vid="{819B686A-E690-42F4-91DA-6D012EEA393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Sales training slides</Template>
  <TotalTime>1783</TotalTime>
  <Words>5272</Words>
  <Application>Microsoft Office PowerPoint</Application>
  <PresentationFormat>On-screen Show (4:3)</PresentationFormat>
  <Paragraphs>664</Paragraphs>
  <Slides>59</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64" baseType="lpstr">
      <vt:lpstr>Arial</vt:lpstr>
      <vt:lpstr>source-code-pro</vt:lpstr>
      <vt:lpstr>Wingdings</vt:lpstr>
      <vt:lpstr>Sales training presentation</vt:lpstr>
      <vt:lpstr>Bitmap Image</vt:lpstr>
      <vt:lpstr>Chapter 10</vt:lpstr>
      <vt:lpstr>Knowledge representation</vt:lpstr>
      <vt:lpstr>Knowledge representation</vt:lpstr>
      <vt:lpstr>Knowledge representation</vt:lpstr>
      <vt:lpstr>Knowledge representation</vt:lpstr>
      <vt:lpstr>     Propositional Calculus </vt:lpstr>
      <vt:lpstr>Propositional Calculus</vt:lpstr>
      <vt:lpstr>Predicate Calculus</vt:lpstr>
      <vt:lpstr>    Predicate Calculus</vt:lpstr>
      <vt:lpstr>Predicate Calculus </vt:lpstr>
      <vt:lpstr>Theorem Proving</vt:lpstr>
      <vt:lpstr>Theorem Proving</vt:lpstr>
      <vt:lpstr>Theorem Proving</vt:lpstr>
      <vt:lpstr>Theorem Proving</vt:lpstr>
      <vt:lpstr>Theorem Proving</vt:lpstr>
      <vt:lpstr>Theorem Proving</vt:lpstr>
      <vt:lpstr>Resolution</vt:lpstr>
      <vt:lpstr>Resolution</vt:lpstr>
      <vt:lpstr>Resolution</vt:lpstr>
      <vt:lpstr>Resolution</vt:lpstr>
      <vt:lpstr>Resolution</vt:lpstr>
      <vt:lpstr>Resolution</vt:lpstr>
      <vt:lpstr>Resolution</vt:lpstr>
      <vt:lpstr>Resolution</vt:lpstr>
      <vt:lpstr>Resolution</vt:lpstr>
      <vt:lpstr>Resolution</vt:lpstr>
      <vt:lpstr>Resolution</vt:lpstr>
      <vt:lpstr>Semantic Networks</vt:lpstr>
      <vt:lpstr>Semantic Networks</vt:lpstr>
      <vt:lpstr>Semantic Networks</vt:lpstr>
      <vt:lpstr>Semantic Networks</vt:lpstr>
      <vt:lpstr>Semantic Networks</vt:lpstr>
      <vt:lpstr>PowerPoint Presentation</vt:lpstr>
      <vt:lpstr>Frames</vt:lpstr>
      <vt:lpstr>Frames</vt:lpstr>
      <vt:lpstr>Frames</vt:lpstr>
      <vt:lpstr>Frames</vt:lpstr>
      <vt:lpstr>Frames</vt:lpstr>
      <vt:lpstr>Frames</vt:lpstr>
      <vt:lpstr>Frames Program</vt:lpstr>
      <vt:lpstr>Frames Program</vt:lpstr>
      <vt:lpstr>Ontology</vt:lpstr>
      <vt:lpstr>Ontology</vt:lpstr>
      <vt:lpstr>Ontology</vt:lpstr>
      <vt:lpstr>Ontology</vt:lpstr>
      <vt:lpstr>Ontology</vt:lpstr>
      <vt:lpstr>Ontology</vt:lpstr>
      <vt:lpstr>Ontology</vt:lpstr>
      <vt:lpstr>Ontology-Person Ontology</vt:lpstr>
      <vt:lpstr>Ontology</vt:lpstr>
      <vt:lpstr>Ontology</vt:lpstr>
      <vt:lpstr>Ontology</vt:lpstr>
      <vt:lpstr>Ontology</vt:lpstr>
      <vt:lpstr>Ontology</vt:lpstr>
      <vt:lpstr>Ontology Program</vt:lpstr>
      <vt:lpstr>PowerPoint Presentation</vt:lpstr>
      <vt:lpstr>RDF Libraries in Programming </vt:lpstr>
      <vt:lpstr>RDF Libraries in Programming</vt:lpstr>
      <vt:lpstr>Ontology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Darwish</dc:creator>
  <cp:lastModifiedBy>Dr. NABIL M. A. HEWAHI</cp:lastModifiedBy>
  <cp:revision>664</cp:revision>
  <dcterms:created xsi:type="dcterms:W3CDTF">2025-04-22T07:31:40Z</dcterms:created>
  <dcterms:modified xsi:type="dcterms:W3CDTF">2025-10-13T05:04:00Z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