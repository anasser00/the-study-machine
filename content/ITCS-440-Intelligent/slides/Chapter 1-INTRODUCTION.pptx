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33"/>
  </p:notesMasterIdLst>
  <p:handoutMasterIdLst>
    <p:handoutMasterId r:id="rId34"/>
  </p:handoutMasterIdLst>
  <p:sldIdLst>
    <p:sldId id="269" r:id="rId2"/>
    <p:sldId id="275" r:id="rId3"/>
    <p:sldId id="277" r:id="rId4"/>
    <p:sldId id="278" r:id="rId5"/>
    <p:sldId id="282" r:id="rId6"/>
    <p:sldId id="283" r:id="rId7"/>
    <p:sldId id="273" r:id="rId8"/>
    <p:sldId id="281" r:id="rId9"/>
    <p:sldId id="271" r:id="rId10"/>
    <p:sldId id="272" r:id="rId11"/>
    <p:sldId id="284" r:id="rId12"/>
    <p:sldId id="285" r:id="rId13"/>
    <p:sldId id="280" r:id="rId14"/>
    <p:sldId id="274"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300" r:id="rId29"/>
    <p:sldId id="299" r:id="rId30"/>
    <p:sldId id="301" r:id="rId31"/>
    <p:sldId id="276" r:id="rId32"/>
  </p:sldIdLst>
  <p:sldSz cx="9144000" cy="6858000" type="screen4x3"/>
  <p:notesSz cx="7010400" cy="9296400"/>
  <p:defaultTextStyle>
    <a:defPPr>
      <a:defRPr lang="en-US"/>
    </a:defPPr>
    <a:lvl1pPr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1pPr>
    <a:lvl2pPr marL="4572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2pPr>
    <a:lvl3pPr marL="9144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3pPr>
    <a:lvl4pPr marL="13716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4pPr>
    <a:lvl5pPr marL="18288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5pPr>
    <a:lvl6pPr marL="2286000" algn="l" defTabSz="914400" rtl="0" eaLnBrk="1" latinLnBrk="0" hangingPunct="1">
      <a:defRPr sz="2600" kern="1200">
        <a:solidFill>
          <a:schemeClr val="tx1"/>
        </a:solidFill>
        <a:latin typeface="Arial" charset="0"/>
        <a:ea typeface="+mn-ea"/>
        <a:cs typeface="+mn-cs"/>
      </a:defRPr>
    </a:lvl6pPr>
    <a:lvl7pPr marL="2743200" algn="l" defTabSz="914400" rtl="0" eaLnBrk="1" latinLnBrk="0" hangingPunct="1">
      <a:defRPr sz="2600" kern="1200">
        <a:solidFill>
          <a:schemeClr val="tx1"/>
        </a:solidFill>
        <a:latin typeface="Arial" charset="0"/>
        <a:ea typeface="+mn-ea"/>
        <a:cs typeface="+mn-cs"/>
      </a:defRPr>
    </a:lvl7pPr>
    <a:lvl8pPr marL="3200400" algn="l" defTabSz="914400" rtl="0" eaLnBrk="1" latinLnBrk="0" hangingPunct="1">
      <a:defRPr sz="2600" kern="1200">
        <a:solidFill>
          <a:schemeClr val="tx1"/>
        </a:solidFill>
        <a:latin typeface="Arial" charset="0"/>
        <a:ea typeface="+mn-ea"/>
        <a:cs typeface="+mn-cs"/>
      </a:defRPr>
    </a:lvl8pPr>
    <a:lvl9pPr marL="3657600" algn="l" defTabSz="914400" rtl="0" eaLnBrk="1" latinLnBrk="0" hangingPunct="1">
      <a:defRPr sz="2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4917"/>
    <a:srgbClr val="893611"/>
    <a:srgbClr val="A44114"/>
    <a:srgbClr val="F3B99F"/>
    <a:srgbClr val="FF6600"/>
    <a:srgbClr val="000066"/>
    <a:srgbClr val="00002C"/>
    <a:srgbClr val="C4E7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155" autoAdjust="0"/>
  </p:normalViewPr>
  <p:slideViewPr>
    <p:cSldViewPr>
      <p:cViewPr varScale="1">
        <p:scale>
          <a:sx n="82" d="100"/>
          <a:sy n="82" d="100"/>
        </p:scale>
        <p:origin x="1502" y="72"/>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19"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34820"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21"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F0B6EC5B-DE15-4B62-9DC0-DE1BD893DD16}" type="slidenum">
              <a:rPr lang="en-US"/>
              <a:pPr/>
              <a:t>‹#›</a:t>
            </a:fld>
            <a:endParaRPr lang="en-US" dirty="0"/>
          </a:p>
        </p:txBody>
      </p:sp>
    </p:spTree>
    <p:extLst>
      <p:ext uri="{BB962C8B-B14F-4D97-AF65-F5344CB8AC3E}">
        <p14:creationId xmlns:p14="http://schemas.microsoft.com/office/powerpoint/2010/main" val="18248682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27"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2662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630"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31"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823FACB9-4E35-4CB3-835A-2EBF55FAEDE3}" type="slidenum">
              <a:rPr lang="en-US"/>
              <a:pPr/>
              <a:t>‹#›</a:t>
            </a:fld>
            <a:endParaRPr lang="en-US" dirty="0"/>
          </a:p>
        </p:txBody>
      </p:sp>
    </p:spTree>
    <p:extLst>
      <p:ext uri="{BB962C8B-B14F-4D97-AF65-F5344CB8AC3E}">
        <p14:creationId xmlns:p14="http://schemas.microsoft.com/office/powerpoint/2010/main" val="971869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7112" name="Group 8"/>
          <p:cNvGrpSpPr>
            <a:grpSpLocks/>
          </p:cNvGrpSpPr>
          <p:nvPr/>
        </p:nvGrpSpPr>
        <p:grpSpPr bwMode="auto">
          <a:xfrm>
            <a:off x="7493000" y="2992438"/>
            <a:ext cx="1338263" cy="2189162"/>
            <a:chOff x="4704" y="1885"/>
            <a:chExt cx="843" cy="1379"/>
          </a:xfrm>
        </p:grpSpPr>
        <p:sp>
          <p:nvSpPr>
            <p:cNvPr id="4711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714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47107" name="Title Placeholder 1"/>
          <p:cNvSpPr>
            <a:spLocks noGrp="1" noChangeArrowheads="1"/>
          </p:cNvSpPr>
          <p:nvPr>
            <p:ph type="ctrTitle"/>
          </p:nvPr>
        </p:nvSpPr>
        <p:spPr>
          <a:xfrm>
            <a:off x="315913" y="466725"/>
            <a:ext cx="6781800" cy="2133600"/>
          </a:xfrm>
        </p:spPr>
        <p:txBody>
          <a:bodyPr/>
          <a:lstStyle>
            <a:lvl1pPr algn="r">
              <a:defRPr sz="4400"/>
            </a:lvl1pPr>
          </a:lstStyle>
          <a:p>
            <a:pPr lvl="0"/>
            <a:r>
              <a:rPr lang="en-US" altLang="en-US" noProof="0"/>
              <a:t>Click to edit Master title style</a:t>
            </a:r>
          </a:p>
        </p:txBody>
      </p:sp>
      <p:sp>
        <p:nvSpPr>
          <p:cNvPr id="47108" name="Text Placeholder 2"/>
          <p:cNvSpPr>
            <a:spLocks noGrp="1" noChangeArrowheads="1"/>
          </p:cNvSpPr>
          <p:nvPr>
            <p:ph type="subTitle" idx="1"/>
          </p:nvPr>
        </p:nvSpPr>
        <p:spPr>
          <a:xfrm>
            <a:off x="849313" y="3049588"/>
            <a:ext cx="6248400" cy="2362200"/>
          </a:xfrm>
        </p:spPr>
        <p:txBody>
          <a:bodyPr/>
          <a:lstStyle>
            <a:lvl1pPr marL="0" indent="0" algn="r">
              <a:buFontTx/>
              <a:buNone/>
              <a:defRPr sz="2900"/>
            </a:lvl1pPr>
          </a:lstStyle>
          <a:p>
            <a:pPr lvl="0"/>
            <a:r>
              <a:rPr lang="en-US" altLang="en-US" noProof="0"/>
              <a:t>Click to edit Master subtitle style</a:t>
            </a:r>
            <a:endParaRPr lang="en-US" altLang="en-US" noProof="0" dirty="0"/>
          </a:p>
        </p:txBody>
      </p:sp>
      <p:sp>
        <p:nvSpPr>
          <p:cNvPr id="47109" name="Date Placeholder 3"/>
          <p:cNvSpPr>
            <a:spLocks noGrp="1" noChangeArrowheads="1"/>
          </p:cNvSpPr>
          <p:nvPr>
            <p:ph type="dt" sz="half" idx="2"/>
          </p:nvPr>
        </p:nvSpPr>
        <p:spPr/>
        <p:txBody>
          <a:bodyPr/>
          <a:lstStyle>
            <a:lvl1pPr>
              <a:defRPr/>
            </a:lvl1pPr>
          </a:lstStyle>
          <a:p>
            <a:fld id="{6B3D86DF-D88D-4919-AE3E-70ED32C3AA5E}" type="datetime1">
              <a:rPr lang="en-US" altLang="en-US" smtClean="0"/>
              <a:t>8/7/2025</a:t>
            </a:fld>
            <a:endParaRPr lang="en-US" altLang="en-US" dirty="0"/>
          </a:p>
        </p:txBody>
      </p:sp>
      <p:sp>
        <p:nvSpPr>
          <p:cNvPr id="47110" name="Footer Placeholder 4"/>
          <p:cNvSpPr>
            <a:spLocks noGrp="1" noChangeArrowheads="1"/>
          </p:cNvSpPr>
          <p:nvPr>
            <p:ph type="ftr" sz="quarter" idx="3"/>
          </p:nvPr>
        </p:nvSpPr>
        <p:spPr/>
        <p:txBody>
          <a:bodyPr/>
          <a:lstStyle>
            <a:lvl1pPr>
              <a:defRPr/>
            </a:lvl1pPr>
          </a:lstStyle>
          <a:p>
            <a:r>
              <a:rPr lang="en-US" altLang="en-US"/>
              <a:t>Dr. Nabil Mahmood Hewaihi</a:t>
            </a:r>
            <a:endParaRPr lang="en-US" altLang="en-US" dirty="0"/>
          </a:p>
        </p:txBody>
      </p:sp>
      <p:sp>
        <p:nvSpPr>
          <p:cNvPr id="47111" name="Slide Number Placeholder 5"/>
          <p:cNvSpPr>
            <a:spLocks noGrp="1" noChangeArrowheads="1"/>
          </p:cNvSpPr>
          <p:nvPr>
            <p:ph type="sldNum" sz="quarter" idx="4"/>
          </p:nvPr>
        </p:nvSpPr>
        <p:spPr/>
        <p:txBody>
          <a:bodyPr/>
          <a:lstStyle>
            <a:lvl1pPr>
              <a:defRPr/>
            </a:lvl1pPr>
          </a:lstStyle>
          <a:p>
            <a:fld id="{E945280F-DE53-48B1-9FB9-96A39916642A}" type="slidenum">
              <a:rPr lang="en-US" altLang="en-US"/>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BEE4193C-6532-468B-BFAD-A1A775482FC3}" type="datetime1">
              <a:rPr lang="en-US" altLang="en-US" smtClean="0"/>
              <a:t>8/7/2025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71C6F290-D301-4864-9490-340EF11588D9}" type="slidenum">
              <a:rPr lang="en-US" altLang="en-US"/>
              <a:pPr/>
              <a:t>‹#›</a:t>
            </a:fld>
            <a:endParaRPr lang="en-US" altLang="en-US" dirty="0"/>
          </a:p>
        </p:txBody>
      </p:sp>
    </p:spTree>
    <p:extLst>
      <p:ext uri="{BB962C8B-B14F-4D97-AF65-F5344CB8AC3E}">
        <p14:creationId xmlns:p14="http://schemas.microsoft.com/office/powerpoint/2010/main" val="303607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60A6CD74-F769-49F1-A08E-80A1E1E40EB9}" type="datetime1">
              <a:rPr lang="en-US" altLang="en-US" smtClean="0"/>
              <a:t>8/7/2025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D0208CE1-DD55-4A43-A479-EF83A2DC3985}" type="slidenum">
              <a:rPr lang="en-US" altLang="en-US"/>
              <a:pPr/>
              <a:t>‹#›</a:t>
            </a:fld>
            <a:endParaRPr lang="en-US" altLang="en-US" dirty="0"/>
          </a:p>
        </p:txBody>
      </p:sp>
    </p:spTree>
    <p:extLst>
      <p:ext uri="{BB962C8B-B14F-4D97-AF65-F5344CB8AC3E}">
        <p14:creationId xmlns:p14="http://schemas.microsoft.com/office/powerpoint/2010/main" val="162197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149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C312E3F3-961E-4581-A7D9-042A6D53D211}" type="datetime1">
              <a:rPr lang="en-US" altLang="en-US" smtClean="0"/>
              <a:t>8/7/2025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0927AF89-6755-46F5-BBCF-E571D7F311A5}" type="slidenum">
              <a:rPr lang="en-US" altLang="en-US"/>
              <a:pPr/>
              <a:t>‹#›</a:t>
            </a:fld>
            <a:endParaRPr lang="en-US" altLang="en-US" dirty="0"/>
          </a:p>
        </p:txBody>
      </p:sp>
    </p:spTree>
    <p:extLst>
      <p:ext uri="{BB962C8B-B14F-4D97-AF65-F5344CB8AC3E}">
        <p14:creationId xmlns:p14="http://schemas.microsoft.com/office/powerpoint/2010/main" val="103735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BBF27A76-D8ED-439D-818C-63427DDEAE9F}" type="datetime1">
              <a:rPr lang="en-US" altLang="en-US" smtClean="0"/>
              <a:t>8/7/2025</a:t>
            </a:fld>
            <a:endParaRPr lang="en-US" altLang="en-US" dirty="0"/>
          </a:p>
        </p:txBody>
      </p:sp>
      <p:sp>
        <p:nvSpPr>
          <p:cNvPr id="8" name="Footer Placeholder 7"/>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9" name="Slide Number Placeholder 8"/>
          <p:cNvSpPr>
            <a:spLocks noGrp="1"/>
          </p:cNvSpPr>
          <p:nvPr>
            <p:ph type="sldNum" sz="quarter" idx="12"/>
          </p:nvPr>
        </p:nvSpPr>
        <p:spPr/>
        <p:txBody>
          <a:bodyPr/>
          <a:lstStyle>
            <a:lvl1pPr>
              <a:defRPr/>
            </a:lvl1pPr>
          </a:lstStyle>
          <a:p>
            <a:fld id="{F76BE3C0-1208-4260-82C3-0EB040027195}" type="slidenum">
              <a:rPr lang="en-US" altLang="en-US"/>
              <a:pPr/>
              <a:t>‹#›</a:t>
            </a:fld>
            <a:endParaRPr lang="en-US" altLang="en-US" dirty="0"/>
          </a:p>
        </p:txBody>
      </p:sp>
    </p:spTree>
    <p:extLst>
      <p:ext uri="{BB962C8B-B14F-4D97-AF65-F5344CB8AC3E}">
        <p14:creationId xmlns:p14="http://schemas.microsoft.com/office/powerpoint/2010/main" val="13932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F30F976-C6C5-46AC-BF15-042DDB91640B}" type="datetime1">
              <a:rPr lang="en-US" altLang="en-US" smtClean="0"/>
              <a:t>8/7/2025</a:t>
            </a:fld>
            <a:endParaRPr lang="en-US" altLang="en-US" dirty="0"/>
          </a:p>
        </p:txBody>
      </p:sp>
      <p:sp>
        <p:nvSpPr>
          <p:cNvPr id="4" name="Footer Placeholder 3"/>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5" name="Slide Number Placeholder 4"/>
          <p:cNvSpPr>
            <a:spLocks noGrp="1"/>
          </p:cNvSpPr>
          <p:nvPr>
            <p:ph type="sldNum" sz="quarter" idx="12"/>
          </p:nvPr>
        </p:nvSpPr>
        <p:spPr/>
        <p:txBody>
          <a:bodyPr/>
          <a:lstStyle>
            <a:lvl1pPr>
              <a:defRPr/>
            </a:lvl1pPr>
          </a:lstStyle>
          <a:p>
            <a:fld id="{D5F02DF6-5EF1-449D-8E8F-F40E7D2FCBCB}" type="slidenum">
              <a:rPr lang="en-US" altLang="en-US"/>
              <a:pPr/>
              <a:t>‹#›</a:t>
            </a:fld>
            <a:endParaRPr lang="en-US" altLang="en-US" dirty="0"/>
          </a:p>
        </p:txBody>
      </p:sp>
    </p:spTree>
    <p:extLst>
      <p:ext uri="{BB962C8B-B14F-4D97-AF65-F5344CB8AC3E}">
        <p14:creationId xmlns:p14="http://schemas.microsoft.com/office/powerpoint/2010/main" val="8673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4EB39B33-8D7C-41EC-8450-3CBD5581B8E2}" type="datetime1">
              <a:rPr lang="en-US" altLang="en-US" smtClean="0"/>
              <a:t>8/7/2025</a:t>
            </a:fld>
            <a:endParaRPr lang="en-US" altLang="en-US" dirty="0"/>
          </a:p>
        </p:txBody>
      </p:sp>
      <p:sp>
        <p:nvSpPr>
          <p:cNvPr id="3" name="Footer Placeholder 2"/>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4" name="Slide Number Placeholder 3"/>
          <p:cNvSpPr>
            <a:spLocks noGrp="1"/>
          </p:cNvSpPr>
          <p:nvPr>
            <p:ph type="sldNum" sz="quarter" idx="12"/>
          </p:nvPr>
        </p:nvSpPr>
        <p:spPr/>
        <p:txBody>
          <a:bodyPr/>
          <a:lstStyle>
            <a:lvl1pPr>
              <a:defRPr/>
            </a:lvl1pPr>
          </a:lstStyle>
          <a:p>
            <a:fld id="{AC3460AA-1533-4548-8781-A6D0EAE276D6}" type="slidenum">
              <a:rPr lang="en-US" altLang="en-US"/>
              <a:pPr/>
              <a:t>‹#›</a:t>
            </a:fld>
            <a:endParaRPr lang="en-US" altLang="en-US" dirty="0"/>
          </a:p>
        </p:txBody>
      </p:sp>
    </p:spTree>
    <p:extLst>
      <p:ext uri="{BB962C8B-B14F-4D97-AF65-F5344CB8AC3E}">
        <p14:creationId xmlns:p14="http://schemas.microsoft.com/office/powerpoint/2010/main" val="1251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marL="45720" indent="0">
              <a:buFontTx/>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4392300-A72E-4F88-ACD3-3EE844BF72BA}" type="datetime1">
              <a:rPr lang="en-US" altLang="en-US" smtClean="0"/>
              <a:t>8/7/2025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C6386842-FEC9-453F-B6F7-7C945F3A2D73}" type="slidenum">
              <a:rPr lang="en-US" altLang="en-US"/>
              <a:pPr/>
              <a:t>‹#›</a:t>
            </a:fld>
            <a:endParaRPr lang="en-US" altLang="en-US" dirty="0"/>
          </a:p>
        </p:txBody>
      </p:sp>
    </p:spTree>
    <p:extLst>
      <p:ext uri="{BB962C8B-B14F-4D97-AF65-F5344CB8AC3E}">
        <p14:creationId xmlns:p14="http://schemas.microsoft.com/office/powerpoint/2010/main" val="153092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B844039-CC01-4C22-8E72-7F3F8D2079C3}" type="datetime1">
              <a:rPr lang="en-US" altLang="en-US" smtClean="0"/>
              <a:t>8/7/2025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E96DA581-ADE3-4A40-91CB-711A776CAC29}" type="slidenum">
              <a:rPr lang="en-US" altLang="en-US"/>
              <a:pPr/>
              <a:t>‹#›</a:t>
            </a:fld>
            <a:endParaRPr lang="en-US" altLang="en-US" dirty="0"/>
          </a:p>
        </p:txBody>
      </p:sp>
    </p:spTree>
    <p:extLst>
      <p:ext uri="{BB962C8B-B14F-4D97-AF65-F5344CB8AC3E}">
        <p14:creationId xmlns:p14="http://schemas.microsoft.com/office/powerpoint/2010/main" val="291156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013E083-DA48-4C9A-A43F-A1DBD108CEB1}" type="datetime1">
              <a:rPr lang="en-US" altLang="en-US" smtClean="0"/>
              <a:t>8/7/2025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872E90EB-6CA4-453F-8712-C339590DE034}" type="slidenum">
              <a:rPr lang="en-US" altLang="en-US"/>
              <a:pPr/>
              <a:t>‹#›</a:t>
            </a:fld>
            <a:endParaRPr lang="en-US" altLang="en-US" dirty="0"/>
          </a:p>
        </p:txBody>
      </p:sp>
    </p:spTree>
    <p:extLst>
      <p:ext uri="{BB962C8B-B14F-4D97-AF65-F5344CB8AC3E}">
        <p14:creationId xmlns:p14="http://schemas.microsoft.com/office/powerpoint/2010/main" val="4113127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228600"/>
            <a:ext cx="2076450" cy="57070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076950" cy="5707063"/>
          </a:xfrm>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E0A6D60-888E-4F3F-B3CE-7795256FE141}" type="datetime1">
              <a:rPr lang="en-US" altLang="en-US" smtClean="0"/>
              <a:t>8/7/2025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26D251BA-4196-46F7-BF5E-DE37F6712AD1}" type="slidenum">
              <a:rPr lang="en-US" altLang="en-US"/>
              <a:pPr/>
              <a:t>‹#›</a:t>
            </a:fld>
            <a:endParaRPr lang="en-US" altLang="en-US" dirty="0"/>
          </a:p>
        </p:txBody>
      </p:sp>
    </p:spTree>
    <p:extLst>
      <p:ext uri="{BB962C8B-B14F-4D97-AF65-F5344CB8AC3E}">
        <p14:creationId xmlns:p14="http://schemas.microsoft.com/office/powerpoint/2010/main" val="32517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6088" name="Group 8"/>
          <p:cNvGrpSpPr>
            <a:grpSpLocks/>
          </p:cNvGrpSpPr>
          <p:nvPr/>
        </p:nvGrpSpPr>
        <p:grpSpPr bwMode="auto">
          <a:xfrm>
            <a:off x="8153400" y="152400"/>
            <a:ext cx="792163" cy="1295400"/>
            <a:chOff x="5136" y="960"/>
            <a:chExt cx="528" cy="864"/>
          </a:xfrm>
        </p:grpSpPr>
        <p:sp>
          <p:nvSpPr>
            <p:cNvPr id="4608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6083" name="Title Placeholder 1"/>
          <p:cNvSpPr>
            <a:spLocks noGrp="1" noChangeArrowheads="1"/>
          </p:cNvSpPr>
          <p:nvPr>
            <p:ph type="title"/>
          </p:nvPr>
        </p:nvSpPr>
        <p:spPr bwMode="auto">
          <a:xfrm>
            <a:off x="228600" y="228600"/>
            <a:ext cx="769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6084" name="Text Placeholder 2"/>
          <p:cNvSpPr>
            <a:spLocks noGrp="1" noChangeArrowheads="1"/>
          </p:cNvSpPr>
          <p:nvPr>
            <p:ph type="body" idx="1"/>
          </p:nvPr>
        </p:nvSpPr>
        <p:spPr bwMode="auto">
          <a:xfrm>
            <a:off x="1143000" y="1524000"/>
            <a:ext cx="73914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6085" name="Date Placeholder 3"/>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a:lvl1pPr>
          </a:lstStyle>
          <a:p>
            <a:fld id="{DAA47658-FA98-41C0-A0A1-70085A3B5D80}" type="datetime1">
              <a:rPr lang="en-US" altLang="en-US" smtClean="0"/>
              <a:t>8/7/2025</a:t>
            </a:fld>
            <a:endParaRPr lang="en-US" altLang="en-US" dirty="0"/>
          </a:p>
        </p:txBody>
      </p:sp>
      <p:sp>
        <p:nvSpPr>
          <p:cNvPr id="46086" name="Footer Placeholder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vl1pPr>
          </a:lstStyle>
          <a:p>
            <a:r>
              <a:rPr lang="en-US" altLang="en-US"/>
              <a:t>Dr. Nabil Mahmood Hewaihi</a:t>
            </a:r>
            <a:endParaRPr lang="en-US" altLang="en-US" dirty="0"/>
          </a:p>
        </p:txBody>
      </p:sp>
      <p:sp>
        <p:nvSpPr>
          <p:cNvPr id="46087" name="Slide Number Placeholder 5"/>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vl1pPr>
          </a:lstStyle>
          <a:p>
            <a:fld id="{D7E5119E-5338-4B55-81DC-57EAC9440FD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hdr="0" ftr="0" dt="0"/>
  <p:txStyles>
    <p:title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p:titleStyle>
    <p:bodyStyle>
      <a:lvl1pPr marL="45720" indent="0" algn="l" rtl="0" eaLnBrk="1" fontAlgn="base" hangingPunct="1">
        <a:spcBef>
          <a:spcPct val="25000"/>
        </a:spcBef>
        <a:spcAft>
          <a:spcPct val="0"/>
        </a:spcAft>
        <a:buClr>
          <a:schemeClr val="tx2"/>
        </a:buClr>
        <a:buSzPct val="120000"/>
        <a:buFontTx/>
        <a:buNone/>
        <a:defRPr sz="2700">
          <a:solidFill>
            <a:schemeClr val="tx1"/>
          </a:solidFill>
          <a:latin typeface="+mn-lt"/>
          <a:ea typeface="+mn-ea"/>
          <a:cs typeface="+mn-cs"/>
        </a:defRPr>
      </a:lvl1pPr>
      <a:lvl2pPr marL="692150" indent="-347663" algn="l" rtl="0" eaLnBrk="1" fontAlgn="base" hangingPunct="1">
        <a:spcBef>
          <a:spcPct val="0"/>
        </a:spcBef>
        <a:spcAft>
          <a:spcPct val="25000"/>
        </a:spcAft>
        <a:buClr>
          <a:schemeClr val="accent2">
            <a:lumMod val="75000"/>
          </a:schemeClr>
        </a:buClr>
        <a:buSzPct val="55000"/>
        <a:buFont typeface="Wingdings" pitchFamily="2" charset="2"/>
        <a:buChar char="l"/>
        <a:defRPr sz="2400">
          <a:solidFill>
            <a:schemeClr val="tx1"/>
          </a:solidFill>
          <a:latin typeface="+mn-lt"/>
        </a:defRPr>
      </a:lvl2pPr>
      <a:lvl3pPr marL="987425" indent="-293688" algn="l" rtl="0" eaLnBrk="1" fontAlgn="base" hangingPunct="1">
        <a:spcBef>
          <a:spcPct val="0"/>
        </a:spcBef>
        <a:spcAft>
          <a:spcPct val="25000"/>
        </a:spcAft>
        <a:buClr>
          <a:schemeClr val="accent1">
            <a:lumMod val="50000"/>
          </a:schemeClr>
        </a:buClr>
        <a:buSzPct val="50000"/>
        <a:buFont typeface="Wingdings" pitchFamily="2" charset="2"/>
        <a:buChar char="l"/>
        <a:defRPr sz="2200">
          <a:solidFill>
            <a:schemeClr val="tx1"/>
          </a:solidFill>
          <a:latin typeface="+mn-lt"/>
        </a:defRPr>
      </a:lvl3pPr>
      <a:lvl4pPr marL="1281113" indent="-292100" algn="l" rtl="0" eaLnBrk="1" fontAlgn="base" hangingPunct="1">
        <a:spcBef>
          <a:spcPct val="20000"/>
        </a:spcBef>
        <a:spcAft>
          <a:spcPct val="0"/>
        </a:spcAft>
        <a:buClr>
          <a:schemeClr val="tx2">
            <a:lumMod val="75000"/>
          </a:schemeClr>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accent3">
            <a:lumMod val="50000"/>
          </a:schemeClr>
        </a:buClr>
        <a:buSzPct val="80000"/>
        <a:buFont typeface="Wingdings" pitchFamily="2" charset="2"/>
        <a:buChar char="§"/>
        <a:defRPr sz="2000">
          <a:solidFill>
            <a:schemeClr val="tx1"/>
          </a:solidFill>
          <a:latin typeface="+mn-lt"/>
        </a:defRPr>
      </a:lvl5pPr>
      <a:lvl6pPr marL="1920240" indent="-315913" algn="l" rtl="0" eaLnBrk="1" fontAlgn="base" hangingPunct="1">
        <a:spcBef>
          <a:spcPct val="20000"/>
        </a:spcBef>
        <a:spcAft>
          <a:spcPct val="0"/>
        </a:spcAft>
        <a:buClr>
          <a:schemeClr val="accent6">
            <a:lumMod val="50000"/>
          </a:schemeClr>
        </a:buClr>
        <a:buSzPct val="80000"/>
        <a:buFont typeface="Wingdings" pitchFamily="2" charset="2"/>
        <a:buChar char="§"/>
        <a:defRPr sz="2000">
          <a:solidFill>
            <a:schemeClr val="tx1"/>
          </a:solidFill>
          <a:latin typeface="+mn-lt"/>
        </a:defRPr>
      </a:lvl6pPr>
      <a:lvl7pPr marL="224028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7pPr>
      <a:lvl8pPr marL="2651760" indent="-315913" algn="l" rtl="0" eaLnBrk="1" fontAlgn="base" hangingPunct="1">
        <a:spcBef>
          <a:spcPct val="20000"/>
        </a:spcBef>
        <a:spcAft>
          <a:spcPct val="0"/>
        </a:spcAft>
        <a:buClr>
          <a:schemeClr val="bg2">
            <a:lumMod val="75000"/>
          </a:schemeClr>
        </a:buClr>
        <a:buSzPct val="80000"/>
        <a:buFont typeface="Wingdings" pitchFamily="2" charset="2"/>
        <a:buChar char="§"/>
        <a:defRPr sz="2000">
          <a:solidFill>
            <a:schemeClr val="tx1"/>
          </a:solidFill>
          <a:latin typeface="+mn-lt"/>
        </a:defRPr>
      </a:lvl8pPr>
      <a:lvl9pPr marL="310896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86D98-0B9B-4C4E-A25F-64BA4C5DBB94}"/>
              </a:ext>
            </a:extLst>
          </p:cNvPr>
          <p:cNvSpPr>
            <a:spLocks noGrp="1"/>
          </p:cNvSpPr>
          <p:nvPr>
            <p:ph type="ctrTitle"/>
          </p:nvPr>
        </p:nvSpPr>
        <p:spPr/>
        <p:txBody>
          <a:bodyPr/>
          <a:lstStyle/>
          <a:p>
            <a:pPr algn="ctr"/>
            <a:r>
              <a:rPr lang="en-US" dirty="0"/>
              <a:t>Chapter 0</a:t>
            </a:r>
          </a:p>
        </p:txBody>
      </p:sp>
      <p:sp>
        <p:nvSpPr>
          <p:cNvPr id="5" name="Subtitle 4">
            <a:extLst>
              <a:ext uri="{FF2B5EF4-FFF2-40B4-BE49-F238E27FC236}">
                <a16:creationId xmlns:a16="http://schemas.microsoft.com/office/drawing/2014/main" id="{D655BBED-E65C-4B70-99E3-9318D4F249A0}"/>
              </a:ext>
            </a:extLst>
          </p:cNvPr>
          <p:cNvSpPr>
            <a:spLocks noGrp="1"/>
          </p:cNvSpPr>
          <p:nvPr>
            <p:ph type="subTitle" idx="1"/>
          </p:nvPr>
        </p:nvSpPr>
        <p:spPr/>
        <p:txBody>
          <a:bodyPr/>
          <a:lstStyle/>
          <a:p>
            <a:pPr algn="ctr"/>
            <a:r>
              <a:rPr lang="en-US" dirty="0"/>
              <a:t>Welcome to Intelligent Systems</a:t>
            </a:r>
          </a:p>
        </p:txBody>
      </p:sp>
      <p:sp>
        <p:nvSpPr>
          <p:cNvPr id="2" name="Slide Number Placeholder 1">
            <a:extLst>
              <a:ext uri="{FF2B5EF4-FFF2-40B4-BE49-F238E27FC236}">
                <a16:creationId xmlns:a16="http://schemas.microsoft.com/office/drawing/2014/main" id="{2FD4643F-6823-FFEE-93F8-706A515DF65B}"/>
              </a:ext>
            </a:extLst>
          </p:cNvPr>
          <p:cNvSpPr>
            <a:spLocks noGrp="1"/>
          </p:cNvSpPr>
          <p:nvPr>
            <p:ph type="sldNum" sz="quarter" idx="4"/>
          </p:nvPr>
        </p:nvSpPr>
        <p:spPr/>
        <p:txBody>
          <a:bodyPr/>
          <a:lstStyle/>
          <a:p>
            <a:fld id="{E945280F-DE53-48B1-9FB9-96A39916642A}" type="slidenum">
              <a:rPr lang="en-US" altLang="en-US" smtClean="0"/>
              <a:pPr/>
              <a:t>1</a:t>
            </a:fld>
            <a:endParaRPr lang="en-US" altLang="en-US" dirty="0"/>
          </a:p>
        </p:txBody>
      </p:sp>
    </p:spTree>
    <p:extLst>
      <p:ext uri="{BB962C8B-B14F-4D97-AF65-F5344CB8AC3E}">
        <p14:creationId xmlns:p14="http://schemas.microsoft.com/office/powerpoint/2010/main" val="34294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0CE41-16CF-34FF-77EF-48B04267D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9247C-AD53-ACF5-950D-9619F1901BF4}"/>
              </a:ext>
            </a:extLst>
          </p:cNvPr>
          <p:cNvSpPr>
            <a:spLocks noGrp="1"/>
          </p:cNvSpPr>
          <p:nvPr>
            <p:ph type="title"/>
          </p:nvPr>
        </p:nvSpPr>
        <p:spPr/>
        <p:txBody>
          <a:bodyPr/>
          <a:lstStyle/>
          <a:p>
            <a:r>
              <a:rPr lang="en-US" dirty="0">
                <a:solidFill>
                  <a:schemeClr val="accent6">
                    <a:lumMod val="75000"/>
                  </a:schemeClr>
                </a:solidFill>
              </a:rPr>
              <a:t>Course Scope – ITCS 440</a:t>
            </a:r>
          </a:p>
        </p:txBody>
      </p:sp>
      <p:sp>
        <p:nvSpPr>
          <p:cNvPr id="3" name="Content Placeholder 2">
            <a:extLst>
              <a:ext uri="{FF2B5EF4-FFF2-40B4-BE49-F238E27FC236}">
                <a16:creationId xmlns:a16="http://schemas.microsoft.com/office/drawing/2014/main" id="{26B7A2D2-E641-9AD4-30D8-DFB80E1B7576}"/>
              </a:ext>
            </a:extLst>
          </p:cNvPr>
          <p:cNvSpPr>
            <a:spLocks noGrp="1"/>
          </p:cNvSpPr>
          <p:nvPr>
            <p:ph idx="1"/>
          </p:nvPr>
        </p:nvSpPr>
        <p:spPr>
          <a:xfrm>
            <a:off x="685800" y="1836737"/>
            <a:ext cx="7772400" cy="4411663"/>
          </a:xfrm>
        </p:spPr>
        <p:txBody>
          <a:bodyPr>
            <a:normAutofit lnSpcReduction="10000"/>
          </a:bodyPr>
          <a:lstStyle/>
          <a:p>
            <a:pPr>
              <a:buNone/>
            </a:pPr>
            <a:r>
              <a:rPr lang="en-US" b="1" u="sng" dirty="0">
                <a:solidFill>
                  <a:schemeClr val="accent1">
                    <a:lumMod val="75000"/>
                  </a:schemeClr>
                </a:solidFill>
              </a:rPr>
              <a:t>This course covers:</a:t>
            </a:r>
          </a:p>
          <a:p>
            <a:pPr>
              <a:buNone/>
            </a:pPr>
            <a:endParaRPr lang="en-US" dirty="0"/>
          </a:p>
          <a:p>
            <a:pPr marL="502920" indent="-457200">
              <a:buFont typeface="Courier New" panose="02070309020205020404" pitchFamily="49" charset="0"/>
              <a:buChar char="o"/>
            </a:pPr>
            <a:r>
              <a:rPr lang="en-US" dirty="0"/>
              <a:t>✅ Problem Solving Methods</a:t>
            </a:r>
          </a:p>
          <a:p>
            <a:pPr marL="502920" indent="-457200">
              <a:buFont typeface="Courier New" panose="02070309020205020404" pitchFamily="49" charset="0"/>
              <a:buChar char="o"/>
            </a:pPr>
            <a:r>
              <a:rPr lang="en-US" dirty="0"/>
              <a:t>🔍 Search Algorithms &amp; Heuristics</a:t>
            </a:r>
          </a:p>
          <a:p>
            <a:pPr marL="502920" indent="-457200">
              <a:buFont typeface="Courier New" panose="02070309020205020404" pitchFamily="49" charset="0"/>
              <a:buChar char="o"/>
            </a:pPr>
            <a:r>
              <a:rPr lang="en-US" dirty="0"/>
              <a:t>♟️ Game Playing &amp; Strategy</a:t>
            </a:r>
          </a:p>
          <a:p>
            <a:pPr marL="502920" indent="-457200">
              <a:buFont typeface="Courier New" panose="02070309020205020404" pitchFamily="49" charset="0"/>
              <a:buChar char="o"/>
            </a:pPr>
            <a:r>
              <a:rPr lang="en-US" dirty="0"/>
              <a:t>🧠 Knowledge Representation</a:t>
            </a:r>
          </a:p>
          <a:p>
            <a:pPr marL="502920" indent="-457200">
              <a:buFont typeface="Courier New" panose="02070309020205020404" pitchFamily="49" charset="0"/>
              <a:buChar char="o"/>
            </a:pPr>
            <a:r>
              <a:rPr lang="en-US" dirty="0"/>
              <a:t>🧑‍⚕️ Expert Systems</a:t>
            </a:r>
          </a:p>
          <a:p>
            <a:pPr marL="502920" indent="-457200">
              <a:buFont typeface="Courier New" panose="02070309020205020404" pitchFamily="49" charset="0"/>
              <a:buChar char="o"/>
            </a:pPr>
            <a:r>
              <a:rPr lang="en-US" dirty="0"/>
              <a:t>🌫️ Fuzzy Logic &amp; Approximate Reasoning</a:t>
            </a:r>
          </a:p>
          <a:p>
            <a:pPr marL="502920" indent="-457200">
              <a:buFont typeface="Courier New" panose="02070309020205020404" pitchFamily="49" charset="0"/>
              <a:buChar char="o"/>
            </a:pPr>
            <a:r>
              <a:rPr lang="en-US" dirty="0"/>
              <a:t>📊 Machine Learning Techniques</a:t>
            </a:r>
          </a:p>
        </p:txBody>
      </p:sp>
      <p:sp>
        <p:nvSpPr>
          <p:cNvPr id="4" name="Slide Number Placeholder 3">
            <a:extLst>
              <a:ext uri="{FF2B5EF4-FFF2-40B4-BE49-F238E27FC236}">
                <a16:creationId xmlns:a16="http://schemas.microsoft.com/office/drawing/2014/main" id="{CAE764B9-A8CE-26A5-A0D2-6457C57C7A58}"/>
              </a:ext>
            </a:extLst>
          </p:cNvPr>
          <p:cNvSpPr>
            <a:spLocks noGrp="1"/>
          </p:cNvSpPr>
          <p:nvPr>
            <p:ph type="sldNum" sz="quarter" idx="12"/>
          </p:nvPr>
        </p:nvSpPr>
        <p:spPr/>
        <p:txBody>
          <a:bodyPr/>
          <a:lstStyle/>
          <a:p>
            <a:fld id="{71C6F290-D301-4864-9490-340EF11588D9}" type="slidenum">
              <a:rPr lang="en-US" altLang="en-US" smtClean="0"/>
              <a:pPr/>
              <a:t>2</a:t>
            </a:fld>
            <a:endParaRPr lang="en-US" altLang="en-US" dirty="0"/>
          </a:p>
        </p:txBody>
      </p:sp>
    </p:spTree>
    <p:extLst>
      <p:ext uri="{BB962C8B-B14F-4D97-AF65-F5344CB8AC3E}">
        <p14:creationId xmlns:p14="http://schemas.microsoft.com/office/powerpoint/2010/main" val="984123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CDDC-B1D5-764A-2350-9FC75D446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494D9-5E1D-CC6B-6016-F8EF80118C6F}"/>
              </a:ext>
            </a:extLst>
          </p:cNvPr>
          <p:cNvSpPr>
            <a:spLocks noGrp="1"/>
          </p:cNvSpPr>
          <p:nvPr>
            <p:ph type="title"/>
          </p:nvPr>
        </p:nvSpPr>
        <p:spPr/>
        <p:txBody>
          <a:bodyPr/>
          <a:lstStyle/>
          <a:p>
            <a:r>
              <a:rPr lang="en-US" dirty="0">
                <a:solidFill>
                  <a:schemeClr val="accent6">
                    <a:lumMod val="75000"/>
                  </a:schemeClr>
                </a:solidFill>
              </a:rPr>
              <a:t>What Will You Learn?</a:t>
            </a:r>
          </a:p>
        </p:txBody>
      </p:sp>
      <p:sp>
        <p:nvSpPr>
          <p:cNvPr id="3" name="Content Placeholder 2">
            <a:extLst>
              <a:ext uri="{FF2B5EF4-FFF2-40B4-BE49-F238E27FC236}">
                <a16:creationId xmlns:a16="http://schemas.microsoft.com/office/drawing/2014/main" id="{D16EF6B5-E0F8-819A-1604-CDD46AFE4A10}"/>
              </a:ext>
            </a:extLst>
          </p:cNvPr>
          <p:cNvSpPr>
            <a:spLocks noGrp="1"/>
          </p:cNvSpPr>
          <p:nvPr>
            <p:ph idx="1"/>
          </p:nvPr>
        </p:nvSpPr>
        <p:spPr>
          <a:xfrm>
            <a:off x="685800" y="1836737"/>
            <a:ext cx="7772400" cy="4411663"/>
          </a:xfrm>
        </p:spPr>
        <p:txBody>
          <a:bodyPr>
            <a:norm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Understand the </a:t>
            </a:r>
            <a:r>
              <a:rPr kumimoji="0" lang="en-US" altLang="en-US" sz="2800" b="1" i="0" u="none" strike="noStrike" cap="none" normalizeH="0" baseline="0" dirty="0">
                <a:ln>
                  <a:noFill/>
                </a:ln>
                <a:solidFill>
                  <a:schemeClr val="accent1">
                    <a:lumMod val="75000"/>
                  </a:schemeClr>
                </a:solidFill>
                <a:effectLst/>
                <a:latin typeface="Arial" panose="020B0604020202020204" pitchFamily="34" charset="0"/>
              </a:rPr>
              <a:t>principles of intelligent systems</a:t>
            </a:r>
            <a:endParaRPr kumimoji="0" lang="en-US" altLang="en-US" sz="2800" b="0" i="0" u="none" strike="noStrike" cap="none" normalizeH="0" baseline="0" dirty="0">
              <a:ln>
                <a:noFill/>
              </a:ln>
              <a:solidFill>
                <a:schemeClr val="accent1">
                  <a:lumMod val="75000"/>
                </a:schemeClr>
              </a:solidFill>
              <a:effectLst/>
              <a:latin typeface="Arial" panose="020B0604020202020204" pitchFamily="34"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Model and solve </a:t>
            </a:r>
            <a:r>
              <a:rPr kumimoji="0" lang="en-US" altLang="en-US" sz="2800" b="1" i="0" u="none" strike="noStrike" cap="none" normalizeH="0" baseline="0" dirty="0">
                <a:ln>
                  <a:noFill/>
                </a:ln>
                <a:solidFill>
                  <a:schemeClr val="accent6">
                    <a:lumMod val="75000"/>
                  </a:schemeClr>
                </a:solidFill>
                <a:effectLst/>
                <a:latin typeface="Arial" panose="020B0604020202020204" pitchFamily="34" charset="0"/>
              </a:rPr>
              <a:t>complex problems using AI methods</a:t>
            </a:r>
            <a:endParaRPr kumimoji="0" lang="en-US" altLang="en-US" sz="2800" b="0" i="0" u="none" strike="noStrike" cap="none" normalizeH="0" baseline="0" dirty="0">
              <a:ln>
                <a:noFill/>
              </a:ln>
              <a:solidFill>
                <a:schemeClr val="accent6">
                  <a:lumMod val="75000"/>
                </a:schemeClr>
              </a:solidFill>
              <a:effectLst/>
              <a:latin typeface="Arial" panose="020B0604020202020204" pitchFamily="34"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Apply </a:t>
            </a:r>
            <a:r>
              <a:rPr kumimoji="0" lang="en-US" altLang="en-US" sz="2800" b="1" i="0" u="none" strike="noStrike" cap="none" normalizeH="0" baseline="0" dirty="0">
                <a:ln>
                  <a:noFill/>
                </a:ln>
                <a:solidFill>
                  <a:schemeClr val="accent1">
                    <a:lumMod val="75000"/>
                  </a:schemeClr>
                </a:solidFill>
                <a:effectLst/>
                <a:latin typeface="Arial" panose="020B0604020202020204" pitchFamily="34" charset="0"/>
              </a:rPr>
              <a:t>search techniques</a:t>
            </a:r>
            <a:r>
              <a:rPr kumimoji="0" lang="en-US" altLang="en-US" sz="2800" b="0" i="0" u="none" strike="noStrike" cap="none" normalizeH="0" baseline="0" dirty="0">
                <a:ln>
                  <a:noFill/>
                </a:ln>
                <a:solidFill>
                  <a:schemeClr val="tx1"/>
                </a:solidFill>
                <a:effectLst/>
                <a:latin typeface="Arial" panose="020B0604020202020204" pitchFamily="34" charset="0"/>
              </a:rPr>
              <a:t> (uninformed, heuristic, adversarial)</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Design and implement </a:t>
            </a:r>
            <a:r>
              <a:rPr kumimoji="0" lang="en-US" altLang="en-US" sz="2800" b="1" i="0" u="none" strike="noStrike" cap="none" normalizeH="0" baseline="0" dirty="0">
                <a:ln>
                  <a:noFill/>
                </a:ln>
                <a:solidFill>
                  <a:schemeClr val="accent2">
                    <a:lumMod val="75000"/>
                  </a:schemeClr>
                </a:solidFill>
                <a:effectLst/>
                <a:latin typeface="Arial" panose="020B0604020202020204" pitchFamily="34" charset="0"/>
              </a:rPr>
              <a:t>knowledge-based systems</a:t>
            </a:r>
            <a:endParaRPr kumimoji="0" lang="en-US" altLang="en-US" sz="2800" b="0" i="0" u="none" strike="noStrike" cap="none" normalizeH="0" baseline="0" dirty="0">
              <a:ln>
                <a:noFill/>
              </a:ln>
              <a:solidFill>
                <a:schemeClr val="accent2">
                  <a:lumMod val="75000"/>
                </a:schemeClr>
              </a:solidFill>
              <a:effectLst/>
              <a:latin typeface="Arial" panose="020B0604020202020204" pitchFamily="34"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Arial" panose="020B0604020202020204" pitchFamily="34" charset="0"/>
              </a:rPr>
              <a:t>Explore and apply </a:t>
            </a:r>
            <a:r>
              <a:rPr kumimoji="0" lang="en-US" altLang="en-US" sz="2800" b="1" i="0" u="none" strike="noStrike" cap="none" normalizeH="0" baseline="0" dirty="0">
                <a:ln>
                  <a:noFill/>
                </a:ln>
                <a:solidFill>
                  <a:schemeClr val="accent1">
                    <a:lumMod val="75000"/>
                  </a:schemeClr>
                </a:solidFill>
                <a:effectLst/>
                <a:latin typeface="Arial" panose="020B0604020202020204" pitchFamily="34" charset="0"/>
              </a:rPr>
              <a:t>fuzzy logic and approximate reasoning</a:t>
            </a:r>
            <a:endParaRPr kumimoji="0" lang="en-US" altLang="en-US" sz="2800" b="0" i="0" u="none" strike="noStrike" cap="none" normalizeH="0" baseline="0" dirty="0">
              <a:ln>
                <a:noFill/>
              </a:ln>
              <a:solidFill>
                <a:schemeClr val="accent1">
                  <a:lumMod val="75000"/>
                </a:schemeClr>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B677BE2A-0BB2-68B1-C864-A7C23F4ED04F}"/>
              </a:ext>
            </a:extLst>
          </p:cNvPr>
          <p:cNvSpPr>
            <a:spLocks noGrp="1"/>
          </p:cNvSpPr>
          <p:nvPr>
            <p:ph type="sldNum" sz="quarter" idx="12"/>
          </p:nvPr>
        </p:nvSpPr>
        <p:spPr/>
        <p:txBody>
          <a:bodyPr/>
          <a:lstStyle/>
          <a:p>
            <a:fld id="{71C6F290-D301-4864-9490-340EF11588D9}" type="slidenum">
              <a:rPr lang="en-US" altLang="en-US" smtClean="0"/>
              <a:pPr/>
              <a:t>3</a:t>
            </a:fld>
            <a:endParaRPr lang="en-US" altLang="en-US" dirty="0"/>
          </a:p>
        </p:txBody>
      </p:sp>
    </p:spTree>
    <p:extLst>
      <p:ext uri="{BB962C8B-B14F-4D97-AF65-F5344CB8AC3E}">
        <p14:creationId xmlns:p14="http://schemas.microsoft.com/office/powerpoint/2010/main" val="324076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02834-8FCE-7C61-EE5B-861C94350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FD5B6-C12D-7E02-1C2B-6580DF817062}"/>
              </a:ext>
            </a:extLst>
          </p:cNvPr>
          <p:cNvSpPr>
            <a:spLocks noGrp="1"/>
          </p:cNvSpPr>
          <p:nvPr>
            <p:ph type="title"/>
          </p:nvPr>
        </p:nvSpPr>
        <p:spPr>
          <a:xfrm>
            <a:off x="838200" y="1524000"/>
            <a:ext cx="7696200" cy="1295400"/>
          </a:xfrm>
        </p:spPr>
        <p:txBody>
          <a:bodyPr/>
          <a:lstStyle/>
          <a:p>
            <a:r>
              <a:rPr lang="en-US" dirty="0"/>
              <a:t>Why Study Intelligent Systems?</a:t>
            </a:r>
          </a:p>
        </p:txBody>
      </p:sp>
      <p:sp>
        <p:nvSpPr>
          <p:cNvPr id="4" name="Slide Number Placeholder 3">
            <a:extLst>
              <a:ext uri="{FF2B5EF4-FFF2-40B4-BE49-F238E27FC236}">
                <a16:creationId xmlns:a16="http://schemas.microsoft.com/office/drawing/2014/main" id="{52753A0E-945F-B4DB-E7F8-E1889ADF847D}"/>
              </a:ext>
            </a:extLst>
          </p:cNvPr>
          <p:cNvSpPr>
            <a:spLocks noGrp="1"/>
          </p:cNvSpPr>
          <p:nvPr>
            <p:ph type="sldNum" sz="quarter" idx="12"/>
          </p:nvPr>
        </p:nvSpPr>
        <p:spPr/>
        <p:txBody>
          <a:bodyPr/>
          <a:lstStyle/>
          <a:p>
            <a:fld id="{71C6F290-D301-4864-9490-340EF11588D9}" type="slidenum">
              <a:rPr lang="en-US" altLang="en-US" smtClean="0"/>
              <a:pPr/>
              <a:t>4</a:t>
            </a:fld>
            <a:endParaRPr lang="en-US" altLang="en-US" dirty="0"/>
          </a:p>
        </p:txBody>
      </p:sp>
      <p:sp>
        <p:nvSpPr>
          <p:cNvPr id="6" name="Title 1">
            <a:extLst>
              <a:ext uri="{FF2B5EF4-FFF2-40B4-BE49-F238E27FC236}">
                <a16:creationId xmlns:a16="http://schemas.microsoft.com/office/drawing/2014/main" id="{76FA68F7-E6B6-6247-3823-774E2413C183}"/>
              </a:ext>
            </a:extLst>
          </p:cNvPr>
          <p:cNvSpPr txBox="1">
            <a:spLocks/>
          </p:cNvSpPr>
          <p:nvPr/>
        </p:nvSpPr>
        <p:spPr bwMode="auto">
          <a:xfrm>
            <a:off x="1600200" y="2646872"/>
            <a:ext cx="6477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a:lstStyle>
          <a:p>
            <a:pPr>
              <a:buClrTx/>
              <a:buSzTx/>
              <a:buFontTx/>
              <a:buNone/>
            </a:pPr>
            <a:r>
              <a:rPr lang="en-US" sz="2800" dirty="0">
                <a:solidFill>
                  <a:schemeClr val="accent2">
                    <a:lumMod val="75000"/>
                  </a:schemeClr>
                </a:solidFill>
                <a:sym typeface="Wingdings" panose="05000000000000000000" pitchFamily="2" charset="2"/>
              </a:rPr>
              <a:t></a:t>
            </a:r>
            <a:r>
              <a:rPr lang="en-US" sz="2800" dirty="0">
                <a:solidFill>
                  <a:schemeClr val="accent2">
                    <a:lumMod val="75000"/>
                  </a:schemeClr>
                </a:solidFill>
              </a:rPr>
              <a:t> what makes AI worth learning?</a:t>
            </a:r>
            <a:endParaRPr lang="en-US" sz="2800" kern="0" dirty="0">
              <a:solidFill>
                <a:schemeClr val="accent2">
                  <a:lumMod val="75000"/>
                </a:schemeClr>
              </a:solidFill>
            </a:endParaRPr>
          </a:p>
        </p:txBody>
      </p:sp>
      <p:pic>
        <p:nvPicPr>
          <p:cNvPr id="12" name="Picture 11" descr="A white circle with a blue background&#10;&#10;AI-generated content may be incorrect.">
            <a:extLst>
              <a:ext uri="{FF2B5EF4-FFF2-40B4-BE49-F238E27FC236}">
                <a16:creationId xmlns:a16="http://schemas.microsoft.com/office/drawing/2014/main" id="{DE0E5E2D-2A9C-3580-93B6-EB44D27CA9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1700" y="4433978"/>
            <a:ext cx="1114245" cy="1114245"/>
          </a:xfrm>
          <a:prstGeom prst="rect">
            <a:avLst/>
          </a:prstGeom>
        </p:spPr>
      </p:pic>
      <p:pic>
        <p:nvPicPr>
          <p:cNvPr id="10" name="Picture 9" descr="A black and white logo&#10;&#10;AI-generated content may be incorrect.">
            <a:extLst>
              <a:ext uri="{FF2B5EF4-FFF2-40B4-BE49-F238E27FC236}">
                <a16:creationId xmlns:a16="http://schemas.microsoft.com/office/drawing/2014/main" id="{CCB7A65E-D453-37C7-E0C4-89E259D784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0" y="4267200"/>
            <a:ext cx="1447800" cy="1447800"/>
          </a:xfrm>
          <a:prstGeom prst="rect">
            <a:avLst/>
          </a:prstGeom>
        </p:spPr>
      </p:pic>
      <p:pic>
        <p:nvPicPr>
          <p:cNvPr id="14" name="Picture 13" descr="A blue whale with a white background&#10;&#10;AI-generated content may be incorrect.">
            <a:extLst>
              <a:ext uri="{FF2B5EF4-FFF2-40B4-BE49-F238E27FC236}">
                <a16:creationId xmlns:a16="http://schemas.microsoft.com/office/drawing/2014/main" id="{48A60C89-D325-B4B3-D8A2-9887454351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65207" y="4267200"/>
            <a:ext cx="2059093" cy="1447800"/>
          </a:xfrm>
          <a:prstGeom prst="rect">
            <a:avLst/>
          </a:prstGeom>
        </p:spPr>
      </p:pic>
      <p:sp>
        <p:nvSpPr>
          <p:cNvPr id="3" name="TextBox 2">
            <a:extLst>
              <a:ext uri="{FF2B5EF4-FFF2-40B4-BE49-F238E27FC236}">
                <a16:creationId xmlns:a16="http://schemas.microsoft.com/office/drawing/2014/main" id="{95323191-CF4C-FBF2-C852-2C71A08C81FC}"/>
              </a:ext>
            </a:extLst>
          </p:cNvPr>
          <p:cNvSpPr txBox="1"/>
          <p:nvPr/>
        </p:nvSpPr>
        <p:spPr>
          <a:xfrm>
            <a:off x="1752600" y="5943600"/>
            <a:ext cx="6477000" cy="492443"/>
          </a:xfrm>
          <a:prstGeom prst="rect">
            <a:avLst/>
          </a:prstGeom>
          <a:noFill/>
        </p:spPr>
        <p:txBody>
          <a:bodyPr wrap="square" rtlCol="0">
            <a:spAutoFit/>
          </a:bodyPr>
          <a:lstStyle/>
          <a:p>
            <a:r>
              <a:rPr lang="en-US"/>
              <a:t>DeepSeek          </a:t>
            </a:r>
            <a:r>
              <a:rPr lang="en-US" dirty="0" err="1"/>
              <a:t>ChatGpt</a:t>
            </a:r>
            <a:r>
              <a:rPr lang="en-US" dirty="0"/>
              <a:t>     DeepMind</a:t>
            </a:r>
          </a:p>
        </p:txBody>
      </p:sp>
    </p:spTree>
    <p:extLst>
      <p:ext uri="{BB962C8B-B14F-4D97-AF65-F5344CB8AC3E}">
        <p14:creationId xmlns:p14="http://schemas.microsoft.com/office/powerpoint/2010/main" val="295900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9C9C-5B28-B290-287D-6EE497342C53}"/>
              </a:ext>
            </a:extLst>
          </p:cNvPr>
          <p:cNvSpPr>
            <a:spLocks noGrp="1"/>
          </p:cNvSpPr>
          <p:nvPr>
            <p:ph type="title"/>
          </p:nvPr>
        </p:nvSpPr>
        <p:spPr/>
        <p:txBody>
          <a:bodyPr/>
          <a:lstStyle/>
          <a:p>
            <a:r>
              <a:rPr lang="en-US" dirty="0"/>
              <a:t>AI</a:t>
            </a:r>
          </a:p>
        </p:txBody>
      </p:sp>
      <p:pic>
        <p:nvPicPr>
          <p:cNvPr id="6" name="Content Placeholder 5">
            <a:extLst>
              <a:ext uri="{FF2B5EF4-FFF2-40B4-BE49-F238E27FC236}">
                <a16:creationId xmlns:a16="http://schemas.microsoft.com/office/drawing/2014/main" id="{86CB8283-C0B2-222A-EA15-D2EDA1A81921}"/>
              </a:ext>
            </a:extLst>
          </p:cNvPr>
          <p:cNvPicPr>
            <a:picLocks noGrp="1" noChangeAspect="1"/>
          </p:cNvPicPr>
          <p:nvPr>
            <p:ph idx="1"/>
          </p:nvPr>
        </p:nvPicPr>
        <p:blipFill>
          <a:blip r:embed="rId2"/>
          <a:stretch>
            <a:fillRect/>
          </a:stretch>
        </p:blipFill>
        <p:spPr>
          <a:xfrm>
            <a:off x="533400" y="1949476"/>
            <a:ext cx="8001000" cy="3841724"/>
          </a:xfrm>
          <a:prstGeom prst="rect">
            <a:avLst/>
          </a:prstGeom>
        </p:spPr>
      </p:pic>
      <p:sp>
        <p:nvSpPr>
          <p:cNvPr id="4" name="Slide Number Placeholder 3">
            <a:extLst>
              <a:ext uri="{FF2B5EF4-FFF2-40B4-BE49-F238E27FC236}">
                <a16:creationId xmlns:a16="http://schemas.microsoft.com/office/drawing/2014/main" id="{FF25427A-684E-3B00-7E96-968D878505FC}"/>
              </a:ext>
            </a:extLst>
          </p:cNvPr>
          <p:cNvSpPr>
            <a:spLocks noGrp="1"/>
          </p:cNvSpPr>
          <p:nvPr>
            <p:ph type="sldNum" sz="quarter" idx="12"/>
          </p:nvPr>
        </p:nvSpPr>
        <p:spPr/>
        <p:txBody>
          <a:bodyPr/>
          <a:lstStyle/>
          <a:p>
            <a:fld id="{71C6F290-D301-4864-9490-340EF11588D9}" type="slidenum">
              <a:rPr lang="en-US" altLang="en-US" smtClean="0"/>
              <a:pPr/>
              <a:t>5</a:t>
            </a:fld>
            <a:endParaRPr lang="en-US" altLang="en-US" dirty="0"/>
          </a:p>
        </p:txBody>
      </p:sp>
    </p:spTree>
    <p:extLst>
      <p:ext uri="{BB962C8B-B14F-4D97-AF65-F5344CB8AC3E}">
        <p14:creationId xmlns:p14="http://schemas.microsoft.com/office/powerpoint/2010/main" val="527222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9C5DB-DACA-4B3F-9512-41AD0822007E}"/>
              </a:ext>
            </a:extLst>
          </p:cNvPr>
          <p:cNvSpPr>
            <a:spLocks noGrp="1"/>
          </p:cNvSpPr>
          <p:nvPr>
            <p:ph type="title"/>
          </p:nvPr>
        </p:nvSpPr>
        <p:spPr/>
        <p:txBody>
          <a:bodyPr/>
          <a:lstStyle/>
          <a:p>
            <a:r>
              <a:rPr lang="en-US" dirty="0"/>
              <a:t>Scope of AI</a:t>
            </a:r>
            <a:br>
              <a:rPr lang="en-US" dirty="0"/>
            </a:br>
            <a:endParaRPr lang="en-US" dirty="0"/>
          </a:p>
        </p:txBody>
      </p:sp>
      <p:sp>
        <p:nvSpPr>
          <p:cNvPr id="3" name="Content Placeholder 2">
            <a:extLst>
              <a:ext uri="{FF2B5EF4-FFF2-40B4-BE49-F238E27FC236}">
                <a16:creationId xmlns:a16="http://schemas.microsoft.com/office/drawing/2014/main" id="{0F114DD7-CA17-8FED-378A-1692C045EB8C}"/>
              </a:ext>
            </a:extLst>
          </p:cNvPr>
          <p:cNvSpPr>
            <a:spLocks noGrp="1"/>
          </p:cNvSpPr>
          <p:nvPr>
            <p:ph idx="1"/>
          </p:nvPr>
        </p:nvSpPr>
        <p:spPr>
          <a:xfrm>
            <a:off x="222380" y="914400"/>
            <a:ext cx="8388220" cy="5486400"/>
          </a:xfrm>
        </p:spPr>
        <p:txBody>
          <a:bodyPr>
            <a:normAutofit fontScale="32500" lnSpcReduction="20000"/>
          </a:bodyPr>
          <a:lstStyle/>
          <a:p>
            <a:endParaRPr lang="en-US" dirty="0"/>
          </a:p>
          <a:p>
            <a:r>
              <a:rPr lang="en-US" dirty="0"/>
              <a:t>- </a:t>
            </a:r>
            <a:r>
              <a:rPr lang="en-US" sz="4900" dirty="0"/>
              <a:t>Game playing</a:t>
            </a:r>
          </a:p>
          <a:p>
            <a:r>
              <a:rPr lang="en-US" sz="4900" dirty="0"/>
              <a:t>  </a:t>
            </a:r>
          </a:p>
          <a:p>
            <a:r>
              <a:rPr lang="en-US" sz="4900" dirty="0"/>
              <a:t>- Theorem proving </a:t>
            </a:r>
          </a:p>
          <a:p>
            <a:endParaRPr lang="en-US" sz="4900" dirty="0"/>
          </a:p>
          <a:p>
            <a:r>
              <a:rPr lang="en-US" sz="4900" dirty="0"/>
              <a:t>- Perception (Vision, speech)   </a:t>
            </a:r>
          </a:p>
          <a:p>
            <a:endParaRPr lang="en-US" sz="4900" dirty="0"/>
          </a:p>
          <a:p>
            <a:r>
              <a:rPr lang="en-US" sz="4900" dirty="0"/>
              <a:t>- Natural language processing </a:t>
            </a:r>
            <a:r>
              <a:rPr lang="en-US" sz="4900" b="1" dirty="0"/>
              <a:t>(LLMs): ChatGPT, DeepSeek</a:t>
            </a:r>
          </a:p>
          <a:p>
            <a:endParaRPr lang="en-US" sz="4900" dirty="0"/>
          </a:p>
          <a:p>
            <a:r>
              <a:rPr lang="en-US" sz="4900" dirty="0"/>
              <a:t>- Expert systems</a:t>
            </a:r>
          </a:p>
          <a:p>
            <a:endParaRPr lang="en-US" sz="4900" dirty="0"/>
          </a:p>
          <a:p>
            <a:r>
              <a:rPr lang="en-US" sz="4900" dirty="0"/>
              <a:t>-	Image Processing</a:t>
            </a:r>
          </a:p>
          <a:p>
            <a:endParaRPr lang="en-US" sz="4900" dirty="0"/>
          </a:p>
          <a:p>
            <a:r>
              <a:rPr lang="en-US" sz="4900" dirty="0"/>
              <a:t>- Machine learning </a:t>
            </a:r>
          </a:p>
          <a:p>
            <a:endParaRPr lang="en-US" sz="4900" dirty="0"/>
          </a:p>
          <a:p>
            <a:r>
              <a:rPr lang="en-US" sz="4900" dirty="0"/>
              <a:t>- Intelligent agents</a:t>
            </a:r>
          </a:p>
          <a:p>
            <a:endParaRPr lang="en-US" sz="4900" dirty="0"/>
          </a:p>
          <a:p>
            <a:r>
              <a:rPr lang="en-US" sz="4900" dirty="0"/>
              <a:t>- Pattern Recognition</a:t>
            </a:r>
          </a:p>
          <a:p>
            <a:endParaRPr lang="en-US" sz="4900" dirty="0"/>
          </a:p>
          <a:p>
            <a:r>
              <a:rPr lang="en-US" sz="4900" dirty="0"/>
              <a:t>-	Robotics</a:t>
            </a:r>
          </a:p>
          <a:p>
            <a:endParaRPr lang="en-US" dirty="0"/>
          </a:p>
        </p:txBody>
      </p:sp>
      <p:sp>
        <p:nvSpPr>
          <p:cNvPr id="4" name="Slide Number Placeholder 3">
            <a:extLst>
              <a:ext uri="{FF2B5EF4-FFF2-40B4-BE49-F238E27FC236}">
                <a16:creationId xmlns:a16="http://schemas.microsoft.com/office/drawing/2014/main" id="{56FA45D1-4C50-0761-B186-ED83CE87D079}"/>
              </a:ext>
            </a:extLst>
          </p:cNvPr>
          <p:cNvSpPr>
            <a:spLocks noGrp="1"/>
          </p:cNvSpPr>
          <p:nvPr>
            <p:ph type="sldNum" sz="quarter" idx="12"/>
          </p:nvPr>
        </p:nvSpPr>
        <p:spPr/>
        <p:txBody>
          <a:bodyPr/>
          <a:lstStyle/>
          <a:p>
            <a:fld id="{71C6F290-D301-4864-9490-340EF11588D9}" type="slidenum">
              <a:rPr lang="en-US" altLang="en-US" smtClean="0"/>
              <a:pPr/>
              <a:t>6</a:t>
            </a:fld>
            <a:endParaRPr lang="en-US" altLang="en-US" dirty="0"/>
          </a:p>
        </p:txBody>
      </p:sp>
    </p:spTree>
    <p:extLst>
      <p:ext uri="{BB962C8B-B14F-4D97-AF65-F5344CB8AC3E}">
        <p14:creationId xmlns:p14="http://schemas.microsoft.com/office/powerpoint/2010/main" val="112919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6DC0-436F-A6EF-7955-6CF76782B26F}"/>
              </a:ext>
            </a:extLst>
          </p:cNvPr>
          <p:cNvSpPr>
            <a:spLocks noGrp="1"/>
          </p:cNvSpPr>
          <p:nvPr>
            <p:ph type="title"/>
          </p:nvPr>
        </p:nvSpPr>
        <p:spPr/>
        <p:txBody>
          <a:bodyPr/>
          <a:lstStyle/>
          <a:p>
            <a:r>
              <a:rPr lang="en-US" dirty="0"/>
              <a:t>Why Study Intelligent Systems?</a:t>
            </a:r>
          </a:p>
        </p:txBody>
      </p:sp>
      <p:sp>
        <p:nvSpPr>
          <p:cNvPr id="3" name="Content Placeholder 2">
            <a:extLst>
              <a:ext uri="{FF2B5EF4-FFF2-40B4-BE49-F238E27FC236}">
                <a16:creationId xmlns:a16="http://schemas.microsoft.com/office/drawing/2014/main" id="{790FB25F-95D5-8E19-C334-BC9A42AD3C0F}"/>
              </a:ext>
            </a:extLst>
          </p:cNvPr>
          <p:cNvSpPr>
            <a:spLocks noGrp="1"/>
          </p:cNvSpPr>
          <p:nvPr>
            <p:ph idx="1"/>
          </p:nvPr>
        </p:nvSpPr>
        <p:spPr>
          <a:xfrm>
            <a:off x="685800" y="2133600"/>
            <a:ext cx="7391400" cy="3886200"/>
          </a:xfrm>
        </p:spPr>
        <p:txBody>
          <a:bodyPr>
            <a:normAutofit/>
          </a:bodyPr>
          <a:lstStyle/>
          <a:p>
            <a:pPr marL="457200" marR="0" lvl="0" indent="-45720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Arial" panose="020B0604020202020204" pitchFamily="34" charset="0"/>
              </a:rPr>
              <a:t>AI is transforming industries: healthcare, finance, transportation</a:t>
            </a:r>
          </a:p>
          <a:p>
            <a:pPr marL="457200" marR="0" lvl="0" indent="-45720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Arial" panose="020B0604020202020204" pitchFamily="34" charset="0"/>
              </a:rPr>
              <a:t>Huge demand for AI skills in the job market</a:t>
            </a:r>
          </a:p>
          <a:p>
            <a:pPr marL="457200" marR="0" lvl="0" indent="-45720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Arial" panose="020B0604020202020204" pitchFamily="34" charset="0"/>
              </a:rPr>
              <a:t>It's the future of computing</a:t>
            </a:r>
          </a:p>
        </p:txBody>
      </p:sp>
      <p:sp>
        <p:nvSpPr>
          <p:cNvPr id="4" name="Slide Number Placeholder 3">
            <a:extLst>
              <a:ext uri="{FF2B5EF4-FFF2-40B4-BE49-F238E27FC236}">
                <a16:creationId xmlns:a16="http://schemas.microsoft.com/office/drawing/2014/main" id="{EC3D2E0C-8656-7086-3025-F88C608007B4}"/>
              </a:ext>
            </a:extLst>
          </p:cNvPr>
          <p:cNvSpPr>
            <a:spLocks noGrp="1"/>
          </p:cNvSpPr>
          <p:nvPr>
            <p:ph type="sldNum" sz="quarter" idx="12"/>
          </p:nvPr>
        </p:nvSpPr>
        <p:spPr/>
        <p:txBody>
          <a:bodyPr/>
          <a:lstStyle/>
          <a:p>
            <a:fld id="{71C6F290-D301-4864-9490-340EF11588D9}" type="slidenum">
              <a:rPr lang="en-US" altLang="en-US" smtClean="0"/>
              <a:pPr/>
              <a:t>7</a:t>
            </a:fld>
            <a:endParaRPr lang="en-US" altLang="en-US" dirty="0"/>
          </a:p>
        </p:txBody>
      </p:sp>
    </p:spTree>
    <p:extLst>
      <p:ext uri="{BB962C8B-B14F-4D97-AF65-F5344CB8AC3E}">
        <p14:creationId xmlns:p14="http://schemas.microsoft.com/office/powerpoint/2010/main" val="2693728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56D26-B47C-95D7-CA06-4F7DB3C4A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5A147-1993-867E-96B6-6EB3D938E42B}"/>
              </a:ext>
            </a:extLst>
          </p:cNvPr>
          <p:cNvSpPr>
            <a:spLocks noGrp="1"/>
          </p:cNvSpPr>
          <p:nvPr>
            <p:ph type="title"/>
          </p:nvPr>
        </p:nvSpPr>
        <p:spPr/>
        <p:txBody>
          <a:bodyPr/>
          <a:lstStyle/>
          <a:p>
            <a:r>
              <a:rPr lang="en-US" dirty="0">
                <a:solidFill>
                  <a:schemeClr val="accent1"/>
                </a:solidFill>
              </a:rPr>
              <a:t>History of Intelligent Systems</a:t>
            </a:r>
          </a:p>
        </p:txBody>
      </p:sp>
      <p:sp>
        <p:nvSpPr>
          <p:cNvPr id="3" name="Content Placeholder 2">
            <a:extLst>
              <a:ext uri="{FF2B5EF4-FFF2-40B4-BE49-F238E27FC236}">
                <a16:creationId xmlns:a16="http://schemas.microsoft.com/office/drawing/2014/main" id="{7477F9A8-5E99-6B56-07AC-BCD2C98F57A4}"/>
              </a:ext>
            </a:extLst>
          </p:cNvPr>
          <p:cNvSpPr>
            <a:spLocks noGrp="1"/>
          </p:cNvSpPr>
          <p:nvPr>
            <p:ph idx="1"/>
          </p:nvPr>
        </p:nvSpPr>
        <p:spPr>
          <a:xfrm>
            <a:off x="523336" y="2057400"/>
            <a:ext cx="8163464" cy="4114800"/>
          </a:xfrm>
        </p:spPr>
        <p:txBody>
          <a:bodyPr>
            <a:norm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Arial" panose="020B0604020202020204" pitchFamily="34" charset="0"/>
              </a:rPr>
              <a:t>1950: </a:t>
            </a:r>
            <a:r>
              <a:rPr kumimoji="0" lang="en-US" altLang="en-US" sz="2800" b="0" i="0" u="none" strike="noStrike" cap="none" normalizeH="0" baseline="0" dirty="0">
                <a:ln>
                  <a:noFill/>
                </a:ln>
                <a:solidFill>
                  <a:schemeClr val="tx1"/>
                </a:solidFill>
                <a:effectLst/>
                <a:latin typeface="Arial" panose="020B0604020202020204" pitchFamily="34" charset="0"/>
              </a:rPr>
              <a:t>Turing Test (Tests machine intelligence by humans)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Arial" panose="020B0604020202020204" pitchFamily="34" charset="0"/>
              </a:rPr>
              <a:t>1960s: </a:t>
            </a:r>
            <a:r>
              <a:rPr kumimoji="0" lang="en-US" altLang="en-US" sz="2800" b="0" i="0" u="none" strike="noStrike" cap="none" normalizeH="0" baseline="0" dirty="0">
                <a:ln>
                  <a:noFill/>
                </a:ln>
                <a:solidFill>
                  <a:schemeClr val="tx1"/>
                </a:solidFill>
                <a:effectLst/>
                <a:latin typeface="Arial" panose="020B0604020202020204" pitchFamily="34" charset="0"/>
              </a:rPr>
              <a:t>Expert Systems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Arial" panose="020B0604020202020204" pitchFamily="34" charset="0"/>
              </a:rPr>
              <a:t>1980s–90s: </a:t>
            </a:r>
            <a:r>
              <a:rPr kumimoji="0" lang="en-US" altLang="en-US" sz="2800" b="0" i="0" u="none" strike="noStrike" cap="none" normalizeH="0" baseline="0" dirty="0">
                <a:ln>
                  <a:noFill/>
                </a:ln>
                <a:solidFill>
                  <a:schemeClr val="tx1"/>
                </a:solidFill>
                <a:effectLst/>
                <a:latin typeface="Arial" panose="020B0604020202020204" pitchFamily="34" charset="0"/>
              </a:rPr>
              <a:t>Neural Networks &amp; Rule-Based Systems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Arial" panose="020B0604020202020204" pitchFamily="34" charset="0"/>
              </a:rPr>
              <a:t>2010s+: </a:t>
            </a:r>
            <a:r>
              <a:rPr kumimoji="0" lang="en-US" altLang="en-US" sz="2800" b="0" i="0" u="none" strike="noStrike" cap="none" normalizeH="0" baseline="0" dirty="0">
                <a:ln>
                  <a:noFill/>
                </a:ln>
                <a:solidFill>
                  <a:schemeClr val="tx1"/>
                </a:solidFill>
                <a:effectLst/>
                <a:latin typeface="Arial" panose="020B0604020202020204" pitchFamily="34" charset="0"/>
              </a:rPr>
              <a:t>Deep Learning, Autonomous Systems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DEB7503C-40A7-AD7A-E04E-27B1BA57DDBC}"/>
              </a:ext>
            </a:extLst>
          </p:cNvPr>
          <p:cNvSpPr>
            <a:spLocks noGrp="1"/>
          </p:cNvSpPr>
          <p:nvPr>
            <p:ph type="sldNum" sz="quarter" idx="12"/>
          </p:nvPr>
        </p:nvSpPr>
        <p:spPr/>
        <p:txBody>
          <a:bodyPr/>
          <a:lstStyle/>
          <a:p>
            <a:fld id="{71C6F290-D301-4864-9490-340EF11588D9}" type="slidenum">
              <a:rPr lang="en-US" altLang="en-US" smtClean="0"/>
              <a:pPr/>
              <a:t>8</a:t>
            </a:fld>
            <a:endParaRPr lang="en-US" altLang="en-US" dirty="0"/>
          </a:p>
        </p:txBody>
      </p:sp>
    </p:spTree>
    <p:extLst>
      <p:ext uri="{BB962C8B-B14F-4D97-AF65-F5344CB8AC3E}">
        <p14:creationId xmlns:p14="http://schemas.microsoft.com/office/powerpoint/2010/main" val="3115573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CAED-63A5-15FA-74BB-17FD4DD3A73B}"/>
              </a:ext>
            </a:extLst>
          </p:cNvPr>
          <p:cNvSpPr>
            <a:spLocks noGrp="1"/>
          </p:cNvSpPr>
          <p:nvPr>
            <p:ph type="title"/>
          </p:nvPr>
        </p:nvSpPr>
        <p:spPr/>
        <p:txBody>
          <a:bodyPr/>
          <a:lstStyle/>
          <a:p>
            <a:r>
              <a:rPr lang="en-US" dirty="0"/>
              <a:t>What is Intelligence?</a:t>
            </a:r>
          </a:p>
        </p:txBody>
      </p:sp>
      <p:sp>
        <p:nvSpPr>
          <p:cNvPr id="3" name="Content Placeholder 2">
            <a:extLst>
              <a:ext uri="{FF2B5EF4-FFF2-40B4-BE49-F238E27FC236}">
                <a16:creationId xmlns:a16="http://schemas.microsoft.com/office/drawing/2014/main" id="{F793DBA2-5FEC-CF7D-EA5C-620EAF370322}"/>
              </a:ext>
            </a:extLst>
          </p:cNvPr>
          <p:cNvSpPr>
            <a:spLocks noGrp="1"/>
          </p:cNvSpPr>
          <p:nvPr>
            <p:ph idx="1"/>
          </p:nvPr>
        </p:nvSpPr>
        <p:spPr>
          <a:xfrm>
            <a:off x="609600" y="2446337"/>
            <a:ext cx="3505200" cy="3662949"/>
          </a:xfrm>
        </p:spPr>
        <p:txBody>
          <a:bodyPr>
            <a:normAutofit/>
          </a:bodyPr>
          <a:lstStyle/>
          <a:p>
            <a:pPr algn="justLow">
              <a:lnSpc>
                <a:spcPct val="150000"/>
              </a:lnSpc>
              <a:buNone/>
            </a:pPr>
            <a:r>
              <a:rPr lang="en-US" b="1" dirty="0"/>
              <a:t>Intelligence: </a:t>
            </a:r>
            <a:r>
              <a:rPr lang="en-US" dirty="0"/>
              <a:t>The ability to </a:t>
            </a:r>
            <a:r>
              <a:rPr lang="en-US" b="1" dirty="0">
                <a:solidFill>
                  <a:schemeClr val="accent2">
                    <a:lumMod val="75000"/>
                  </a:schemeClr>
                </a:solidFill>
              </a:rPr>
              <a:t>perceive</a:t>
            </a:r>
            <a:r>
              <a:rPr lang="en-US" dirty="0">
                <a:solidFill>
                  <a:schemeClr val="accent2">
                    <a:lumMod val="75000"/>
                  </a:schemeClr>
                </a:solidFill>
              </a:rPr>
              <a:t>, </a:t>
            </a:r>
            <a:r>
              <a:rPr lang="en-US" b="1" dirty="0">
                <a:solidFill>
                  <a:schemeClr val="accent2">
                    <a:lumMod val="75000"/>
                  </a:schemeClr>
                </a:solidFill>
              </a:rPr>
              <a:t>learn</a:t>
            </a:r>
            <a:r>
              <a:rPr lang="en-US" dirty="0">
                <a:solidFill>
                  <a:schemeClr val="accent2">
                    <a:lumMod val="75000"/>
                  </a:schemeClr>
                </a:solidFill>
              </a:rPr>
              <a:t>, </a:t>
            </a:r>
            <a:r>
              <a:rPr lang="en-US" b="1" dirty="0">
                <a:solidFill>
                  <a:schemeClr val="accent2">
                    <a:lumMod val="75000"/>
                  </a:schemeClr>
                </a:solidFill>
              </a:rPr>
              <a:t>understand</a:t>
            </a:r>
            <a:r>
              <a:rPr lang="en-US" dirty="0">
                <a:solidFill>
                  <a:schemeClr val="accent2">
                    <a:lumMod val="75000"/>
                  </a:schemeClr>
                </a:solidFill>
              </a:rPr>
              <a:t>, </a:t>
            </a:r>
            <a:r>
              <a:rPr lang="en-US" b="1" dirty="0">
                <a:solidFill>
                  <a:schemeClr val="accent2">
                    <a:lumMod val="75000"/>
                  </a:schemeClr>
                </a:solidFill>
              </a:rPr>
              <a:t>reason</a:t>
            </a:r>
            <a:r>
              <a:rPr lang="en-US" dirty="0">
                <a:solidFill>
                  <a:schemeClr val="accent2">
                    <a:lumMod val="75000"/>
                  </a:schemeClr>
                </a:solidFill>
              </a:rPr>
              <a:t>, and </a:t>
            </a:r>
            <a:r>
              <a:rPr lang="en-US" b="1" dirty="0">
                <a:solidFill>
                  <a:schemeClr val="accent2">
                    <a:lumMod val="75000"/>
                  </a:schemeClr>
                </a:solidFill>
              </a:rPr>
              <a:t>act</a:t>
            </a:r>
            <a:r>
              <a:rPr lang="en-US" dirty="0">
                <a:solidFill>
                  <a:schemeClr val="accent2">
                    <a:lumMod val="75000"/>
                  </a:schemeClr>
                </a:solidFill>
              </a:rPr>
              <a:t> </a:t>
            </a:r>
            <a:r>
              <a:rPr lang="en-US" dirty="0"/>
              <a:t>to achieve goals.</a:t>
            </a:r>
          </a:p>
        </p:txBody>
      </p:sp>
      <p:sp>
        <p:nvSpPr>
          <p:cNvPr id="4" name="Slide Number Placeholder 3">
            <a:extLst>
              <a:ext uri="{FF2B5EF4-FFF2-40B4-BE49-F238E27FC236}">
                <a16:creationId xmlns:a16="http://schemas.microsoft.com/office/drawing/2014/main" id="{DD7CB6EF-4844-3FB3-86A8-F72EEC715497}"/>
              </a:ext>
            </a:extLst>
          </p:cNvPr>
          <p:cNvSpPr>
            <a:spLocks noGrp="1"/>
          </p:cNvSpPr>
          <p:nvPr>
            <p:ph type="sldNum" sz="quarter" idx="12"/>
          </p:nvPr>
        </p:nvSpPr>
        <p:spPr/>
        <p:txBody>
          <a:bodyPr/>
          <a:lstStyle/>
          <a:p>
            <a:fld id="{71C6F290-D301-4864-9490-340EF11588D9}" type="slidenum">
              <a:rPr lang="en-US" altLang="en-US" smtClean="0"/>
              <a:pPr/>
              <a:t>9</a:t>
            </a:fld>
            <a:endParaRPr lang="en-US" altLang="en-US" dirty="0"/>
          </a:p>
        </p:txBody>
      </p:sp>
      <p:pic>
        <p:nvPicPr>
          <p:cNvPr id="8" name="Picture 7" descr="A person holding a light bulb next to a robot&#10;&#10;AI-generated content may be incorrect.">
            <a:extLst>
              <a:ext uri="{FF2B5EF4-FFF2-40B4-BE49-F238E27FC236}">
                <a16:creationId xmlns:a16="http://schemas.microsoft.com/office/drawing/2014/main" id="{EFE25801-FE77-0BD2-E6EA-5D06C650C2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5661" y="2052051"/>
            <a:ext cx="4578686" cy="3662949"/>
          </a:xfrm>
          <a:prstGeom prst="rect">
            <a:avLst/>
          </a:prstGeom>
        </p:spPr>
      </p:pic>
    </p:spTree>
    <p:extLst>
      <p:ext uri="{BB962C8B-B14F-4D97-AF65-F5344CB8AC3E}">
        <p14:creationId xmlns:p14="http://schemas.microsoft.com/office/powerpoint/2010/main" val="1437863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6A91-C926-B19A-5655-CDA8720F05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4DD973-FB0F-5E0A-2FA7-79A0FC2B4470}"/>
              </a:ext>
            </a:extLst>
          </p:cNvPr>
          <p:cNvSpPr>
            <a:spLocks noGrp="1"/>
          </p:cNvSpPr>
          <p:nvPr>
            <p:ph type="sldNum" sz="quarter" idx="12"/>
          </p:nvPr>
        </p:nvSpPr>
        <p:spPr/>
        <p:txBody>
          <a:bodyPr/>
          <a:lstStyle/>
          <a:p>
            <a:fld id="{71C6F290-D301-4864-9490-340EF11588D9}" type="slidenum">
              <a:rPr lang="en-US" altLang="en-US" smtClean="0"/>
              <a:pPr/>
              <a:t>10</a:t>
            </a:fld>
            <a:endParaRPr lang="en-US" altLang="en-US" dirty="0"/>
          </a:p>
        </p:txBody>
      </p:sp>
      <p:pic>
        <p:nvPicPr>
          <p:cNvPr id="8" name="Picture 7" descr="A person holding a light bulb next to a robot&#10;&#10;AI-generated content may be incorrect.">
            <a:extLst>
              <a:ext uri="{FF2B5EF4-FFF2-40B4-BE49-F238E27FC236}">
                <a16:creationId xmlns:a16="http://schemas.microsoft.com/office/drawing/2014/main" id="{81E582CA-2DAA-7EA9-73A5-094D37BA87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5661" y="1828800"/>
            <a:ext cx="4578686" cy="3662949"/>
          </a:xfrm>
          <a:prstGeom prst="rect">
            <a:avLst/>
          </a:prstGeom>
        </p:spPr>
      </p:pic>
      <p:sp>
        <p:nvSpPr>
          <p:cNvPr id="3" name="Content Placeholder 2">
            <a:extLst>
              <a:ext uri="{FF2B5EF4-FFF2-40B4-BE49-F238E27FC236}">
                <a16:creationId xmlns:a16="http://schemas.microsoft.com/office/drawing/2014/main" id="{A9D754B0-E52C-D9E3-1F2F-35DEE17B2D97}"/>
              </a:ext>
            </a:extLst>
          </p:cNvPr>
          <p:cNvSpPr>
            <a:spLocks noGrp="1"/>
          </p:cNvSpPr>
          <p:nvPr>
            <p:ph idx="1"/>
          </p:nvPr>
        </p:nvSpPr>
        <p:spPr>
          <a:xfrm>
            <a:off x="609600" y="2057400"/>
            <a:ext cx="4648200" cy="3662949"/>
          </a:xfrm>
        </p:spPr>
        <p:txBody>
          <a:bodyPr>
            <a:norm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Solve new problems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Learn from experience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Make good decisions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Adapt to changing environments</a:t>
            </a:r>
          </a:p>
        </p:txBody>
      </p:sp>
    </p:spTree>
    <p:extLst>
      <p:ext uri="{BB962C8B-B14F-4D97-AF65-F5344CB8AC3E}">
        <p14:creationId xmlns:p14="http://schemas.microsoft.com/office/powerpoint/2010/main" val="1095872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3E77D-F1E2-112E-3BE5-4090600E40AE}"/>
              </a:ext>
            </a:extLst>
          </p:cNvPr>
          <p:cNvSpPr>
            <a:spLocks noGrp="1"/>
          </p:cNvSpPr>
          <p:nvPr>
            <p:ph type="title"/>
          </p:nvPr>
        </p:nvSpPr>
        <p:spPr>
          <a:xfrm>
            <a:off x="304800" y="190500"/>
            <a:ext cx="7543800" cy="838200"/>
          </a:xfrm>
        </p:spPr>
        <p:txBody>
          <a:bodyPr/>
          <a:lstStyle/>
          <a:p>
            <a:r>
              <a:rPr lang="en-US" dirty="0"/>
              <a:t>What is Intelligent Systems?</a:t>
            </a:r>
          </a:p>
        </p:txBody>
      </p:sp>
      <p:sp>
        <p:nvSpPr>
          <p:cNvPr id="3" name="Slide Number Placeholder 2">
            <a:extLst>
              <a:ext uri="{FF2B5EF4-FFF2-40B4-BE49-F238E27FC236}">
                <a16:creationId xmlns:a16="http://schemas.microsoft.com/office/drawing/2014/main" id="{76103CD4-EDFC-27EF-F845-5803CB97F826}"/>
              </a:ext>
            </a:extLst>
          </p:cNvPr>
          <p:cNvSpPr>
            <a:spLocks noGrp="1"/>
          </p:cNvSpPr>
          <p:nvPr>
            <p:ph type="sldNum" sz="quarter" idx="12"/>
          </p:nvPr>
        </p:nvSpPr>
        <p:spPr/>
        <p:txBody>
          <a:bodyPr/>
          <a:lstStyle/>
          <a:p>
            <a:fld id="{D5F02DF6-5EF1-449D-8E8F-F40E7D2FCBCB}" type="slidenum">
              <a:rPr lang="en-US" altLang="en-US" smtClean="0"/>
              <a:pPr/>
              <a:t>11</a:t>
            </a:fld>
            <a:endParaRPr lang="en-US" altLang="en-US" dirty="0"/>
          </a:p>
        </p:txBody>
      </p:sp>
      <p:sp>
        <p:nvSpPr>
          <p:cNvPr id="20" name="TextBox 19">
            <a:extLst>
              <a:ext uri="{FF2B5EF4-FFF2-40B4-BE49-F238E27FC236}">
                <a16:creationId xmlns:a16="http://schemas.microsoft.com/office/drawing/2014/main" id="{7111FB3E-AB57-5AA6-157F-288A91543179}"/>
              </a:ext>
            </a:extLst>
          </p:cNvPr>
          <p:cNvSpPr txBox="1"/>
          <p:nvPr/>
        </p:nvSpPr>
        <p:spPr>
          <a:xfrm>
            <a:off x="152400" y="1447800"/>
            <a:ext cx="8839200" cy="5693866"/>
          </a:xfrm>
          <a:prstGeom prst="rect">
            <a:avLst/>
          </a:prstGeom>
          <a:noFill/>
        </p:spPr>
        <p:txBody>
          <a:bodyPr wrap="square">
            <a:spAutoFit/>
          </a:bodyPr>
          <a:lstStyle/>
          <a:p>
            <a:pPr algn="just"/>
            <a:r>
              <a:rPr lang="en-US" dirty="0"/>
              <a:t>A computer system that uses techniques derived from artificial intelligence.</a:t>
            </a:r>
          </a:p>
          <a:p>
            <a:pPr algn="just"/>
            <a:endParaRPr lang="en-US" dirty="0"/>
          </a:p>
          <a:p>
            <a:r>
              <a:rPr lang="en-US" dirty="0"/>
              <a:t>A machine or software that can </a:t>
            </a:r>
            <a:r>
              <a:rPr lang="en-US" b="1" dirty="0">
                <a:solidFill>
                  <a:schemeClr val="accent2">
                    <a:lumMod val="75000"/>
                  </a:schemeClr>
                </a:solidFill>
              </a:rPr>
              <a:t>simulate intelligent behavior</a:t>
            </a:r>
            <a:r>
              <a:rPr lang="en-US" dirty="0">
                <a:solidFill>
                  <a:schemeClr val="accent2">
                    <a:lumMod val="75000"/>
                  </a:schemeClr>
                </a:solidFill>
              </a:rPr>
              <a:t>.</a:t>
            </a:r>
          </a:p>
          <a:p>
            <a:pPr algn="just">
              <a:buNone/>
            </a:pPr>
            <a:endParaRPr lang="en-US" dirty="0"/>
          </a:p>
          <a:p>
            <a:pPr algn="just"/>
            <a:r>
              <a:rPr lang="en-US" dirty="0"/>
              <a:t>An intelligent system is an advanced computer system that can gather, analyze and respond to the data it collects from its surrounding environment. It can work and communicate with other agents, such as users or other computer systems. It can also learn from experience and adapt according to current data.</a:t>
            </a:r>
          </a:p>
          <a:p>
            <a:pPr algn="just"/>
            <a:endParaRPr lang="en-US" dirty="0"/>
          </a:p>
        </p:txBody>
      </p:sp>
    </p:spTree>
    <p:extLst>
      <p:ext uri="{BB962C8B-B14F-4D97-AF65-F5344CB8AC3E}">
        <p14:creationId xmlns:p14="http://schemas.microsoft.com/office/powerpoint/2010/main" val="2246525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D31AC-5DC0-F8C2-5BCA-A75C00FDF037}"/>
              </a:ext>
            </a:extLst>
          </p:cNvPr>
          <p:cNvSpPr>
            <a:spLocks noGrp="1"/>
          </p:cNvSpPr>
          <p:nvPr>
            <p:ph type="title"/>
          </p:nvPr>
        </p:nvSpPr>
        <p:spPr>
          <a:xfrm>
            <a:off x="228600" y="-76200"/>
            <a:ext cx="7696200" cy="1219200"/>
          </a:xfrm>
        </p:spPr>
        <p:txBody>
          <a:bodyPr/>
          <a:lstStyle/>
          <a:p>
            <a:r>
              <a:rPr lang="en-US" dirty="0"/>
              <a:t>What is Intelligent Systems?</a:t>
            </a:r>
          </a:p>
        </p:txBody>
      </p:sp>
      <p:sp>
        <p:nvSpPr>
          <p:cNvPr id="3" name="Slide Number Placeholder 2">
            <a:extLst>
              <a:ext uri="{FF2B5EF4-FFF2-40B4-BE49-F238E27FC236}">
                <a16:creationId xmlns:a16="http://schemas.microsoft.com/office/drawing/2014/main" id="{D4FA5BFF-7ECA-A4AC-ED78-CC0A8D95034D}"/>
              </a:ext>
            </a:extLst>
          </p:cNvPr>
          <p:cNvSpPr>
            <a:spLocks noGrp="1"/>
          </p:cNvSpPr>
          <p:nvPr>
            <p:ph type="sldNum" sz="quarter" idx="12"/>
          </p:nvPr>
        </p:nvSpPr>
        <p:spPr/>
        <p:txBody>
          <a:bodyPr/>
          <a:lstStyle/>
          <a:p>
            <a:fld id="{D5F02DF6-5EF1-449D-8E8F-F40E7D2FCBCB}" type="slidenum">
              <a:rPr lang="en-US" altLang="en-US" smtClean="0"/>
              <a:pPr/>
              <a:t>12</a:t>
            </a:fld>
            <a:endParaRPr lang="en-US" altLang="en-US" dirty="0"/>
          </a:p>
        </p:txBody>
      </p:sp>
      <p:pic>
        <p:nvPicPr>
          <p:cNvPr id="4098" name="Picture 2">
            <a:extLst>
              <a:ext uri="{FF2B5EF4-FFF2-40B4-BE49-F238E27FC236}">
                <a16:creationId xmlns:a16="http://schemas.microsoft.com/office/drawing/2014/main" id="{BA0B2EA7-0508-06F0-E49C-19F1DF68A9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143000"/>
            <a:ext cx="46101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descr="Intelligent Systems PowerPoint Slide 1">
            <a:extLst>
              <a:ext uri="{FF2B5EF4-FFF2-40B4-BE49-F238E27FC236}">
                <a16:creationId xmlns:a16="http://schemas.microsoft.com/office/drawing/2014/main" id="{A7E69D2E-93F7-82D2-A132-3951B0FBC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075" y="2819400"/>
            <a:ext cx="4670425"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7538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A76F1-0788-6F65-65DC-0D5D1A41C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82272-7884-BEF8-1717-1F78DC53534A}"/>
              </a:ext>
            </a:extLst>
          </p:cNvPr>
          <p:cNvSpPr>
            <a:spLocks noGrp="1"/>
          </p:cNvSpPr>
          <p:nvPr>
            <p:ph type="title"/>
          </p:nvPr>
        </p:nvSpPr>
        <p:spPr/>
        <p:txBody>
          <a:bodyPr/>
          <a:lstStyle/>
          <a:p>
            <a:r>
              <a:rPr lang="en-US" dirty="0"/>
              <a:t>What is an Intelligent System?</a:t>
            </a:r>
          </a:p>
        </p:txBody>
      </p:sp>
      <p:sp>
        <p:nvSpPr>
          <p:cNvPr id="3" name="Content Placeholder 2">
            <a:extLst>
              <a:ext uri="{FF2B5EF4-FFF2-40B4-BE49-F238E27FC236}">
                <a16:creationId xmlns:a16="http://schemas.microsoft.com/office/drawing/2014/main" id="{F040112B-C7C4-DB9C-2954-0B12EB8A6950}"/>
              </a:ext>
            </a:extLst>
          </p:cNvPr>
          <p:cNvSpPr>
            <a:spLocks noGrp="1"/>
          </p:cNvSpPr>
          <p:nvPr>
            <p:ph idx="1"/>
          </p:nvPr>
        </p:nvSpPr>
        <p:spPr>
          <a:xfrm>
            <a:off x="457200" y="1821186"/>
            <a:ext cx="7391400" cy="4411663"/>
          </a:xfrm>
        </p:spPr>
        <p:txBody>
          <a:bodyPr/>
          <a:lstStyle/>
          <a:p>
            <a:pPr>
              <a:buNone/>
            </a:pPr>
            <a:r>
              <a:rPr lang="en-US" b="1" dirty="0">
                <a:solidFill>
                  <a:schemeClr val="accent1">
                    <a:lumMod val="75000"/>
                  </a:schemeClr>
                </a:solidFill>
              </a:rPr>
              <a:t>It can:</a:t>
            </a:r>
          </a:p>
          <a:p>
            <a:pPr marL="502920" indent="-457200">
              <a:buFont typeface="Arial" panose="020B0604020202020204" pitchFamily="34" charset="0"/>
              <a:buChar char="•"/>
            </a:pPr>
            <a:r>
              <a:rPr lang="en-US" dirty="0"/>
              <a:t>Sense the environment</a:t>
            </a:r>
          </a:p>
          <a:p>
            <a:pPr marL="502920" indent="-457200">
              <a:buFont typeface="Arial" panose="020B0604020202020204" pitchFamily="34" charset="0"/>
              <a:buChar char="•"/>
            </a:pPr>
            <a:r>
              <a:rPr lang="en-US" dirty="0"/>
              <a:t>Learn and make decisions</a:t>
            </a:r>
          </a:p>
          <a:p>
            <a:pPr marL="502920" indent="-457200">
              <a:buFont typeface="Arial" panose="020B0604020202020204" pitchFamily="34" charset="0"/>
              <a:buChar char="•"/>
            </a:pPr>
            <a:r>
              <a:rPr lang="en-US" dirty="0"/>
              <a:t>Solve complex tasks</a:t>
            </a:r>
          </a:p>
          <a:p>
            <a:pPr marL="502920" indent="-457200">
              <a:buFont typeface="Arial" panose="020B0604020202020204" pitchFamily="34" charset="0"/>
              <a:buChar char="•"/>
            </a:pPr>
            <a:r>
              <a:rPr lang="en-US" dirty="0"/>
              <a:t>Interact with humans</a:t>
            </a:r>
          </a:p>
        </p:txBody>
      </p:sp>
      <p:sp>
        <p:nvSpPr>
          <p:cNvPr id="4" name="Slide Number Placeholder 3">
            <a:extLst>
              <a:ext uri="{FF2B5EF4-FFF2-40B4-BE49-F238E27FC236}">
                <a16:creationId xmlns:a16="http://schemas.microsoft.com/office/drawing/2014/main" id="{D444645F-179A-81CE-FD75-D0FD7D27C297}"/>
              </a:ext>
            </a:extLst>
          </p:cNvPr>
          <p:cNvSpPr>
            <a:spLocks noGrp="1"/>
          </p:cNvSpPr>
          <p:nvPr>
            <p:ph type="sldNum" sz="quarter" idx="12"/>
          </p:nvPr>
        </p:nvSpPr>
        <p:spPr/>
        <p:txBody>
          <a:bodyPr/>
          <a:lstStyle/>
          <a:p>
            <a:fld id="{71C6F290-D301-4864-9490-340EF11588D9}" type="slidenum">
              <a:rPr lang="en-US" altLang="en-US" smtClean="0"/>
              <a:pPr/>
              <a:t>13</a:t>
            </a:fld>
            <a:endParaRPr lang="en-US" altLang="en-US" dirty="0"/>
          </a:p>
        </p:txBody>
      </p:sp>
    </p:spTree>
    <p:extLst>
      <p:ext uri="{BB962C8B-B14F-4D97-AF65-F5344CB8AC3E}">
        <p14:creationId xmlns:p14="http://schemas.microsoft.com/office/powerpoint/2010/main" val="2427906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9C5D0-1FE8-A7E3-1D30-2DC7CC88C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198D0-644C-BD55-CB5D-B94FF4C946FE}"/>
              </a:ext>
            </a:extLst>
          </p:cNvPr>
          <p:cNvSpPr>
            <a:spLocks noGrp="1"/>
          </p:cNvSpPr>
          <p:nvPr>
            <p:ph type="title"/>
          </p:nvPr>
        </p:nvSpPr>
        <p:spPr/>
        <p:txBody>
          <a:bodyPr/>
          <a:lstStyle/>
          <a:p>
            <a:r>
              <a:rPr lang="en-US" dirty="0"/>
              <a:t>What is an Intelligent System?</a:t>
            </a:r>
          </a:p>
        </p:txBody>
      </p:sp>
      <p:sp>
        <p:nvSpPr>
          <p:cNvPr id="3" name="Content Placeholder 2">
            <a:extLst>
              <a:ext uri="{FF2B5EF4-FFF2-40B4-BE49-F238E27FC236}">
                <a16:creationId xmlns:a16="http://schemas.microsoft.com/office/drawing/2014/main" id="{4E702B40-3658-1852-1D50-858597936C9D}"/>
              </a:ext>
            </a:extLst>
          </p:cNvPr>
          <p:cNvSpPr>
            <a:spLocks noGrp="1"/>
          </p:cNvSpPr>
          <p:nvPr>
            <p:ph idx="1"/>
          </p:nvPr>
        </p:nvSpPr>
        <p:spPr>
          <a:xfrm>
            <a:off x="685800" y="1836737"/>
            <a:ext cx="7391400" cy="4411663"/>
          </a:xfrm>
        </p:spPr>
        <p:txBody>
          <a:bodyPr/>
          <a:lstStyle/>
          <a:p>
            <a:pPr>
              <a:buNone/>
            </a:pPr>
            <a:r>
              <a:rPr lang="en-US" b="1" dirty="0">
                <a:solidFill>
                  <a:schemeClr val="accent1">
                    <a:lumMod val="75000"/>
                  </a:schemeClr>
                </a:solidFill>
              </a:rPr>
              <a:t>Examples:</a:t>
            </a:r>
          </a:p>
          <a:p>
            <a:pPr>
              <a:buNone/>
            </a:pPr>
            <a:endParaRPr lang="en-US" b="1" dirty="0">
              <a:solidFill>
                <a:schemeClr val="accent1">
                  <a:lumMod val="75000"/>
                </a:schemeClr>
              </a:solidFill>
            </a:endParaRPr>
          </a:p>
          <a:p>
            <a:pPr marL="502920" indent="-457200">
              <a:lnSpc>
                <a:spcPct val="150000"/>
              </a:lnSpc>
              <a:buFont typeface="Arial" panose="020B0604020202020204" pitchFamily="34" charset="0"/>
              <a:buChar char="•"/>
            </a:pPr>
            <a:r>
              <a:rPr lang="en-US" dirty="0"/>
              <a:t>Self-driving cars</a:t>
            </a:r>
          </a:p>
          <a:p>
            <a:pPr marL="502920" indent="-457200">
              <a:lnSpc>
                <a:spcPct val="150000"/>
              </a:lnSpc>
              <a:buFont typeface="Arial" panose="020B0604020202020204" pitchFamily="34" charset="0"/>
              <a:buChar char="•"/>
            </a:pPr>
            <a:r>
              <a:rPr lang="en-US" dirty="0"/>
              <a:t>Chatbots</a:t>
            </a:r>
          </a:p>
          <a:p>
            <a:pPr marL="502920" indent="-457200">
              <a:lnSpc>
                <a:spcPct val="150000"/>
              </a:lnSpc>
              <a:buFont typeface="Arial" panose="020B0604020202020204" pitchFamily="34" charset="0"/>
              <a:buChar char="•"/>
            </a:pPr>
            <a:r>
              <a:rPr lang="en-US" dirty="0"/>
              <a:t>Recommendation systems</a:t>
            </a:r>
          </a:p>
          <a:p>
            <a:pPr marL="502920" indent="-457200">
              <a:lnSpc>
                <a:spcPct val="150000"/>
              </a:lnSpc>
              <a:buFont typeface="Arial" panose="020B0604020202020204" pitchFamily="34" charset="0"/>
              <a:buChar char="•"/>
            </a:pPr>
            <a:r>
              <a:rPr lang="en-US" dirty="0"/>
              <a:t>Industrial robots</a:t>
            </a:r>
          </a:p>
        </p:txBody>
      </p:sp>
      <p:sp>
        <p:nvSpPr>
          <p:cNvPr id="4" name="Slide Number Placeholder 3">
            <a:extLst>
              <a:ext uri="{FF2B5EF4-FFF2-40B4-BE49-F238E27FC236}">
                <a16:creationId xmlns:a16="http://schemas.microsoft.com/office/drawing/2014/main" id="{8D96C4C5-E019-804C-EBD7-9CE1D8FC705A}"/>
              </a:ext>
            </a:extLst>
          </p:cNvPr>
          <p:cNvSpPr>
            <a:spLocks noGrp="1"/>
          </p:cNvSpPr>
          <p:nvPr>
            <p:ph type="sldNum" sz="quarter" idx="12"/>
          </p:nvPr>
        </p:nvSpPr>
        <p:spPr/>
        <p:txBody>
          <a:bodyPr/>
          <a:lstStyle/>
          <a:p>
            <a:fld id="{71C6F290-D301-4864-9490-340EF11588D9}" type="slidenum">
              <a:rPr lang="en-US" altLang="en-US" smtClean="0"/>
              <a:pPr/>
              <a:t>14</a:t>
            </a:fld>
            <a:endParaRPr lang="en-US" altLang="en-US" dirty="0"/>
          </a:p>
        </p:txBody>
      </p:sp>
    </p:spTree>
    <p:extLst>
      <p:ext uri="{BB962C8B-B14F-4D97-AF65-F5344CB8AC3E}">
        <p14:creationId xmlns:p14="http://schemas.microsoft.com/office/powerpoint/2010/main" val="1687223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F338-D601-7E03-6CF9-EEB8629BDB5D}"/>
              </a:ext>
            </a:extLst>
          </p:cNvPr>
          <p:cNvSpPr>
            <a:spLocks noGrp="1"/>
          </p:cNvSpPr>
          <p:nvPr>
            <p:ph type="title"/>
          </p:nvPr>
        </p:nvSpPr>
        <p:spPr>
          <a:xfrm>
            <a:off x="228600" y="228600"/>
            <a:ext cx="7696200" cy="838200"/>
          </a:xfrm>
        </p:spPr>
        <p:txBody>
          <a:bodyPr/>
          <a:lstStyle/>
          <a:p>
            <a:r>
              <a:rPr lang="en-US" dirty="0"/>
              <a:t>What is an Intelligent System?</a:t>
            </a:r>
          </a:p>
        </p:txBody>
      </p:sp>
      <p:sp>
        <p:nvSpPr>
          <p:cNvPr id="3" name="Slide Number Placeholder 2">
            <a:extLst>
              <a:ext uri="{FF2B5EF4-FFF2-40B4-BE49-F238E27FC236}">
                <a16:creationId xmlns:a16="http://schemas.microsoft.com/office/drawing/2014/main" id="{C5EB32A8-7E01-A040-23FA-4B82CFE37794}"/>
              </a:ext>
            </a:extLst>
          </p:cNvPr>
          <p:cNvSpPr>
            <a:spLocks noGrp="1"/>
          </p:cNvSpPr>
          <p:nvPr>
            <p:ph type="sldNum" sz="quarter" idx="12"/>
          </p:nvPr>
        </p:nvSpPr>
        <p:spPr/>
        <p:txBody>
          <a:bodyPr/>
          <a:lstStyle/>
          <a:p>
            <a:fld id="{D5F02DF6-5EF1-449D-8E8F-F40E7D2FCBCB}" type="slidenum">
              <a:rPr lang="en-US" altLang="en-US" smtClean="0"/>
              <a:pPr/>
              <a:t>15</a:t>
            </a:fld>
            <a:endParaRPr lang="en-US" altLang="en-US" dirty="0"/>
          </a:p>
        </p:txBody>
      </p:sp>
      <p:sp>
        <p:nvSpPr>
          <p:cNvPr id="4" name="TextBox 3">
            <a:extLst>
              <a:ext uri="{FF2B5EF4-FFF2-40B4-BE49-F238E27FC236}">
                <a16:creationId xmlns:a16="http://schemas.microsoft.com/office/drawing/2014/main" id="{8F114D3B-3890-94AD-B3D6-C7F2004922CC}"/>
              </a:ext>
            </a:extLst>
          </p:cNvPr>
          <p:cNvSpPr txBox="1"/>
          <p:nvPr/>
        </p:nvSpPr>
        <p:spPr>
          <a:xfrm>
            <a:off x="245706" y="1090910"/>
            <a:ext cx="8458200" cy="5386090"/>
          </a:xfrm>
          <a:prstGeom prst="rect">
            <a:avLst/>
          </a:prstGeom>
          <a:noFill/>
        </p:spPr>
        <p:txBody>
          <a:bodyPr wrap="square" rtlCol="0">
            <a:spAutoFit/>
          </a:bodyPr>
          <a:lstStyle/>
          <a:p>
            <a:r>
              <a:rPr lang="en-US" sz="4000" dirty="0">
                <a:solidFill>
                  <a:srgbClr val="FF0000"/>
                </a:solidFill>
              </a:rPr>
              <a:t>Intelligence needs Knowledge</a:t>
            </a:r>
          </a:p>
          <a:p>
            <a:r>
              <a:rPr lang="en-US" sz="2000" dirty="0">
                <a:solidFill>
                  <a:srgbClr val="FF0000"/>
                </a:solidFill>
              </a:rPr>
              <a:t>Knowledge in General: Information and skills acquired through experience or education; the theoretical or practical understanding of a subject.</a:t>
            </a:r>
          </a:p>
          <a:p>
            <a:pPr>
              <a:buNone/>
            </a:pPr>
            <a:endParaRPr lang="en-US" sz="2000" dirty="0">
              <a:solidFill>
                <a:srgbClr val="FF0000"/>
              </a:solidFill>
            </a:endParaRPr>
          </a:p>
          <a:p>
            <a:r>
              <a:rPr lang="en-US" sz="2000" dirty="0">
                <a:solidFill>
                  <a:srgbClr val="FF0000"/>
                </a:solidFill>
              </a:rPr>
              <a:t>Knowledge is how you map the world (your perception).</a:t>
            </a:r>
          </a:p>
          <a:p>
            <a:endParaRPr lang="en-US" sz="2000" dirty="0">
              <a:solidFill>
                <a:srgbClr val="FF0000"/>
              </a:solidFill>
            </a:endParaRPr>
          </a:p>
          <a:p>
            <a:r>
              <a:rPr lang="en-US" sz="2000" dirty="0">
                <a:solidFill>
                  <a:srgbClr val="FF0000"/>
                </a:solidFill>
              </a:rPr>
              <a:t>Knowledge helps in taking decisions.</a:t>
            </a:r>
          </a:p>
          <a:p>
            <a:endParaRPr lang="en-US" sz="4000" dirty="0">
              <a:solidFill>
                <a:srgbClr val="FF0000"/>
              </a:solidFill>
            </a:endParaRPr>
          </a:p>
          <a:p>
            <a:endParaRPr lang="en-US" sz="4000" dirty="0">
              <a:solidFill>
                <a:srgbClr val="FF0000"/>
              </a:solidFill>
            </a:endParaRPr>
          </a:p>
          <a:p>
            <a:endParaRPr lang="en-US" sz="4000" dirty="0">
              <a:solidFill>
                <a:srgbClr val="FF0000"/>
              </a:solidFill>
            </a:endParaRPr>
          </a:p>
        </p:txBody>
      </p:sp>
      <p:pic>
        <p:nvPicPr>
          <p:cNvPr id="6" name="Picture 5">
            <a:extLst>
              <a:ext uri="{FF2B5EF4-FFF2-40B4-BE49-F238E27FC236}">
                <a16:creationId xmlns:a16="http://schemas.microsoft.com/office/drawing/2014/main" id="{2CCFBA13-F94C-4B94-7FC4-9674BC862699}"/>
              </a:ext>
            </a:extLst>
          </p:cNvPr>
          <p:cNvPicPr>
            <a:picLocks noChangeAspect="1"/>
          </p:cNvPicPr>
          <p:nvPr/>
        </p:nvPicPr>
        <p:blipFill>
          <a:blip r:embed="rId2"/>
          <a:stretch>
            <a:fillRect/>
          </a:stretch>
        </p:blipFill>
        <p:spPr>
          <a:xfrm>
            <a:off x="4964353" y="3783955"/>
            <a:ext cx="3733333" cy="2685714"/>
          </a:xfrm>
          <a:prstGeom prst="rect">
            <a:avLst/>
          </a:prstGeom>
        </p:spPr>
      </p:pic>
    </p:spTree>
    <p:extLst>
      <p:ext uri="{BB962C8B-B14F-4D97-AF65-F5344CB8AC3E}">
        <p14:creationId xmlns:p14="http://schemas.microsoft.com/office/powerpoint/2010/main" val="258888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0AAF6-2B91-78B4-9D3B-8732B211ADD8}"/>
              </a:ext>
            </a:extLst>
          </p:cNvPr>
          <p:cNvSpPr>
            <a:spLocks noGrp="1"/>
          </p:cNvSpPr>
          <p:nvPr>
            <p:ph type="title"/>
          </p:nvPr>
        </p:nvSpPr>
        <p:spPr/>
        <p:txBody>
          <a:bodyPr/>
          <a:lstStyle/>
          <a:p>
            <a:r>
              <a:rPr lang="en-US" dirty="0"/>
              <a:t>What is an Intelligent System?</a:t>
            </a:r>
          </a:p>
        </p:txBody>
      </p:sp>
      <p:sp>
        <p:nvSpPr>
          <p:cNvPr id="3" name="Slide Number Placeholder 2">
            <a:extLst>
              <a:ext uri="{FF2B5EF4-FFF2-40B4-BE49-F238E27FC236}">
                <a16:creationId xmlns:a16="http://schemas.microsoft.com/office/drawing/2014/main" id="{8F594A5B-544F-107E-FEE1-3A80422EDAB9}"/>
              </a:ext>
            </a:extLst>
          </p:cNvPr>
          <p:cNvSpPr>
            <a:spLocks noGrp="1"/>
          </p:cNvSpPr>
          <p:nvPr>
            <p:ph type="sldNum" sz="quarter" idx="12"/>
          </p:nvPr>
        </p:nvSpPr>
        <p:spPr/>
        <p:txBody>
          <a:bodyPr/>
          <a:lstStyle/>
          <a:p>
            <a:fld id="{D5F02DF6-5EF1-449D-8E8F-F40E7D2FCBCB}" type="slidenum">
              <a:rPr lang="en-US" altLang="en-US" smtClean="0"/>
              <a:pPr/>
              <a:t>16</a:t>
            </a:fld>
            <a:endParaRPr lang="en-US" altLang="en-US" dirty="0"/>
          </a:p>
        </p:txBody>
      </p:sp>
      <p:pic>
        <p:nvPicPr>
          <p:cNvPr id="4" name="Picture 3">
            <a:extLst>
              <a:ext uri="{FF2B5EF4-FFF2-40B4-BE49-F238E27FC236}">
                <a16:creationId xmlns:a16="http://schemas.microsoft.com/office/drawing/2014/main" id="{497E94C6-7C6A-17F4-1C1B-FCC9A6122F5D}"/>
              </a:ext>
            </a:extLst>
          </p:cNvPr>
          <p:cNvPicPr>
            <a:picLocks noChangeAspect="1"/>
          </p:cNvPicPr>
          <p:nvPr/>
        </p:nvPicPr>
        <p:blipFill>
          <a:blip r:embed="rId2"/>
          <a:stretch>
            <a:fillRect/>
          </a:stretch>
        </p:blipFill>
        <p:spPr>
          <a:xfrm>
            <a:off x="1600200" y="1905000"/>
            <a:ext cx="5638799" cy="3657600"/>
          </a:xfrm>
          <a:prstGeom prst="rect">
            <a:avLst/>
          </a:prstGeom>
        </p:spPr>
      </p:pic>
    </p:spTree>
    <p:extLst>
      <p:ext uri="{BB962C8B-B14F-4D97-AF65-F5344CB8AC3E}">
        <p14:creationId xmlns:p14="http://schemas.microsoft.com/office/powerpoint/2010/main" val="2636100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F9455-57B1-CE33-5CB9-8299D03259AC}"/>
              </a:ext>
            </a:extLst>
          </p:cNvPr>
          <p:cNvSpPr>
            <a:spLocks noGrp="1"/>
          </p:cNvSpPr>
          <p:nvPr>
            <p:ph type="title"/>
          </p:nvPr>
        </p:nvSpPr>
        <p:spPr>
          <a:xfrm>
            <a:off x="228600" y="228600"/>
            <a:ext cx="7696200" cy="838200"/>
          </a:xfrm>
        </p:spPr>
        <p:txBody>
          <a:bodyPr/>
          <a:lstStyle/>
          <a:p>
            <a:r>
              <a:rPr lang="en-US" dirty="0"/>
              <a:t>What is AI Technique</a:t>
            </a:r>
          </a:p>
        </p:txBody>
      </p:sp>
      <p:sp>
        <p:nvSpPr>
          <p:cNvPr id="3" name="Slide Number Placeholder 2">
            <a:extLst>
              <a:ext uri="{FF2B5EF4-FFF2-40B4-BE49-F238E27FC236}">
                <a16:creationId xmlns:a16="http://schemas.microsoft.com/office/drawing/2014/main" id="{14FE4788-4537-3B5C-07B1-0E70EAB10B39}"/>
              </a:ext>
            </a:extLst>
          </p:cNvPr>
          <p:cNvSpPr>
            <a:spLocks noGrp="1"/>
          </p:cNvSpPr>
          <p:nvPr>
            <p:ph type="sldNum" sz="quarter" idx="12"/>
          </p:nvPr>
        </p:nvSpPr>
        <p:spPr/>
        <p:txBody>
          <a:bodyPr/>
          <a:lstStyle/>
          <a:p>
            <a:fld id="{D5F02DF6-5EF1-449D-8E8F-F40E7D2FCBCB}" type="slidenum">
              <a:rPr lang="en-US" altLang="en-US" smtClean="0"/>
              <a:pPr/>
              <a:t>17</a:t>
            </a:fld>
            <a:endParaRPr lang="en-US" altLang="en-US" dirty="0"/>
          </a:p>
        </p:txBody>
      </p:sp>
      <p:sp>
        <p:nvSpPr>
          <p:cNvPr id="6" name="TextBox 5">
            <a:extLst>
              <a:ext uri="{FF2B5EF4-FFF2-40B4-BE49-F238E27FC236}">
                <a16:creationId xmlns:a16="http://schemas.microsoft.com/office/drawing/2014/main" id="{6DCA8D56-E371-D52D-FCC0-1FF4A61077F5}"/>
              </a:ext>
            </a:extLst>
          </p:cNvPr>
          <p:cNvSpPr txBox="1"/>
          <p:nvPr/>
        </p:nvSpPr>
        <p:spPr>
          <a:xfrm>
            <a:off x="419100" y="1171777"/>
            <a:ext cx="8039100" cy="4573560"/>
          </a:xfrm>
          <a:prstGeom prst="rect">
            <a:avLst/>
          </a:prstGeom>
          <a:noFill/>
        </p:spPr>
        <p:txBody>
          <a:bodyPr wrap="square">
            <a:spAutoFit/>
          </a:bodyPr>
          <a:lstStyle/>
          <a:p>
            <a:pPr>
              <a:buNone/>
            </a:pPr>
            <a:endParaRPr lang="en-US" dirty="0"/>
          </a:p>
          <a:p>
            <a:r>
              <a:rPr lang="en-US" dirty="0"/>
              <a:t>It is a method that exploits and use the knowledge efficiently.  AI techniques are models made from advanced forms of a statistical and mathematical model. </a:t>
            </a:r>
          </a:p>
          <a:p>
            <a:pPr>
              <a:buNone/>
            </a:pPr>
            <a:r>
              <a:rPr lang="en-US" b="1" dirty="0">
                <a:solidFill>
                  <a:srgbClr val="C00000"/>
                </a:solidFill>
              </a:rPr>
              <a:t>some of the most prominent AI techniques:</a:t>
            </a:r>
          </a:p>
          <a:p>
            <a:r>
              <a:rPr lang="en-US" dirty="0"/>
              <a:t>Machine Learning (ML) </a:t>
            </a:r>
          </a:p>
          <a:p>
            <a:r>
              <a:rPr lang="en-US" dirty="0"/>
              <a:t>Natural Language Processing (NLP) </a:t>
            </a:r>
          </a:p>
          <a:p>
            <a:r>
              <a:rPr lang="en-US" dirty="0"/>
              <a:t>Computer Vision </a:t>
            </a:r>
          </a:p>
          <a:p>
            <a:r>
              <a:rPr lang="en-US" dirty="0"/>
              <a:t>Deep Learning </a:t>
            </a:r>
          </a:p>
        </p:txBody>
      </p:sp>
    </p:spTree>
    <p:extLst>
      <p:ext uri="{BB962C8B-B14F-4D97-AF65-F5344CB8AC3E}">
        <p14:creationId xmlns:p14="http://schemas.microsoft.com/office/powerpoint/2010/main" val="2769281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D229-908C-37F1-C301-33E635BCCA44}"/>
              </a:ext>
            </a:extLst>
          </p:cNvPr>
          <p:cNvSpPr>
            <a:spLocks noGrp="1"/>
          </p:cNvSpPr>
          <p:nvPr>
            <p:ph type="title"/>
          </p:nvPr>
        </p:nvSpPr>
        <p:spPr>
          <a:xfrm>
            <a:off x="228600" y="228600"/>
            <a:ext cx="7696200" cy="685800"/>
          </a:xfrm>
        </p:spPr>
        <p:txBody>
          <a:bodyPr/>
          <a:lstStyle/>
          <a:p>
            <a:r>
              <a:rPr lang="en-US" dirty="0"/>
              <a:t>AI Technique Example</a:t>
            </a:r>
          </a:p>
        </p:txBody>
      </p:sp>
      <p:sp>
        <p:nvSpPr>
          <p:cNvPr id="3" name="Slide Number Placeholder 2">
            <a:extLst>
              <a:ext uri="{FF2B5EF4-FFF2-40B4-BE49-F238E27FC236}">
                <a16:creationId xmlns:a16="http://schemas.microsoft.com/office/drawing/2014/main" id="{54482343-4043-A169-EBF1-D7FDA9154042}"/>
              </a:ext>
            </a:extLst>
          </p:cNvPr>
          <p:cNvSpPr>
            <a:spLocks noGrp="1"/>
          </p:cNvSpPr>
          <p:nvPr>
            <p:ph type="sldNum" sz="quarter" idx="12"/>
          </p:nvPr>
        </p:nvSpPr>
        <p:spPr/>
        <p:txBody>
          <a:bodyPr/>
          <a:lstStyle/>
          <a:p>
            <a:fld id="{D5F02DF6-5EF1-449D-8E8F-F40E7D2FCBCB}" type="slidenum">
              <a:rPr lang="en-US" altLang="en-US" smtClean="0"/>
              <a:pPr/>
              <a:t>18</a:t>
            </a:fld>
            <a:endParaRPr lang="en-US" altLang="en-US" dirty="0"/>
          </a:p>
        </p:txBody>
      </p:sp>
      <p:sp>
        <p:nvSpPr>
          <p:cNvPr id="5" name="TextBox 4">
            <a:extLst>
              <a:ext uri="{FF2B5EF4-FFF2-40B4-BE49-F238E27FC236}">
                <a16:creationId xmlns:a16="http://schemas.microsoft.com/office/drawing/2014/main" id="{B0D019A1-D191-DFE2-8C0A-7C99691FCB5A}"/>
              </a:ext>
            </a:extLst>
          </p:cNvPr>
          <p:cNvSpPr txBox="1"/>
          <p:nvPr/>
        </p:nvSpPr>
        <p:spPr>
          <a:xfrm>
            <a:off x="228600" y="1054554"/>
            <a:ext cx="8610600" cy="5533823"/>
          </a:xfrm>
          <a:prstGeom prst="rect">
            <a:avLst/>
          </a:prstGeom>
          <a:noFill/>
        </p:spPr>
        <p:txBody>
          <a:bodyPr wrap="square">
            <a:spAutoFit/>
          </a:bodyPr>
          <a:lstStyle/>
          <a:p>
            <a:r>
              <a:rPr lang="en-US" dirty="0"/>
              <a:t>Pattern recognition problems :</a:t>
            </a:r>
          </a:p>
          <a:p>
            <a:pPr>
              <a:buNone/>
            </a:pPr>
            <a:r>
              <a:rPr lang="en-US" b="1" dirty="0">
                <a:solidFill>
                  <a:srgbClr val="00B050"/>
                </a:solidFill>
              </a:rPr>
              <a:t>Hash Table Technique</a:t>
            </a:r>
          </a:p>
          <a:p>
            <a:r>
              <a:rPr lang="en-US" dirty="0"/>
              <a:t>INPUT : Matrix of 0s and 1’s representing the character</a:t>
            </a:r>
          </a:p>
          <a:p>
            <a:r>
              <a:rPr lang="en-US" dirty="0"/>
              <a:t>1. Hash table technique. </a:t>
            </a:r>
          </a:p>
          <a:p>
            <a:r>
              <a:rPr lang="en-US" dirty="0"/>
              <a:t>	A hash table with an entry for each known letter.</a:t>
            </a:r>
          </a:p>
          <a:p>
            <a:r>
              <a:rPr lang="en-US" dirty="0"/>
              <a:t>	The key for each letter is computed as follows: </a:t>
            </a:r>
          </a:p>
          <a:p>
            <a:pPr algn="just">
              <a:buNone/>
            </a:pPr>
            <a:r>
              <a:rPr lang="en-US" dirty="0">
                <a:solidFill>
                  <a:srgbClr val="C00000"/>
                </a:solidFill>
              </a:rPr>
              <a:t>Take three rows from the matrix, one one-quarter of the way down, the one in the middle, and one three-quarters of the way down.</a:t>
            </a:r>
          </a:p>
          <a:p>
            <a:r>
              <a:rPr lang="en-US" dirty="0"/>
              <a:t>	Concatenate the rows together to form a key.</a:t>
            </a:r>
          </a:p>
          <a:p>
            <a:r>
              <a:rPr lang="en-US" dirty="0"/>
              <a:t>    No two letters have the same key. If they do, modify the key creation function so that it uses different rows.</a:t>
            </a:r>
          </a:p>
        </p:txBody>
      </p:sp>
    </p:spTree>
    <p:extLst>
      <p:ext uri="{BB962C8B-B14F-4D97-AF65-F5344CB8AC3E}">
        <p14:creationId xmlns:p14="http://schemas.microsoft.com/office/powerpoint/2010/main" val="3548897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171E2-008F-D6BB-8169-FAFE6F55375C}"/>
              </a:ext>
            </a:extLst>
          </p:cNvPr>
          <p:cNvSpPr>
            <a:spLocks noGrp="1"/>
          </p:cNvSpPr>
          <p:nvPr>
            <p:ph type="title"/>
          </p:nvPr>
        </p:nvSpPr>
        <p:spPr>
          <a:xfrm>
            <a:off x="228600" y="0"/>
            <a:ext cx="7696200" cy="1447800"/>
          </a:xfrm>
        </p:spPr>
        <p:txBody>
          <a:bodyPr/>
          <a:lstStyle/>
          <a:p>
            <a:br>
              <a:rPr lang="en-US" dirty="0"/>
            </a:br>
            <a:br>
              <a:rPr lang="en-US" dirty="0"/>
            </a:br>
            <a:br>
              <a:rPr lang="en-US" dirty="0"/>
            </a:br>
            <a:br>
              <a:rPr lang="en-US" dirty="0"/>
            </a:br>
            <a:r>
              <a:rPr lang="en-US" dirty="0"/>
              <a:t>Pattern recognition problems :</a:t>
            </a:r>
            <a:br>
              <a:rPr lang="en-US" dirty="0"/>
            </a:br>
            <a:endParaRPr lang="en-US" dirty="0"/>
          </a:p>
        </p:txBody>
      </p:sp>
      <p:sp>
        <p:nvSpPr>
          <p:cNvPr id="3" name="Slide Number Placeholder 2">
            <a:extLst>
              <a:ext uri="{FF2B5EF4-FFF2-40B4-BE49-F238E27FC236}">
                <a16:creationId xmlns:a16="http://schemas.microsoft.com/office/drawing/2014/main" id="{54DAE366-99CA-4199-76DF-EADB4E9FFE70}"/>
              </a:ext>
            </a:extLst>
          </p:cNvPr>
          <p:cNvSpPr>
            <a:spLocks noGrp="1"/>
          </p:cNvSpPr>
          <p:nvPr>
            <p:ph type="sldNum" sz="quarter" idx="12"/>
          </p:nvPr>
        </p:nvSpPr>
        <p:spPr/>
        <p:txBody>
          <a:bodyPr/>
          <a:lstStyle/>
          <a:p>
            <a:fld id="{D5F02DF6-5EF1-449D-8E8F-F40E7D2FCBCB}" type="slidenum">
              <a:rPr lang="en-US" altLang="en-US" smtClean="0"/>
              <a:pPr/>
              <a:t>19</a:t>
            </a:fld>
            <a:endParaRPr lang="en-US" altLang="en-US" dirty="0"/>
          </a:p>
        </p:txBody>
      </p:sp>
      <p:pic>
        <p:nvPicPr>
          <p:cNvPr id="4" name="Picture 3">
            <a:extLst>
              <a:ext uri="{FF2B5EF4-FFF2-40B4-BE49-F238E27FC236}">
                <a16:creationId xmlns:a16="http://schemas.microsoft.com/office/drawing/2014/main" id="{C536927B-B9BB-C6A6-7327-748AFCF868CD}"/>
              </a:ext>
            </a:extLst>
          </p:cNvPr>
          <p:cNvPicPr>
            <a:picLocks noChangeAspect="1"/>
          </p:cNvPicPr>
          <p:nvPr/>
        </p:nvPicPr>
        <p:blipFill>
          <a:blip r:embed="rId2"/>
          <a:stretch>
            <a:fillRect/>
          </a:stretch>
        </p:blipFill>
        <p:spPr>
          <a:xfrm>
            <a:off x="1752600" y="1219200"/>
            <a:ext cx="5029200" cy="5181600"/>
          </a:xfrm>
          <a:prstGeom prst="rect">
            <a:avLst/>
          </a:prstGeom>
        </p:spPr>
      </p:pic>
    </p:spTree>
    <p:extLst>
      <p:ext uri="{BB962C8B-B14F-4D97-AF65-F5344CB8AC3E}">
        <p14:creationId xmlns:p14="http://schemas.microsoft.com/office/powerpoint/2010/main" val="2786982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B81C2-9184-E3A5-951B-AEDFABBC8CF4}"/>
              </a:ext>
            </a:extLst>
          </p:cNvPr>
          <p:cNvSpPr>
            <a:spLocks noGrp="1"/>
          </p:cNvSpPr>
          <p:nvPr>
            <p:ph type="title"/>
          </p:nvPr>
        </p:nvSpPr>
        <p:spPr>
          <a:xfrm>
            <a:off x="228600" y="228600"/>
            <a:ext cx="7696200" cy="609600"/>
          </a:xfrm>
        </p:spPr>
        <p:txBody>
          <a:bodyPr/>
          <a:lstStyle/>
          <a:p>
            <a:r>
              <a:rPr lang="en-US" dirty="0"/>
              <a:t>Pattern recognition problems</a:t>
            </a:r>
          </a:p>
        </p:txBody>
      </p:sp>
      <p:sp>
        <p:nvSpPr>
          <p:cNvPr id="3" name="Slide Number Placeholder 2">
            <a:extLst>
              <a:ext uri="{FF2B5EF4-FFF2-40B4-BE49-F238E27FC236}">
                <a16:creationId xmlns:a16="http://schemas.microsoft.com/office/drawing/2014/main" id="{8090F4EB-4793-6AE6-33CD-B821134F7D11}"/>
              </a:ext>
            </a:extLst>
          </p:cNvPr>
          <p:cNvSpPr>
            <a:spLocks noGrp="1"/>
          </p:cNvSpPr>
          <p:nvPr>
            <p:ph type="sldNum" sz="quarter" idx="12"/>
          </p:nvPr>
        </p:nvSpPr>
        <p:spPr/>
        <p:txBody>
          <a:bodyPr/>
          <a:lstStyle/>
          <a:p>
            <a:fld id="{D5F02DF6-5EF1-449D-8E8F-F40E7D2FCBCB}" type="slidenum">
              <a:rPr lang="en-US" altLang="en-US" smtClean="0"/>
              <a:pPr/>
              <a:t>20</a:t>
            </a:fld>
            <a:endParaRPr lang="en-US" altLang="en-US" dirty="0"/>
          </a:p>
        </p:txBody>
      </p:sp>
      <p:sp>
        <p:nvSpPr>
          <p:cNvPr id="6" name="TextBox 5">
            <a:extLst>
              <a:ext uri="{FF2B5EF4-FFF2-40B4-BE49-F238E27FC236}">
                <a16:creationId xmlns:a16="http://schemas.microsoft.com/office/drawing/2014/main" id="{31442390-A4D6-BC38-35EE-9E90B52FA332}"/>
              </a:ext>
            </a:extLst>
          </p:cNvPr>
          <p:cNvSpPr txBox="1"/>
          <p:nvPr/>
        </p:nvSpPr>
        <p:spPr>
          <a:xfrm>
            <a:off x="276808" y="914400"/>
            <a:ext cx="8590384" cy="972574"/>
          </a:xfrm>
          <a:prstGeom prst="rect">
            <a:avLst/>
          </a:prstGeom>
          <a:noFill/>
        </p:spPr>
        <p:txBody>
          <a:bodyPr wrap="square">
            <a:spAutoFit/>
          </a:bodyPr>
          <a:lstStyle/>
          <a:p>
            <a:pPr>
              <a:buNone/>
            </a:pPr>
            <a:r>
              <a:rPr lang="en-US" dirty="0"/>
              <a:t>Line 2 + line 5 + line 9</a:t>
            </a:r>
          </a:p>
          <a:p>
            <a:pPr>
              <a:buNone/>
            </a:pPr>
            <a:r>
              <a:rPr lang="en-US" dirty="0">
                <a:solidFill>
                  <a:srgbClr val="0070C0"/>
                </a:solidFill>
              </a:rPr>
              <a:t>0 0 0 1 1 1 1 0 0 0 </a:t>
            </a:r>
            <a:r>
              <a:rPr lang="en-US" dirty="0">
                <a:solidFill>
                  <a:srgbClr val="C00000"/>
                </a:solidFill>
              </a:rPr>
              <a:t>0 1 1 1 0 0 1 1 1 0 </a:t>
            </a:r>
            <a:r>
              <a:rPr lang="en-US" dirty="0"/>
              <a:t>1 1 0 0 0 0 0 0 1 1</a:t>
            </a:r>
          </a:p>
        </p:txBody>
      </p:sp>
      <p:sp>
        <p:nvSpPr>
          <p:cNvPr id="8" name="TextBox 7">
            <a:extLst>
              <a:ext uri="{FF2B5EF4-FFF2-40B4-BE49-F238E27FC236}">
                <a16:creationId xmlns:a16="http://schemas.microsoft.com/office/drawing/2014/main" id="{E36C47B8-4C46-895F-1777-3C0C63BC0D51}"/>
              </a:ext>
            </a:extLst>
          </p:cNvPr>
          <p:cNvSpPr txBox="1"/>
          <p:nvPr/>
        </p:nvSpPr>
        <p:spPr>
          <a:xfrm>
            <a:off x="283028" y="1991166"/>
            <a:ext cx="8708572" cy="3773341"/>
          </a:xfrm>
          <a:prstGeom prst="rect">
            <a:avLst/>
          </a:prstGeom>
          <a:noFill/>
        </p:spPr>
        <p:txBody>
          <a:bodyPr wrap="square">
            <a:spAutoFit/>
          </a:bodyPr>
          <a:lstStyle/>
          <a:p>
            <a:r>
              <a:rPr lang="en-US" dirty="0"/>
              <a:t>Row x (# of positions of 1s x 2 + # of positions of 0s x 1) + …..</a:t>
            </a:r>
          </a:p>
          <a:p>
            <a:pPr>
              <a:buNone/>
            </a:pPr>
            <a:endParaRPr lang="en-US" dirty="0"/>
          </a:p>
          <a:p>
            <a:pPr>
              <a:buNone/>
            </a:pPr>
            <a:r>
              <a:rPr lang="en-US" dirty="0"/>
              <a:t>1x(4x2+6x1) + 2 x(6x2+4x1)+ 3 x (4x2+7x1)</a:t>
            </a:r>
          </a:p>
          <a:p>
            <a:pPr>
              <a:buNone/>
            </a:pPr>
            <a:r>
              <a:rPr lang="en-US" dirty="0"/>
              <a:t>1 x (14) + 2 x (16) + 3 x (15)</a:t>
            </a:r>
          </a:p>
          <a:p>
            <a:pPr>
              <a:buNone/>
            </a:pPr>
            <a:r>
              <a:rPr lang="en-US" dirty="0"/>
              <a:t>14 + 32+ 45 = 91</a:t>
            </a:r>
          </a:p>
          <a:p>
            <a:pPr>
              <a:buNone/>
            </a:pPr>
            <a:r>
              <a:rPr lang="en-US" dirty="0"/>
              <a:t>If the hash table size is  26 slots, the key is </a:t>
            </a:r>
          </a:p>
          <a:p>
            <a:pPr>
              <a:buNone/>
            </a:pPr>
            <a:r>
              <a:rPr lang="en-US" dirty="0"/>
              <a:t>91mod 26 = 13</a:t>
            </a:r>
          </a:p>
        </p:txBody>
      </p:sp>
    </p:spTree>
    <p:extLst>
      <p:ext uri="{BB962C8B-B14F-4D97-AF65-F5344CB8AC3E}">
        <p14:creationId xmlns:p14="http://schemas.microsoft.com/office/powerpoint/2010/main" val="2076121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675EB-01E6-3CA8-CAC9-3E54DCE10AA3}"/>
              </a:ext>
            </a:extLst>
          </p:cNvPr>
          <p:cNvSpPr>
            <a:spLocks noGrp="1"/>
          </p:cNvSpPr>
          <p:nvPr>
            <p:ph type="title"/>
          </p:nvPr>
        </p:nvSpPr>
        <p:spPr>
          <a:xfrm>
            <a:off x="228600" y="228600"/>
            <a:ext cx="7696200" cy="609600"/>
          </a:xfrm>
        </p:spPr>
        <p:txBody>
          <a:bodyPr/>
          <a:lstStyle/>
          <a:p>
            <a:r>
              <a:rPr lang="en-US" dirty="0"/>
              <a:t>Pattern recognition problems</a:t>
            </a:r>
          </a:p>
        </p:txBody>
      </p:sp>
      <p:sp>
        <p:nvSpPr>
          <p:cNvPr id="3" name="Slide Number Placeholder 2">
            <a:extLst>
              <a:ext uri="{FF2B5EF4-FFF2-40B4-BE49-F238E27FC236}">
                <a16:creationId xmlns:a16="http://schemas.microsoft.com/office/drawing/2014/main" id="{8CDCB32E-8B52-2C02-A49B-029158DD506F}"/>
              </a:ext>
            </a:extLst>
          </p:cNvPr>
          <p:cNvSpPr>
            <a:spLocks noGrp="1"/>
          </p:cNvSpPr>
          <p:nvPr>
            <p:ph type="sldNum" sz="quarter" idx="12"/>
          </p:nvPr>
        </p:nvSpPr>
        <p:spPr/>
        <p:txBody>
          <a:bodyPr/>
          <a:lstStyle/>
          <a:p>
            <a:fld id="{D5F02DF6-5EF1-449D-8E8F-F40E7D2FCBCB}" type="slidenum">
              <a:rPr lang="en-US" altLang="en-US" smtClean="0"/>
              <a:pPr/>
              <a:t>21</a:t>
            </a:fld>
            <a:endParaRPr lang="en-US" altLang="en-US" dirty="0"/>
          </a:p>
        </p:txBody>
      </p:sp>
      <p:sp>
        <p:nvSpPr>
          <p:cNvPr id="6" name="TextBox 5">
            <a:extLst>
              <a:ext uri="{FF2B5EF4-FFF2-40B4-BE49-F238E27FC236}">
                <a16:creationId xmlns:a16="http://schemas.microsoft.com/office/drawing/2014/main" id="{4A9C7FA9-85A2-4F39-6196-D720BD5F8E60}"/>
              </a:ext>
            </a:extLst>
          </p:cNvPr>
          <p:cNvSpPr txBox="1"/>
          <p:nvPr/>
        </p:nvSpPr>
        <p:spPr>
          <a:xfrm>
            <a:off x="228600" y="1296531"/>
            <a:ext cx="8915400" cy="4493538"/>
          </a:xfrm>
          <a:prstGeom prst="rect">
            <a:avLst/>
          </a:prstGeom>
          <a:noFill/>
        </p:spPr>
        <p:txBody>
          <a:bodyPr wrap="square">
            <a:spAutoFit/>
          </a:bodyPr>
          <a:lstStyle/>
          <a:p>
            <a:r>
              <a:rPr lang="en-US" dirty="0"/>
              <a:t>The Algorithm (To look for a certain character)</a:t>
            </a:r>
          </a:p>
          <a:p>
            <a:endParaRPr lang="en-US" dirty="0"/>
          </a:p>
          <a:p>
            <a:r>
              <a:rPr lang="en-US" dirty="0"/>
              <a:t>+ Take the bits of the input matrix that come from the same three rows uses to construct the table of patterns and use them to form a key.</a:t>
            </a:r>
          </a:p>
          <a:p>
            <a:endParaRPr lang="en-US" dirty="0"/>
          </a:p>
          <a:p>
            <a:r>
              <a:rPr lang="en-US" dirty="0"/>
              <a:t>+ To find a certain character compute its key with the same method explained before and find its corresponding character in the table.</a:t>
            </a:r>
          </a:p>
          <a:p>
            <a:pPr>
              <a:buNone/>
            </a:pPr>
            <a:endParaRPr lang="en-US" dirty="0"/>
          </a:p>
        </p:txBody>
      </p:sp>
    </p:spTree>
    <p:extLst>
      <p:ext uri="{BB962C8B-B14F-4D97-AF65-F5344CB8AC3E}">
        <p14:creationId xmlns:p14="http://schemas.microsoft.com/office/powerpoint/2010/main" val="2697805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E63B-7FB5-34ED-1845-6FA249742FD6}"/>
              </a:ext>
            </a:extLst>
          </p:cNvPr>
          <p:cNvSpPr>
            <a:spLocks noGrp="1"/>
          </p:cNvSpPr>
          <p:nvPr>
            <p:ph type="title"/>
          </p:nvPr>
        </p:nvSpPr>
        <p:spPr>
          <a:xfrm>
            <a:off x="304800" y="1022306"/>
            <a:ext cx="7696200" cy="572399"/>
          </a:xfrm>
        </p:spPr>
        <p:txBody>
          <a:bodyPr/>
          <a:lstStyle/>
          <a:p>
            <a:br>
              <a:rPr lang="en-US" dirty="0"/>
            </a:br>
            <a:r>
              <a:rPr lang="en-US" dirty="0"/>
              <a:t>Pattern recognition problems</a:t>
            </a:r>
            <a:br>
              <a:rPr lang="en-US" dirty="0"/>
            </a:br>
            <a:r>
              <a:rPr lang="en-US" dirty="0"/>
              <a:t>Hash Table Technique</a:t>
            </a:r>
          </a:p>
        </p:txBody>
      </p:sp>
      <p:sp>
        <p:nvSpPr>
          <p:cNvPr id="3" name="Slide Number Placeholder 2">
            <a:extLst>
              <a:ext uri="{FF2B5EF4-FFF2-40B4-BE49-F238E27FC236}">
                <a16:creationId xmlns:a16="http://schemas.microsoft.com/office/drawing/2014/main" id="{4A42E772-20D6-E5D5-BD36-BE6915368A08}"/>
              </a:ext>
            </a:extLst>
          </p:cNvPr>
          <p:cNvSpPr>
            <a:spLocks noGrp="1"/>
          </p:cNvSpPr>
          <p:nvPr>
            <p:ph type="sldNum" sz="quarter" idx="12"/>
          </p:nvPr>
        </p:nvSpPr>
        <p:spPr/>
        <p:txBody>
          <a:bodyPr/>
          <a:lstStyle/>
          <a:p>
            <a:fld id="{D5F02DF6-5EF1-449D-8E8F-F40E7D2FCBCB}" type="slidenum">
              <a:rPr lang="en-US" altLang="en-US" smtClean="0"/>
              <a:pPr/>
              <a:t>22</a:t>
            </a:fld>
            <a:endParaRPr lang="en-US" altLang="en-US" dirty="0"/>
          </a:p>
        </p:txBody>
      </p:sp>
      <p:sp>
        <p:nvSpPr>
          <p:cNvPr id="5" name="TextBox 4">
            <a:extLst>
              <a:ext uri="{FF2B5EF4-FFF2-40B4-BE49-F238E27FC236}">
                <a16:creationId xmlns:a16="http://schemas.microsoft.com/office/drawing/2014/main" id="{15C52B76-D3FE-8B6E-AD5F-8CA3B39F37BA}"/>
              </a:ext>
            </a:extLst>
          </p:cNvPr>
          <p:cNvSpPr txBox="1"/>
          <p:nvPr/>
        </p:nvSpPr>
        <p:spPr>
          <a:xfrm>
            <a:off x="244151" y="1856175"/>
            <a:ext cx="8458200" cy="3693319"/>
          </a:xfrm>
          <a:prstGeom prst="rect">
            <a:avLst/>
          </a:prstGeom>
          <a:noFill/>
        </p:spPr>
        <p:txBody>
          <a:bodyPr wrap="square">
            <a:spAutoFit/>
          </a:bodyPr>
          <a:lstStyle/>
          <a:p>
            <a:pPr>
              <a:buNone/>
            </a:pPr>
            <a:r>
              <a:rPr lang="en-US" b="1" dirty="0">
                <a:solidFill>
                  <a:srgbClr val="00B050"/>
                </a:solidFill>
              </a:rPr>
              <a:t>Disadvantage : </a:t>
            </a:r>
          </a:p>
          <a:p>
            <a:r>
              <a:rPr lang="en-US" dirty="0"/>
              <a:t>	input letters must match the stored pattern exactly (not allowed to be thicker or thinner),</a:t>
            </a:r>
          </a:p>
          <a:p>
            <a:endParaRPr lang="en-US" dirty="0"/>
          </a:p>
          <a:p>
            <a:r>
              <a:rPr lang="en-US" dirty="0"/>
              <a:t>	DB need to be changed if new letters are added, if no. of symbols become very large,</a:t>
            </a:r>
          </a:p>
          <a:p>
            <a:endParaRPr lang="en-US" dirty="0"/>
          </a:p>
          <a:p>
            <a:r>
              <a:rPr lang="en-US" dirty="0"/>
              <a:t>	it is not easy to have single key for each pattern</a:t>
            </a:r>
          </a:p>
        </p:txBody>
      </p:sp>
    </p:spTree>
    <p:extLst>
      <p:ext uri="{BB962C8B-B14F-4D97-AF65-F5344CB8AC3E}">
        <p14:creationId xmlns:p14="http://schemas.microsoft.com/office/powerpoint/2010/main" val="2116452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F2A7C-2DD3-9260-AB3E-04994A38CBC1}"/>
              </a:ext>
            </a:extLst>
          </p:cNvPr>
          <p:cNvSpPr>
            <a:spLocks noGrp="1"/>
          </p:cNvSpPr>
          <p:nvPr>
            <p:ph type="title"/>
          </p:nvPr>
        </p:nvSpPr>
        <p:spPr/>
        <p:txBody>
          <a:bodyPr/>
          <a:lstStyle/>
          <a:p>
            <a:r>
              <a:rPr lang="en-US" dirty="0"/>
              <a:t>Pattern recognition problems</a:t>
            </a:r>
            <a:br>
              <a:rPr lang="en-US" dirty="0"/>
            </a:br>
            <a:r>
              <a:rPr lang="en-US" dirty="0"/>
              <a:t>VECTOR Technique</a:t>
            </a:r>
          </a:p>
        </p:txBody>
      </p:sp>
      <p:sp>
        <p:nvSpPr>
          <p:cNvPr id="3" name="Slide Number Placeholder 2">
            <a:extLst>
              <a:ext uri="{FF2B5EF4-FFF2-40B4-BE49-F238E27FC236}">
                <a16:creationId xmlns:a16="http://schemas.microsoft.com/office/drawing/2014/main" id="{2B292781-5C70-91D3-F28C-BAD671E12258}"/>
              </a:ext>
            </a:extLst>
          </p:cNvPr>
          <p:cNvSpPr>
            <a:spLocks noGrp="1"/>
          </p:cNvSpPr>
          <p:nvPr>
            <p:ph type="sldNum" sz="quarter" idx="12"/>
          </p:nvPr>
        </p:nvSpPr>
        <p:spPr/>
        <p:txBody>
          <a:bodyPr/>
          <a:lstStyle/>
          <a:p>
            <a:fld id="{D5F02DF6-5EF1-449D-8E8F-F40E7D2FCBCB}" type="slidenum">
              <a:rPr lang="en-US" altLang="en-US" smtClean="0"/>
              <a:pPr/>
              <a:t>23</a:t>
            </a:fld>
            <a:endParaRPr lang="en-US" altLang="en-US" dirty="0"/>
          </a:p>
        </p:txBody>
      </p:sp>
      <p:sp>
        <p:nvSpPr>
          <p:cNvPr id="6" name="TextBox 5">
            <a:extLst>
              <a:ext uri="{FF2B5EF4-FFF2-40B4-BE49-F238E27FC236}">
                <a16:creationId xmlns:a16="http://schemas.microsoft.com/office/drawing/2014/main" id="{DBE4B449-C1FE-DD4E-4E61-0E102AC7441D}"/>
              </a:ext>
            </a:extLst>
          </p:cNvPr>
          <p:cNvSpPr txBox="1"/>
          <p:nvPr/>
        </p:nvSpPr>
        <p:spPr>
          <a:xfrm>
            <a:off x="200608" y="1905000"/>
            <a:ext cx="8763000" cy="4253472"/>
          </a:xfrm>
          <a:prstGeom prst="rect">
            <a:avLst/>
          </a:prstGeom>
          <a:noFill/>
        </p:spPr>
        <p:txBody>
          <a:bodyPr wrap="square">
            <a:spAutoFit/>
          </a:bodyPr>
          <a:lstStyle/>
          <a:p>
            <a:pPr>
              <a:buNone/>
            </a:pPr>
            <a:endParaRPr lang="en-US" dirty="0"/>
          </a:p>
          <a:p>
            <a:pPr algn="just"/>
            <a:r>
              <a:rPr lang="en-US" dirty="0"/>
              <a:t>A set of vectors each of length pattern. Each vector represents one alphabet. Each of these vectors is computed by taking the bit matrix corresponding to the pattern and divide it into N regions. Then the number of 1’ in each region is counted and recorded in the vector position corresponding to the region. N must be large enough that all the patterns are represented as different vectors.</a:t>
            </a:r>
          </a:p>
          <a:p>
            <a:endParaRPr lang="en-US" dirty="0"/>
          </a:p>
        </p:txBody>
      </p:sp>
    </p:spTree>
    <p:extLst>
      <p:ext uri="{BB962C8B-B14F-4D97-AF65-F5344CB8AC3E}">
        <p14:creationId xmlns:p14="http://schemas.microsoft.com/office/powerpoint/2010/main" val="58265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C5C2-2960-D6C7-326B-873923AB5A16}"/>
              </a:ext>
            </a:extLst>
          </p:cNvPr>
          <p:cNvSpPr>
            <a:spLocks noGrp="1"/>
          </p:cNvSpPr>
          <p:nvPr>
            <p:ph type="title"/>
          </p:nvPr>
        </p:nvSpPr>
        <p:spPr>
          <a:xfrm>
            <a:off x="228600" y="228600"/>
            <a:ext cx="7696200" cy="838200"/>
          </a:xfrm>
        </p:spPr>
        <p:txBody>
          <a:bodyPr/>
          <a:lstStyle/>
          <a:p>
            <a:r>
              <a:rPr lang="en-US" dirty="0"/>
              <a:t>VECTOR Technique</a:t>
            </a:r>
          </a:p>
        </p:txBody>
      </p:sp>
      <p:sp>
        <p:nvSpPr>
          <p:cNvPr id="3" name="Slide Number Placeholder 2">
            <a:extLst>
              <a:ext uri="{FF2B5EF4-FFF2-40B4-BE49-F238E27FC236}">
                <a16:creationId xmlns:a16="http://schemas.microsoft.com/office/drawing/2014/main" id="{195CC1E8-7C20-1F56-E337-3F2A6628A784}"/>
              </a:ext>
            </a:extLst>
          </p:cNvPr>
          <p:cNvSpPr>
            <a:spLocks noGrp="1"/>
          </p:cNvSpPr>
          <p:nvPr>
            <p:ph type="sldNum" sz="quarter" idx="12"/>
          </p:nvPr>
        </p:nvSpPr>
        <p:spPr/>
        <p:txBody>
          <a:bodyPr/>
          <a:lstStyle/>
          <a:p>
            <a:fld id="{D5F02DF6-5EF1-449D-8E8F-F40E7D2FCBCB}" type="slidenum">
              <a:rPr lang="en-US" altLang="en-US" smtClean="0"/>
              <a:pPr/>
              <a:t>24</a:t>
            </a:fld>
            <a:endParaRPr lang="en-US" altLang="en-US" dirty="0"/>
          </a:p>
        </p:txBody>
      </p:sp>
      <p:sp>
        <p:nvSpPr>
          <p:cNvPr id="5" name="TextBox 4">
            <a:extLst>
              <a:ext uri="{FF2B5EF4-FFF2-40B4-BE49-F238E27FC236}">
                <a16:creationId xmlns:a16="http://schemas.microsoft.com/office/drawing/2014/main" id="{46102AB8-4487-79D1-B421-C6E37D12D756}"/>
              </a:ext>
            </a:extLst>
          </p:cNvPr>
          <p:cNvSpPr txBox="1"/>
          <p:nvPr/>
        </p:nvSpPr>
        <p:spPr>
          <a:xfrm>
            <a:off x="266700" y="1321837"/>
            <a:ext cx="8610600" cy="4253472"/>
          </a:xfrm>
          <a:prstGeom prst="rect">
            <a:avLst/>
          </a:prstGeom>
          <a:noFill/>
        </p:spPr>
        <p:txBody>
          <a:bodyPr wrap="square">
            <a:spAutoFit/>
          </a:bodyPr>
          <a:lstStyle/>
          <a:p>
            <a:pPr>
              <a:buNone/>
            </a:pPr>
            <a:r>
              <a:rPr lang="en-US" dirty="0"/>
              <a:t>5 regions</a:t>
            </a:r>
          </a:p>
          <a:p>
            <a:r>
              <a:rPr lang="en-US" dirty="0"/>
              <a:t>Each region is 2 lines for example, Then the vector for the above alphabet would be</a:t>
            </a:r>
          </a:p>
          <a:p>
            <a:endParaRPr lang="en-US" dirty="0"/>
          </a:p>
          <a:p>
            <a:pPr>
              <a:buNone/>
            </a:pPr>
            <a:r>
              <a:rPr lang="en-US" dirty="0"/>
              <a:t> 6</a:t>
            </a:r>
          </a:p>
          <a:p>
            <a:pPr>
              <a:buNone/>
            </a:pPr>
            <a:r>
              <a:rPr lang="en-US" dirty="0"/>
              <a:t>10</a:t>
            </a:r>
          </a:p>
          <a:p>
            <a:pPr>
              <a:buNone/>
            </a:pPr>
            <a:r>
              <a:rPr lang="en-US" dirty="0"/>
              <a:t>10</a:t>
            </a:r>
          </a:p>
          <a:p>
            <a:pPr>
              <a:buNone/>
            </a:pPr>
            <a:r>
              <a:rPr lang="en-US" dirty="0"/>
              <a:t>18</a:t>
            </a:r>
          </a:p>
          <a:p>
            <a:pPr>
              <a:buNone/>
            </a:pPr>
            <a:r>
              <a:rPr lang="en-US" dirty="0"/>
              <a:t> 8                              </a:t>
            </a:r>
          </a:p>
        </p:txBody>
      </p:sp>
    </p:spTree>
    <p:extLst>
      <p:ext uri="{BB962C8B-B14F-4D97-AF65-F5344CB8AC3E}">
        <p14:creationId xmlns:p14="http://schemas.microsoft.com/office/powerpoint/2010/main" val="718319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9414A-FD51-CE9E-5101-72C06F18551E}"/>
              </a:ext>
            </a:extLst>
          </p:cNvPr>
          <p:cNvSpPr>
            <a:spLocks noGrp="1"/>
          </p:cNvSpPr>
          <p:nvPr>
            <p:ph type="title"/>
          </p:nvPr>
        </p:nvSpPr>
        <p:spPr>
          <a:xfrm>
            <a:off x="228600" y="228600"/>
            <a:ext cx="7696200" cy="762000"/>
          </a:xfrm>
        </p:spPr>
        <p:txBody>
          <a:bodyPr/>
          <a:lstStyle/>
          <a:p>
            <a:r>
              <a:rPr lang="en-US" dirty="0"/>
              <a:t>VECTOR Technique</a:t>
            </a:r>
          </a:p>
        </p:txBody>
      </p:sp>
      <p:sp>
        <p:nvSpPr>
          <p:cNvPr id="3" name="Slide Number Placeholder 2">
            <a:extLst>
              <a:ext uri="{FF2B5EF4-FFF2-40B4-BE49-F238E27FC236}">
                <a16:creationId xmlns:a16="http://schemas.microsoft.com/office/drawing/2014/main" id="{C7C745A2-033F-646B-5FE0-6BE7FCC3380D}"/>
              </a:ext>
            </a:extLst>
          </p:cNvPr>
          <p:cNvSpPr>
            <a:spLocks noGrp="1"/>
          </p:cNvSpPr>
          <p:nvPr>
            <p:ph type="sldNum" sz="quarter" idx="12"/>
          </p:nvPr>
        </p:nvSpPr>
        <p:spPr/>
        <p:txBody>
          <a:bodyPr/>
          <a:lstStyle/>
          <a:p>
            <a:fld id="{D5F02DF6-5EF1-449D-8E8F-F40E7D2FCBCB}" type="slidenum">
              <a:rPr lang="en-US" altLang="en-US" smtClean="0"/>
              <a:pPr/>
              <a:t>25</a:t>
            </a:fld>
            <a:endParaRPr lang="en-US" altLang="en-US" dirty="0"/>
          </a:p>
        </p:txBody>
      </p:sp>
      <p:sp>
        <p:nvSpPr>
          <p:cNvPr id="6" name="TextBox 5">
            <a:extLst>
              <a:ext uri="{FF2B5EF4-FFF2-40B4-BE49-F238E27FC236}">
                <a16:creationId xmlns:a16="http://schemas.microsoft.com/office/drawing/2014/main" id="{64AD8241-974C-58D6-2DF5-CB6EDDD4E2B4}"/>
              </a:ext>
            </a:extLst>
          </p:cNvPr>
          <p:cNvSpPr txBox="1"/>
          <p:nvPr/>
        </p:nvSpPr>
        <p:spPr>
          <a:xfrm>
            <a:off x="190500" y="1175599"/>
            <a:ext cx="8763000" cy="5453801"/>
          </a:xfrm>
          <a:prstGeom prst="rect">
            <a:avLst/>
          </a:prstGeom>
          <a:noFill/>
        </p:spPr>
        <p:txBody>
          <a:bodyPr wrap="square">
            <a:spAutoFit/>
          </a:bodyPr>
          <a:lstStyle/>
          <a:p>
            <a:pPr>
              <a:buNone/>
            </a:pPr>
            <a:r>
              <a:rPr lang="en-US" dirty="0"/>
              <a:t>The algorithm (To look for a certain character)</a:t>
            </a:r>
          </a:p>
          <a:p>
            <a:pPr>
              <a:buNone/>
            </a:pPr>
            <a:endParaRPr lang="en-US" dirty="0"/>
          </a:p>
          <a:p>
            <a:r>
              <a:rPr lang="en-US" dirty="0"/>
              <a:t>	Convert the matrix to N-dimensional vector as described above, where N is the number of specified regions.</a:t>
            </a:r>
          </a:p>
          <a:p>
            <a:pPr>
              <a:buNone/>
            </a:pPr>
            <a:endParaRPr lang="en-US" dirty="0"/>
          </a:p>
          <a:p>
            <a:r>
              <a:rPr lang="en-US" dirty="0"/>
              <a:t>	Compute the distance in N-dimensional space of the vector from each of the pre calculated pattern vectors.</a:t>
            </a:r>
          </a:p>
          <a:p>
            <a:pPr>
              <a:buNone/>
            </a:pPr>
            <a:endParaRPr lang="en-US" dirty="0"/>
          </a:p>
          <a:p>
            <a:r>
              <a:rPr lang="en-US" dirty="0"/>
              <a:t>	Classify the input as matching the pattern to which it is closest.</a:t>
            </a:r>
          </a:p>
          <a:p>
            <a:endParaRPr lang="en-US" dirty="0"/>
          </a:p>
        </p:txBody>
      </p:sp>
    </p:spTree>
    <p:extLst>
      <p:ext uri="{BB962C8B-B14F-4D97-AF65-F5344CB8AC3E}">
        <p14:creationId xmlns:p14="http://schemas.microsoft.com/office/powerpoint/2010/main" val="228971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B5FD-30D7-58EA-B264-BD5D1078D377}"/>
              </a:ext>
            </a:extLst>
          </p:cNvPr>
          <p:cNvSpPr>
            <a:spLocks noGrp="1"/>
          </p:cNvSpPr>
          <p:nvPr>
            <p:ph type="title"/>
          </p:nvPr>
        </p:nvSpPr>
        <p:spPr>
          <a:xfrm>
            <a:off x="228600" y="228600"/>
            <a:ext cx="7696200" cy="685800"/>
          </a:xfrm>
        </p:spPr>
        <p:txBody>
          <a:bodyPr/>
          <a:lstStyle/>
          <a:p>
            <a:r>
              <a:rPr lang="en-US" dirty="0"/>
              <a:t>VECTOR Technique</a:t>
            </a:r>
          </a:p>
        </p:txBody>
      </p:sp>
      <p:sp>
        <p:nvSpPr>
          <p:cNvPr id="3" name="Slide Number Placeholder 2">
            <a:extLst>
              <a:ext uri="{FF2B5EF4-FFF2-40B4-BE49-F238E27FC236}">
                <a16:creationId xmlns:a16="http://schemas.microsoft.com/office/drawing/2014/main" id="{3D98876F-EC25-325C-3436-3BCD2A0DBEC8}"/>
              </a:ext>
            </a:extLst>
          </p:cNvPr>
          <p:cNvSpPr>
            <a:spLocks noGrp="1"/>
          </p:cNvSpPr>
          <p:nvPr>
            <p:ph type="sldNum" sz="quarter" idx="12"/>
          </p:nvPr>
        </p:nvSpPr>
        <p:spPr/>
        <p:txBody>
          <a:bodyPr/>
          <a:lstStyle/>
          <a:p>
            <a:fld id="{D5F02DF6-5EF1-449D-8E8F-F40E7D2FCBCB}" type="slidenum">
              <a:rPr lang="en-US" altLang="en-US" smtClean="0"/>
              <a:pPr/>
              <a:t>26</a:t>
            </a:fld>
            <a:endParaRPr lang="en-US" altLang="en-US" dirty="0"/>
          </a:p>
        </p:txBody>
      </p:sp>
      <p:sp>
        <p:nvSpPr>
          <p:cNvPr id="5" name="TextBox 4">
            <a:extLst>
              <a:ext uri="{FF2B5EF4-FFF2-40B4-BE49-F238E27FC236}">
                <a16:creationId xmlns:a16="http://schemas.microsoft.com/office/drawing/2014/main" id="{6370FB8C-2095-EC51-9A52-DCCAC2C70DC8}"/>
              </a:ext>
            </a:extLst>
          </p:cNvPr>
          <p:cNvSpPr txBox="1"/>
          <p:nvPr/>
        </p:nvSpPr>
        <p:spPr>
          <a:xfrm>
            <a:off x="609600" y="1422296"/>
            <a:ext cx="8001000" cy="4093428"/>
          </a:xfrm>
          <a:prstGeom prst="rect">
            <a:avLst/>
          </a:prstGeom>
          <a:noFill/>
        </p:spPr>
        <p:txBody>
          <a:bodyPr wrap="square">
            <a:spAutoFit/>
          </a:bodyPr>
          <a:lstStyle/>
          <a:p>
            <a:pPr>
              <a:buNone/>
            </a:pPr>
            <a:r>
              <a:rPr lang="en-US" b="1" dirty="0">
                <a:solidFill>
                  <a:srgbClr val="00B050"/>
                </a:solidFill>
              </a:rPr>
              <a:t>Disadvantage</a:t>
            </a:r>
          </a:p>
          <a:p>
            <a:r>
              <a:rPr lang="en-US" dirty="0"/>
              <a:t>	It can not easily distinguish between significant and insignificant   differences   </a:t>
            </a:r>
            <a:r>
              <a:rPr lang="en-US" dirty="0" err="1"/>
              <a:t>i</a:t>
            </a:r>
            <a:r>
              <a:rPr lang="en-US" dirty="0"/>
              <a:t>  j sig., </a:t>
            </a:r>
            <a:r>
              <a:rPr lang="en-US" dirty="0" err="1"/>
              <a:t>i</a:t>
            </a:r>
            <a:r>
              <a:rPr lang="en-US" dirty="0"/>
              <a:t>  I  </a:t>
            </a:r>
            <a:r>
              <a:rPr lang="en-US" dirty="0" err="1"/>
              <a:t>insig</a:t>
            </a:r>
            <a:r>
              <a:rPr lang="en-US" dirty="0"/>
              <a:t>.</a:t>
            </a:r>
          </a:p>
          <a:p>
            <a:pPr>
              <a:buNone/>
            </a:pPr>
            <a:endParaRPr lang="en-US" dirty="0"/>
          </a:p>
          <a:p>
            <a:r>
              <a:rPr lang="en-US" dirty="0"/>
              <a:t>	different sizes of the same letter can not be recognized.</a:t>
            </a:r>
          </a:p>
          <a:p>
            <a:endParaRPr lang="en-US" dirty="0"/>
          </a:p>
          <a:p>
            <a:r>
              <a:rPr lang="en-US" dirty="0"/>
              <a:t>	It can not handle acceptable variations of certain character (e.g., G))</a:t>
            </a:r>
          </a:p>
        </p:txBody>
      </p:sp>
    </p:spTree>
    <p:extLst>
      <p:ext uri="{BB962C8B-B14F-4D97-AF65-F5344CB8AC3E}">
        <p14:creationId xmlns:p14="http://schemas.microsoft.com/office/powerpoint/2010/main" val="1193680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35E1-3DC3-06B5-CA76-F87E49C31696}"/>
              </a:ext>
            </a:extLst>
          </p:cNvPr>
          <p:cNvSpPr>
            <a:spLocks noGrp="1"/>
          </p:cNvSpPr>
          <p:nvPr>
            <p:ph type="title"/>
          </p:nvPr>
        </p:nvSpPr>
        <p:spPr/>
        <p:txBody>
          <a:bodyPr/>
          <a:lstStyle/>
          <a:p>
            <a:r>
              <a:rPr lang="en-US" dirty="0"/>
              <a:t>Pattern recognition problems</a:t>
            </a:r>
            <a:br>
              <a:rPr lang="en-US" dirty="0"/>
            </a:br>
            <a:r>
              <a:rPr lang="en-US" dirty="0"/>
              <a:t>SET OF FEATURES Technique</a:t>
            </a:r>
          </a:p>
        </p:txBody>
      </p:sp>
      <p:sp>
        <p:nvSpPr>
          <p:cNvPr id="3" name="Slide Number Placeholder 2">
            <a:extLst>
              <a:ext uri="{FF2B5EF4-FFF2-40B4-BE49-F238E27FC236}">
                <a16:creationId xmlns:a16="http://schemas.microsoft.com/office/drawing/2014/main" id="{49D683C4-D574-D816-DC8B-2B732B9AAB60}"/>
              </a:ext>
            </a:extLst>
          </p:cNvPr>
          <p:cNvSpPr>
            <a:spLocks noGrp="1"/>
          </p:cNvSpPr>
          <p:nvPr>
            <p:ph type="sldNum" sz="quarter" idx="12"/>
          </p:nvPr>
        </p:nvSpPr>
        <p:spPr/>
        <p:txBody>
          <a:bodyPr/>
          <a:lstStyle/>
          <a:p>
            <a:fld id="{D5F02DF6-5EF1-449D-8E8F-F40E7D2FCBCB}" type="slidenum">
              <a:rPr lang="en-US" altLang="en-US" smtClean="0"/>
              <a:pPr/>
              <a:t>27</a:t>
            </a:fld>
            <a:endParaRPr lang="en-US" altLang="en-US" dirty="0"/>
          </a:p>
        </p:txBody>
      </p:sp>
      <p:sp>
        <p:nvSpPr>
          <p:cNvPr id="5" name="TextBox 4">
            <a:extLst>
              <a:ext uri="{FF2B5EF4-FFF2-40B4-BE49-F238E27FC236}">
                <a16:creationId xmlns:a16="http://schemas.microsoft.com/office/drawing/2014/main" id="{ADF09F31-FE1F-9D63-6AF7-A2905F1AF898}"/>
              </a:ext>
            </a:extLst>
          </p:cNvPr>
          <p:cNvSpPr txBox="1"/>
          <p:nvPr/>
        </p:nvSpPr>
        <p:spPr>
          <a:xfrm>
            <a:off x="228600" y="1655731"/>
            <a:ext cx="8763000" cy="3613297"/>
          </a:xfrm>
          <a:prstGeom prst="rect">
            <a:avLst/>
          </a:prstGeom>
          <a:noFill/>
        </p:spPr>
        <p:txBody>
          <a:bodyPr wrap="square">
            <a:spAutoFit/>
          </a:bodyPr>
          <a:lstStyle/>
          <a:p>
            <a:r>
              <a:rPr lang="en-US" dirty="0"/>
              <a:t>A set of descriptions of letters. Each represented as a </a:t>
            </a:r>
            <a:r>
              <a:rPr lang="en-US" dirty="0" err="1"/>
              <a:t>boolean</a:t>
            </a:r>
            <a:r>
              <a:rPr lang="en-US" dirty="0"/>
              <a:t> combination of features. </a:t>
            </a:r>
          </a:p>
          <a:p>
            <a:endParaRPr lang="en-US" dirty="0"/>
          </a:p>
          <a:p>
            <a:r>
              <a:rPr lang="en-US" dirty="0">
                <a:solidFill>
                  <a:srgbClr val="C00000"/>
                </a:solidFill>
              </a:rPr>
              <a:t>For example, for G</a:t>
            </a:r>
          </a:p>
          <a:p>
            <a:endParaRPr lang="en-US" dirty="0"/>
          </a:p>
          <a:p>
            <a:r>
              <a:rPr lang="en-US" dirty="0"/>
              <a:t>ARC (</a:t>
            </a:r>
            <a:r>
              <a:rPr lang="en-US" dirty="0" err="1"/>
              <a:t>a,b</a:t>
            </a:r>
            <a:r>
              <a:rPr lang="en-US" dirty="0"/>
              <a:t>) and ABOVE (</a:t>
            </a:r>
            <a:r>
              <a:rPr lang="en-US" dirty="0" err="1"/>
              <a:t>a,b</a:t>
            </a:r>
            <a:r>
              <a:rPr lang="en-US" dirty="0"/>
              <a:t>) and </a:t>
            </a:r>
            <a:r>
              <a:rPr lang="en-US" dirty="0" err="1"/>
              <a:t>linesegment</a:t>
            </a:r>
            <a:r>
              <a:rPr lang="en-US" dirty="0"/>
              <a:t> (</a:t>
            </a:r>
            <a:r>
              <a:rPr lang="en-US" dirty="0" err="1"/>
              <a:t>b,c</a:t>
            </a:r>
            <a:r>
              <a:rPr lang="en-US" dirty="0"/>
              <a:t>) and left(</a:t>
            </a:r>
            <a:r>
              <a:rPr lang="en-US" dirty="0" err="1"/>
              <a:t>c,b</a:t>
            </a:r>
            <a:r>
              <a:rPr lang="en-US" dirty="0"/>
              <a:t>) and (nil or (</a:t>
            </a:r>
            <a:r>
              <a:rPr lang="en-US" dirty="0" err="1"/>
              <a:t>linesegment</a:t>
            </a:r>
            <a:r>
              <a:rPr lang="en-US" dirty="0"/>
              <a:t>(</a:t>
            </a:r>
            <a:r>
              <a:rPr lang="en-US" dirty="0" err="1"/>
              <a:t>b,d</a:t>
            </a:r>
            <a:r>
              <a:rPr lang="en-US" dirty="0"/>
              <a:t>) and below(</a:t>
            </a:r>
            <a:r>
              <a:rPr lang="en-US" dirty="0" err="1"/>
              <a:t>d,b</a:t>
            </a:r>
            <a:r>
              <a:rPr lang="en-US" dirty="0"/>
              <a:t>)))     and (nil or (</a:t>
            </a:r>
            <a:r>
              <a:rPr lang="en-US" dirty="0" err="1"/>
              <a:t>linesegment</a:t>
            </a:r>
            <a:r>
              <a:rPr lang="en-US" dirty="0"/>
              <a:t>(</a:t>
            </a:r>
            <a:r>
              <a:rPr lang="en-US" dirty="0" err="1"/>
              <a:t>a,e</a:t>
            </a:r>
            <a:r>
              <a:rPr lang="en-US" dirty="0"/>
              <a:t>) and above(</a:t>
            </a:r>
            <a:r>
              <a:rPr lang="en-US" dirty="0" err="1"/>
              <a:t>e,a</a:t>
            </a:r>
            <a:r>
              <a:rPr lang="en-US" dirty="0"/>
              <a:t>)))</a:t>
            </a:r>
          </a:p>
        </p:txBody>
      </p:sp>
    </p:spTree>
    <p:extLst>
      <p:ext uri="{BB962C8B-B14F-4D97-AF65-F5344CB8AC3E}">
        <p14:creationId xmlns:p14="http://schemas.microsoft.com/office/powerpoint/2010/main" val="3996992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779E-87E6-B87C-0A0A-483C4D2BCE09}"/>
              </a:ext>
            </a:extLst>
          </p:cNvPr>
          <p:cNvSpPr>
            <a:spLocks noGrp="1"/>
          </p:cNvSpPr>
          <p:nvPr>
            <p:ph type="title"/>
          </p:nvPr>
        </p:nvSpPr>
        <p:spPr/>
        <p:txBody>
          <a:bodyPr/>
          <a:lstStyle/>
          <a:p>
            <a:r>
              <a:rPr lang="en-US" dirty="0"/>
              <a:t>Pattern recognition problems</a:t>
            </a:r>
            <a:br>
              <a:rPr lang="en-US" dirty="0"/>
            </a:br>
            <a:r>
              <a:rPr lang="en-US" dirty="0"/>
              <a:t>SET OF FEATURES Technique</a:t>
            </a:r>
          </a:p>
        </p:txBody>
      </p:sp>
      <p:sp>
        <p:nvSpPr>
          <p:cNvPr id="3" name="Slide Number Placeholder 2">
            <a:extLst>
              <a:ext uri="{FF2B5EF4-FFF2-40B4-BE49-F238E27FC236}">
                <a16:creationId xmlns:a16="http://schemas.microsoft.com/office/drawing/2014/main" id="{1F38687C-8976-946F-DABD-E637BD8D1EDA}"/>
              </a:ext>
            </a:extLst>
          </p:cNvPr>
          <p:cNvSpPr>
            <a:spLocks noGrp="1"/>
          </p:cNvSpPr>
          <p:nvPr>
            <p:ph type="sldNum" sz="quarter" idx="12"/>
          </p:nvPr>
        </p:nvSpPr>
        <p:spPr/>
        <p:txBody>
          <a:bodyPr/>
          <a:lstStyle/>
          <a:p>
            <a:fld id="{D5F02DF6-5EF1-449D-8E8F-F40E7D2FCBCB}" type="slidenum">
              <a:rPr lang="en-US" altLang="en-US" smtClean="0"/>
              <a:pPr/>
              <a:t>28</a:t>
            </a:fld>
            <a:endParaRPr lang="en-US" altLang="en-US" dirty="0"/>
          </a:p>
        </p:txBody>
      </p:sp>
      <p:sp>
        <p:nvSpPr>
          <p:cNvPr id="5" name="TextBox 4">
            <a:extLst>
              <a:ext uri="{FF2B5EF4-FFF2-40B4-BE49-F238E27FC236}">
                <a16:creationId xmlns:a16="http://schemas.microsoft.com/office/drawing/2014/main" id="{7E1CCE9D-1B7B-B256-6CDB-BE5E9C5EC441}"/>
              </a:ext>
            </a:extLst>
          </p:cNvPr>
          <p:cNvSpPr txBox="1"/>
          <p:nvPr/>
        </p:nvSpPr>
        <p:spPr>
          <a:xfrm>
            <a:off x="304800" y="1654176"/>
            <a:ext cx="8686800" cy="4493538"/>
          </a:xfrm>
          <a:prstGeom prst="rect">
            <a:avLst/>
          </a:prstGeom>
          <a:noFill/>
        </p:spPr>
        <p:txBody>
          <a:bodyPr wrap="square">
            <a:spAutoFit/>
          </a:bodyPr>
          <a:lstStyle/>
          <a:p>
            <a:pPr>
              <a:buNone/>
            </a:pPr>
            <a:r>
              <a:rPr lang="en-US" b="1" dirty="0">
                <a:solidFill>
                  <a:srgbClr val="C00000"/>
                </a:solidFill>
              </a:rPr>
              <a:t>The algorithm</a:t>
            </a:r>
          </a:p>
          <a:p>
            <a:r>
              <a:rPr lang="en-US" dirty="0"/>
              <a:t>	Find instances of arcs and line segments in the bit matrix and construct a list of the components of the input characters.</a:t>
            </a:r>
          </a:p>
          <a:p>
            <a:r>
              <a:rPr lang="en-US" dirty="0"/>
              <a:t>	Compare this description to each of the stored pattern and find the one that matches the best.</a:t>
            </a:r>
          </a:p>
          <a:p>
            <a:pPr>
              <a:buNone/>
            </a:pPr>
            <a:r>
              <a:rPr lang="en-US" b="1" dirty="0">
                <a:solidFill>
                  <a:srgbClr val="C00000"/>
                </a:solidFill>
              </a:rPr>
              <a:t>Disadvantages </a:t>
            </a:r>
          </a:p>
          <a:p>
            <a:r>
              <a:rPr lang="en-US" dirty="0"/>
              <a:t>The details of the features must be very specific (example of letter G and its reverse shape) </a:t>
            </a:r>
          </a:p>
          <a:p>
            <a:endParaRPr lang="en-US" dirty="0"/>
          </a:p>
        </p:txBody>
      </p:sp>
    </p:spTree>
    <p:extLst>
      <p:ext uri="{BB962C8B-B14F-4D97-AF65-F5344CB8AC3E}">
        <p14:creationId xmlns:p14="http://schemas.microsoft.com/office/powerpoint/2010/main" val="3390517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37B5-8EC1-DCAE-366E-E29096BC0DBE}"/>
              </a:ext>
            </a:extLst>
          </p:cNvPr>
          <p:cNvSpPr>
            <a:spLocks noGrp="1"/>
          </p:cNvSpPr>
          <p:nvPr>
            <p:ph type="title"/>
          </p:nvPr>
        </p:nvSpPr>
        <p:spPr/>
        <p:txBody>
          <a:bodyPr/>
          <a:lstStyle/>
          <a:p>
            <a:r>
              <a:rPr lang="en-US" dirty="0"/>
              <a:t>Pattern recognition problems</a:t>
            </a:r>
            <a:br>
              <a:rPr lang="en-US" dirty="0"/>
            </a:br>
            <a:r>
              <a:rPr lang="en-US" dirty="0"/>
              <a:t>Neural Networks Technique</a:t>
            </a:r>
          </a:p>
        </p:txBody>
      </p:sp>
      <p:sp>
        <p:nvSpPr>
          <p:cNvPr id="3" name="Slide Number Placeholder 2">
            <a:extLst>
              <a:ext uri="{FF2B5EF4-FFF2-40B4-BE49-F238E27FC236}">
                <a16:creationId xmlns:a16="http://schemas.microsoft.com/office/drawing/2014/main" id="{B3925AD0-4B6E-736C-C81B-103770B6CA09}"/>
              </a:ext>
            </a:extLst>
          </p:cNvPr>
          <p:cNvSpPr>
            <a:spLocks noGrp="1"/>
          </p:cNvSpPr>
          <p:nvPr>
            <p:ph type="sldNum" sz="quarter" idx="12"/>
          </p:nvPr>
        </p:nvSpPr>
        <p:spPr/>
        <p:txBody>
          <a:bodyPr/>
          <a:lstStyle/>
          <a:p>
            <a:fld id="{D5F02DF6-5EF1-449D-8E8F-F40E7D2FCBCB}" type="slidenum">
              <a:rPr lang="en-US" altLang="en-US" smtClean="0"/>
              <a:pPr/>
              <a:t>29</a:t>
            </a:fld>
            <a:endParaRPr lang="en-US" altLang="en-US" dirty="0"/>
          </a:p>
        </p:txBody>
      </p:sp>
      <p:pic>
        <p:nvPicPr>
          <p:cNvPr id="4" name="Picture 3">
            <a:extLst>
              <a:ext uri="{FF2B5EF4-FFF2-40B4-BE49-F238E27FC236}">
                <a16:creationId xmlns:a16="http://schemas.microsoft.com/office/drawing/2014/main" id="{FB522C21-8287-A729-898C-0BBB6C9D2534}"/>
              </a:ext>
            </a:extLst>
          </p:cNvPr>
          <p:cNvPicPr>
            <a:picLocks noChangeAspect="1"/>
          </p:cNvPicPr>
          <p:nvPr/>
        </p:nvPicPr>
        <p:blipFill>
          <a:blip r:embed="rId2"/>
          <a:stretch>
            <a:fillRect/>
          </a:stretch>
        </p:blipFill>
        <p:spPr>
          <a:xfrm>
            <a:off x="914400" y="1714752"/>
            <a:ext cx="4724400" cy="1257049"/>
          </a:xfrm>
          <a:prstGeom prst="rect">
            <a:avLst/>
          </a:prstGeom>
        </p:spPr>
      </p:pic>
      <p:pic>
        <p:nvPicPr>
          <p:cNvPr id="5" name="Picture 4">
            <a:extLst>
              <a:ext uri="{FF2B5EF4-FFF2-40B4-BE49-F238E27FC236}">
                <a16:creationId xmlns:a16="http://schemas.microsoft.com/office/drawing/2014/main" id="{0A45F621-197F-BBEC-A0ED-A8372E8A3421}"/>
              </a:ext>
            </a:extLst>
          </p:cNvPr>
          <p:cNvPicPr>
            <a:picLocks noChangeAspect="1"/>
          </p:cNvPicPr>
          <p:nvPr/>
        </p:nvPicPr>
        <p:blipFill>
          <a:blip r:embed="rId3"/>
          <a:stretch>
            <a:fillRect/>
          </a:stretch>
        </p:blipFill>
        <p:spPr>
          <a:xfrm>
            <a:off x="838200" y="3048000"/>
            <a:ext cx="4724400" cy="2209799"/>
          </a:xfrm>
          <a:prstGeom prst="rect">
            <a:avLst/>
          </a:prstGeom>
        </p:spPr>
      </p:pic>
      <p:pic>
        <p:nvPicPr>
          <p:cNvPr id="6" name="Picture 5">
            <a:extLst>
              <a:ext uri="{FF2B5EF4-FFF2-40B4-BE49-F238E27FC236}">
                <a16:creationId xmlns:a16="http://schemas.microsoft.com/office/drawing/2014/main" id="{A8E6067B-39F1-8BAB-FECE-B9CD1981DACB}"/>
              </a:ext>
            </a:extLst>
          </p:cNvPr>
          <p:cNvPicPr>
            <a:picLocks noChangeAspect="1"/>
          </p:cNvPicPr>
          <p:nvPr/>
        </p:nvPicPr>
        <p:blipFill>
          <a:blip r:embed="rId4"/>
          <a:stretch>
            <a:fillRect/>
          </a:stretch>
        </p:blipFill>
        <p:spPr>
          <a:xfrm>
            <a:off x="5638800" y="3219449"/>
            <a:ext cx="3200400" cy="2038350"/>
          </a:xfrm>
          <a:prstGeom prst="rect">
            <a:avLst/>
          </a:prstGeom>
        </p:spPr>
      </p:pic>
    </p:spTree>
    <p:extLst>
      <p:ext uri="{BB962C8B-B14F-4D97-AF65-F5344CB8AC3E}">
        <p14:creationId xmlns:p14="http://schemas.microsoft.com/office/powerpoint/2010/main" val="1481011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46F4E-9A59-C68A-674C-15D5256CC03A}"/>
              </a:ext>
            </a:extLst>
          </p:cNvPr>
          <p:cNvSpPr>
            <a:spLocks noGrp="1"/>
          </p:cNvSpPr>
          <p:nvPr>
            <p:ph type="title"/>
          </p:nvPr>
        </p:nvSpPr>
        <p:spPr/>
        <p:txBody>
          <a:bodyPr/>
          <a:lstStyle/>
          <a:p>
            <a:r>
              <a:rPr lang="en-US" dirty="0"/>
              <a:t>Pattern recognition problems</a:t>
            </a:r>
            <a:br>
              <a:rPr lang="en-US" dirty="0"/>
            </a:br>
            <a:r>
              <a:rPr lang="en-US" dirty="0"/>
              <a:t>Neural Networks Technique</a:t>
            </a:r>
          </a:p>
        </p:txBody>
      </p:sp>
      <p:sp>
        <p:nvSpPr>
          <p:cNvPr id="3" name="Slide Number Placeholder 2">
            <a:extLst>
              <a:ext uri="{FF2B5EF4-FFF2-40B4-BE49-F238E27FC236}">
                <a16:creationId xmlns:a16="http://schemas.microsoft.com/office/drawing/2014/main" id="{95D19061-0D42-020A-2341-8E5411E59F10}"/>
              </a:ext>
            </a:extLst>
          </p:cNvPr>
          <p:cNvSpPr>
            <a:spLocks noGrp="1"/>
          </p:cNvSpPr>
          <p:nvPr>
            <p:ph type="sldNum" sz="quarter" idx="12"/>
          </p:nvPr>
        </p:nvSpPr>
        <p:spPr/>
        <p:txBody>
          <a:bodyPr/>
          <a:lstStyle/>
          <a:p>
            <a:fld id="{D5F02DF6-5EF1-449D-8E8F-F40E7D2FCBCB}" type="slidenum">
              <a:rPr lang="en-US" altLang="en-US" smtClean="0"/>
              <a:pPr/>
              <a:t>30</a:t>
            </a:fld>
            <a:endParaRPr lang="en-US" altLang="en-US" dirty="0"/>
          </a:p>
        </p:txBody>
      </p:sp>
      <p:sp>
        <p:nvSpPr>
          <p:cNvPr id="5" name="TextBox 4">
            <a:extLst>
              <a:ext uri="{FF2B5EF4-FFF2-40B4-BE49-F238E27FC236}">
                <a16:creationId xmlns:a16="http://schemas.microsoft.com/office/drawing/2014/main" id="{9B5ABBE4-85BB-643E-C834-C412878EE53C}"/>
              </a:ext>
            </a:extLst>
          </p:cNvPr>
          <p:cNvSpPr txBox="1"/>
          <p:nvPr/>
        </p:nvSpPr>
        <p:spPr>
          <a:xfrm>
            <a:off x="381000" y="1828800"/>
            <a:ext cx="8305800" cy="3243965"/>
          </a:xfrm>
          <a:prstGeom prst="rect">
            <a:avLst/>
          </a:prstGeom>
          <a:noFill/>
        </p:spPr>
        <p:txBody>
          <a:bodyPr wrap="square">
            <a:spAutoFit/>
          </a:bodyPr>
          <a:lstStyle/>
          <a:p>
            <a:r>
              <a:rPr lang="en-US" sz="1600" dirty="0"/>
              <a:t>https://mco-mnist-draw-rwpxka3zaa-ue.a.run.app/?utm_source=chatgpt.com</a:t>
            </a:r>
          </a:p>
          <a:p>
            <a:endParaRPr lang="en-US" sz="1600" dirty="0"/>
          </a:p>
          <a:p>
            <a:r>
              <a:rPr lang="en-US" sz="1600" dirty="0"/>
              <a:t>https://zbendefy.github.io/machine.academy/WebApps/NumberRecognize/index.html?utm_source=chatgpt.com</a:t>
            </a:r>
          </a:p>
          <a:p>
            <a:endParaRPr lang="en-US" sz="1600" dirty="0"/>
          </a:p>
          <a:p>
            <a:r>
              <a:rPr lang="en-US" sz="1600" dirty="0"/>
              <a:t>https://mattyhempstead.com/projects/mnist?utm_source=chatgpt.com</a:t>
            </a:r>
          </a:p>
          <a:p>
            <a:endParaRPr lang="en-US" sz="1600" dirty="0"/>
          </a:p>
          <a:p>
            <a:r>
              <a:rPr lang="en-US" sz="1600" dirty="0"/>
              <a:t>Example of the training process</a:t>
            </a:r>
          </a:p>
          <a:p>
            <a:endParaRPr lang="en-US" sz="1600" dirty="0"/>
          </a:p>
          <a:p>
            <a:r>
              <a:rPr lang="en-US" sz="1600" dirty="0"/>
              <a:t>https://mil-tokyo.github.io/sukiyaki2/examples/mnist/</a:t>
            </a:r>
          </a:p>
          <a:p>
            <a:endParaRPr lang="en-US" sz="1600" dirty="0"/>
          </a:p>
        </p:txBody>
      </p:sp>
    </p:spTree>
    <p:extLst>
      <p:ext uri="{BB962C8B-B14F-4D97-AF65-F5344CB8AC3E}">
        <p14:creationId xmlns:p14="http://schemas.microsoft.com/office/powerpoint/2010/main" val="4120674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B213A-E163-443F-F67D-892709736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B6E4A-3C59-81B5-AD86-A7CBFB7F4025}"/>
              </a:ext>
            </a:extLst>
          </p:cNvPr>
          <p:cNvSpPr>
            <a:spLocks noGrp="1"/>
          </p:cNvSpPr>
          <p:nvPr>
            <p:ph type="title"/>
          </p:nvPr>
        </p:nvSpPr>
        <p:spPr>
          <a:xfrm>
            <a:off x="228600" y="228600"/>
            <a:ext cx="7696200" cy="1295400"/>
          </a:xfrm>
        </p:spPr>
        <p:txBody>
          <a:bodyPr wrap="square" anchor="b">
            <a:normAutofit/>
          </a:bodyPr>
          <a:lstStyle/>
          <a:p>
            <a:r>
              <a:rPr lang="en-US" dirty="0">
                <a:solidFill>
                  <a:schemeClr val="accent2">
                    <a:lumMod val="75000"/>
                  </a:schemeClr>
                </a:solidFill>
              </a:rPr>
              <a:t>Final Thought</a:t>
            </a:r>
          </a:p>
        </p:txBody>
      </p:sp>
      <p:sp>
        <p:nvSpPr>
          <p:cNvPr id="3" name="Content Placeholder 2">
            <a:extLst>
              <a:ext uri="{FF2B5EF4-FFF2-40B4-BE49-F238E27FC236}">
                <a16:creationId xmlns:a16="http://schemas.microsoft.com/office/drawing/2014/main" id="{94FF4ECC-7E6A-9828-4EE5-86281D8497A8}"/>
              </a:ext>
            </a:extLst>
          </p:cNvPr>
          <p:cNvSpPr>
            <a:spLocks noGrp="1"/>
          </p:cNvSpPr>
          <p:nvPr>
            <p:ph sz="half" idx="1"/>
          </p:nvPr>
        </p:nvSpPr>
        <p:spPr>
          <a:xfrm>
            <a:off x="488830" y="2057400"/>
            <a:ext cx="3930770" cy="3581400"/>
          </a:xfrm>
        </p:spPr>
        <p:txBody>
          <a:bodyPr wrap="square" anchor="t">
            <a:normAutofit/>
          </a:bodyPr>
          <a:lstStyle/>
          <a:p>
            <a:pPr>
              <a:buNone/>
            </a:pPr>
            <a:endParaRPr lang="en-US" dirty="0"/>
          </a:p>
          <a:p>
            <a:pPr>
              <a:buNone/>
            </a:pPr>
            <a:r>
              <a:rPr lang="en-US" sz="3200" dirty="0">
                <a:solidFill>
                  <a:srgbClr val="00B050"/>
                </a:solidFill>
              </a:rPr>
              <a:t>"This isn’t magic.</a:t>
            </a:r>
            <a:br>
              <a:rPr lang="en-US" sz="3200" dirty="0">
                <a:solidFill>
                  <a:srgbClr val="00B050"/>
                </a:solidFill>
              </a:rPr>
            </a:br>
            <a:r>
              <a:rPr lang="en-US" sz="3200" dirty="0"/>
              <a:t>It’s intelligent engineering."</a:t>
            </a:r>
          </a:p>
        </p:txBody>
      </p:sp>
      <p:pic>
        <p:nvPicPr>
          <p:cNvPr id="6" name="Picture 5" descr="A robot hand holding a plant&#10;&#10;AI-generated content may be incorrect.">
            <a:extLst>
              <a:ext uri="{FF2B5EF4-FFF2-40B4-BE49-F238E27FC236}">
                <a16:creationId xmlns:a16="http://schemas.microsoft.com/office/drawing/2014/main" id="{D7F06327-B589-4217-C64E-34D395872F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4900" y="1920081"/>
            <a:ext cx="3619500" cy="3619500"/>
          </a:xfrm>
          <a:prstGeom prst="rect">
            <a:avLst/>
          </a:prstGeom>
          <a:noFill/>
        </p:spPr>
      </p:pic>
      <p:sp>
        <p:nvSpPr>
          <p:cNvPr id="4" name="Slide Number Placeholder 3">
            <a:extLst>
              <a:ext uri="{FF2B5EF4-FFF2-40B4-BE49-F238E27FC236}">
                <a16:creationId xmlns:a16="http://schemas.microsoft.com/office/drawing/2014/main" id="{61D0B093-3C60-AC41-F440-76E8E50D9701}"/>
              </a:ext>
            </a:extLst>
          </p:cNvPr>
          <p:cNvSpPr>
            <a:spLocks noGrp="1"/>
          </p:cNvSpPr>
          <p:nvPr>
            <p:ph type="sldNum" sz="quarter" idx="12"/>
          </p:nvPr>
        </p:nvSpPr>
        <p:spPr>
          <a:xfrm>
            <a:off x="6553200" y="6248400"/>
            <a:ext cx="2133600" cy="457200"/>
          </a:xfrm>
        </p:spPr>
        <p:txBody>
          <a:bodyPr wrap="square" anchor="t">
            <a:normAutofit/>
          </a:bodyPr>
          <a:lstStyle/>
          <a:p>
            <a:pPr>
              <a:spcAft>
                <a:spcPts val="600"/>
              </a:spcAft>
            </a:pPr>
            <a:fld id="{71C6F290-D301-4864-9490-340EF11588D9}" type="slidenum">
              <a:rPr lang="en-US" altLang="en-US" smtClean="0"/>
              <a:pPr>
                <a:spcAft>
                  <a:spcPts val="600"/>
                </a:spcAft>
              </a:pPr>
              <a:t>31</a:t>
            </a:fld>
            <a:endParaRPr lang="en-US" altLang="en-US"/>
          </a:p>
        </p:txBody>
      </p:sp>
    </p:spTree>
    <p:extLst>
      <p:ext uri="{BB962C8B-B14F-4D97-AF65-F5344CB8AC3E}">
        <p14:creationId xmlns:p14="http://schemas.microsoft.com/office/powerpoint/2010/main" val="3032417567"/>
      </p:ext>
    </p:extLst>
  </p:cSld>
  <p:clrMapOvr>
    <a:masterClrMapping/>
  </p:clrMapOvr>
</p:sld>
</file>

<file path=ppt/theme/theme1.xml><?xml version="1.0" encoding="utf-8"?>
<a:theme xmlns:a="http://schemas.openxmlformats.org/drawingml/2006/main" name="Sales training presentation">
  <a:themeElements>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Sales Training_final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lnDef>
  </a:objectDefaults>
  <a:extraClrSchemeLst>
    <a:extraClrScheme>
      <a:clrScheme name="Sales Training_final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Sales Training_final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Sales Training_final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Sales Training_final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Sales Training_final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Sales Training_final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Sales Training_final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Sales Training_final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Sales Training_final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les training presentation.potx" id="{3181A242-BAE2-485E-97E8-919259126601}" vid="{819B686A-E690-42F4-91DA-6D012EEA39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Sales training slides</Template>
  <TotalTime>224</TotalTime>
  <Words>1372</Words>
  <Application>Microsoft Office PowerPoint</Application>
  <PresentationFormat>On-screen Show (4:3)</PresentationFormat>
  <Paragraphs>213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Courier New</vt:lpstr>
      <vt:lpstr>Wingdings</vt:lpstr>
      <vt:lpstr>Sales training presentation</vt:lpstr>
      <vt:lpstr>Chapter 0</vt:lpstr>
      <vt:lpstr>Course Scope – ITCS 440</vt:lpstr>
      <vt:lpstr>What Will You Learn?</vt:lpstr>
      <vt:lpstr>Why Study Intelligent Systems?</vt:lpstr>
      <vt:lpstr>AI</vt:lpstr>
      <vt:lpstr>Scope of AI </vt:lpstr>
      <vt:lpstr>Why Study Intelligent Systems?</vt:lpstr>
      <vt:lpstr>History of Intelligent Systems</vt:lpstr>
      <vt:lpstr>What is Intelligence?</vt:lpstr>
      <vt:lpstr>PowerPoint Presentation</vt:lpstr>
      <vt:lpstr>What is Intelligent Systems?</vt:lpstr>
      <vt:lpstr>What is Intelligent Systems?</vt:lpstr>
      <vt:lpstr>What is an Intelligent System?</vt:lpstr>
      <vt:lpstr>What is an Intelligent System?</vt:lpstr>
      <vt:lpstr>What is an Intelligent System?</vt:lpstr>
      <vt:lpstr>What is an Intelligent System?</vt:lpstr>
      <vt:lpstr>What is AI Technique</vt:lpstr>
      <vt:lpstr>AI Technique Example</vt:lpstr>
      <vt:lpstr>    Pattern recognition problems : </vt:lpstr>
      <vt:lpstr>Pattern recognition problems</vt:lpstr>
      <vt:lpstr>Pattern recognition problems</vt:lpstr>
      <vt:lpstr> Pattern recognition problems Hash Table Technique</vt:lpstr>
      <vt:lpstr>Pattern recognition problems VECTOR Technique</vt:lpstr>
      <vt:lpstr>VECTOR Technique</vt:lpstr>
      <vt:lpstr>VECTOR Technique</vt:lpstr>
      <vt:lpstr>VECTOR Technique</vt:lpstr>
      <vt:lpstr>Pattern recognition problems SET OF FEATURES Technique</vt:lpstr>
      <vt:lpstr>Pattern recognition problems SET OF FEATURES Technique</vt:lpstr>
      <vt:lpstr>Pattern recognition problems Neural Networks Technique</vt:lpstr>
      <vt:lpstr>Pattern recognition problems Neural Networks Technique</vt:lpstr>
      <vt:lpstr>Final Thought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Darwish</dc:creator>
  <cp:lastModifiedBy>Dr. NABIL M. A. HEWAHI</cp:lastModifiedBy>
  <cp:revision>120</cp:revision>
  <dcterms:created xsi:type="dcterms:W3CDTF">2025-04-22T07:31:40Z</dcterms:created>
  <dcterms:modified xsi:type="dcterms:W3CDTF">2025-08-07T11:46:40Z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