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42"/>
  </p:notesMasterIdLst>
  <p:handoutMasterIdLst>
    <p:handoutMasterId r:id="rId43"/>
  </p:handoutMasterIdLst>
  <p:sldIdLst>
    <p:sldId id="269" r:id="rId2"/>
    <p:sldId id="270" r:id="rId3"/>
    <p:sldId id="323" r:id="rId4"/>
    <p:sldId id="271" r:id="rId5"/>
    <p:sldId id="307" r:id="rId6"/>
    <p:sldId id="470" r:id="rId7"/>
    <p:sldId id="471" r:id="rId8"/>
    <p:sldId id="472" r:id="rId9"/>
    <p:sldId id="346" r:id="rId10"/>
    <p:sldId id="349" r:id="rId11"/>
    <p:sldId id="356" r:id="rId12"/>
    <p:sldId id="473" r:id="rId13"/>
    <p:sldId id="402" r:id="rId14"/>
    <p:sldId id="417" r:id="rId15"/>
    <p:sldId id="418" r:id="rId16"/>
    <p:sldId id="420" r:id="rId17"/>
    <p:sldId id="468" r:id="rId18"/>
    <p:sldId id="419" r:id="rId19"/>
    <p:sldId id="421" r:id="rId20"/>
    <p:sldId id="422" r:id="rId21"/>
    <p:sldId id="423" r:id="rId22"/>
    <p:sldId id="474" r:id="rId23"/>
    <p:sldId id="475" r:id="rId24"/>
    <p:sldId id="350" r:id="rId25"/>
    <p:sldId id="351" r:id="rId26"/>
    <p:sldId id="352" r:id="rId27"/>
    <p:sldId id="353" r:id="rId28"/>
    <p:sldId id="354" r:id="rId29"/>
    <p:sldId id="355" r:id="rId30"/>
    <p:sldId id="336" r:id="rId31"/>
    <p:sldId id="329" r:id="rId32"/>
    <p:sldId id="330" r:id="rId33"/>
    <p:sldId id="331" r:id="rId34"/>
    <p:sldId id="332" r:id="rId35"/>
    <p:sldId id="333" r:id="rId36"/>
    <p:sldId id="334" r:id="rId37"/>
    <p:sldId id="327" r:id="rId38"/>
    <p:sldId id="335" r:id="rId39"/>
    <p:sldId id="337" r:id="rId40"/>
    <p:sldId id="338" r:id="rId4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4917"/>
    <a:srgbClr val="00002C"/>
    <a:srgbClr val="A44114"/>
    <a:srgbClr val="FF6600"/>
    <a:srgbClr val="C4E7F4"/>
    <a:srgbClr val="893611"/>
    <a:srgbClr val="F3B99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7155" autoAdjust="0"/>
  </p:normalViewPr>
  <p:slideViewPr>
    <p:cSldViewPr>
      <p:cViewPr varScale="1">
        <p:scale>
          <a:sx n="82" d="100"/>
          <a:sy n="82" d="100"/>
        </p:scale>
        <p:origin x="150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B57A14-3519-4D50-91AB-438F6603D2C3}" type="doc">
      <dgm:prSet loTypeId="urn:microsoft.com/office/officeart/2005/8/layout/default" loCatId="list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1020B7E5-59F0-43FA-9DD0-C7798CBDD594}">
      <dgm:prSet phldrT="[Text]"/>
      <dgm:spPr/>
      <dgm:t>
        <a:bodyPr/>
        <a:lstStyle/>
        <a:p>
          <a:r>
            <a:rPr lang="en-US" dirty="0"/>
            <a:t>Incomplete information</a:t>
          </a:r>
        </a:p>
      </dgm:t>
    </dgm:pt>
    <dgm:pt modelId="{B8000122-4456-45EB-8EEA-E5968759B88B}" type="parTrans" cxnId="{8B0675C9-5788-497F-B1A0-EDBD4A5A5382}">
      <dgm:prSet/>
      <dgm:spPr/>
      <dgm:t>
        <a:bodyPr/>
        <a:lstStyle/>
        <a:p>
          <a:endParaRPr lang="en-US"/>
        </a:p>
      </dgm:t>
    </dgm:pt>
    <dgm:pt modelId="{C23C4575-9C71-48D0-A047-F01DE71CAD68}" type="sibTrans" cxnId="{8B0675C9-5788-497F-B1A0-EDBD4A5A5382}">
      <dgm:prSet/>
      <dgm:spPr/>
      <dgm:t>
        <a:bodyPr/>
        <a:lstStyle/>
        <a:p>
          <a:endParaRPr lang="en-US"/>
        </a:p>
      </dgm:t>
    </dgm:pt>
    <dgm:pt modelId="{23FE7367-62C4-4752-BF9B-4EA63298F22A}">
      <dgm:prSet phldrT="[Text]"/>
      <dgm:spPr/>
      <dgm:t>
        <a:bodyPr/>
        <a:lstStyle/>
        <a:p>
          <a:r>
            <a:rPr lang="en-US" dirty="0"/>
            <a:t>Noisy data</a:t>
          </a:r>
        </a:p>
      </dgm:t>
    </dgm:pt>
    <dgm:pt modelId="{2B1DC1F5-D190-4E60-B588-D701E803A9C5}" type="parTrans" cxnId="{B94453D8-7AE2-4E3A-AA29-70DD6F2FC353}">
      <dgm:prSet/>
      <dgm:spPr/>
      <dgm:t>
        <a:bodyPr/>
        <a:lstStyle/>
        <a:p>
          <a:endParaRPr lang="en-US"/>
        </a:p>
      </dgm:t>
    </dgm:pt>
    <dgm:pt modelId="{6426D13A-4BFE-4555-B771-CF5BF9EB12E9}" type="sibTrans" cxnId="{B94453D8-7AE2-4E3A-AA29-70DD6F2FC353}">
      <dgm:prSet/>
      <dgm:spPr/>
      <dgm:t>
        <a:bodyPr/>
        <a:lstStyle/>
        <a:p>
          <a:endParaRPr lang="en-US"/>
        </a:p>
      </dgm:t>
    </dgm:pt>
    <dgm:pt modelId="{6D838544-F0C7-4687-AE75-8AD6FE5554EA}">
      <dgm:prSet phldrT="[Text]"/>
      <dgm:spPr/>
      <dgm:t>
        <a:bodyPr/>
        <a:lstStyle/>
        <a:p>
          <a:r>
            <a:rPr lang="en-US" dirty="0"/>
            <a:t>Ambiguity Terms</a:t>
          </a:r>
        </a:p>
      </dgm:t>
    </dgm:pt>
    <dgm:pt modelId="{4FDC5362-38C7-4F5E-BBDF-29DE527F8BEF}" type="parTrans" cxnId="{17C7596D-A578-467C-88C2-41D2276BDFA1}">
      <dgm:prSet/>
      <dgm:spPr/>
      <dgm:t>
        <a:bodyPr/>
        <a:lstStyle/>
        <a:p>
          <a:endParaRPr lang="en-US"/>
        </a:p>
      </dgm:t>
    </dgm:pt>
    <dgm:pt modelId="{51B09D24-1067-476E-8BDC-DC7615A07DD3}" type="sibTrans" cxnId="{17C7596D-A578-467C-88C2-41D2276BDFA1}">
      <dgm:prSet/>
      <dgm:spPr/>
      <dgm:t>
        <a:bodyPr/>
        <a:lstStyle/>
        <a:p>
          <a:endParaRPr lang="en-US"/>
        </a:p>
      </dgm:t>
    </dgm:pt>
    <dgm:pt modelId="{EB3869EF-248D-4E87-89D0-7468DB07EF24}" type="pres">
      <dgm:prSet presAssocID="{7DB57A14-3519-4D50-91AB-438F6603D2C3}" presName="diagram" presStyleCnt="0">
        <dgm:presLayoutVars>
          <dgm:dir/>
          <dgm:resizeHandles val="exact"/>
        </dgm:presLayoutVars>
      </dgm:prSet>
      <dgm:spPr/>
    </dgm:pt>
    <dgm:pt modelId="{59A07367-3D28-4DF2-A14F-A823DEE5E12A}" type="pres">
      <dgm:prSet presAssocID="{1020B7E5-59F0-43FA-9DD0-C7798CBDD594}" presName="node" presStyleLbl="node1" presStyleIdx="0" presStyleCnt="3">
        <dgm:presLayoutVars>
          <dgm:bulletEnabled val="1"/>
        </dgm:presLayoutVars>
      </dgm:prSet>
      <dgm:spPr/>
    </dgm:pt>
    <dgm:pt modelId="{A16034DA-336F-466D-8289-558ABE8A3B76}" type="pres">
      <dgm:prSet presAssocID="{C23C4575-9C71-48D0-A047-F01DE71CAD68}" presName="sibTrans" presStyleCnt="0"/>
      <dgm:spPr/>
    </dgm:pt>
    <dgm:pt modelId="{C082FACC-D899-4022-8EEA-95C54FD837E1}" type="pres">
      <dgm:prSet presAssocID="{23FE7367-62C4-4752-BF9B-4EA63298F22A}" presName="node" presStyleLbl="node1" presStyleIdx="1" presStyleCnt="3">
        <dgm:presLayoutVars>
          <dgm:bulletEnabled val="1"/>
        </dgm:presLayoutVars>
      </dgm:prSet>
      <dgm:spPr/>
    </dgm:pt>
    <dgm:pt modelId="{0DF6D805-D1D4-44FF-923F-D34EC3A079ED}" type="pres">
      <dgm:prSet presAssocID="{6426D13A-4BFE-4555-B771-CF5BF9EB12E9}" presName="sibTrans" presStyleCnt="0"/>
      <dgm:spPr/>
    </dgm:pt>
    <dgm:pt modelId="{272F7DDB-65AD-4300-9252-53278B1D6591}" type="pres">
      <dgm:prSet presAssocID="{6D838544-F0C7-4687-AE75-8AD6FE5554EA}" presName="node" presStyleLbl="node1" presStyleIdx="2" presStyleCnt="3">
        <dgm:presLayoutVars>
          <dgm:bulletEnabled val="1"/>
        </dgm:presLayoutVars>
      </dgm:prSet>
      <dgm:spPr/>
    </dgm:pt>
  </dgm:ptLst>
  <dgm:cxnLst>
    <dgm:cxn modelId="{A032AC09-7BFB-4D7C-A8BA-4B04588F70A9}" type="presOf" srcId="{6D838544-F0C7-4687-AE75-8AD6FE5554EA}" destId="{272F7DDB-65AD-4300-9252-53278B1D6591}" srcOrd="0" destOrd="0" presId="urn:microsoft.com/office/officeart/2005/8/layout/default"/>
    <dgm:cxn modelId="{88F4311D-547D-4A07-BA69-9A6EDA4F2C74}" type="presOf" srcId="{1020B7E5-59F0-43FA-9DD0-C7798CBDD594}" destId="{59A07367-3D28-4DF2-A14F-A823DEE5E12A}" srcOrd="0" destOrd="0" presId="urn:microsoft.com/office/officeart/2005/8/layout/default"/>
    <dgm:cxn modelId="{B6252F26-80B9-4EB8-BD70-703E21A54641}" type="presOf" srcId="{7DB57A14-3519-4D50-91AB-438F6603D2C3}" destId="{EB3869EF-248D-4E87-89D0-7468DB07EF24}" srcOrd="0" destOrd="0" presId="urn:microsoft.com/office/officeart/2005/8/layout/default"/>
    <dgm:cxn modelId="{17C7596D-A578-467C-88C2-41D2276BDFA1}" srcId="{7DB57A14-3519-4D50-91AB-438F6603D2C3}" destId="{6D838544-F0C7-4687-AE75-8AD6FE5554EA}" srcOrd="2" destOrd="0" parTransId="{4FDC5362-38C7-4F5E-BBDF-29DE527F8BEF}" sibTransId="{51B09D24-1067-476E-8BDC-DC7615A07DD3}"/>
    <dgm:cxn modelId="{B209C998-6B6F-4281-98C6-C11AE15C1767}" type="presOf" srcId="{23FE7367-62C4-4752-BF9B-4EA63298F22A}" destId="{C082FACC-D899-4022-8EEA-95C54FD837E1}" srcOrd="0" destOrd="0" presId="urn:microsoft.com/office/officeart/2005/8/layout/default"/>
    <dgm:cxn modelId="{8B0675C9-5788-497F-B1A0-EDBD4A5A5382}" srcId="{7DB57A14-3519-4D50-91AB-438F6603D2C3}" destId="{1020B7E5-59F0-43FA-9DD0-C7798CBDD594}" srcOrd="0" destOrd="0" parTransId="{B8000122-4456-45EB-8EEA-E5968759B88B}" sibTransId="{C23C4575-9C71-48D0-A047-F01DE71CAD68}"/>
    <dgm:cxn modelId="{B94453D8-7AE2-4E3A-AA29-70DD6F2FC353}" srcId="{7DB57A14-3519-4D50-91AB-438F6603D2C3}" destId="{23FE7367-62C4-4752-BF9B-4EA63298F22A}" srcOrd="1" destOrd="0" parTransId="{2B1DC1F5-D190-4E60-B588-D701E803A9C5}" sibTransId="{6426D13A-4BFE-4555-B771-CF5BF9EB12E9}"/>
    <dgm:cxn modelId="{8795DCF9-E228-447F-85ED-10B2AA823FAE}" type="presParOf" srcId="{EB3869EF-248D-4E87-89D0-7468DB07EF24}" destId="{59A07367-3D28-4DF2-A14F-A823DEE5E12A}" srcOrd="0" destOrd="0" presId="urn:microsoft.com/office/officeart/2005/8/layout/default"/>
    <dgm:cxn modelId="{98E3BD2E-6D24-466E-BF1C-F34F6445E0DB}" type="presParOf" srcId="{EB3869EF-248D-4E87-89D0-7468DB07EF24}" destId="{A16034DA-336F-466D-8289-558ABE8A3B76}" srcOrd="1" destOrd="0" presId="urn:microsoft.com/office/officeart/2005/8/layout/default"/>
    <dgm:cxn modelId="{F8A9B4C9-D86C-49AA-87D2-06E7DC270EF2}" type="presParOf" srcId="{EB3869EF-248D-4E87-89D0-7468DB07EF24}" destId="{C082FACC-D899-4022-8EEA-95C54FD837E1}" srcOrd="2" destOrd="0" presId="urn:microsoft.com/office/officeart/2005/8/layout/default"/>
    <dgm:cxn modelId="{BE9CDD66-CEB5-4EAE-BEA6-035426D9F4E2}" type="presParOf" srcId="{EB3869EF-248D-4E87-89D0-7468DB07EF24}" destId="{0DF6D805-D1D4-44FF-923F-D34EC3A079ED}" srcOrd="3" destOrd="0" presId="urn:microsoft.com/office/officeart/2005/8/layout/default"/>
    <dgm:cxn modelId="{56FB91C4-D404-429E-BF99-79B52C7E8C1D}" type="presParOf" srcId="{EB3869EF-248D-4E87-89D0-7468DB07EF24}" destId="{272F7DDB-65AD-4300-9252-53278B1D659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07367-3D28-4DF2-A14F-A823DEE5E12A}">
      <dsp:nvSpPr>
        <dsp:cNvPr id="0" name=""/>
        <dsp:cNvSpPr/>
      </dsp:nvSpPr>
      <dsp:spPr>
        <a:xfrm>
          <a:off x="124310" y="635"/>
          <a:ext cx="3158148" cy="1894888"/>
        </a:xfrm>
        <a:prstGeom prst="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Incomplete information</a:t>
          </a:r>
        </a:p>
      </dsp:txBody>
      <dsp:txXfrm>
        <a:off x="124310" y="635"/>
        <a:ext cx="3158148" cy="1894888"/>
      </dsp:txXfrm>
    </dsp:sp>
    <dsp:sp modelId="{C082FACC-D899-4022-8EEA-95C54FD837E1}">
      <dsp:nvSpPr>
        <dsp:cNvPr id="0" name=""/>
        <dsp:cNvSpPr/>
      </dsp:nvSpPr>
      <dsp:spPr>
        <a:xfrm>
          <a:off x="3598272" y="635"/>
          <a:ext cx="3158148" cy="1894888"/>
        </a:xfrm>
        <a:prstGeom prst="rect">
          <a:avLst/>
        </a:prstGeom>
        <a:solidFill>
          <a:schemeClr val="accent2">
            <a:shade val="50000"/>
            <a:hueOff val="0"/>
            <a:satOff val="-4744"/>
            <a:lumOff val="310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Noisy data</a:t>
          </a:r>
        </a:p>
      </dsp:txBody>
      <dsp:txXfrm>
        <a:off x="3598272" y="635"/>
        <a:ext cx="3158148" cy="1894888"/>
      </dsp:txXfrm>
    </dsp:sp>
    <dsp:sp modelId="{272F7DDB-65AD-4300-9252-53278B1D6591}">
      <dsp:nvSpPr>
        <dsp:cNvPr id="0" name=""/>
        <dsp:cNvSpPr/>
      </dsp:nvSpPr>
      <dsp:spPr>
        <a:xfrm>
          <a:off x="1861291" y="2211338"/>
          <a:ext cx="3158148" cy="1894888"/>
        </a:xfrm>
        <a:prstGeom prst="rect">
          <a:avLst/>
        </a:prstGeom>
        <a:solidFill>
          <a:schemeClr val="accent2">
            <a:shade val="50000"/>
            <a:hueOff val="0"/>
            <a:satOff val="-4744"/>
            <a:lumOff val="310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Ambiguity Terms</a:t>
          </a:r>
        </a:p>
      </dsp:txBody>
      <dsp:txXfrm>
        <a:off x="1861291" y="2211338"/>
        <a:ext cx="3158148" cy="18948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F0B6EC5B-DE15-4B62-9DC0-DE1BD893DD16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82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823FACB9-4E35-4CB3-835A-2EBF55FAEDE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869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47112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7113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14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15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16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17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18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19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0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1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2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3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4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5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6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7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8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29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0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1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2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3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4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5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6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7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8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39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40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41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42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143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7144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7107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4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7108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Tx/>
              <a:buNone/>
              <a:defRPr sz="2900"/>
            </a:lvl1pPr>
          </a:lstStyle>
          <a:p>
            <a:pPr lvl="0"/>
            <a:r>
              <a:rPr lang="en-US" altLang="en-US" noProof="0"/>
              <a:t>Click to edit Master subtitle style</a:t>
            </a:r>
            <a:endParaRPr lang="en-US" altLang="en-US" noProof="0" dirty="0"/>
          </a:p>
        </p:txBody>
      </p:sp>
      <p:sp>
        <p:nvSpPr>
          <p:cNvPr id="47109" name="Date Placeholder 3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6B3D86DF-D88D-4919-AE3E-70ED32C3AA5E}" type="datetime1">
              <a:rPr lang="en-US" altLang="en-US" smtClean="0"/>
              <a:t>10/26/2025</a:t>
            </a:fld>
            <a:endParaRPr lang="en-US" altLang="en-US" dirty="0"/>
          </a:p>
        </p:txBody>
      </p:sp>
      <p:sp>
        <p:nvSpPr>
          <p:cNvPr id="47110" name="Footer Placeholder 4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Dr. Nabil Mahmood Hewaihi</a:t>
            </a:r>
            <a:endParaRPr lang="en-US" altLang="en-US" dirty="0"/>
          </a:p>
        </p:txBody>
      </p:sp>
      <p:sp>
        <p:nvSpPr>
          <p:cNvPr id="47111" name="Slide Number Placeholder 5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E945280F-DE53-48B1-9FB9-96A39916642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EE4193C-6532-468B-BFAD-A1A775482FC3}" type="datetime1">
              <a:rPr lang="en-US" altLang="en-US" smtClean="0"/>
              <a:t>10/26/2025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Dr. Nabil Mahmood Hewaihi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6F290-D301-4864-9490-340EF11588D9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3607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A6CD74-F769-49F1-A08E-80A1E1E40EB9}" type="datetime1">
              <a:rPr lang="en-US" altLang="en-US" smtClean="0"/>
              <a:t>10/26/2025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Dr. Nabil Mahmood Hewaihi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208CE1-DD55-4A43-A479-EF83A2DC3985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197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1524000"/>
            <a:ext cx="3619500" cy="4411663"/>
          </a:xfrm>
        </p:spPr>
        <p:txBody>
          <a:bodyPr/>
          <a:lstStyle>
            <a:lvl1pPr marL="4572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14900" y="1524000"/>
            <a:ext cx="3619500" cy="4411663"/>
          </a:xfrm>
        </p:spPr>
        <p:txBody>
          <a:bodyPr/>
          <a:lstStyle>
            <a:lvl1pPr marL="45720" indent="0">
              <a:buFontTx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312E3F3-961E-4581-A7D9-042A6D53D211}" type="datetime1">
              <a:rPr lang="en-US" altLang="en-US" smtClean="0"/>
              <a:t>10/26/2025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Dr. Nabil Mahmood Hewaihi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27AF89-6755-46F5-BBCF-E571D7F311A5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3735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45720" indent="0">
              <a:buFontTx/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45720" indent="0">
              <a:buFontTx/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BF27A76-D8ED-439D-818C-63427DDEAE9F}" type="datetime1">
              <a:rPr lang="en-US" altLang="en-US" smtClean="0"/>
              <a:t>10/26/2025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Dr. Nabil Mahmood Hewaihi</a:t>
            </a: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6BE3C0-1208-4260-82C3-0EB040027195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9325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30F976-C6C5-46AC-BF15-042DDB91640B}" type="datetime1">
              <a:rPr lang="en-US" altLang="en-US" smtClean="0"/>
              <a:t>10/26/2025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Dr. Nabil Mahmood Hewaihi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F02DF6-5EF1-449D-8E8F-F40E7D2FCBC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673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EB39B33-8D7C-41EC-8450-3CBD5581B8E2}" type="datetime1">
              <a:rPr lang="en-US" altLang="en-US" smtClean="0"/>
              <a:t>10/26/2025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Dr. Nabil Mahmood Hewaihi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60AA-1533-4548-8781-A6D0EAE276D6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5109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45720" indent="0">
              <a:buFontTx/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392300-A72E-4F88-ACD3-3EE844BF72BA}" type="datetime1">
              <a:rPr lang="en-US" altLang="en-US" smtClean="0"/>
              <a:t>10/26/2025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Dr. Nabil Mahmood Hewaihi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386842-FEC9-453F-B6F7-7C945F3A2D73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3092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844039-CC01-4C22-8E72-7F3F8D2079C3}" type="datetime1">
              <a:rPr lang="en-US" altLang="en-US" smtClean="0"/>
              <a:t>10/26/2025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Dr. Nabil Mahmood Hewaihi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DA581-ADE3-4A40-91CB-711A776CAC29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1156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4572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13E083-DA48-4C9A-A43F-A1DBD108CEB1}" type="datetime1">
              <a:rPr lang="en-US" altLang="en-US" smtClean="0"/>
              <a:t>10/26/2025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Dr. Nabil Mahmood Hewaihi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E90EB-6CA4-453F-8712-C339590DE034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312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228600"/>
            <a:ext cx="2076450" cy="5707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076950" cy="5707063"/>
          </a:xfrm>
        </p:spPr>
        <p:txBody>
          <a:bodyPr vert="eaVert"/>
          <a:lstStyle>
            <a:lvl1pPr marL="4572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0A6D60-888E-4F3F-B3CE-7795256FE141}" type="datetime1">
              <a:rPr lang="en-US" altLang="en-US" smtClean="0"/>
              <a:t>10/26/2025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Dr. Nabil Mahmood Hewaihi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D251BA-4196-46F7-BF5E-DE37F6712AD1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517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46088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4608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09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0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11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6083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7696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6084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1524000"/>
            <a:ext cx="7391400" cy="441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6085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000"/>
            </a:lvl1pPr>
          </a:lstStyle>
          <a:p>
            <a:fld id="{DAA47658-FA98-41C0-A0A1-70085A3B5D80}" type="datetime1">
              <a:rPr lang="en-US" altLang="en-US" smtClean="0"/>
              <a:t>10/26/2025</a:t>
            </a:fld>
            <a:endParaRPr lang="en-US" altLang="en-US" dirty="0"/>
          </a:p>
        </p:txBody>
      </p:sp>
      <p:sp>
        <p:nvSpPr>
          <p:cNvPr id="46086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000"/>
            </a:lvl1pPr>
          </a:lstStyle>
          <a:p>
            <a:r>
              <a:rPr lang="en-US" altLang="en-US"/>
              <a:t>Dr. Nabil Mahmood Hewaihi</a:t>
            </a:r>
            <a:endParaRPr lang="en-US" altLang="en-US" dirty="0"/>
          </a:p>
        </p:txBody>
      </p:sp>
      <p:sp>
        <p:nvSpPr>
          <p:cNvPr id="46087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000"/>
            </a:lvl1pPr>
          </a:lstStyle>
          <a:p>
            <a:fld id="{D7E5119E-5338-4B55-81DC-57EAC9440FD0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45720" indent="0" algn="l" rtl="0" eaLnBrk="1" fontAlgn="base" hangingPunct="1">
        <a:spcBef>
          <a:spcPct val="25000"/>
        </a:spcBef>
        <a:spcAft>
          <a:spcPct val="0"/>
        </a:spcAft>
        <a:buClr>
          <a:schemeClr val="tx2"/>
        </a:buClr>
        <a:buSzPct val="120000"/>
        <a:buFontTx/>
        <a:buNone/>
        <a:defRPr sz="27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0"/>
        </a:spcBef>
        <a:spcAft>
          <a:spcPct val="25000"/>
        </a:spcAft>
        <a:buClr>
          <a:schemeClr val="accent2">
            <a:lumMod val="75000"/>
          </a:schemeClr>
        </a:buClr>
        <a:buSzPct val="55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2pPr>
      <a:lvl3pPr marL="987425" indent="-293688" algn="l" rtl="0" eaLnBrk="1" fontAlgn="base" hangingPunct="1">
        <a:spcBef>
          <a:spcPct val="0"/>
        </a:spcBef>
        <a:spcAft>
          <a:spcPct val="25000"/>
        </a:spcAft>
        <a:buClr>
          <a:schemeClr val="accent1">
            <a:lumMod val="50000"/>
          </a:schemeClr>
        </a:buClr>
        <a:buSzPct val="50000"/>
        <a:buFont typeface="Wingdings" pitchFamily="2" charset="2"/>
        <a:buChar char="l"/>
        <a:defRPr sz="2200">
          <a:solidFill>
            <a:schemeClr val="tx1"/>
          </a:solidFill>
          <a:latin typeface="+mn-lt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>
            <a:lumMod val="75000"/>
          </a:schemeClr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1920240" indent="-315913" algn="l" rtl="0" eaLnBrk="1" fontAlgn="base" hangingPunct="1">
        <a:spcBef>
          <a:spcPct val="20000"/>
        </a:spcBef>
        <a:spcAft>
          <a:spcPct val="0"/>
        </a:spcAft>
        <a:buClr>
          <a:schemeClr val="accent6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240280" indent="-315913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651760" indent="-315913" algn="l" rtl="0" eaLnBrk="1" fontAlgn="base" hangingPunct="1">
        <a:spcBef>
          <a:spcPct val="20000"/>
        </a:spcBef>
        <a:spcAft>
          <a:spcPct val="0"/>
        </a:spcAft>
        <a:buClr>
          <a:schemeClr val="bg2">
            <a:lumMod val="75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108960" indent="-315913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486D98-0B9B-4C4E-A25F-64BA4C5DB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/>
          <a:p>
            <a:pPr algn="ctr"/>
            <a:r>
              <a:rPr lang="en-US" dirty="0"/>
              <a:t>Chapter 7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55BBED-E65C-4B70-99E3-9318D4F2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2612" y="3049588"/>
            <a:ext cx="6351587" cy="2362200"/>
          </a:xfrm>
        </p:spPr>
        <p:txBody>
          <a:bodyPr/>
          <a:lstStyle/>
          <a:p>
            <a:pPr algn="ctr"/>
            <a:r>
              <a:rPr lang="en-US" dirty="0"/>
              <a:t>Reasoning Under Uncertainty &amp; Fuzzy Logic</a:t>
            </a:r>
          </a:p>
          <a:p>
            <a:pPr algn="ctr"/>
            <a:endParaRPr lang="en-US" sz="1600" dirty="0"/>
          </a:p>
          <a:p>
            <a:pPr algn="ctr"/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(From Probability to Fuzzy Thinking)</a:t>
            </a:r>
          </a:p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D4643F-6823-FFEE-93F8-706A515DF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945280F-DE53-48B1-9FB9-96A39916642A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948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2B656-4656-4646-A221-7C30814F2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Roadmap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ABF9E-9B82-4C13-8452-952BD74F6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84337"/>
            <a:ext cx="7696200" cy="4868863"/>
          </a:xfrm>
        </p:spPr>
        <p:txBody>
          <a:bodyPr>
            <a:normAutofit/>
          </a:bodyPr>
          <a:lstStyle/>
          <a:p>
            <a:pPr marL="0" marR="0" lvl="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Uncertainty</a:t>
            </a:r>
          </a:p>
          <a:p>
            <a:pPr marL="514350" marR="0" lvl="0" indent="-51435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Probabilistic Reasoning</a:t>
            </a:r>
          </a:p>
          <a:p>
            <a:pPr marL="514350" marR="0" lvl="0" indent="-51435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Bayesian Networks</a:t>
            </a:r>
          </a:p>
          <a:p>
            <a:pPr marL="514350" marR="0" lvl="0" indent="-51435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Fuzzy Logic</a:t>
            </a:r>
          </a:p>
          <a:p>
            <a:pPr marL="514350" marR="0" lvl="0" indent="-51435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Applications</a:t>
            </a:r>
          </a:p>
          <a:p>
            <a:pPr marL="514350" marR="0" lvl="0" indent="-51435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4817F-40BE-85AB-A543-701D01A2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056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person walking on a blue line&#10;&#10;AI-generated content may be incorrect.">
            <a:extLst>
              <a:ext uri="{FF2B5EF4-FFF2-40B4-BE49-F238E27FC236}">
                <a16:creationId xmlns:a16="http://schemas.microsoft.com/office/drawing/2014/main" id="{630BE61E-070E-CC00-8CE2-8235A9C9D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918368"/>
            <a:ext cx="6922224" cy="50212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D41DF-CE1A-5DB8-B289-4268D037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5026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CAED-63A5-15FA-74BB-17FD4DD3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609600"/>
          </a:xfrm>
        </p:spPr>
        <p:txBody>
          <a:bodyPr/>
          <a:lstStyle/>
          <a:p>
            <a:r>
              <a:rPr lang="en-US" b="1" dirty="0"/>
              <a:t>Why Does AI Need Uncertainty?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3DBA2-5FEC-CF7D-EA5C-620EAF370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50641"/>
            <a:ext cx="7391400" cy="4868863"/>
          </a:xfrm>
        </p:spPr>
        <p:txBody>
          <a:bodyPr>
            <a:normAutofit fontScale="77500" lnSpcReduction="20000"/>
          </a:bodyPr>
          <a:lstStyle/>
          <a:p>
            <a:pPr algn="justLow">
              <a:lnSpc>
                <a:spcPct val="150000"/>
              </a:lnSpc>
            </a:pPr>
            <a:endParaRPr lang="en-US" sz="10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502920" indent="-457200" algn="justLow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Real life is messy: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incomplete, noisy, and vague (ambiguity terms)</a:t>
            </a:r>
          </a:p>
          <a:p>
            <a:pPr marL="502920" indent="-457200" algn="justLow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100" dirty="0">
                <a:solidFill>
                  <a:srgbClr val="FF0000"/>
                </a:solidFill>
              </a:rPr>
              <a:t>AI systems often work in environments where </a:t>
            </a:r>
            <a:r>
              <a:rPr lang="en-US" sz="3100" dirty="0">
                <a:solidFill>
                  <a:srgbClr val="00B050"/>
                </a:solidFill>
              </a:rPr>
              <a:t>complete information isn’t available</a:t>
            </a:r>
            <a:r>
              <a:rPr lang="en-US" sz="3100" dirty="0">
                <a:solidFill>
                  <a:srgbClr val="FF0000"/>
                </a:solidFill>
              </a:rPr>
              <a:t>  or </a:t>
            </a:r>
            <a:r>
              <a:rPr lang="en-US" sz="3100" dirty="0">
                <a:solidFill>
                  <a:srgbClr val="00B050"/>
                </a:solidFill>
              </a:rPr>
              <a:t>the data is noisy</a:t>
            </a:r>
            <a:r>
              <a:rPr lang="en-US" sz="3100" dirty="0">
                <a:solidFill>
                  <a:srgbClr val="FF0000"/>
                </a:solidFill>
              </a:rPr>
              <a:t>. In such cases, the AI must make decisions under uncertainty.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 algn="justLow">
              <a:lnSpc>
                <a:spcPct val="150000"/>
              </a:lnSpc>
            </a:pPr>
            <a:endParaRPr lang="en-US" sz="16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rgbClr val="B94917"/>
                </a:solidFill>
              </a:rPr>
              <a:t>Examples: </a:t>
            </a:r>
            <a:r>
              <a:rPr lang="en-US" dirty="0"/>
              <a:t>Diagnosing illness, weather forecasting, robot sensors</a:t>
            </a:r>
          </a:p>
          <a:p>
            <a:endParaRPr lang="en-US" sz="1600" dirty="0"/>
          </a:p>
          <a:p>
            <a:r>
              <a:rPr lang="en-US" dirty="0"/>
              <a:t>**Classical logic fails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when info is incomplete</a:t>
            </a:r>
          </a:p>
          <a:p>
            <a:pPr marL="344487" lvl="1" indent="0">
              <a:buNone/>
            </a:pPr>
            <a:r>
              <a:rPr lang="en-US" b="1" dirty="0">
                <a:solidFill>
                  <a:srgbClr val="00B0F0"/>
                </a:solidFill>
              </a:rPr>
              <a:t>Yes or No → not enough!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CB6EF-4844-3FB3-86A8-F72EEC71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7863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0A748-DA65-7EEA-F819-3265F0275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8C5D9-F1AD-790A-8A7E-09EABA5C1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Uncertainty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4D7985-15CC-3304-E40F-3A7DA93B9E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31634" y="1981200"/>
          <a:ext cx="6880731" cy="4106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ED697-B3B8-D5A9-16B8-C8484BBE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7956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244E3-4888-9450-E28F-5DBECF973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Uncertainty- Incomplete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FEB19-3AF3-26B2-829B-4B93A85A2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0"/>
            <a:ext cx="8610600" cy="51054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Examples:</a:t>
            </a:r>
          </a:p>
          <a:p>
            <a:endParaRPr lang="en-US" dirty="0"/>
          </a:p>
          <a:p>
            <a:r>
              <a:rPr lang="en-US" b="1" dirty="0"/>
              <a:t>Medical Diagnosis: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A patient’s medical record is missing key test results</a:t>
            </a:r>
            <a:r>
              <a:rPr lang="en-US" dirty="0"/>
              <a:t>. The AI system must predict a diagnosis with only partial data — leading to uncertainty.</a:t>
            </a:r>
          </a:p>
          <a:p>
            <a:endParaRPr lang="en-US" dirty="0"/>
          </a:p>
          <a:p>
            <a:pPr algn="just"/>
            <a:r>
              <a:rPr lang="en-US" b="1" dirty="0"/>
              <a:t>Self-Driving Cars: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A camera is temporarily blocked by fog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so the car can’t “see” a pedestrian clearly.</a:t>
            </a:r>
            <a:r>
              <a:rPr lang="en-US" dirty="0"/>
              <a:t> The system has incomplete information about the environment.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1304D-701F-40E3-89F8-8F279B61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31602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C646A-382D-84BE-5285-2DEC9BE9E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533400"/>
          </a:xfrm>
        </p:spPr>
        <p:txBody>
          <a:bodyPr/>
          <a:lstStyle/>
          <a:p>
            <a:r>
              <a:rPr lang="en-US" dirty="0"/>
              <a:t>Uncertainty-Noise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C3797-15D6-9739-5BF7-45CD05CA7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62000"/>
            <a:ext cx="8229600" cy="51736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Examples:</a:t>
            </a:r>
            <a:endParaRPr lang="en-US" dirty="0"/>
          </a:p>
          <a:p>
            <a:r>
              <a:rPr lang="en-US" b="1" dirty="0"/>
              <a:t>Speech Recognition: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Background noise in a crowded room </a:t>
            </a:r>
            <a:r>
              <a:rPr lang="en-US" dirty="0"/>
              <a:t>makes it difficult for an AI to understand spoken words accurately.</a:t>
            </a:r>
          </a:p>
          <a:p>
            <a:endParaRPr lang="en-US" dirty="0"/>
          </a:p>
          <a:p>
            <a:r>
              <a:rPr lang="en-US" b="1" dirty="0"/>
              <a:t>Image Classification: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Blurry or poorly lit photos confuse a model trained on clean images.</a:t>
            </a:r>
          </a:p>
          <a:p>
            <a:endParaRPr lang="en-US" dirty="0"/>
          </a:p>
          <a:p>
            <a:r>
              <a:rPr lang="en-US" b="1" dirty="0"/>
              <a:t>Sensor Data in IoT: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A faulty temperature sensor gives fluctuating readings </a:t>
            </a:r>
            <a:r>
              <a:rPr lang="en-US" dirty="0"/>
              <a:t>— the model becomes uncertain about the real temperature.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D7DD0-2169-6965-BE3C-A0BD7129C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17284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489FD-746B-FE84-DC0D-2BFA1CBB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609600"/>
          </a:xfrm>
        </p:spPr>
        <p:txBody>
          <a:bodyPr/>
          <a:lstStyle/>
          <a:p>
            <a:r>
              <a:rPr lang="en-US" dirty="0"/>
              <a:t>Uncertainty- Ambiguous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FE995-4F59-67BF-F0AF-145950377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7912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Meaning:</a:t>
            </a:r>
            <a:br>
              <a:rPr lang="en-US" dirty="0"/>
            </a:br>
            <a:r>
              <a:rPr lang="en-US" dirty="0"/>
              <a:t>The data itself can be interpreted in </a:t>
            </a:r>
            <a:r>
              <a:rPr lang="en-US" b="1" dirty="0"/>
              <a:t>multiple valid ways</a:t>
            </a:r>
            <a:r>
              <a:rPr lang="en-US" dirty="0"/>
              <a:t>, even if it’s complete and clean.</a:t>
            </a:r>
          </a:p>
          <a:p>
            <a:endParaRPr lang="en-US" dirty="0"/>
          </a:p>
          <a:p>
            <a:r>
              <a:rPr lang="en-US" b="1" dirty="0"/>
              <a:t>Examples: </a:t>
            </a:r>
          </a:p>
          <a:p>
            <a:r>
              <a:rPr lang="en-US" b="1" dirty="0"/>
              <a:t>Natural Language Processing (NLP):</a:t>
            </a:r>
            <a:br>
              <a:rPr lang="en-US" dirty="0"/>
            </a:br>
            <a:r>
              <a:rPr lang="en-US" dirty="0"/>
              <a:t>The sentence </a:t>
            </a:r>
            <a:r>
              <a:rPr lang="en-US" i="1" dirty="0"/>
              <a:t>“</a:t>
            </a:r>
            <a:r>
              <a:rPr lang="en-US" i="1" dirty="0">
                <a:solidFill>
                  <a:srgbClr val="FF0000"/>
                </a:solidFill>
              </a:rPr>
              <a:t>I saw the man with the telescope</a:t>
            </a:r>
            <a:r>
              <a:rPr lang="en-US" i="1" dirty="0"/>
              <a:t>.”</a:t>
            </a:r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Who has the telescope</a:t>
            </a:r>
            <a:r>
              <a:rPr lang="en-US" b="1" dirty="0">
                <a:solidFill>
                  <a:srgbClr val="00B050"/>
                </a:solidFill>
              </a:rPr>
              <a:t>? </a:t>
            </a:r>
            <a:r>
              <a:rPr lang="en-US" dirty="0">
                <a:solidFill>
                  <a:srgbClr val="00B050"/>
                </a:solidFill>
              </a:rPr>
              <a:t>The speaker or the man? </a:t>
            </a:r>
            <a:r>
              <a:rPr lang="en-US" dirty="0"/>
              <a:t>The AI must choose one interpretation, introducing uncertainty.</a:t>
            </a:r>
          </a:p>
          <a:p>
            <a:endParaRPr lang="en-US" dirty="0"/>
          </a:p>
          <a:p>
            <a:r>
              <a:rPr lang="en-US" b="1" dirty="0"/>
              <a:t>Medical Imaging: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A small dark spot on an X-ray could indicate several possible conditions </a:t>
            </a:r>
            <a:r>
              <a:rPr lang="en-US" dirty="0"/>
              <a:t>(benign or malignant) — the data itself is ambiguous.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DFEE2-1B57-C0B8-CD1B-B6CEF25B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62770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5C57F-444D-B21C-B261-30836B8F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40" y="152400"/>
            <a:ext cx="7696200" cy="1219200"/>
          </a:xfrm>
        </p:spPr>
        <p:txBody>
          <a:bodyPr/>
          <a:lstStyle/>
          <a:p>
            <a:r>
              <a:rPr lang="en-US" dirty="0"/>
              <a:t>Uncertainty in AI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536F5-A1AD-5A8E-25F4-C8DD31679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40" y="914400"/>
            <a:ext cx="8293359" cy="5562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A44114"/>
                </a:solidFill>
              </a:rPr>
              <a:t>Approaches to manage uncertainty: </a:t>
            </a:r>
          </a:p>
          <a:p>
            <a:r>
              <a:rPr lang="en-US" dirty="0">
                <a:solidFill>
                  <a:srgbClr val="A44114"/>
                </a:solidFill>
              </a:rPr>
              <a:t> -  </a:t>
            </a:r>
            <a:r>
              <a:rPr lang="en-US" dirty="0"/>
              <a:t>Probability theory (Bayesian Theory: most </a:t>
            </a:r>
          </a:p>
          <a:p>
            <a:r>
              <a:rPr lang="en-US" dirty="0"/>
              <a:t>     common)  </a:t>
            </a:r>
          </a:p>
          <a:p>
            <a:pPr marL="502920" indent="-457200">
              <a:buFontTx/>
              <a:buChar char="-"/>
            </a:pPr>
            <a:r>
              <a:rPr lang="en-US" dirty="0"/>
              <a:t>Fuzzy logic  </a:t>
            </a:r>
          </a:p>
          <a:p>
            <a:pPr marL="502920" indent="-457200">
              <a:buFontTx/>
              <a:buChar char="-"/>
            </a:pPr>
            <a:r>
              <a:rPr lang="en-US" dirty="0"/>
              <a:t>Bayesian Network</a:t>
            </a:r>
          </a:p>
          <a:p>
            <a:r>
              <a:rPr lang="en-US" dirty="0"/>
              <a:t>-   Dempster-Shafer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7C8C1-160D-05E6-FACB-D3155FB7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64862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3E2CC-2D32-C09D-9110-5AC848C9F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537369"/>
          </a:xfrm>
        </p:spPr>
        <p:txBody>
          <a:bodyPr/>
          <a:lstStyle/>
          <a:p>
            <a:r>
              <a:rPr lang="en-US" dirty="0"/>
              <a:t> Bayesian Theory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88E09-6154-CD3D-E4D8-1D025394A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914400"/>
            <a:ext cx="8621486" cy="5715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Bayesian theory provides a probabilistic framework for updating beliefs based on new evidence.</a:t>
            </a:r>
          </a:p>
          <a:p>
            <a:endParaRPr lang="en-US" dirty="0"/>
          </a:p>
          <a:p>
            <a:r>
              <a:rPr lang="en-US" b="1" dirty="0">
                <a:solidFill>
                  <a:srgbClr val="A44114"/>
                </a:solidFill>
              </a:rPr>
              <a:t>Bayes’ Theorem</a:t>
            </a:r>
            <a:r>
              <a:rPr lang="en-US" b="1" dirty="0"/>
              <a:t>:    </a:t>
            </a:r>
            <a:r>
              <a:rPr lang="en-US" dirty="0"/>
              <a:t>P(H|E) = (P(E|H) * P(H)) / P(E)    Where:    - H = hypothesis    - E = evidence   </a:t>
            </a:r>
          </a:p>
          <a:p>
            <a:r>
              <a:rPr lang="en-US" dirty="0"/>
              <a:t> - P(H|E) = probability of H given E (posterior) </a:t>
            </a:r>
          </a:p>
          <a:p>
            <a:r>
              <a:rPr lang="en-US" dirty="0"/>
              <a:t> - P(H) = prior belief about H  </a:t>
            </a:r>
          </a:p>
          <a:p>
            <a:r>
              <a:rPr lang="en-US" dirty="0"/>
              <a:t>  - P(E|H) = likelihood of E given H   </a:t>
            </a:r>
          </a:p>
          <a:p>
            <a:r>
              <a:rPr lang="en-US" dirty="0"/>
              <a:t> - P(E) = overall probability of E  </a:t>
            </a:r>
          </a:p>
          <a:p>
            <a:r>
              <a:rPr lang="en-US" b="1" dirty="0"/>
              <a:t>   P(E) = P(E|H) X P(H) + P(E|~H) x P(~H)</a:t>
            </a:r>
          </a:p>
          <a:p>
            <a:r>
              <a:rPr lang="en-US" dirty="0">
                <a:solidFill>
                  <a:srgbClr val="A44114"/>
                </a:solidFill>
              </a:rPr>
              <a:t>In AI, it’s used for</a:t>
            </a:r>
            <a:r>
              <a:rPr lang="en-US" dirty="0"/>
              <a:t>: </a:t>
            </a:r>
          </a:p>
          <a:p>
            <a:pPr marL="502920" indent="-457200">
              <a:buFontTx/>
              <a:buChar char="-"/>
            </a:pPr>
            <a:r>
              <a:rPr lang="en-US" dirty="0"/>
              <a:t> Updating predictions as new data arrives. </a:t>
            </a:r>
          </a:p>
          <a:p>
            <a:pPr marL="502920" indent="-457200">
              <a:buFontTx/>
              <a:buChar char="-"/>
            </a:pPr>
            <a:r>
              <a:rPr lang="en-US" dirty="0"/>
              <a:t> Inference in uncertain environments.</a:t>
            </a:r>
          </a:p>
          <a:p>
            <a:pPr marL="502920" indent="-457200">
              <a:buFontTx/>
              <a:buChar char="-"/>
            </a:pPr>
            <a:r>
              <a:rPr lang="en-US" dirty="0"/>
              <a:t> Learning from data probabilistically.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66930-9EA4-BB2E-B7C0-C05DCEC2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93411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72A10-5799-C7C1-748F-051FFB96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81000"/>
            <a:ext cx="7696200" cy="457200"/>
          </a:xfrm>
        </p:spPr>
        <p:txBody>
          <a:bodyPr/>
          <a:lstStyle/>
          <a:p>
            <a:br>
              <a:rPr lang="en-US" dirty="0"/>
            </a:br>
            <a:r>
              <a:rPr lang="en-US" sz="2800" dirty="0"/>
              <a:t>Bayesian Theory in AI (Some applications)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17AF74-88A6-0EC9-8223-466270EEB2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5057" y="1160106"/>
                <a:ext cx="8534400" cy="54864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This method is used in:</a:t>
                </a:r>
              </a:p>
              <a:p>
                <a:pPr marL="502920" indent="-457200">
                  <a:buFontTx/>
                  <a:buChar char="-"/>
                </a:pPr>
                <a:r>
                  <a:rPr lang="en-US" b="1" dirty="0">
                    <a:solidFill>
                      <a:srgbClr val="FF0000"/>
                    </a:solidFill>
                  </a:rPr>
                  <a:t>Gmail and other mail providers</a:t>
                </a:r>
              </a:p>
              <a:p>
                <a:endParaRPr lang="en-US" dirty="0"/>
              </a:p>
              <a:p>
                <a:r>
                  <a:rPr lang="en-US" dirty="0"/>
                  <a:t>The system calculates the probability that an email is spam based on the words it contains.</a:t>
                </a:r>
              </a:p>
              <a:p>
                <a:r>
                  <a:rPr lang="en-US" dirty="0"/>
                  <a:t>Using Bayes’ Theorem: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B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1"/>
                            <m:t>Spam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lang="en-US" i="1"/>
                            <m:t>Words</m:t>
                          </m:r>
                        </m:e>
                      </m:d>
                      <m:r>
                        <a:rPr lang="ar-BH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B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BH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B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i="1"/>
                                <m:t>Words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Spam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BH" i="1"/>
                            <m:t> </m:t>
                          </m:r>
                          <m:r>
                            <a:rPr lang="ar-BH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B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i="1"/>
                                <m:t>Spam</m:t>
                              </m:r>
                            </m:e>
                          </m:d>
                        </m:num>
                        <m:den>
                          <m:r>
                            <a:rPr lang="ar-BH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B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i="1"/>
                                <m:t>Words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BH" b="0" dirty="0"/>
              </a:p>
              <a:p>
                <a:r>
                  <a:rPr lang="en-US" b="1" dirty="0">
                    <a:solidFill>
                      <a:srgbClr val="00B050"/>
                    </a:solidFill>
                  </a:rPr>
                  <a:t>If this probability exceeds a threshold, the email is classified as spam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Example:</a:t>
                </a:r>
              </a:p>
              <a:p>
                <a:br>
                  <a:rPr lang="en-US" dirty="0"/>
                </a:br>
                <a:r>
                  <a:rPr lang="en-US" dirty="0"/>
                  <a:t>Words like “win,” “lottery,” or “urgent” increase the probability of being spam.</a:t>
                </a:r>
              </a:p>
              <a:p>
                <a:endParaRPr lang="en-US" dirty="0"/>
              </a:p>
              <a:p>
                <a:endParaRPr lang="en-US" b="1" dirty="0">
                  <a:solidFill>
                    <a:srgbClr val="FF0000"/>
                  </a:solidFill>
                </a:endParaRPr>
              </a:p>
              <a:p>
                <a:pPr marL="502920" indent="-457200">
                  <a:buFontTx/>
                  <a:buChar char="-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17AF74-88A6-0EC9-8223-466270EEB2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5057" y="1160106"/>
                <a:ext cx="8534400" cy="5486400"/>
              </a:xfrm>
              <a:blipFill>
                <a:blip r:embed="rId2"/>
                <a:stretch>
                  <a:fillRect l="-857" t="-2222" r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81090-2D01-2EB8-0A8C-5E18D126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50095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35824-9F45-BA81-2C50-E0889388D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457200"/>
          </a:xfrm>
        </p:spPr>
        <p:txBody>
          <a:bodyPr/>
          <a:lstStyle/>
          <a:p>
            <a:r>
              <a:rPr lang="en-US" sz="2800" dirty="0"/>
              <a:t>Bayesian Theory in AI (Some applications)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5D0D89-0177-B3D5-AAB6-BAC4BA3048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914400"/>
                <a:ext cx="8839200" cy="5791200"/>
              </a:xfrm>
            </p:spPr>
            <p:txBody>
              <a:bodyPr>
                <a:normAutofit fontScale="70000" lnSpcReduction="20000"/>
              </a:bodyPr>
              <a:lstStyle/>
              <a:p>
                <a:pPr marL="502920" indent="-457200">
                  <a:buFontTx/>
                  <a:buChar char="-"/>
                </a:pPr>
                <a:r>
                  <a:rPr lang="en-US" sz="3800" b="1" dirty="0">
                    <a:solidFill>
                      <a:srgbClr val="FF0000"/>
                    </a:solidFill>
                  </a:rPr>
                  <a:t>Text Classification</a:t>
                </a:r>
              </a:p>
              <a:p>
                <a:r>
                  <a:rPr lang="en-US" sz="2900" dirty="0">
                    <a:solidFill>
                      <a:srgbClr val="FF0000"/>
                    </a:solidFill>
                  </a:rPr>
                  <a:t>Sentiment Analysis: </a:t>
                </a:r>
                <a:r>
                  <a:rPr lang="en-US" sz="2900" dirty="0"/>
                  <a:t>Determining if a product review </a:t>
                </a:r>
                <a:r>
                  <a:rPr lang="en-US" sz="2900" dirty="0">
                    <a:solidFill>
                      <a:srgbClr val="C00000"/>
                    </a:solidFill>
                  </a:rPr>
                  <a:t>is positive or negative.</a:t>
                </a:r>
              </a:p>
              <a:p>
                <a:r>
                  <a:rPr lang="en-US" sz="2900" dirty="0">
                    <a:solidFill>
                      <a:srgbClr val="FF0000"/>
                    </a:solidFill>
                  </a:rPr>
                  <a:t>News Categorization</a:t>
                </a:r>
                <a:r>
                  <a:rPr lang="en-US" sz="2900" dirty="0"/>
                  <a:t>: Labeling news articles as </a:t>
                </a:r>
                <a:r>
                  <a:rPr lang="en-US" sz="2900" dirty="0">
                    <a:solidFill>
                      <a:srgbClr val="C00000"/>
                    </a:solidFill>
                  </a:rPr>
                  <a:t>sports, politics, or entertainment.</a:t>
                </a:r>
              </a:p>
              <a:p>
                <a:endParaRPr lang="en-US" sz="2900" dirty="0">
                  <a:solidFill>
                    <a:srgbClr val="C00000"/>
                  </a:solidFill>
                </a:endParaRPr>
              </a:p>
              <a:p>
                <a:endParaRPr lang="en-US" sz="2000" dirty="0">
                  <a:solidFill>
                    <a:srgbClr val="C00000"/>
                  </a:solidFill>
                </a:endParaRPr>
              </a:p>
              <a:p>
                <a:pPr marL="502920" indent="-457200">
                  <a:buFontTx/>
                  <a:buChar char="-"/>
                </a:pPr>
                <a:r>
                  <a:rPr lang="en-US" sz="3800" b="1" dirty="0">
                    <a:solidFill>
                      <a:srgbClr val="FF0000"/>
                    </a:solidFill>
                  </a:rPr>
                  <a:t> Medical diagnostics</a:t>
                </a:r>
              </a:p>
              <a:p>
                <a:r>
                  <a:rPr lang="en-US" b="1" dirty="0"/>
                  <a:t>Example:</a:t>
                </a:r>
                <a:br>
                  <a:rPr lang="en-US" dirty="0"/>
                </a:br>
                <a:r>
                  <a:rPr lang="en-US" dirty="0"/>
                  <a:t>If a test result is positive, the system updates: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BH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1"/>
                            <m:t>Disease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lang="en-US" i="1"/>
                            <m:t>Test</m:t>
                          </m:r>
                        </m:e>
                      </m:d>
                      <m:r>
                        <a:rPr lang="ar-BH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B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BH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B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i="1"/>
                                <m:t>Test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Disease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BH" i="1"/>
                            <m:t> </m:t>
                          </m:r>
                          <m:r>
                            <a:rPr lang="ar-BH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B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i="1"/>
                                <m:t>Disease</m:t>
                              </m:r>
                            </m:e>
                          </m:d>
                        </m:num>
                        <m:den>
                          <m:r>
                            <a:rPr lang="ar-BH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BH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i="1"/>
                                <m:t>Test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BH" b="0" dirty="0"/>
              </a:p>
              <a:p>
                <a:endParaRPr lang="en-US" b="1" dirty="0"/>
              </a:p>
              <a:p>
                <a:r>
                  <a:rPr lang="en-US" b="1" dirty="0"/>
                  <a:t>Practical Use:</a:t>
                </a:r>
                <a:endParaRPr lang="en-US" dirty="0"/>
              </a:p>
              <a:p>
                <a:r>
                  <a:rPr lang="en-US" dirty="0">
                    <a:solidFill>
                      <a:srgbClr val="00B0F0"/>
                    </a:solidFill>
                  </a:rPr>
                  <a:t>Decision support systems </a:t>
                </a:r>
                <a:r>
                  <a:rPr lang="en-US" dirty="0"/>
                  <a:t>for doctors (e.g., diagnosing cancer, diabetes, or heart disease).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00B0F0"/>
                    </a:solidFill>
                  </a:rPr>
                  <a:t>Helps avoid overconfidence</a:t>
                </a:r>
                <a:r>
                  <a:rPr lang="en-US" dirty="0"/>
                  <a:t> by showing the </a:t>
                </a:r>
                <a:r>
                  <a:rPr lang="en-US" b="1" dirty="0"/>
                  <a:t>degree of belief</a:t>
                </a:r>
                <a:r>
                  <a:rPr lang="en-US" dirty="0"/>
                  <a:t> (probability) in each diagnosis.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5D0D89-0177-B3D5-AAB6-BAC4BA3048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914400"/>
                <a:ext cx="8839200" cy="5791200"/>
              </a:xfrm>
              <a:blipFill>
                <a:blip r:embed="rId2"/>
                <a:stretch>
                  <a:fillRect l="-1103" t="-3474" b="-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ACEBF-CAA4-6A48-9403-B25C40AA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00029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4F18FA8-BDDB-4CAD-BE68-5C34DAADB9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656" y="196157"/>
            <a:ext cx="8807344" cy="1077841"/>
          </a:xfrm>
        </p:spPr>
        <p:txBody>
          <a:bodyPr/>
          <a:lstStyle/>
          <a:p>
            <a:pPr eaLnBrk="1" hangingPunct="1"/>
            <a:r>
              <a:rPr lang="en-US" altLang="en-US" b="0"/>
              <a:t>A very simple dataset – </a:t>
            </a:r>
            <a:br>
              <a:rPr lang="en-US" altLang="en-US" b="0"/>
            </a:br>
            <a:r>
              <a:rPr lang="en-US" altLang="en-US" b="0"/>
              <a:t>one field / one class</a:t>
            </a:r>
            <a:r>
              <a:rPr lang="en-US" altLang="en-US"/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B61337-E09B-410C-A57E-438C2F94289E}"/>
              </a:ext>
            </a:extLst>
          </p:cNvPr>
          <p:cNvGraphicFramePr>
            <a:graphicFrameLocks noGrp="1"/>
          </p:cNvGraphicFramePr>
          <p:nvPr/>
        </p:nvGraphicFramePr>
        <p:xfrm>
          <a:off x="4637159" y="1864502"/>
          <a:ext cx="3164290" cy="3840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2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5574"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P34 level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Prostate</a:t>
                      </a:r>
                    </a:p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cancer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E77BF23-082F-45F9-94B3-2FA2F096F2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656" y="196157"/>
            <a:ext cx="8807344" cy="1077841"/>
          </a:xfrm>
        </p:spPr>
        <p:txBody>
          <a:bodyPr/>
          <a:lstStyle/>
          <a:p>
            <a:pPr eaLnBrk="1" hangingPunct="1"/>
            <a:r>
              <a:rPr lang="en-US" altLang="en-US" b="0"/>
              <a:t>A very simple dataset – </a:t>
            </a:r>
            <a:br>
              <a:rPr lang="en-US" altLang="en-US" b="0"/>
            </a:br>
            <a:r>
              <a:rPr lang="en-US" altLang="en-US" b="0"/>
              <a:t>one field / one class</a:t>
            </a:r>
            <a:r>
              <a:rPr lang="en-US" altLang="en-US"/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C5D2B3-C8E0-4B66-B316-07808AE753EB}"/>
              </a:ext>
            </a:extLst>
          </p:cNvPr>
          <p:cNvGraphicFramePr>
            <a:graphicFrameLocks noGrp="1"/>
          </p:cNvGraphicFramePr>
          <p:nvPr/>
        </p:nvGraphicFramePr>
        <p:xfrm>
          <a:off x="4637159" y="1864502"/>
          <a:ext cx="3164290" cy="3840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2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5574"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P34 level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Prostate cancer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377" name="TextBox 4">
            <a:extLst>
              <a:ext uri="{FF2B5EF4-FFF2-40B4-BE49-F238E27FC236}">
                <a16:creationId xmlns:a16="http://schemas.microsoft.com/office/drawing/2014/main" id="{CD91A2A3-9A1C-45EB-AB92-861DDCC6A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656" y="2907049"/>
            <a:ext cx="4046301" cy="2934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A new patient has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a blood test – his P34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level is HIGH.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 what is our best guess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 for prostate cancer?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6C8B4C1-764F-4937-80B2-4EFA952FAA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656" y="196157"/>
            <a:ext cx="8807344" cy="1077841"/>
          </a:xfrm>
        </p:spPr>
        <p:txBody>
          <a:bodyPr/>
          <a:lstStyle/>
          <a:p>
            <a:pPr eaLnBrk="1" hangingPunct="1"/>
            <a:r>
              <a:rPr lang="en-US" altLang="en-US" b="0"/>
              <a:t>A very simple dataset – </a:t>
            </a:r>
            <a:br>
              <a:rPr lang="en-US" altLang="en-US" b="0"/>
            </a:br>
            <a:r>
              <a:rPr lang="en-US" altLang="en-US" b="0"/>
              <a:t>one field / one class</a:t>
            </a:r>
            <a:r>
              <a:rPr lang="en-US" altLang="en-US"/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138176-4376-4115-9443-5683C44BB6EC}"/>
              </a:ext>
            </a:extLst>
          </p:cNvPr>
          <p:cNvGraphicFramePr>
            <a:graphicFrameLocks noGrp="1"/>
          </p:cNvGraphicFramePr>
          <p:nvPr/>
        </p:nvGraphicFramePr>
        <p:xfrm>
          <a:off x="4637159" y="1864502"/>
          <a:ext cx="3164290" cy="3840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2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5574"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P34 level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Prostate cancer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401" name="TextBox 4">
            <a:extLst>
              <a:ext uri="{FF2B5EF4-FFF2-40B4-BE49-F238E27FC236}">
                <a16:creationId xmlns:a16="http://schemas.microsoft.com/office/drawing/2014/main" id="{66512C79-F2B7-4DE6-BA17-0B901F2EE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656" y="2907049"/>
            <a:ext cx="3441007" cy="1986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It’s useful to know: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 P(cancer = Y)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AD48421-8E05-4F1E-820B-58982C43B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656" y="196157"/>
            <a:ext cx="8807344" cy="1077841"/>
          </a:xfrm>
        </p:spPr>
        <p:txBody>
          <a:bodyPr/>
          <a:lstStyle/>
          <a:p>
            <a:pPr eaLnBrk="1" hangingPunct="1"/>
            <a:r>
              <a:rPr lang="en-US" altLang="en-US" b="0"/>
              <a:t>A very simple dataset – </a:t>
            </a:r>
            <a:br>
              <a:rPr lang="en-US" altLang="en-US" b="0"/>
            </a:br>
            <a:r>
              <a:rPr lang="en-US" altLang="en-US" b="0"/>
              <a:t>one field / one class</a:t>
            </a:r>
            <a:r>
              <a:rPr lang="en-US" altLang="en-US"/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3B76F5-C88F-4683-80EC-D955F9BD6F65}"/>
              </a:ext>
            </a:extLst>
          </p:cNvPr>
          <p:cNvGraphicFramePr>
            <a:graphicFrameLocks noGrp="1"/>
          </p:cNvGraphicFramePr>
          <p:nvPr/>
        </p:nvGraphicFramePr>
        <p:xfrm>
          <a:off x="4637159" y="1864502"/>
          <a:ext cx="3164290" cy="3840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2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5574"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P34 level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Prostate cancer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6425" name="TextBox 4">
            <a:extLst>
              <a:ext uri="{FF2B5EF4-FFF2-40B4-BE49-F238E27FC236}">
                <a16:creationId xmlns:a16="http://schemas.microsoft.com/office/drawing/2014/main" id="{0BE684C9-26A3-4D1F-869A-E0E2FAD5D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656" y="2907049"/>
            <a:ext cx="3804247" cy="38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It’s useful to know: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 P(cancer = Y)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- on basis of this tiny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   dataset,  P(c = Y)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   is 5/10 = 0.5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BA14333-49B0-413E-8AC9-2D56F2279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656" y="196157"/>
            <a:ext cx="8807344" cy="1077841"/>
          </a:xfrm>
        </p:spPr>
        <p:txBody>
          <a:bodyPr/>
          <a:lstStyle/>
          <a:p>
            <a:pPr eaLnBrk="1" hangingPunct="1"/>
            <a:r>
              <a:rPr lang="en-US" altLang="en-US" b="0"/>
              <a:t>A very simple dataset – </a:t>
            </a:r>
            <a:br>
              <a:rPr lang="en-US" altLang="en-US" b="0"/>
            </a:br>
            <a:r>
              <a:rPr lang="en-US" altLang="en-US" b="0"/>
              <a:t>one field / one class</a:t>
            </a:r>
            <a:r>
              <a:rPr lang="en-US" altLang="en-US"/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1F151C5-C458-4A29-A35B-B1583A2B84ED}"/>
              </a:ext>
            </a:extLst>
          </p:cNvPr>
          <p:cNvGraphicFramePr>
            <a:graphicFrameLocks noGrp="1"/>
          </p:cNvGraphicFramePr>
          <p:nvPr/>
        </p:nvGraphicFramePr>
        <p:xfrm>
          <a:off x="4637159" y="1864502"/>
          <a:ext cx="3164290" cy="3840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2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5574"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P34 level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Prostate cancer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7449" name="TextBox 4">
            <a:extLst>
              <a:ext uri="{FF2B5EF4-FFF2-40B4-BE49-F238E27FC236}">
                <a16:creationId xmlns:a16="http://schemas.microsoft.com/office/drawing/2014/main" id="{1F1ADF43-286D-48A5-A5FD-191ADEB21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656" y="2907049"/>
            <a:ext cx="3804247" cy="38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It’s useful to know: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 P(cancer = Y)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- on basis of this tiny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   dataset,  P(c = Y)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   is 5/10 = 0.5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7450" name="TextBox 1">
            <a:extLst>
              <a:ext uri="{FF2B5EF4-FFF2-40B4-BE49-F238E27FC236}">
                <a16:creationId xmlns:a16="http://schemas.microsoft.com/office/drawing/2014/main" id="{BD33FA7A-73EB-4C2B-9D8C-325748E14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53" y="5904369"/>
            <a:ext cx="8459432" cy="513346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736">
                <a:latin typeface="Times New Roman" panose="02020603050405020304" pitchFamily="18" charset="0"/>
              </a:rPr>
              <a:t>So, with </a:t>
            </a:r>
            <a:r>
              <a:rPr lang="en-GB" altLang="en-US" sz="2736" b="1">
                <a:latin typeface="Times New Roman" panose="02020603050405020304" pitchFamily="18" charset="0"/>
              </a:rPr>
              <a:t>no other info</a:t>
            </a:r>
            <a:r>
              <a:rPr lang="en-GB" altLang="en-US" sz="2736">
                <a:latin typeface="Times New Roman" panose="02020603050405020304" pitchFamily="18" charset="0"/>
              </a:rPr>
              <a:t> you’d expect P(cancer=Y) to be 0.5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CC3329-6BF6-4CAF-BECC-963C336AAFB5}"/>
              </a:ext>
            </a:extLst>
          </p:cNvPr>
          <p:cNvSpPr/>
          <p:nvPr/>
        </p:nvSpPr>
        <p:spPr bwMode="auto">
          <a:xfrm>
            <a:off x="4546208" y="1799343"/>
            <a:ext cx="1850248" cy="3974708"/>
          </a:xfrm>
          <a:prstGeom prst="rect">
            <a:avLst/>
          </a:prstGeom>
          <a:solidFill>
            <a:schemeClr val="bg1">
              <a:lumMod val="50000"/>
              <a:alpha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891859">
              <a:defRPr/>
            </a:pPr>
            <a:endParaRPr lang="en-GB" sz="2223">
              <a:solidFill>
                <a:srgbClr val="C6D8D8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57F1FFD-CACC-4DF1-B2ED-1A66EDE87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656" y="196157"/>
            <a:ext cx="8807344" cy="1077841"/>
          </a:xfrm>
        </p:spPr>
        <p:txBody>
          <a:bodyPr/>
          <a:lstStyle/>
          <a:p>
            <a:pPr eaLnBrk="1" hangingPunct="1"/>
            <a:r>
              <a:rPr lang="en-US" altLang="en-US" b="0"/>
              <a:t>A very simple dataset – </a:t>
            </a:r>
            <a:br>
              <a:rPr lang="en-US" altLang="en-US" b="0"/>
            </a:br>
            <a:r>
              <a:rPr lang="en-US" altLang="en-US" b="0"/>
              <a:t>one field / one class</a:t>
            </a:r>
            <a:r>
              <a:rPr lang="en-US" altLang="en-US"/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9A3EDD-2A6D-4C9B-9169-DB688EBCB33D}"/>
              </a:ext>
            </a:extLst>
          </p:cNvPr>
          <p:cNvGraphicFramePr>
            <a:graphicFrameLocks noGrp="1"/>
          </p:cNvGraphicFramePr>
          <p:nvPr/>
        </p:nvGraphicFramePr>
        <p:xfrm>
          <a:off x="4637159" y="1864502"/>
          <a:ext cx="3164290" cy="3840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2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5574"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P34 level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Prostate cancer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473" name="TextBox 4">
            <a:extLst>
              <a:ext uri="{FF2B5EF4-FFF2-40B4-BE49-F238E27FC236}">
                <a16:creationId xmlns:a16="http://schemas.microsoft.com/office/drawing/2014/main" id="{C67E3000-9AF1-493E-A93C-1B7671FF5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07049"/>
            <a:ext cx="4514569" cy="3407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But we know that  P34 =H,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so actually we want: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</a:t>
            </a:r>
            <a:r>
              <a:rPr lang="en-GB" altLang="en-US" sz="3078" i="1">
                <a:latin typeface="Times New Roman" panose="02020603050405020304" pitchFamily="18" charset="0"/>
              </a:rPr>
              <a:t>P</a:t>
            </a:r>
            <a:r>
              <a:rPr lang="en-GB" altLang="en-US" sz="3078">
                <a:latin typeface="Times New Roman" panose="02020603050405020304" pitchFamily="18" charset="0"/>
              </a:rPr>
              <a:t>(cancer=Y | P34 = H)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- the prob that cancer is Y,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</a:t>
            </a:r>
            <a:r>
              <a:rPr lang="en-GB" altLang="en-US" sz="3078" i="1">
                <a:latin typeface="Times New Roman" panose="02020603050405020304" pitchFamily="18" charset="0"/>
              </a:rPr>
              <a:t>given that</a:t>
            </a:r>
            <a:r>
              <a:rPr lang="en-GB" altLang="en-US" sz="3078">
                <a:latin typeface="Times New Roman" panose="02020603050405020304" pitchFamily="18" charset="0"/>
              </a:rPr>
              <a:t>  P34 is high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1C62F45-1F55-4B9E-AA09-3B8F644BB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656" y="196157"/>
            <a:ext cx="8807344" cy="1077841"/>
          </a:xfrm>
        </p:spPr>
        <p:txBody>
          <a:bodyPr/>
          <a:lstStyle/>
          <a:p>
            <a:pPr eaLnBrk="1" hangingPunct="1"/>
            <a:r>
              <a:rPr lang="en-US" altLang="en-US" b="0"/>
              <a:t>A very simple dataset – </a:t>
            </a:r>
            <a:br>
              <a:rPr lang="en-US" altLang="en-US" b="0"/>
            </a:br>
            <a:r>
              <a:rPr lang="en-US" altLang="en-US" b="0"/>
              <a:t>one field / one class</a:t>
            </a:r>
            <a:r>
              <a:rPr lang="en-US" altLang="en-US"/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8A0FC5-41C3-4DE4-BDD9-AA2EE496B949}"/>
              </a:ext>
            </a:extLst>
          </p:cNvPr>
          <p:cNvGraphicFramePr>
            <a:graphicFrameLocks noGrp="1"/>
          </p:cNvGraphicFramePr>
          <p:nvPr/>
        </p:nvGraphicFramePr>
        <p:xfrm>
          <a:off x="4637159" y="1864502"/>
          <a:ext cx="3164290" cy="3840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2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5574"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P34 level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Prostate cancer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9497" name="TextBox 4">
            <a:extLst>
              <a:ext uri="{FF2B5EF4-FFF2-40B4-BE49-F238E27FC236}">
                <a16:creationId xmlns:a16="http://schemas.microsoft.com/office/drawing/2014/main" id="{BABC420C-1975-4ACF-866A-B4597CA87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03866"/>
            <a:ext cx="4514569" cy="5302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</a:t>
            </a:r>
            <a:r>
              <a:rPr lang="en-GB" altLang="en-US" sz="3078" i="1">
                <a:latin typeface="Times New Roman" panose="02020603050405020304" pitchFamily="18" charset="0"/>
              </a:rPr>
              <a:t>P</a:t>
            </a:r>
            <a:r>
              <a:rPr lang="en-GB" altLang="en-US" sz="3078">
                <a:latin typeface="Times New Roman" panose="02020603050405020304" pitchFamily="18" charset="0"/>
              </a:rPr>
              <a:t>(cancer=Y | </a:t>
            </a:r>
            <a:r>
              <a:rPr lang="en-GB" altLang="en-US" sz="3078" b="1">
                <a:solidFill>
                  <a:srgbClr val="92D050"/>
                </a:solidFill>
                <a:latin typeface="Times New Roman" panose="02020603050405020304" pitchFamily="18" charset="0"/>
              </a:rPr>
              <a:t>P34 = H</a:t>
            </a:r>
            <a:r>
              <a:rPr lang="en-GB" altLang="en-US" sz="3078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- the prob that cancer is Y,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</a:t>
            </a:r>
            <a:r>
              <a:rPr lang="en-GB" altLang="en-US" sz="3078" b="1" i="1">
                <a:solidFill>
                  <a:srgbClr val="92D050"/>
                </a:solidFill>
                <a:latin typeface="Times New Roman" panose="02020603050405020304" pitchFamily="18" charset="0"/>
              </a:rPr>
              <a:t>given that</a:t>
            </a:r>
            <a:r>
              <a:rPr lang="en-GB" altLang="en-US" sz="3078" b="1">
                <a:solidFill>
                  <a:srgbClr val="92D050"/>
                </a:solidFill>
                <a:latin typeface="Times New Roman" panose="02020603050405020304" pitchFamily="18" charset="0"/>
              </a:rPr>
              <a:t>  P34 is high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 - this seems to be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   2/3  = ~  0.67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B92053A-0565-4EBD-8970-023B5307E1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656" y="196157"/>
            <a:ext cx="8807344" cy="1077841"/>
          </a:xfrm>
        </p:spPr>
        <p:txBody>
          <a:bodyPr/>
          <a:lstStyle/>
          <a:p>
            <a:pPr eaLnBrk="1" hangingPunct="1"/>
            <a:r>
              <a:rPr lang="en-US" altLang="en-US" b="0"/>
              <a:t>A very simple dataset – </a:t>
            </a:r>
            <a:br>
              <a:rPr lang="en-US" altLang="en-US" b="0"/>
            </a:br>
            <a:r>
              <a:rPr lang="en-US" altLang="en-US" b="0"/>
              <a:t>one field / one class</a:t>
            </a:r>
            <a:r>
              <a:rPr lang="en-US" altLang="en-US"/>
              <a:t>	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274F16-F7B2-40F9-90D1-A60310CC357F}"/>
              </a:ext>
            </a:extLst>
          </p:cNvPr>
          <p:cNvGraphicFramePr>
            <a:graphicFrameLocks noGrp="1"/>
          </p:cNvGraphicFramePr>
          <p:nvPr/>
        </p:nvGraphicFramePr>
        <p:xfrm>
          <a:off x="4637159" y="1864502"/>
          <a:ext cx="3164290" cy="3840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2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5574"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P34 level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Prostate cancer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0521" name="TextBox 4">
            <a:extLst>
              <a:ext uri="{FF2B5EF4-FFF2-40B4-BE49-F238E27FC236}">
                <a16:creationId xmlns:a16="http://schemas.microsoft.com/office/drawing/2014/main" id="{0D2955B7-7CAE-4C58-B027-FCC5CE7C3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03866"/>
            <a:ext cx="4715650" cy="4828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So we have: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</a:t>
            </a:r>
            <a:r>
              <a:rPr lang="en-GB" altLang="en-US" sz="3078" i="1">
                <a:latin typeface="Times New Roman" panose="02020603050405020304" pitchFamily="18" charset="0"/>
              </a:rPr>
              <a:t>P</a:t>
            </a:r>
            <a:r>
              <a:rPr lang="en-GB" altLang="en-US" sz="3078">
                <a:latin typeface="Times New Roman" panose="02020603050405020304" pitchFamily="18" charset="0"/>
              </a:rPr>
              <a:t> ( c=Y | </a:t>
            </a:r>
            <a:r>
              <a:rPr lang="en-GB" altLang="en-US" sz="3078" b="1">
                <a:solidFill>
                  <a:srgbClr val="92D050"/>
                </a:solidFill>
                <a:latin typeface="Times New Roman" panose="02020603050405020304" pitchFamily="18" charset="0"/>
              </a:rPr>
              <a:t>P34 = H</a:t>
            </a:r>
            <a:r>
              <a:rPr lang="en-GB" altLang="en-US" sz="3078">
                <a:latin typeface="Times New Roman" panose="02020603050405020304" pitchFamily="18" charset="0"/>
              </a:rPr>
              <a:t>) = 0.67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</a:t>
            </a:r>
            <a:r>
              <a:rPr lang="en-GB" altLang="en-US" sz="3078" i="1">
                <a:latin typeface="Times New Roman" panose="02020603050405020304" pitchFamily="18" charset="0"/>
              </a:rPr>
              <a:t>P </a:t>
            </a:r>
            <a:r>
              <a:rPr lang="en-GB" altLang="en-US" sz="3078">
                <a:latin typeface="Times New Roman" panose="02020603050405020304" pitchFamily="18" charset="0"/>
              </a:rPr>
              <a:t>( c =N | </a:t>
            </a:r>
            <a:r>
              <a:rPr lang="en-GB" altLang="en-US" sz="3078" b="1">
                <a:solidFill>
                  <a:srgbClr val="92D050"/>
                </a:solidFill>
                <a:latin typeface="Times New Roman" panose="02020603050405020304" pitchFamily="18" charset="0"/>
              </a:rPr>
              <a:t>P34 = H</a:t>
            </a:r>
            <a:r>
              <a:rPr lang="en-GB" altLang="en-US" sz="3078">
                <a:latin typeface="Times New Roman" panose="02020603050405020304" pitchFamily="18" charset="0"/>
              </a:rPr>
              <a:t>) = 0.33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The class value with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highest probability is our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best guess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D182348-FC64-40AA-B452-11E40C4BB9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656" y="196157"/>
            <a:ext cx="8807344" cy="1077841"/>
          </a:xfrm>
        </p:spPr>
        <p:txBody>
          <a:bodyPr/>
          <a:lstStyle/>
          <a:p>
            <a:pPr eaLnBrk="1" hangingPunct="1"/>
            <a:r>
              <a:rPr lang="en-US" altLang="en-US" b="0"/>
              <a:t>In general we may have any number of class values</a:t>
            </a:r>
            <a:endParaRPr lang="en-US" alt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266DAB-8413-4180-9354-532351CE3D9D}"/>
              </a:ext>
            </a:extLst>
          </p:cNvPr>
          <p:cNvGraphicFramePr>
            <a:graphicFrameLocks noGrp="1"/>
          </p:cNvGraphicFramePr>
          <p:nvPr/>
        </p:nvGraphicFramePr>
        <p:xfrm>
          <a:off x="4637159" y="1864502"/>
          <a:ext cx="3164290" cy="3840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2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5574"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P34 level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Prostate cancer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b="1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Maybe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Medium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 dirty="0">
                          <a:solidFill>
                            <a:schemeClr val="tx2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545" name="TextBox 4">
            <a:extLst>
              <a:ext uri="{FF2B5EF4-FFF2-40B4-BE49-F238E27FC236}">
                <a16:creationId xmlns:a16="http://schemas.microsoft.com/office/drawing/2014/main" id="{BDC7D0C9-4C31-4BBF-9570-D33125B95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03866"/>
            <a:ext cx="4993290" cy="5302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suppose again we know that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P34 is High;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here we have: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</a:t>
            </a:r>
            <a:r>
              <a:rPr lang="en-GB" altLang="en-US" sz="3078" i="1">
                <a:latin typeface="Times New Roman" panose="02020603050405020304" pitchFamily="18" charset="0"/>
              </a:rPr>
              <a:t>P</a:t>
            </a:r>
            <a:r>
              <a:rPr lang="en-GB" altLang="en-US" sz="3078">
                <a:latin typeface="Times New Roman" panose="02020603050405020304" pitchFamily="18" charset="0"/>
              </a:rPr>
              <a:t> ( c=Y | </a:t>
            </a:r>
            <a:r>
              <a:rPr lang="en-GB" altLang="en-US" sz="3078" b="1">
                <a:solidFill>
                  <a:srgbClr val="92D050"/>
                </a:solidFill>
                <a:latin typeface="Times New Roman" panose="02020603050405020304" pitchFamily="18" charset="0"/>
              </a:rPr>
              <a:t>P34 = H</a:t>
            </a:r>
            <a:r>
              <a:rPr lang="en-GB" altLang="en-US" sz="3078">
                <a:latin typeface="Times New Roman" panose="02020603050405020304" pitchFamily="18" charset="0"/>
              </a:rPr>
              <a:t>) = 0.5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</a:t>
            </a:r>
            <a:r>
              <a:rPr lang="en-GB" altLang="en-US" sz="3078" i="1">
                <a:latin typeface="Times New Roman" panose="02020603050405020304" pitchFamily="18" charset="0"/>
              </a:rPr>
              <a:t>P </a:t>
            </a:r>
            <a:r>
              <a:rPr lang="en-GB" altLang="en-US" sz="3078">
                <a:latin typeface="Times New Roman" panose="02020603050405020304" pitchFamily="18" charset="0"/>
              </a:rPr>
              <a:t>( c=N | </a:t>
            </a:r>
            <a:r>
              <a:rPr lang="en-GB" altLang="en-US" sz="3078" b="1">
                <a:solidFill>
                  <a:srgbClr val="92D050"/>
                </a:solidFill>
                <a:latin typeface="Times New Roman" panose="02020603050405020304" pitchFamily="18" charset="0"/>
              </a:rPr>
              <a:t>P34 = H</a:t>
            </a:r>
            <a:r>
              <a:rPr lang="en-GB" altLang="en-US" sz="3078">
                <a:latin typeface="Times New Roman" panose="02020603050405020304" pitchFamily="18" charset="0"/>
              </a:rPr>
              <a:t>) = 0.25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 </a:t>
            </a:r>
            <a:r>
              <a:rPr lang="en-GB" altLang="en-US" sz="3078" i="1">
                <a:latin typeface="Times New Roman" panose="02020603050405020304" pitchFamily="18" charset="0"/>
              </a:rPr>
              <a:t>P</a:t>
            </a:r>
            <a:r>
              <a:rPr lang="en-GB" altLang="en-US" sz="3078">
                <a:latin typeface="Times New Roman" panose="02020603050405020304" pitchFamily="18" charset="0"/>
              </a:rPr>
              <a:t>(c = Maybe |  </a:t>
            </a:r>
            <a:r>
              <a:rPr lang="en-GB" altLang="en-US" sz="3078" b="1">
                <a:solidFill>
                  <a:srgbClr val="92D050"/>
                </a:solidFill>
                <a:latin typeface="Times New Roman" panose="02020603050405020304" pitchFamily="18" charset="0"/>
              </a:rPr>
              <a:t>H</a:t>
            </a:r>
            <a:r>
              <a:rPr lang="en-GB" altLang="en-US" sz="3078">
                <a:latin typeface="Times New Roman" panose="02020603050405020304" pitchFamily="18" charset="0"/>
              </a:rPr>
              <a:t>)  = 0.25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3078">
                <a:latin typeface="Times New Roman" panose="02020603050405020304" pitchFamily="18" charset="0"/>
              </a:rPr>
              <a:t>  ... and again,  Y is the winner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078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ED572-63EB-D6D1-5841-3E1141A2F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609600"/>
          </a:xfrm>
        </p:spPr>
        <p:txBody>
          <a:bodyPr/>
          <a:lstStyle/>
          <a:p>
            <a:r>
              <a:rPr lang="en-US" dirty="0"/>
              <a:t>Bayesian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EED50-A8B6-1C6A-93F4-DD597DE60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486400"/>
          </a:xfrm>
        </p:spPr>
        <p:txBody>
          <a:bodyPr>
            <a:normAutofit/>
          </a:bodyPr>
          <a:lstStyle/>
          <a:p>
            <a:r>
              <a:rPr lang="en-US" dirty="0"/>
              <a:t>Assume I have the following Table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600" dirty="0"/>
              <a:t>Find the </a:t>
            </a:r>
            <a:r>
              <a:rPr lang="en-US" sz="2600" dirty="0">
                <a:solidFill>
                  <a:srgbClr val="FF0000"/>
                </a:solidFill>
              </a:rPr>
              <a:t>P(tonsillitis | headache) </a:t>
            </a:r>
            <a:r>
              <a:rPr lang="en-US" sz="2600" dirty="0"/>
              <a:t>using Bayesian theorem </a:t>
            </a:r>
          </a:p>
          <a:p>
            <a:r>
              <a:rPr lang="en-US" sz="2600" dirty="0"/>
              <a:t>P(tonsillitis) = 0.7      P(~tonsillitis) = 0.3       </a:t>
            </a:r>
          </a:p>
          <a:p>
            <a:r>
              <a:rPr lang="en-US" sz="2600" dirty="0"/>
              <a:t>P(headache| tonsillitis) = 4/7  =0.57</a:t>
            </a:r>
          </a:p>
          <a:p>
            <a:r>
              <a:rPr lang="en-US" sz="2600" dirty="0"/>
              <a:t>P(headache | ~ tonsillitis) = 2/3 = 0.667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74E58-F4B2-1AA2-74D8-FFCDD30E7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22</a:t>
            </a:fld>
            <a:endParaRPr lang="en-US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71F491-BE90-4AE5-211F-97DEBE79D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768518"/>
              </p:ext>
            </p:extLst>
          </p:nvPr>
        </p:nvGraphicFramePr>
        <p:xfrm>
          <a:off x="1981200" y="1497899"/>
          <a:ext cx="3657600" cy="2487656"/>
        </p:xfrm>
        <a:graphic>
          <a:graphicData uri="http://schemas.openxmlformats.org/drawingml/2006/table">
            <a:tbl>
              <a:tblPr firstRow="1" firstCol="1" bandRow="1"/>
              <a:tblGrid>
                <a:gridCol w="2067339">
                  <a:extLst>
                    <a:ext uri="{9D8B030D-6E8A-4147-A177-3AD203B41FA5}">
                      <a16:colId xmlns:a16="http://schemas.microsoft.com/office/drawing/2014/main" val="1409111989"/>
                    </a:ext>
                  </a:extLst>
                </a:gridCol>
                <a:gridCol w="1590261">
                  <a:extLst>
                    <a:ext uri="{9D8B030D-6E8A-4147-A177-3AD203B41FA5}">
                      <a16:colId xmlns:a16="http://schemas.microsoft.com/office/drawing/2014/main" val="662776402"/>
                    </a:ext>
                  </a:extLst>
                </a:gridCol>
              </a:tblGrid>
              <a:tr h="175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Headache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tonsillitis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53931"/>
                  </a:ext>
                </a:extLst>
              </a:tr>
              <a:tr h="175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Y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59400"/>
                  </a:ext>
                </a:extLst>
              </a:tr>
              <a:tr h="175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402731"/>
                  </a:ext>
                </a:extLst>
              </a:tr>
              <a:tr h="175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Y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152745"/>
                  </a:ext>
                </a:extLst>
              </a:tr>
              <a:tr h="175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Y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696952"/>
                  </a:ext>
                </a:extLst>
              </a:tr>
              <a:tr h="175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Y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267450"/>
                  </a:ext>
                </a:extLst>
              </a:tr>
              <a:tr h="175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448176"/>
                  </a:ext>
                </a:extLst>
              </a:tr>
              <a:tr h="175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Y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229471"/>
                  </a:ext>
                </a:extLst>
              </a:tr>
              <a:tr h="175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35090"/>
                  </a:ext>
                </a:extLst>
              </a:tr>
              <a:tr h="2429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solidFill>
                            <a:srgbClr val="EE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Y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754179"/>
                  </a:ext>
                </a:extLst>
              </a:tr>
              <a:tr h="175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EE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Y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86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332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E1480-3792-382B-54AF-41C1D084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533400"/>
          </a:xfrm>
        </p:spPr>
        <p:txBody>
          <a:bodyPr/>
          <a:lstStyle/>
          <a:p>
            <a:r>
              <a:rPr lang="en-US" dirty="0"/>
              <a:t>Bayesian Computation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41A814-A8AD-C230-E2E4-B8C62C1AC5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762000"/>
                <a:ext cx="8686800" cy="5943600"/>
              </a:xfrm>
            </p:spPr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P(headache) = P(headache| tonsillitis) x P(tonsillitis) + P(headache | ~ tonsillitis) P(~ tonsillitis)</a:t>
                </a:r>
              </a:p>
              <a:p>
                <a:r>
                  <a:rPr lang="en-US" dirty="0"/>
                  <a:t>                         =  0.57 x 0.7  + 0.667 x 0.3 = 0.5991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𝑡𝑜𝑛𝑠𝑖𝑙𝑙𝑖𝑡𝑖𝑠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𝑒𝑎𝑑𝑎𝑐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57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599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399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599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666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41A814-A8AD-C230-E2E4-B8C62C1AC5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762000"/>
                <a:ext cx="8686800" cy="5943600"/>
              </a:xfrm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50D9E-B342-B876-040D-068E295D0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6881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826D-3D8A-EB0E-9A0D-274E19B0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98" y="228600"/>
            <a:ext cx="8305800" cy="685800"/>
          </a:xfrm>
        </p:spPr>
        <p:txBody>
          <a:bodyPr/>
          <a:lstStyle/>
          <a:p>
            <a:r>
              <a:rPr lang="en-US" dirty="0"/>
              <a:t>Bayesian Theorem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B46F7-7B25-F77C-91CD-B2BE6411A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458200" cy="5562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We want to know:  "</a:t>
            </a:r>
            <a:r>
              <a:rPr lang="en-US" dirty="0">
                <a:solidFill>
                  <a:srgbClr val="A44114"/>
                </a:solidFill>
              </a:rPr>
              <a:t>Given a person tests positive for a disease, what is the probability they actually have it</a:t>
            </a:r>
            <a:r>
              <a:rPr lang="en-US" dirty="0"/>
              <a:t>?“</a:t>
            </a:r>
          </a:p>
          <a:p>
            <a:r>
              <a:rPr lang="en-US" dirty="0">
                <a:solidFill>
                  <a:srgbClr val="FF6600"/>
                </a:solidFill>
              </a:rPr>
              <a:t>Step 1: Define Events</a:t>
            </a:r>
          </a:p>
          <a:p>
            <a:pPr marL="502920" indent="-457200">
              <a:buFontTx/>
              <a:buChar char="-"/>
            </a:pPr>
            <a:r>
              <a:rPr lang="en-US" dirty="0"/>
              <a:t>D: Person has the disease</a:t>
            </a:r>
          </a:p>
          <a:p>
            <a:pPr marL="502920" indent="-457200">
              <a:buFontTx/>
              <a:buChar char="-"/>
            </a:pPr>
            <a:r>
              <a:rPr lang="en-US" dirty="0"/>
              <a:t>¬D: Person does not have the disease </a:t>
            </a:r>
          </a:p>
          <a:p>
            <a:pPr marL="502920" indent="-457200">
              <a:buFontTx/>
              <a:buChar char="-"/>
            </a:pPr>
            <a:r>
              <a:rPr lang="en-US" dirty="0"/>
              <a:t> T: Test result is positive </a:t>
            </a:r>
          </a:p>
          <a:p>
            <a:r>
              <a:rPr lang="en-US" dirty="0">
                <a:solidFill>
                  <a:srgbClr val="FF6600"/>
                </a:solidFill>
              </a:rPr>
              <a:t>Step 2: Given Probabilities</a:t>
            </a:r>
          </a:p>
          <a:p>
            <a:r>
              <a:rPr lang="en-US" dirty="0"/>
              <a:t>Assume the following:</a:t>
            </a:r>
          </a:p>
          <a:p>
            <a:pPr marL="502920" indent="-457200">
              <a:buFontTx/>
              <a:buChar char="-"/>
            </a:pPr>
            <a:r>
              <a:rPr lang="en-US" dirty="0"/>
              <a:t>P(D) = 1% = 0.01 → Prior probability of having the disease  </a:t>
            </a:r>
          </a:p>
          <a:p>
            <a:pPr marL="502920" indent="-457200">
              <a:buFontTx/>
              <a:buChar char="-"/>
            </a:pPr>
            <a:r>
              <a:rPr lang="en-US" dirty="0"/>
              <a:t>P(¬D) = 99% = 0.99    (1-P(D)) </a:t>
            </a:r>
          </a:p>
          <a:p>
            <a:pPr marL="502920" indent="-457200">
              <a:buFontTx/>
              <a:buChar char="-"/>
            </a:pPr>
            <a:r>
              <a:rPr lang="en-US" dirty="0"/>
              <a:t>P(T|D) = 99% = 0.99 → Test correctly detects disease (True Positive)  </a:t>
            </a:r>
          </a:p>
          <a:p>
            <a:r>
              <a:rPr lang="en-US" dirty="0"/>
              <a:t>-    P(T|¬D) = 5% = 0.05 → False positive rate </a:t>
            </a:r>
          </a:p>
          <a:p>
            <a:r>
              <a:rPr lang="en-US" b="1" dirty="0">
                <a:solidFill>
                  <a:srgbClr val="A44114"/>
                </a:solidFill>
              </a:rPr>
              <a:t>We want to compute:  P(D|T) → Probability person has the disease given they tested positive.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2B15F-4BD1-EC26-D8C1-4D473FF21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7244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71D8B-953D-B153-C4E9-FE6358F61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609600"/>
          </a:xfrm>
        </p:spPr>
        <p:txBody>
          <a:bodyPr/>
          <a:lstStyle/>
          <a:p>
            <a:r>
              <a:rPr lang="en-US" dirty="0"/>
              <a:t>Bayesian Theorem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34AA6-0A5D-0423-5A06-6AE171700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305800" cy="56388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A44114"/>
                </a:solidFill>
              </a:rPr>
              <a:t>Step 3: Use Bayes' </a:t>
            </a:r>
            <a:r>
              <a:rPr lang="en-US" dirty="0" err="1">
                <a:solidFill>
                  <a:srgbClr val="A44114"/>
                </a:solidFill>
              </a:rPr>
              <a:t>TheoremBayes</a:t>
            </a:r>
            <a:r>
              <a:rPr lang="en-US" dirty="0">
                <a:solidFill>
                  <a:srgbClr val="A44114"/>
                </a:solidFill>
              </a:rPr>
              <a:t>' formula</a:t>
            </a:r>
            <a:r>
              <a:rPr lang="en-US" dirty="0"/>
              <a:t>:  </a:t>
            </a:r>
          </a:p>
          <a:p>
            <a:r>
              <a:rPr lang="en-US" dirty="0"/>
              <a:t>P(D|T) = [P(T|D) * P(D)] / P(T)</a:t>
            </a:r>
          </a:p>
          <a:p>
            <a:r>
              <a:rPr lang="en-US" dirty="0"/>
              <a:t>But we first need P(T) (total probability of testing positive):</a:t>
            </a:r>
          </a:p>
          <a:p>
            <a:r>
              <a:rPr lang="en-US" dirty="0"/>
              <a:t>P(T) = P(T|D) * P(D) + P(T|¬D) * P(¬D)  </a:t>
            </a:r>
          </a:p>
          <a:p>
            <a:r>
              <a:rPr lang="en-US" sz="2000" dirty="0"/>
              <a:t>         = (0.99 * 0.01) + (0.05 * 0.99)  = 0.0099 + 0.0495  = 0.0594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A44114"/>
                </a:solidFill>
              </a:rPr>
              <a:t>Step 4: Plug into Bayes' Formula</a:t>
            </a:r>
          </a:p>
          <a:p>
            <a:r>
              <a:rPr lang="en-US" sz="2000" dirty="0">
                <a:solidFill>
                  <a:srgbClr val="00002C"/>
                </a:solidFill>
              </a:rPr>
              <a:t>P</a:t>
            </a:r>
            <a:r>
              <a:rPr lang="en-US" sz="2000" dirty="0"/>
              <a:t>(D|T) = (0.99 * 0.01) / 0.0594  = 0.0099 / 0.0594  ≈ 0.1667 or 16.67%</a:t>
            </a:r>
          </a:p>
          <a:p>
            <a:pPr algn="just"/>
            <a:endParaRPr lang="en-US" sz="2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Even though the test is 99% accurate, a person who tests positive only has a 16.67% chance of actually having the disease — because the disease is rare, and false positives affect the result heavily.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46B9D-CB40-83F9-DC60-E5F47A6F4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15216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9352-02EF-6EF5-C1BB-5FA8FF8BA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533400"/>
          </a:xfrm>
        </p:spPr>
        <p:txBody>
          <a:bodyPr/>
          <a:lstStyle/>
          <a:p>
            <a:r>
              <a:rPr lang="en-US" sz="2800" dirty="0"/>
              <a:t>Bayesian Theorem Example (Python code)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87F4-07C1-DD3D-0F5B-927F10C4C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38200"/>
            <a:ext cx="8534400" cy="5791200"/>
          </a:xfrm>
        </p:spPr>
        <p:txBody>
          <a:bodyPr>
            <a:normAutofit lnSpcReduction="10000"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#Step 1: Define probabilities</a:t>
            </a:r>
          </a:p>
          <a:p>
            <a:r>
              <a:rPr lang="en-US" sz="1600" dirty="0"/>
              <a:t>P_D = 0.01                  # Probability of disease</a:t>
            </a:r>
          </a:p>
          <a:p>
            <a:r>
              <a:rPr lang="en-US" sz="1600" dirty="0" err="1"/>
              <a:t>P_not_D</a:t>
            </a:r>
            <a:r>
              <a:rPr lang="en-US" sz="1600" dirty="0"/>
              <a:t> = 1 – P_D          # Probability of no disease</a:t>
            </a:r>
          </a:p>
          <a:p>
            <a:endParaRPr lang="en-US" sz="1600" dirty="0"/>
          </a:p>
          <a:p>
            <a:r>
              <a:rPr lang="en-US" sz="1600" dirty="0" err="1"/>
              <a:t>P_T_given_D</a:t>
            </a:r>
            <a:r>
              <a:rPr lang="en-US" sz="1600" dirty="0"/>
              <a:t> = 0.99          # True positive rate</a:t>
            </a:r>
          </a:p>
          <a:p>
            <a:r>
              <a:rPr lang="en-US" sz="1600" dirty="0" err="1"/>
              <a:t>P_T_given_not_D</a:t>
            </a:r>
            <a:r>
              <a:rPr lang="en-US" sz="1600" dirty="0"/>
              <a:t>= 0.05      # False positive rate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#Step 2: Compute total probability of a positive test</a:t>
            </a:r>
          </a:p>
          <a:p>
            <a:r>
              <a:rPr lang="en-US" sz="1600" dirty="0"/>
              <a:t>P_T = (</a:t>
            </a:r>
            <a:r>
              <a:rPr lang="en-US" sz="1600" dirty="0" err="1"/>
              <a:t>P_T_given_D</a:t>
            </a:r>
            <a:r>
              <a:rPr lang="en-US" sz="1600" dirty="0"/>
              <a:t> * P_D) + (</a:t>
            </a:r>
            <a:r>
              <a:rPr lang="en-US" sz="1600" dirty="0" err="1"/>
              <a:t>P_T_given_not_D</a:t>
            </a:r>
            <a:r>
              <a:rPr lang="en-US" sz="1600" dirty="0"/>
              <a:t> * </a:t>
            </a:r>
            <a:r>
              <a:rPr lang="en-US" sz="1600" dirty="0" err="1"/>
              <a:t>P_not_D</a:t>
            </a:r>
            <a:r>
              <a:rPr lang="en-US" sz="1600" dirty="0"/>
              <a:t>)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#Step 3: Apply Bayes' Theorem</a:t>
            </a:r>
          </a:p>
          <a:p>
            <a:r>
              <a:rPr lang="en-US" sz="1600" dirty="0" err="1"/>
              <a:t>P_D_given_T</a:t>
            </a:r>
            <a:r>
              <a:rPr lang="en-US" sz="1600" dirty="0"/>
              <a:t> = (</a:t>
            </a:r>
            <a:r>
              <a:rPr lang="en-US" sz="1600" dirty="0" err="1"/>
              <a:t>P_T_given_D</a:t>
            </a:r>
            <a:r>
              <a:rPr lang="en-US" sz="1600" dirty="0"/>
              <a:t> * P_D) / P_T</a:t>
            </a:r>
          </a:p>
          <a:p>
            <a:endParaRPr lang="en-US" sz="1600" dirty="0"/>
          </a:p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#Step 4: Display the result</a:t>
            </a:r>
          </a:p>
          <a:p>
            <a:r>
              <a:rPr lang="en-US" sz="1600" dirty="0"/>
              <a:t>print(</a:t>
            </a:r>
            <a:r>
              <a:rPr lang="en-US" sz="1600" dirty="0" err="1"/>
              <a:t>f"Probability</a:t>
            </a:r>
            <a:r>
              <a:rPr lang="en-US" sz="1600" dirty="0"/>
              <a:t> of having the disease given a positive test: {P_D_given_T:.4f} or {</a:t>
            </a:r>
            <a:r>
              <a:rPr lang="en-US" sz="1600" dirty="0" err="1"/>
              <a:t>P_D_given_T</a:t>
            </a:r>
            <a:r>
              <a:rPr lang="en-US" sz="1600" dirty="0"/>
              <a:t>*100:.2f}%")</a:t>
            </a:r>
          </a:p>
          <a:p>
            <a:endParaRPr lang="en-US" sz="1600" dirty="0"/>
          </a:p>
          <a:p>
            <a:r>
              <a:rPr lang="en-US" sz="2000" dirty="0">
                <a:solidFill>
                  <a:srgbClr val="C00000"/>
                </a:solidFill>
              </a:rPr>
              <a:t>Output: Probability of having the disease given a positive test: 0.1667 or 16.67%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6DB05-3445-1C99-3890-510BA229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8945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6077-6DF3-6952-3B45-9868D92BC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693737"/>
          </a:xfrm>
        </p:spPr>
        <p:txBody>
          <a:bodyPr/>
          <a:lstStyle/>
          <a:p>
            <a:r>
              <a:rPr lang="en-US" dirty="0"/>
              <a:t>Bayesian Theorem Example-2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7F08-F14A-1DE4-37CB-00C6B0EE0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90600"/>
            <a:ext cx="85344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 want to compute:</a:t>
            </a:r>
          </a:p>
          <a:p>
            <a:r>
              <a:rPr lang="en-US" dirty="0">
                <a:solidFill>
                  <a:srgbClr val="0070C0"/>
                </a:solidFill>
              </a:rPr>
              <a:t>  P(Spam | Email contains word "Free")  </a:t>
            </a:r>
            <a:r>
              <a:rPr lang="en-US" dirty="0"/>
              <a:t>→ i.e., </a:t>
            </a:r>
            <a:r>
              <a:rPr lang="en-US" dirty="0">
                <a:solidFill>
                  <a:srgbClr val="C00000"/>
                </a:solidFill>
              </a:rPr>
              <a:t>What's the probability an email is spam if it contains the word "Free"?</a:t>
            </a:r>
          </a:p>
          <a:p>
            <a:r>
              <a:rPr lang="en-US" dirty="0">
                <a:solidFill>
                  <a:srgbClr val="C00000"/>
                </a:solidFill>
              </a:rPr>
              <a:t>Assume from past data:</a:t>
            </a:r>
          </a:p>
          <a:p>
            <a:r>
              <a:rPr lang="en-US" dirty="0">
                <a:solidFill>
                  <a:srgbClr val="C00000"/>
                </a:solidFill>
              </a:rPr>
              <a:t> - P(Spam) = 0.2 → 20% of emails are spam </a:t>
            </a:r>
          </a:p>
          <a:p>
            <a:r>
              <a:rPr lang="en-US" dirty="0">
                <a:solidFill>
                  <a:srgbClr val="C00000"/>
                </a:solidFill>
              </a:rPr>
              <a:t> - P(Ham) = 0.8 → 80% are not spam </a:t>
            </a:r>
          </a:p>
          <a:p>
            <a:r>
              <a:rPr lang="en-US" dirty="0">
                <a:solidFill>
                  <a:srgbClr val="C00000"/>
                </a:solidFill>
              </a:rPr>
              <a:t> - P("Free" | Spam) = 0.6 → 60% of spam emails contain "Free"  </a:t>
            </a:r>
          </a:p>
          <a:p>
            <a:r>
              <a:rPr lang="en-US" dirty="0">
                <a:solidFill>
                  <a:srgbClr val="C00000"/>
                </a:solidFill>
              </a:rPr>
              <a:t>- P("Free" | Ham) = 0.1 → 10% of normal emails contain "Free“</a:t>
            </a:r>
          </a:p>
          <a:p>
            <a:pPr marL="502920" indent="-457200">
              <a:buFontTx/>
              <a:buChar char="-"/>
            </a:pPr>
            <a:r>
              <a:rPr lang="en-US" b="1" dirty="0">
                <a:solidFill>
                  <a:srgbClr val="0070C0"/>
                </a:solidFill>
              </a:rPr>
              <a:t>We want:  P(Spam | "Free")  (using Bayes' Theorem)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B0CA7-F78E-8A8E-4893-6CEAA3C8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27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02977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E5E-FFFA-3B59-C509-16CE8B9ED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381000"/>
          </a:xfrm>
        </p:spPr>
        <p:txBody>
          <a:bodyPr/>
          <a:lstStyle/>
          <a:p>
            <a:r>
              <a:rPr lang="en-US" dirty="0"/>
              <a:t>Bayesian Theorem Example-2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1E2ED-A521-5B44-EDA0-8CABBD1B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85800"/>
            <a:ext cx="8839200" cy="55626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B94917"/>
                </a:solidFill>
              </a:rPr>
              <a:t>Bayesian formula</a:t>
            </a:r>
          </a:p>
          <a:p>
            <a:endParaRPr lang="en-US" sz="2000" dirty="0"/>
          </a:p>
          <a:p>
            <a:r>
              <a:rPr lang="en-US" sz="2000" dirty="0"/>
              <a:t>P(Spam | “Free”) = [P(“Free” | Spam) × P(Spam)] / P(“Free”)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B94917"/>
                </a:solidFill>
              </a:rPr>
              <a:t>We need to compute P(“Free”):</a:t>
            </a:r>
          </a:p>
          <a:p>
            <a:endParaRPr lang="en-US" sz="2000" dirty="0"/>
          </a:p>
          <a:p>
            <a:r>
              <a:rPr lang="en-US" sz="2000" dirty="0"/>
              <a:t>P(“Free”) = P(“Free” | Spam) × P(Spam) + P(“Free” | Ham) × P(Ham)</a:t>
            </a:r>
          </a:p>
          <a:p>
            <a:r>
              <a:rPr lang="en-US" sz="2000" dirty="0"/>
              <a:t>    = (0.6 × 0.2) + (0.1 × 0.8)  = 0.12 + 0.08  = 0.20</a:t>
            </a:r>
          </a:p>
          <a:p>
            <a:endParaRPr lang="en-US" sz="2000" b="1" dirty="0"/>
          </a:p>
          <a:p>
            <a:r>
              <a:rPr lang="en-US" sz="2000" b="1" dirty="0"/>
              <a:t>P(Spam | “Free”) = (0.6 × 0.2) / 0.20  = 0.12 / 0.20  = 0.60</a:t>
            </a:r>
          </a:p>
          <a:p>
            <a:endParaRPr lang="en-US" sz="2000" b="1" dirty="0"/>
          </a:p>
          <a:p>
            <a:r>
              <a:rPr lang="en-US" sz="2000" b="1" dirty="0"/>
              <a:t>P(Spam | “Free”) = 0.60 → 60%</a:t>
            </a:r>
          </a:p>
          <a:p>
            <a:r>
              <a:rPr lang="en-US" sz="2000" b="1" dirty="0">
                <a:solidFill>
                  <a:srgbClr val="B94917"/>
                </a:solidFill>
              </a:rPr>
              <a:t>So, if an email contains the word “Free”, there is a 60% chance it's spam.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B6EC6-4A55-93A2-8D68-54DECFF7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6688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0F18C-680A-E4A6-97D1-08A89BF13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846137"/>
          </a:xfrm>
        </p:spPr>
        <p:txBody>
          <a:bodyPr/>
          <a:lstStyle/>
          <a:p>
            <a:r>
              <a:rPr lang="en-US" sz="3200" dirty="0"/>
              <a:t>Bayesian Theorem Example-2: Python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50EBE-08AA-A50D-ECF4-34D4089DA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105400"/>
          </a:xfrm>
        </p:spPr>
        <p:txBody>
          <a:bodyPr>
            <a:normAutofit/>
          </a:bodyPr>
          <a:lstStyle/>
          <a:p>
            <a:r>
              <a:rPr lang="en-US" sz="2000" dirty="0" err="1"/>
              <a:t>P_spam</a:t>
            </a:r>
            <a:r>
              <a:rPr lang="en-US" sz="2000" dirty="0"/>
              <a:t> = 0.2</a:t>
            </a:r>
          </a:p>
          <a:p>
            <a:r>
              <a:rPr lang="en-US" sz="2000" dirty="0" err="1"/>
              <a:t>P_ham</a:t>
            </a:r>
            <a:r>
              <a:rPr lang="en-US" sz="2000" dirty="0"/>
              <a:t> = 0.8</a:t>
            </a:r>
          </a:p>
          <a:p>
            <a:r>
              <a:rPr lang="en-US" sz="2000" dirty="0" err="1"/>
              <a:t>P_free_given_spam</a:t>
            </a:r>
            <a:r>
              <a:rPr lang="en-US" sz="2000" dirty="0"/>
              <a:t> = 0.6</a:t>
            </a:r>
          </a:p>
          <a:p>
            <a:r>
              <a:rPr lang="en-US" sz="2000" dirty="0" err="1"/>
              <a:t>P_free_given_ham</a:t>
            </a:r>
            <a:r>
              <a:rPr lang="en-US" sz="2000" dirty="0"/>
              <a:t> = 0.1</a:t>
            </a:r>
          </a:p>
          <a:p>
            <a:r>
              <a:rPr lang="en-US" sz="2000" dirty="0"/>
              <a:t>#Total probability of "Free" appearing</a:t>
            </a:r>
          </a:p>
          <a:p>
            <a:r>
              <a:rPr lang="en-US" sz="2000" dirty="0" err="1"/>
              <a:t>P_free</a:t>
            </a:r>
            <a:r>
              <a:rPr lang="en-US" sz="2000" dirty="0"/>
              <a:t> = (</a:t>
            </a:r>
            <a:r>
              <a:rPr lang="en-US" sz="2000" dirty="0" err="1"/>
              <a:t>P_free_given_spam</a:t>
            </a:r>
            <a:r>
              <a:rPr lang="en-US" sz="2000" dirty="0"/>
              <a:t> * </a:t>
            </a:r>
            <a:r>
              <a:rPr lang="en-US" sz="2000" dirty="0" err="1"/>
              <a:t>P_spam</a:t>
            </a:r>
            <a:r>
              <a:rPr lang="en-US" sz="2000" dirty="0"/>
              <a:t>) + (</a:t>
            </a:r>
            <a:r>
              <a:rPr lang="en-US" sz="2000" dirty="0" err="1"/>
              <a:t>P_free_given_ham</a:t>
            </a:r>
            <a:r>
              <a:rPr lang="en-US" sz="2000" dirty="0"/>
              <a:t> * </a:t>
            </a:r>
            <a:r>
              <a:rPr lang="en-US" sz="2000" dirty="0" err="1"/>
              <a:t>P_ham</a:t>
            </a:r>
            <a:r>
              <a:rPr lang="en-US" sz="2000" dirty="0"/>
              <a:t>)</a:t>
            </a:r>
          </a:p>
          <a:p>
            <a:r>
              <a:rPr lang="en-US" sz="2000" dirty="0"/>
              <a:t>#Bayes' Theorem</a:t>
            </a:r>
          </a:p>
          <a:p>
            <a:r>
              <a:rPr lang="en-US" sz="1800" dirty="0" err="1"/>
              <a:t>P_spam_given_free</a:t>
            </a:r>
            <a:r>
              <a:rPr lang="en-US" sz="1800" dirty="0"/>
              <a:t> = (</a:t>
            </a:r>
            <a:r>
              <a:rPr lang="en-US" sz="1800" dirty="0" err="1"/>
              <a:t>P_free_given_spam</a:t>
            </a:r>
            <a:r>
              <a:rPr lang="en-US" sz="1800" dirty="0"/>
              <a:t> * </a:t>
            </a:r>
            <a:r>
              <a:rPr lang="en-US" sz="1800" dirty="0" err="1"/>
              <a:t>P_spam</a:t>
            </a:r>
            <a:r>
              <a:rPr lang="en-US" sz="1800" dirty="0"/>
              <a:t>) / </a:t>
            </a:r>
            <a:r>
              <a:rPr lang="en-US" sz="1800" dirty="0" err="1"/>
              <a:t>P_free</a:t>
            </a:r>
            <a:endParaRPr lang="en-US" sz="1800" dirty="0"/>
          </a:p>
          <a:p>
            <a:r>
              <a:rPr lang="en-US" sz="1800" dirty="0"/>
              <a:t>print(</a:t>
            </a:r>
            <a:r>
              <a:rPr lang="en-US" sz="1800" dirty="0" err="1"/>
              <a:t>f"Probability</a:t>
            </a:r>
            <a:r>
              <a:rPr lang="en-US" sz="1800" dirty="0"/>
              <a:t> the email is spam if it contains 'Free': {P_spam_given_free:.2f}")</a:t>
            </a:r>
          </a:p>
          <a:p>
            <a:r>
              <a:rPr lang="en-US" sz="1800" dirty="0">
                <a:solidFill>
                  <a:srgbClr val="B94917"/>
                </a:solidFill>
              </a:rPr>
              <a:t>Print out:</a:t>
            </a:r>
          </a:p>
          <a:p>
            <a:r>
              <a:rPr lang="en-US" sz="1800" dirty="0">
                <a:solidFill>
                  <a:srgbClr val="0070C0"/>
                </a:solidFill>
              </a:rPr>
              <a:t>Probability the email is spam if it contains 'Free': 0.60</a:t>
            </a:r>
          </a:p>
          <a:p>
            <a:r>
              <a:rPr lang="en-US" sz="1800" dirty="0">
                <a:solidFill>
                  <a:srgbClr val="0070C0"/>
                </a:solidFill>
              </a:rPr>
              <a:t>So, if an email contains the word “Free”, there’s a 60% chance it’s spam.</a:t>
            </a:r>
          </a:p>
          <a:p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28843-979D-C4CD-118C-725BDFC11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29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62322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722E-757A-2D9A-F8DA-13F4F29C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685800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Fuzzy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4801A-F09F-1F3C-DD69-B4CC579C1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990600"/>
            <a:ext cx="7391400" cy="441166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Fuzzy Logic is a superset of conventional (</a:t>
            </a:r>
            <a:r>
              <a:rPr lang="en-US" dirty="0" err="1"/>
              <a:t>boolean</a:t>
            </a:r>
            <a:r>
              <a:rPr lang="en-US" dirty="0"/>
              <a:t>) logic that has been extended to handle the concept of partial truth. Truth values between “completely true” and completely false”, it was introduced by Dr. Lotfi Zadeh of UC/</a:t>
            </a:r>
            <a:r>
              <a:rPr lang="en-US" dirty="0" err="1"/>
              <a:t>Berekely</a:t>
            </a:r>
            <a:r>
              <a:rPr lang="en-US" dirty="0"/>
              <a:t> in 1960s as means to model the uncertainty of natural language.</a:t>
            </a:r>
          </a:p>
          <a:p>
            <a:pPr algn="just"/>
            <a:endParaRPr lang="en-US" dirty="0"/>
          </a:p>
          <a:p>
            <a:r>
              <a:rPr lang="en-US" b="1" dirty="0"/>
              <a:t>Fuzzy Subsets</a:t>
            </a:r>
          </a:p>
          <a:p>
            <a:endParaRPr lang="en-US" b="1" dirty="0"/>
          </a:p>
          <a:p>
            <a:r>
              <a:rPr lang="en-US" dirty="0"/>
              <a:t>In classical set theory, a subset U of a set S can be defined as a mapping from the elements of s to the elements of the set {0,1}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U : 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{0,1}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E39EE-9113-B642-7366-CDAE3D2A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41190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98532-8345-0B69-8A8B-E0912C30D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537369"/>
          </a:xfrm>
        </p:spPr>
        <p:txBody>
          <a:bodyPr/>
          <a:lstStyle/>
          <a:p>
            <a:r>
              <a:rPr lang="en-US" dirty="0"/>
              <a:t>Fuzzy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A6C40-CACE-B6ED-AA23-A95EFAAD6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84" y="914400"/>
            <a:ext cx="8097416" cy="51776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282E9-FF32-5B1B-6EA0-ACFF79E3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31</a:t>
            </a:fld>
            <a:endParaRPr lang="en-US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BF78D5-2772-F304-F8B4-239B8C0686F1}"/>
              </a:ext>
            </a:extLst>
          </p:cNvPr>
          <p:cNvSpPr txBox="1"/>
          <p:nvPr/>
        </p:nvSpPr>
        <p:spPr>
          <a:xfrm>
            <a:off x="228600" y="914400"/>
            <a:ext cx="8077200" cy="5700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800" dirty="0"/>
          </a:p>
          <a:p>
            <a:pPr algn="just"/>
            <a:r>
              <a:rPr lang="en-US" sz="1800" dirty="0"/>
              <a:t>This defines a mapping between elements of the set S and values in the interval [0,1]. The value zero is used to represent complete non-membership, the value one is used to represent complete membership, and the values in between are used to represent intermediate degrees of membership. The set S is referred  to as the UNIVERSE OF DISCOURSE for the fuzzy subset U. Frequently, the mapping is described as a function, the membership function of  F. The degree to which the statement</a:t>
            </a:r>
          </a:p>
          <a:p>
            <a:r>
              <a:rPr lang="en-US" sz="2000" dirty="0"/>
              <a:t>X is in F</a:t>
            </a:r>
          </a:p>
          <a:p>
            <a:pPr>
              <a:buNone/>
            </a:pPr>
            <a:r>
              <a:rPr lang="en-US" sz="2000" dirty="0"/>
              <a:t> </a:t>
            </a:r>
          </a:p>
          <a:p>
            <a:r>
              <a:rPr lang="en-US" sz="2000" dirty="0"/>
              <a:t>Is true is determined by finding the ordered pair whose first element is X. The degree of truth of the statement is the second element of the ordered pair  (X, degree(F)).</a:t>
            </a:r>
          </a:p>
          <a:p>
            <a:pPr>
              <a:buNone/>
            </a:pPr>
            <a:endParaRPr lang="en-US" sz="2000" dirty="0"/>
          </a:p>
          <a:p>
            <a:r>
              <a:rPr lang="en-US" sz="2000" dirty="0"/>
              <a:t>In practice, the terms “membership function” and fuzzy subset get used interchangeably.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304656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4816B-3B9D-3548-A671-FFF7631B3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693737"/>
          </a:xfrm>
        </p:spPr>
        <p:txBody>
          <a:bodyPr/>
          <a:lstStyle/>
          <a:p>
            <a:r>
              <a:rPr lang="en-US" dirty="0"/>
              <a:t>Fuzzy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7DD15-598A-B4DF-98A9-9EFBE3537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79241"/>
            <a:ext cx="8686800" cy="5550159"/>
          </a:xfrm>
        </p:spPr>
        <p:txBody>
          <a:bodyPr/>
          <a:lstStyle/>
          <a:p>
            <a:r>
              <a:rPr lang="en-US" dirty="0"/>
              <a:t>Example </a:t>
            </a:r>
          </a:p>
          <a:p>
            <a:pPr algn="just"/>
            <a:r>
              <a:rPr lang="en-US" sz="2000" dirty="0"/>
              <a:t>Let us talk about people and tallness. In this case the set S (the universe of discourse) is the set of people. Let’s define </a:t>
            </a:r>
            <a:r>
              <a:rPr lang="en-US" sz="2000" dirty="0">
                <a:solidFill>
                  <a:srgbClr val="FF0000"/>
                </a:solidFill>
              </a:rPr>
              <a:t>a fuzzy subset TALL (U), which will answer the question “to what degree is person X tall”</a:t>
            </a:r>
          </a:p>
          <a:p>
            <a:pPr algn="just"/>
            <a:r>
              <a:rPr lang="en-US" sz="2000" dirty="0"/>
              <a:t>Zadeh describes TALL as a linguistic variable, which represents our cognitive category of tallness. To each person in the universe of discourse, we have to assign a degree of membership in the fuzzy subset TALL. The easiest way to do this is with a membership function based on the person ‘s height.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16544-0453-1DF2-8542-416A767D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32</a:t>
            </a:fld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4E798B-655F-F1C2-C228-5CADA2B62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962400"/>
            <a:ext cx="57150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172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181F-2C49-C3DD-B597-3B21033FD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914400"/>
          </a:xfrm>
        </p:spPr>
        <p:txBody>
          <a:bodyPr/>
          <a:lstStyle/>
          <a:p>
            <a:r>
              <a:rPr lang="en-US" dirty="0"/>
              <a:t>Fuzzy Logic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2A55CA5-E083-3F89-27D9-9816D991D9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8989652"/>
              </p:ext>
            </p:extLst>
          </p:nvPr>
        </p:nvGraphicFramePr>
        <p:xfrm>
          <a:off x="2057400" y="1524000"/>
          <a:ext cx="4800601" cy="16002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{3B4B98B0-60AC-42C2-AFA5-B58CD77FA1E5}</a:tableStyleId>
              </a:tblPr>
              <a:tblGrid>
                <a:gridCol w="1155144">
                  <a:extLst>
                    <a:ext uri="{9D8B030D-6E8A-4147-A177-3AD203B41FA5}">
                      <a16:colId xmlns:a16="http://schemas.microsoft.com/office/drawing/2014/main" val="521407377"/>
                    </a:ext>
                  </a:extLst>
                </a:gridCol>
                <a:gridCol w="1095137">
                  <a:extLst>
                    <a:ext uri="{9D8B030D-6E8A-4147-A177-3AD203B41FA5}">
                      <a16:colId xmlns:a16="http://schemas.microsoft.com/office/drawing/2014/main" val="4246966606"/>
                    </a:ext>
                  </a:extLst>
                </a:gridCol>
                <a:gridCol w="1650207">
                  <a:extLst>
                    <a:ext uri="{9D8B030D-6E8A-4147-A177-3AD203B41FA5}">
                      <a16:colId xmlns:a16="http://schemas.microsoft.com/office/drawing/2014/main" val="2331531033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425234454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Person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Height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Degree of tallness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Crisp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086327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Billy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3’ 2”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0.00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592506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Yoke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5’ 5”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0.21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63112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Drew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5’ 9”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0.38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729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Erik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5’ 10”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0.42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43026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Jess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7’ 2”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>
                          <a:effectLst/>
                        </a:rPr>
                        <a:t>1.00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466722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741F6-0266-A3D6-2185-17FFF034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33</a:t>
            </a:fld>
            <a:endParaRPr lang="en-US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84780-ABDB-0026-4E6C-5E5654E8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276600"/>
            <a:ext cx="6781799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3377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25E1-B70A-7309-2085-A4428DAD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693737"/>
          </a:xfrm>
        </p:spPr>
        <p:txBody>
          <a:bodyPr/>
          <a:lstStyle/>
          <a:p>
            <a:r>
              <a:rPr lang="en-US" dirty="0"/>
              <a:t>Fuzzy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D2739-BCCE-E7CF-8181-82DFE34A2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458200" cy="5638800"/>
          </a:xfrm>
        </p:spPr>
        <p:txBody>
          <a:bodyPr>
            <a:normAutofit fontScale="77500" lnSpcReduction="20000"/>
          </a:bodyPr>
          <a:lstStyle/>
          <a:p>
            <a:r>
              <a:rPr lang="en-US" sz="3100" dirty="0"/>
              <a:t>Example</a:t>
            </a:r>
          </a:p>
          <a:p>
            <a:pPr algn="just"/>
            <a:r>
              <a:rPr lang="en-US" dirty="0"/>
              <a:t>One could want to have the membership function for TALL depend on both a person ‘ s height and their age (He ‘s tall for his age). It ‘s referred to as two-dimensional membership function, or a “fuzzy relation”. To understand such kind of situations, we have to study the fuzzy logic operations.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Logic Operations</a:t>
            </a:r>
          </a:p>
          <a:p>
            <a:pPr algn="just"/>
            <a:r>
              <a:rPr lang="en-US" dirty="0"/>
              <a:t>The standard definition in fuzzy logic are: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solidFill>
                  <a:srgbClr val="A44114"/>
                </a:solidFill>
              </a:rPr>
              <a:t>Truth (not x) = 1-truth(x)</a:t>
            </a:r>
          </a:p>
          <a:p>
            <a:pPr algn="just"/>
            <a:r>
              <a:rPr lang="en-US" dirty="0">
                <a:solidFill>
                  <a:srgbClr val="A44114"/>
                </a:solidFill>
              </a:rPr>
              <a:t>Truth(x and y) =  min(truth(x),truth(y))</a:t>
            </a:r>
          </a:p>
          <a:p>
            <a:pPr algn="just"/>
            <a:r>
              <a:rPr lang="en-US" dirty="0">
                <a:solidFill>
                  <a:srgbClr val="A44114"/>
                </a:solidFill>
              </a:rPr>
              <a:t>Truth(x or y) = max (truth(x), truth(y))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 the previous example, we assume the same definition of TALL as above and in addition, assume that we have a fuzzy subset OLD defined by the membership functions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730E2-E589-AE6C-915C-16F053B5B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34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97258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A90C-7918-37E9-3E85-7A6E5A73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533400"/>
          </a:xfrm>
        </p:spPr>
        <p:txBody>
          <a:bodyPr/>
          <a:lstStyle/>
          <a:p>
            <a:r>
              <a:rPr lang="en-US" dirty="0"/>
              <a:t>Fuzzy Logic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87BAC0-33B7-F7D4-9413-F7B199AE8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990600"/>
            <a:ext cx="6781800" cy="54102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A71E4-A8CC-657D-9E89-5A268C56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35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802514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1E7E5-3790-1B4B-A9D2-915AFEE19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457200"/>
          </a:xfrm>
        </p:spPr>
        <p:txBody>
          <a:bodyPr/>
          <a:lstStyle/>
          <a:p>
            <a:r>
              <a:rPr lang="en-US" dirty="0"/>
              <a:t>Fuzzy Logic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26595B-5A4A-75D3-5F8F-34BDD05A4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833" y="1031129"/>
            <a:ext cx="7696200" cy="52530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8617B-5FC5-F00E-5A15-D2E14E18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36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03440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B4AAB-5C50-21FD-C888-6BB93CFDA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FADFB-C2AD-3738-06DB-878DD186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37</a:t>
            </a:fld>
            <a:endParaRPr lang="en-US" altLang="en-US" dirty="0"/>
          </a:p>
        </p:txBody>
      </p:sp>
      <p:pic>
        <p:nvPicPr>
          <p:cNvPr id="3" name="Picture 2" descr="A diagram of different colored triangles&#10;&#10;AI-generated content may be incorrect.">
            <a:extLst>
              <a:ext uri="{FF2B5EF4-FFF2-40B4-BE49-F238E27FC236}">
                <a16:creationId xmlns:a16="http://schemas.microsoft.com/office/drawing/2014/main" id="{C118C2F8-99DB-75D3-C2D3-14F5A0D3F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09662"/>
            <a:ext cx="7369670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0797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54F9C-E0B8-AA47-7890-28194B05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1"/>
            <a:ext cx="7696200" cy="457200"/>
          </a:xfrm>
        </p:spPr>
        <p:txBody>
          <a:bodyPr/>
          <a:lstStyle/>
          <a:p>
            <a:r>
              <a:rPr lang="en-US" dirty="0"/>
              <a:t>Fuzzy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9F6B1-0395-5500-E1B2-258D76D0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85801"/>
            <a:ext cx="8305800" cy="6019799"/>
          </a:xfrm>
        </p:spPr>
        <p:txBody>
          <a:bodyPr>
            <a:normAutofit fontScale="25000" lnSpcReduction="20000"/>
          </a:bodyPr>
          <a:lstStyle/>
          <a:p>
            <a:r>
              <a:rPr lang="en-US" sz="6400" b="1" dirty="0"/>
              <a:t>Rules in Fuzzy Logic </a:t>
            </a:r>
          </a:p>
          <a:p>
            <a:endParaRPr lang="en-US" sz="6400" dirty="0"/>
          </a:p>
          <a:p>
            <a:r>
              <a:rPr lang="en-US" sz="6400" dirty="0"/>
              <a:t>Given the following rule. The values of X in A3 and Y in B1 are assumed to be obtained through given membership functions. We need to find the value of Z with relation to C1.</a:t>
            </a:r>
            <a:endParaRPr lang="en-US" sz="6400" dirty="0">
              <a:solidFill>
                <a:srgbClr val="A44114"/>
              </a:solidFill>
            </a:endParaRPr>
          </a:p>
          <a:p>
            <a:r>
              <a:rPr lang="en-US" sz="6400" dirty="0">
                <a:solidFill>
                  <a:srgbClr val="A44114"/>
                </a:solidFill>
              </a:rPr>
              <a:t>Rule 1</a:t>
            </a:r>
          </a:p>
          <a:p>
            <a:r>
              <a:rPr lang="en-US" sz="6400" dirty="0"/>
              <a:t> </a:t>
            </a:r>
          </a:p>
          <a:p>
            <a:r>
              <a:rPr lang="en-US" sz="6400" dirty="0"/>
              <a:t>If  X  is A3 (0.0) OR  Y is  B1 (0.1)  Then  Z IS C1 (0.1)</a:t>
            </a:r>
          </a:p>
          <a:p>
            <a:r>
              <a:rPr lang="en-US" sz="6400" dirty="0"/>
              <a:t> </a:t>
            </a:r>
          </a:p>
          <a:p>
            <a:r>
              <a:rPr lang="en-US" sz="6400" dirty="0"/>
              <a:t>The value of Z can be obtained by one of two methods </a:t>
            </a:r>
          </a:p>
          <a:p>
            <a:r>
              <a:rPr lang="en-US" sz="6400" dirty="0"/>
              <a:t> </a:t>
            </a:r>
          </a:p>
          <a:p>
            <a:pPr lvl="0"/>
            <a:r>
              <a:rPr lang="en-US" sz="6400" dirty="0"/>
              <a:t>Max [0.0,0.1] = 0.1 </a:t>
            </a:r>
          </a:p>
          <a:p>
            <a:pPr lvl="0"/>
            <a:r>
              <a:rPr lang="en-US" sz="6400" dirty="0"/>
              <a:t>0.0 + 0.1 – 0.0 x 0.1 = 0.1</a:t>
            </a:r>
          </a:p>
          <a:p>
            <a:r>
              <a:rPr lang="en-US" sz="6400" dirty="0"/>
              <a:t>The two methods might not produce the same result, but we have to stick to only one method during the system 's inference.</a:t>
            </a:r>
          </a:p>
          <a:p>
            <a:r>
              <a:rPr lang="en-US" sz="6400" dirty="0"/>
              <a:t> </a:t>
            </a:r>
          </a:p>
          <a:p>
            <a:r>
              <a:rPr lang="en-US" sz="6400" dirty="0"/>
              <a:t>Below is Rule 2 which uses AND logic relation instead of OR.</a:t>
            </a:r>
          </a:p>
          <a:p>
            <a:r>
              <a:rPr lang="en-US" sz="6400" dirty="0"/>
              <a:t> </a:t>
            </a:r>
          </a:p>
          <a:p>
            <a:r>
              <a:rPr lang="en-US" sz="6400" dirty="0">
                <a:solidFill>
                  <a:srgbClr val="A44114"/>
                </a:solidFill>
              </a:rPr>
              <a:t>Rule 2</a:t>
            </a:r>
          </a:p>
          <a:p>
            <a:r>
              <a:rPr lang="en-US" sz="6400" dirty="0"/>
              <a:t>         If  X is A2 (0.2) AND Y is B2 (0.7)  Then Z is C3 (0.2)</a:t>
            </a:r>
          </a:p>
          <a:p>
            <a:r>
              <a:rPr lang="en-US" sz="6400" dirty="0"/>
              <a:t>The value of Z can be obtained by one of two methods. They may not produce the same result.</a:t>
            </a:r>
          </a:p>
          <a:p>
            <a:r>
              <a:rPr lang="en-US" sz="6400" dirty="0"/>
              <a:t> </a:t>
            </a:r>
          </a:p>
          <a:p>
            <a:pPr lvl="0"/>
            <a:r>
              <a:rPr lang="en-US" sz="6400" dirty="0"/>
              <a:t>Min [0.2,0.7] = 0.2</a:t>
            </a:r>
          </a:p>
          <a:p>
            <a:pPr lvl="0"/>
            <a:r>
              <a:rPr lang="en-US" sz="6400" dirty="0"/>
              <a:t>0.2 x 0.7 = 0.14  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C37BC-EC5B-A74C-6D4B-00D47834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38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228850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45F7-41C0-A786-1664-D4192F4A8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0"/>
            <a:ext cx="7696200" cy="609600"/>
          </a:xfrm>
        </p:spPr>
        <p:txBody>
          <a:bodyPr/>
          <a:lstStyle/>
          <a:p>
            <a:r>
              <a:rPr lang="en-US" dirty="0"/>
              <a:t>Fuzzy Logic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1A5513-BF76-7908-C064-7E0606330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685800"/>
            <a:ext cx="7620000" cy="60198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41FC2-548C-1C8A-7596-5B3DB71D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39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72650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B8ED1-AECE-B7AD-1BAE-EC6625865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7696200" cy="457200"/>
          </a:xfrm>
        </p:spPr>
        <p:txBody>
          <a:bodyPr/>
          <a:lstStyle/>
          <a:p>
            <a:r>
              <a:rPr lang="en-US" dirty="0"/>
              <a:t>Fuzzy Logic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FFC5D7-7C31-8F0D-F011-F83DFB1F73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841310"/>
            <a:ext cx="7848600" cy="56388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7C9A6-F181-7C43-7FA0-372DE91A3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6F290-D301-4864-9490-340EF11588D9}" type="slidenum">
              <a:rPr lang="en-US" altLang="en-US" smtClean="0"/>
              <a:pPr/>
              <a:t>40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18050244"/>
      </p:ext>
    </p:extLst>
  </p:cSld>
  <p:clrMapOvr>
    <a:masterClrMapping/>
  </p:clrMapOvr>
</p:sld>
</file>

<file path=ppt/theme/theme1.xml><?xml version="1.0" encoding="utf-8"?>
<a:theme xmlns:a="http://schemas.openxmlformats.org/drawingml/2006/main" name="Sales training presentation">
  <a:themeElements>
    <a:clrScheme name="Sales Training_final2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Sales Training_final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les Training_final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les Training_final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ales training presentation.potx" id="{3181A242-BAE2-485E-97E8-919259126601}" vid="{819B686A-E690-42F4-91DA-6D012EEA393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Sales training slides</Template>
  <TotalTime>2231</TotalTime>
  <Words>3216</Words>
  <Application>Microsoft Office PowerPoint</Application>
  <PresentationFormat>On-screen Show (4:3)</PresentationFormat>
  <Paragraphs>592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Cambria</vt:lpstr>
      <vt:lpstr>Cambria Math</vt:lpstr>
      <vt:lpstr>Times New Roman</vt:lpstr>
      <vt:lpstr>Wingdings</vt:lpstr>
      <vt:lpstr>Sales training presentation</vt:lpstr>
      <vt:lpstr>Chapter 7</vt:lpstr>
      <vt:lpstr>Roadmap</vt:lpstr>
      <vt:lpstr>PowerPoint Presentation</vt:lpstr>
      <vt:lpstr>Why Does AI Need Uncertainty?</vt:lpstr>
      <vt:lpstr>Types of Uncertainty</vt:lpstr>
      <vt:lpstr>Uncertainty- Incomplete Information</vt:lpstr>
      <vt:lpstr>Uncertainty-Noise Data</vt:lpstr>
      <vt:lpstr>Uncertainty- Ambiguous Data</vt:lpstr>
      <vt:lpstr>Uncertainty in AI </vt:lpstr>
      <vt:lpstr> Bayesian Theory in AI</vt:lpstr>
      <vt:lpstr> Bayesian Theory in AI (Some applications)</vt:lpstr>
      <vt:lpstr>Bayesian Theory in AI (Some applications)</vt:lpstr>
      <vt:lpstr>A very simple dataset –  one field / one class </vt:lpstr>
      <vt:lpstr>A very simple dataset –  one field / one class </vt:lpstr>
      <vt:lpstr>A very simple dataset –  one field / one class </vt:lpstr>
      <vt:lpstr>A very simple dataset –  one field / one class </vt:lpstr>
      <vt:lpstr>A very simple dataset –  one field / one class </vt:lpstr>
      <vt:lpstr>A very simple dataset –  one field / one class </vt:lpstr>
      <vt:lpstr>A very simple dataset –  one field / one class </vt:lpstr>
      <vt:lpstr>A very simple dataset –  one field / one class </vt:lpstr>
      <vt:lpstr>In general we may have any number of class values</vt:lpstr>
      <vt:lpstr>Bayesian Computation</vt:lpstr>
      <vt:lpstr>Bayesian Computation</vt:lpstr>
      <vt:lpstr>Bayesian Theorem Example</vt:lpstr>
      <vt:lpstr>Bayesian Theorem Example</vt:lpstr>
      <vt:lpstr>Bayesian Theorem Example (Python code)</vt:lpstr>
      <vt:lpstr>Bayesian Theorem Example-2</vt:lpstr>
      <vt:lpstr>Bayesian Theorem Example-2</vt:lpstr>
      <vt:lpstr>Bayesian Theorem Example-2: Python code</vt:lpstr>
      <vt:lpstr>  Fuzzy Logic</vt:lpstr>
      <vt:lpstr>Fuzzy Logic</vt:lpstr>
      <vt:lpstr>Fuzzy Logic</vt:lpstr>
      <vt:lpstr>Fuzzy Logic</vt:lpstr>
      <vt:lpstr>Fuzzy Logic</vt:lpstr>
      <vt:lpstr>Fuzzy Logic</vt:lpstr>
      <vt:lpstr>Fuzzy Logic</vt:lpstr>
      <vt:lpstr>PowerPoint Presentation</vt:lpstr>
      <vt:lpstr>Fuzzy Logic</vt:lpstr>
      <vt:lpstr>Fuzzy Logic</vt:lpstr>
      <vt:lpstr>Fuzzy Logic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Darwish</dc:creator>
  <cp:lastModifiedBy>Dr. NABIL M. A. HEWAHI</cp:lastModifiedBy>
  <cp:revision>720</cp:revision>
  <dcterms:created xsi:type="dcterms:W3CDTF">2025-04-22T07:31:40Z</dcterms:created>
  <dcterms:modified xsi:type="dcterms:W3CDTF">2025-10-26T10:24:23Z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