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60" r:id="rId2"/>
    <p:sldId id="262" r:id="rId3"/>
    <p:sldId id="263" r:id="rId4"/>
    <p:sldId id="264" r:id="rId5"/>
    <p:sldId id="265" r:id="rId6"/>
    <p:sldId id="266" r:id="rId7"/>
    <p:sldId id="312" r:id="rId8"/>
    <p:sldId id="268" r:id="rId9"/>
    <p:sldId id="276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93" r:id="rId24"/>
    <p:sldId id="294" r:id="rId25"/>
    <p:sldId id="296" r:id="rId26"/>
    <p:sldId id="297" r:id="rId27"/>
    <p:sldId id="298" r:id="rId28"/>
    <p:sldId id="299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CC66FF"/>
    <a:srgbClr val="CC00FF"/>
    <a:srgbClr val="33CCFF"/>
    <a:srgbClr val="FF66FF"/>
    <a:srgbClr val="CCFF99"/>
    <a:srgbClr val="800080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9" autoAdjust="0"/>
    <p:restoredTop sz="94682" autoAdjust="0"/>
  </p:normalViewPr>
  <p:slideViewPr>
    <p:cSldViewPr>
      <p:cViewPr varScale="1">
        <p:scale>
          <a:sx n="78" d="100"/>
          <a:sy n="78" d="100"/>
        </p:scale>
        <p:origin x="14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F3A6248-370B-144F-A46E-EE31A384CF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/>
            </a:lvl1pPr>
          </a:lstStyle>
          <a:p>
            <a:endParaRPr lang="en-US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C1CCF50-6BE6-1226-371F-809FB8E8EE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/>
            </a:lvl1pPr>
          </a:lstStyle>
          <a:p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B63E0D9-DF4A-53CA-CEAE-5A0C0A56BE3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/>
            </a:lvl1pPr>
          </a:lstStyle>
          <a:p>
            <a:endParaRPr lang="en-US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D68B664-DC41-F286-F413-95EA91BCAF9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/>
            </a:lvl1pPr>
          </a:lstStyle>
          <a:p>
            <a:fld id="{46FC248D-C9CA-4A3A-B529-5490A9BB3C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84B4DE8-6C64-A933-D6F1-BA8F78F492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D431925-157A-B475-2D5E-771538645C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AC1827C6-D986-3665-D52A-C30583611C3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84BFD1D5-AEAA-75A0-2880-0F199B7F602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22CC7440-C826-3014-307C-12FD15AA6F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E0F221C2-0F16-09B9-0A65-E224ABF567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25A801B-8236-4636-81D5-A98B23AEC09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1EC3-CF85-A0D3-0D9D-1871E2680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E1C3E-3E12-AA81-B71A-30B0B4D06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45978-4870-94BA-D0BA-068EEDA44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FEF7490-70FA-4458-A7E6-AAB217B3C4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54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3B19-ACD3-AD9D-7C83-2D0D78BD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A6CE-D37F-59C0-76CA-9A33BA8B8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ED125-9D20-6E97-968C-6B46A81F5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3F5336-985F-45A9-A9F4-9E2D645B15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01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7BA3-ED3C-27ED-4A63-B76BA9E2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3381D-2C36-E409-4A66-0A4E52BBC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86C9-AC29-619F-8298-68864B821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55BD1A-906A-48A5-A089-3F989F56D7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3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B51E-8031-8A4C-AD53-2B89737E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E4AB1-1713-502E-1F69-F52581B29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192ED-E2A4-A489-CA78-CAB2D1C43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0C5C0-37FC-8910-5B0F-ED7B5FDCA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9B9CA9-8176-4F91-AE70-BF722B6C4E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726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9FF1-AD41-4A28-FEC4-F5AB5B22B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216AD-DFFB-0345-C631-8A5F8147F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6F674-CC5E-AF26-1AAD-7F35B267E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95AC0-4B6A-B201-7A0B-F4E6AEA87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F449B-9329-5389-7CA7-2056C31F9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3467B-811E-D65C-2631-1300D664E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9728B-1FC5-4231-9616-D04E855961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3907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D215-A45C-6471-71A8-EA6089C8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2DBE78-A225-C100-C215-E9D562AB6B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2FA5F6F-490A-4E75-8A3B-976839284A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21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E6619-82E5-8220-AEF0-9CB4E5710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A91304-9529-4855-BE58-DDB9B04BB8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8083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B72B-C7DC-1DB5-D77B-AAE07A75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8BEF9-E654-9FA1-F728-E3A8486D7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C35DC-B388-92F5-B95E-A3E69C248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9B06-CB3E-FBF9-2182-26FC0B745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A780094-EC52-4BD6-8085-7CAD80C15D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49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F6D4-0EA3-A2BE-52F4-C75D2010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9573C-AC0F-D012-E00B-16C431223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3AF4A-235D-7849-22DF-E056D8E0C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F2C85-FA38-CA9F-861E-1D92F5A4B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4E7A9E-96B9-4918-9D7E-2B78895A1D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5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4CA3-0495-60ED-1C26-E9150274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A046A-B756-6CC8-8A36-0D987F152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A698-21E4-4D93-3183-44344B7C8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EC6706-9EF0-44F0-BA0C-2D1BFF7611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44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EC6075-F4AE-29D8-CB07-97AF35DF2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E4413-D5DF-C5A6-DE63-E37967C1E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9EFC-251B-3B9A-443F-54A30844F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28437A-036C-4E17-A63A-D33ACA1BBE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0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2B209E-1CE1-A91C-E9D4-EE739C4C7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90822F-92DE-9F16-BA9C-6CC875EBB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D7D7BC7-1115-3435-F3CE-6188B96B28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67600" y="6248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037027A-AD3A-4DA4-937C-3444DC5D26E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FB0AB9-087A-074C-54B5-D030C6108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9AAE9-7C69-4244-B7A1-A2DA1B9E67E5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77034F04-4CF3-D644-88BA-7E73004E18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505200"/>
            <a:ext cx="7772400" cy="914400"/>
          </a:xfrm>
        </p:spPr>
        <p:txBody>
          <a:bodyPr anchor="ctr"/>
          <a:lstStyle/>
          <a:p>
            <a:r>
              <a:rPr lang="en-US" altLang="en-US" sz="4400"/>
              <a:t>A Tutorial on Bayesian Networks</a:t>
            </a:r>
          </a:p>
        </p:txBody>
      </p:sp>
      <p:sp>
        <p:nvSpPr>
          <p:cNvPr id="214028" name="Rectangle 12">
            <a:extLst>
              <a:ext uri="{FF2B5EF4-FFF2-40B4-BE49-F238E27FC236}">
                <a16:creationId xmlns:a16="http://schemas.microsoft.com/office/drawing/2014/main" id="{F4A10CC6-B6E3-0A55-D4AC-2A1A1E975E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1813" y="4419600"/>
            <a:ext cx="8077200" cy="1143000"/>
          </a:xfrm>
        </p:spPr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Partially taken from</a:t>
            </a:r>
          </a:p>
          <a:p>
            <a:r>
              <a:rPr lang="en-US" altLang="en-US" sz="2000" dirty="0"/>
              <a:t>Weng-Keen Wong</a:t>
            </a:r>
          </a:p>
          <a:p>
            <a:r>
              <a:rPr lang="en-US" altLang="en-US" sz="2000" dirty="0"/>
              <a:t>School of Electrical Engineering and Computer Science</a:t>
            </a:r>
          </a:p>
          <a:p>
            <a:r>
              <a:rPr lang="en-US" altLang="en-US" sz="2000" dirty="0"/>
              <a:t>Oregon State University</a:t>
            </a:r>
          </a:p>
        </p:txBody>
      </p:sp>
      <p:sp>
        <p:nvSpPr>
          <p:cNvPr id="214030" name="Oval 14">
            <a:extLst>
              <a:ext uri="{FF2B5EF4-FFF2-40B4-BE49-F238E27FC236}">
                <a16:creationId xmlns:a16="http://schemas.microsoft.com/office/drawing/2014/main" id="{20C5756A-6F04-4E49-7545-79BB83071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334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1" name="Oval 15">
            <a:extLst>
              <a:ext uri="{FF2B5EF4-FFF2-40B4-BE49-F238E27FC236}">
                <a16:creationId xmlns:a16="http://schemas.microsoft.com/office/drawing/2014/main" id="{83481F9B-CE4D-2C52-7D10-1CF69EAD6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334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2" name="Oval 16">
            <a:extLst>
              <a:ext uri="{FF2B5EF4-FFF2-40B4-BE49-F238E27FC236}">
                <a16:creationId xmlns:a16="http://schemas.microsoft.com/office/drawing/2014/main" id="{FE5B9DFA-6712-D0D3-2EF5-3774F7352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524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3" name="Oval 17">
            <a:extLst>
              <a:ext uri="{FF2B5EF4-FFF2-40B4-BE49-F238E27FC236}">
                <a16:creationId xmlns:a16="http://schemas.microsoft.com/office/drawing/2014/main" id="{62513393-3800-C5D1-2000-D16D03F62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667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4034" name="AutoShape 18">
            <a:extLst>
              <a:ext uri="{FF2B5EF4-FFF2-40B4-BE49-F238E27FC236}">
                <a16:creationId xmlns:a16="http://schemas.microsoft.com/office/drawing/2014/main" id="{C6830F83-B576-DE95-8F89-918FD3A4ED4D}"/>
              </a:ext>
            </a:extLst>
          </p:cNvPr>
          <p:cNvCxnSpPr>
            <a:cxnSpLocks noChangeShapeType="1"/>
            <a:stCxn id="214030" idx="5"/>
            <a:endCxn id="214032" idx="1"/>
          </p:cNvCxnSpPr>
          <p:nvPr/>
        </p:nvCxnSpPr>
        <p:spPr bwMode="auto">
          <a:xfrm>
            <a:off x="3732213" y="989013"/>
            <a:ext cx="460375" cy="612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4035" name="AutoShape 19">
            <a:extLst>
              <a:ext uri="{FF2B5EF4-FFF2-40B4-BE49-F238E27FC236}">
                <a16:creationId xmlns:a16="http://schemas.microsoft.com/office/drawing/2014/main" id="{E62858E3-9E02-7868-1FA5-6F7E843C14AF}"/>
              </a:ext>
            </a:extLst>
          </p:cNvPr>
          <p:cNvCxnSpPr>
            <a:cxnSpLocks noChangeShapeType="1"/>
            <a:stCxn id="214031" idx="3"/>
            <a:endCxn id="214032" idx="7"/>
          </p:cNvCxnSpPr>
          <p:nvPr/>
        </p:nvCxnSpPr>
        <p:spPr bwMode="auto">
          <a:xfrm flipH="1">
            <a:off x="4570413" y="989013"/>
            <a:ext cx="460375" cy="612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4036" name="AutoShape 20">
            <a:extLst>
              <a:ext uri="{FF2B5EF4-FFF2-40B4-BE49-F238E27FC236}">
                <a16:creationId xmlns:a16="http://schemas.microsoft.com/office/drawing/2014/main" id="{383001B4-FAE1-64CB-1228-27DDB4F4BEBC}"/>
              </a:ext>
            </a:extLst>
          </p:cNvPr>
          <p:cNvCxnSpPr>
            <a:cxnSpLocks noChangeShapeType="1"/>
            <a:stCxn id="214032" idx="4"/>
            <a:endCxn id="214033" idx="0"/>
          </p:cNvCxnSpPr>
          <p:nvPr/>
        </p:nvCxnSpPr>
        <p:spPr bwMode="auto">
          <a:xfrm>
            <a:off x="4381500" y="20574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EC20645-025E-9AFF-3560-D41D94DC2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A87BC8-C136-43AA-9F4C-252DAAF5814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826376" name="Rectangle 8">
            <a:extLst>
              <a:ext uri="{FF2B5EF4-FFF2-40B4-BE49-F238E27FC236}">
                <a16:creationId xmlns:a16="http://schemas.microsoft.com/office/drawing/2014/main" id="{13933A59-2F66-9411-F214-724D578FE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pic>
        <p:nvPicPr>
          <p:cNvPr id="826385" name="Picture 17">
            <a:extLst>
              <a:ext uri="{FF2B5EF4-FFF2-40B4-BE49-F238E27FC236}">
                <a16:creationId xmlns:a16="http://schemas.microsoft.com/office/drawing/2014/main" id="{B845AF8D-97BA-3E94-69AE-C308E38E9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3048000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6394" name="Text Box 26">
            <a:extLst>
              <a:ext uri="{FF2B5EF4-FFF2-40B4-BE49-F238E27FC236}">
                <a16:creationId xmlns:a16="http://schemas.microsoft.com/office/drawing/2014/main" id="{BE879274-F6F7-F249-0AF7-36952141C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447800"/>
            <a:ext cx="46482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Suppose you are trying to determine if a patient has pneumonia.  You observe the following symptoms: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The patient has a cough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The patient has a fever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The patient has difficulty breathing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E93411F-FCDB-7926-1E58-557ABABA9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B3B38-225A-475B-B837-DA93BC0B608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31490" name="Rectangle 2">
            <a:extLst>
              <a:ext uri="{FF2B5EF4-FFF2-40B4-BE49-F238E27FC236}">
                <a16:creationId xmlns:a16="http://schemas.microsoft.com/office/drawing/2014/main" id="{0C23EC49-A659-DFFC-95FD-314CBE114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pic>
        <p:nvPicPr>
          <p:cNvPr id="831491" name="Picture 3">
            <a:extLst>
              <a:ext uri="{FF2B5EF4-FFF2-40B4-BE49-F238E27FC236}">
                <a16:creationId xmlns:a16="http://schemas.microsoft.com/office/drawing/2014/main" id="{9FBAE906-8D4D-69A7-8F99-85669ECA6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3048000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1492" name="Text Box 4">
            <a:extLst>
              <a:ext uri="{FF2B5EF4-FFF2-40B4-BE49-F238E27FC236}">
                <a16:creationId xmlns:a16="http://schemas.microsoft.com/office/drawing/2014/main" id="{5EF01207-97E2-613F-A153-F5202F59F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447800"/>
            <a:ext cx="4648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You would like to determine how likely the patient has pneumonia given that the patient has a cough, a fever, and difficulty breathing</a:t>
            </a:r>
          </a:p>
        </p:txBody>
      </p:sp>
      <p:sp>
        <p:nvSpPr>
          <p:cNvPr id="831494" name="Text Box 6">
            <a:extLst>
              <a:ext uri="{FF2B5EF4-FFF2-40B4-BE49-F238E27FC236}">
                <a16:creationId xmlns:a16="http://schemas.microsoft.com/office/drawing/2014/main" id="{123BC5B3-0456-4242-E9DD-50F991278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352800"/>
            <a:ext cx="4648200" cy="1562100"/>
          </a:xfrm>
          <a:prstGeom prst="rect">
            <a:avLst/>
          </a:prstGeom>
          <a:solidFill>
            <a:srgbClr val="FF99CC"/>
          </a:solidFill>
          <a:ln w="9525">
            <a:solidFill>
              <a:srgbClr val="99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We are not 100% certain that the patient has pneumonia because of these symptoms.  We are dealing with uncertainty!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AA80DAF-713F-1774-D1F4-042DCD2D3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3C311-ED7E-4A0A-94E1-ACFD258FC08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32514" name="Rectangle 2">
            <a:extLst>
              <a:ext uri="{FF2B5EF4-FFF2-40B4-BE49-F238E27FC236}">
                <a16:creationId xmlns:a16="http://schemas.microsoft.com/office/drawing/2014/main" id="{A4CBAB2A-E710-59A3-9440-22E2DFB11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pic>
        <p:nvPicPr>
          <p:cNvPr id="832521" name="Picture 9">
            <a:extLst>
              <a:ext uri="{FF2B5EF4-FFF2-40B4-BE49-F238E27FC236}">
                <a16:creationId xmlns:a16="http://schemas.microsoft.com/office/drawing/2014/main" id="{B982E376-CDB7-4AA8-EAFA-EA6F83FF8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3348038" cy="33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2522" name="Text Box 10">
            <a:extLst>
              <a:ext uri="{FF2B5EF4-FFF2-40B4-BE49-F238E27FC236}">
                <a16:creationId xmlns:a16="http://schemas.microsoft.com/office/drawing/2014/main" id="{DAD0FCA2-225C-434F-C7AC-D110DA4CB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676400"/>
            <a:ext cx="46482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Now suppose you order a chest x-ray and the results are positive. 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Your belief that that the patient has pneumonia is now much higher.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FD71D1-21C2-E2B8-6EC9-DA5AAA8C0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94906-9E2D-44BA-AADE-6C492FF8F9C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33538" name="Rectangle 2">
            <a:extLst>
              <a:ext uri="{FF2B5EF4-FFF2-40B4-BE49-F238E27FC236}">
                <a16:creationId xmlns:a16="http://schemas.microsoft.com/office/drawing/2014/main" id="{EE12A323-1553-3C8F-D188-CFA559BF8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sp>
        <p:nvSpPr>
          <p:cNvPr id="833539" name="Rectangle 3">
            <a:extLst>
              <a:ext uri="{FF2B5EF4-FFF2-40B4-BE49-F238E27FC236}">
                <a16:creationId xmlns:a16="http://schemas.microsoft.com/office/drawing/2014/main" id="{0151E8BF-1580-C37A-7A65-E9996BB5F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810000"/>
          </a:xfrm>
        </p:spPr>
        <p:txBody>
          <a:bodyPr/>
          <a:lstStyle/>
          <a:p>
            <a:r>
              <a:rPr lang="en-US" altLang="en-US"/>
              <a:t>In the previous slides, what you observed affected your belief that the patient has pneumonia</a:t>
            </a:r>
          </a:p>
          <a:p>
            <a:r>
              <a:rPr lang="en-US" altLang="en-US"/>
              <a:t>This is called </a:t>
            </a:r>
            <a:r>
              <a:rPr lang="en-US" altLang="en-US">
                <a:solidFill>
                  <a:srgbClr val="FF0000"/>
                </a:solidFill>
              </a:rPr>
              <a:t>reasoning with uncertainty</a:t>
            </a:r>
          </a:p>
          <a:p>
            <a:r>
              <a:rPr lang="en-US" altLang="en-US"/>
              <a:t>Wouldn’t it be nice if we had some methodology for reasoning with uncertainty? Why in fact, we do...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DC16B6D-8A08-07CE-B722-836FA056C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C6A38F-A538-4311-9536-7E0F9EF8091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34562" name="Rectangle 2">
            <a:extLst>
              <a:ext uri="{FF2B5EF4-FFF2-40B4-BE49-F238E27FC236}">
                <a16:creationId xmlns:a16="http://schemas.microsoft.com/office/drawing/2014/main" id="{EC549070-24FC-8D07-8B18-B22AA21F1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Networks</a:t>
            </a:r>
          </a:p>
        </p:txBody>
      </p:sp>
      <p:sp>
        <p:nvSpPr>
          <p:cNvPr id="834563" name="Rectangle 3">
            <a:extLst>
              <a:ext uri="{FF2B5EF4-FFF2-40B4-BE49-F238E27FC236}">
                <a16:creationId xmlns:a16="http://schemas.microsoft.com/office/drawing/2014/main" id="{C2E0BB49-008F-592D-CA45-65535E493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772400" cy="5105400"/>
          </a:xfrm>
        </p:spPr>
        <p:txBody>
          <a:bodyPr/>
          <a:lstStyle/>
          <a:p>
            <a:r>
              <a:rPr lang="en-US" altLang="en-US" sz="2800" dirty="0"/>
              <a:t>Bayesian networks help us reason with uncertainty</a:t>
            </a:r>
          </a:p>
          <a:p>
            <a:r>
              <a:rPr lang="en-US" altLang="en-US" sz="2800" dirty="0"/>
              <a:t>In the opinion of many AI researchers, Bayesian  networks were the most significant contribution in AI between 1990s and 2000s.</a:t>
            </a:r>
          </a:p>
          <a:p>
            <a:r>
              <a:rPr lang="en-US" altLang="en-US" sz="2800" dirty="0"/>
              <a:t>They are used in many applications </a:t>
            </a:r>
            <a:r>
              <a:rPr lang="en-US" altLang="en-US" sz="2800" dirty="0" err="1"/>
              <a:t>eg.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400" dirty="0"/>
              <a:t>Spam filtering / Text mining</a:t>
            </a:r>
          </a:p>
          <a:p>
            <a:pPr lvl="1"/>
            <a:r>
              <a:rPr lang="en-US" altLang="en-US" sz="2400" dirty="0"/>
              <a:t>Speech recognition</a:t>
            </a:r>
          </a:p>
          <a:p>
            <a:pPr lvl="1"/>
            <a:r>
              <a:rPr lang="en-US" altLang="en-US" sz="2400" dirty="0"/>
              <a:t>Robotics</a:t>
            </a:r>
          </a:p>
          <a:p>
            <a:pPr lvl="1"/>
            <a:r>
              <a:rPr lang="en-US" altLang="en-US" sz="2400" dirty="0"/>
              <a:t>Diagnostic systems</a:t>
            </a:r>
          </a:p>
          <a:p>
            <a:pPr lvl="1"/>
            <a:r>
              <a:rPr lang="en-US" altLang="en-US" sz="2400" dirty="0"/>
              <a:t>Syndromic surveillance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8ACF53D-9215-2D3F-959E-6830820DA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C720-306A-406C-BC86-1EF38CF8AF0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891906" name="Rectangle 2">
            <a:extLst>
              <a:ext uri="{FF2B5EF4-FFF2-40B4-BE49-F238E27FC236}">
                <a16:creationId xmlns:a16="http://schemas.microsoft.com/office/drawing/2014/main" id="{BD8CFB5D-7D46-4746-2515-B357EB2AC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Bayesian Networks (An Example)</a:t>
            </a:r>
          </a:p>
        </p:txBody>
      </p:sp>
      <p:pic>
        <p:nvPicPr>
          <p:cNvPr id="891907" name="Picture 3">
            <a:extLst>
              <a:ext uri="{FF2B5EF4-FFF2-40B4-BE49-F238E27FC236}">
                <a16:creationId xmlns:a16="http://schemas.microsoft.com/office/drawing/2014/main" id="{39244BF8-91C7-A07B-9562-11C66D501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539038" cy="404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1908" name="AutoShape 4">
            <a:extLst>
              <a:ext uri="{FF2B5EF4-FFF2-40B4-BE49-F238E27FC236}">
                <a16:creationId xmlns:a16="http://schemas.microsoft.com/office/drawing/2014/main" id="{3151A314-D83A-7189-D26D-DEE90BC5D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638800"/>
            <a:ext cx="5105400" cy="685800"/>
          </a:xfrm>
          <a:prstGeom prst="wedgeRectCallout">
            <a:avLst>
              <a:gd name="adj1" fmla="val -23912"/>
              <a:gd name="adj2" fmla="val -84259"/>
            </a:avLst>
          </a:prstGeom>
          <a:solidFill>
            <a:srgbClr val="66FF66"/>
          </a:solidFill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From: </a:t>
            </a:r>
            <a:r>
              <a:rPr lang="en-US" altLang="en-US" sz="1200">
                <a:solidFill>
                  <a:srgbClr val="000000"/>
                </a:solidFill>
                <a:cs typeface="Times New Roman" panose="02020603050405020304" pitchFamily="18" charset="0"/>
              </a:rPr>
              <a:t>Aronsky, D. and Haug, P.J., Diagnosing community-acquired pneumonia with a Bayesian network, In: </a:t>
            </a:r>
            <a:r>
              <a:rPr lang="en-US" altLang="en-US" sz="1200" i="1">
                <a:solidFill>
                  <a:srgbClr val="000000"/>
                </a:solidFill>
                <a:cs typeface="Times New Roman" panose="02020603050405020304" pitchFamily="18" charset="0"/>
              </a:rPr>
              <a:t>Proceedings of the Fall Symposium of the American Medical Informatics Association, </a:t>
            </a:r>
            <a:r>
              <a:rPr lang="en-US" altLang="en-US" sz="1200">
                <a:solidFill>
                  <a:srgbClr val="000000"/>
                </a:solidFill>
                <a:cs typeface="Times New Roman" panose="02020603050405020304" pitchFamily="18" charset="0"/>
              </a:rPr>
              <a:t>(1998) 632-636.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E355156-1929-8017-80EE-84B70A365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721D7-D525-4C25-A750-CEABA93421A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36610" name="Rectangle 2">
            <a:extLst>
              <a:ext uri="{FF2B5EF4-FFF2-40B4-BE49-F238E27FC236}">
                <a16:creationId xmlns:a16="http://schemas.microsoft.com/office/drawing/2014/main" id="{8E40801F-5AF3-7D3D-CE10-BA69F5282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836611" name="Rectangle 3">
            <a:extLst>
              <a:ext uri="{FF2B5EF4-FFF2-40B4-BE49-F238E27FC236}">
                <a16:creationId xmlns:a16="http://schemas.microsoft.com/office/drawing/2014/main" id="{1E972623-EA8B-CD2B-5857-093B46103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772400" cy="46482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/>
              <a:t>Introduction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Probability Primer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Bayesian networks 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Bayesian networks in syndromic surveillance</a:t>
            </a:r>
          </a:p>
          <a:p>
            <a:pPr marL="609600" indent="-609600">
              <a:buFontTx/>
              <a:buAutoNum type="arabicPeriod"/>
            </a:pPr>
            <a:endParaRPr lang="en-US" altLang="en-US"/>
          </a:p>
        </p:txBody>
      </p:sp>
      <p:sp>
        <p:nvSpPr>
          <p:cNvPr id="836612" name="AutoShape 4">
            <a:extLst>
              <a:ext uri="{FF2B5EF4-FFF2-40B4-BE49-F238E27FC236}">
                <a16:creationId xmlns:a16="http://schemas.microsoft.com/office/drawing/2014/main" id="{962D0437-E76F-033C-02A4-2FDF7AAA2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8D5A379-4799-8154-A7E6-9B7524A98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2A856-4339-479E-9CC3-DDDB873A763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845826" name="Rectangle 2">
            <a:extLst>
              <a:ext uri="{FF2B5EF4-FFF2-40B4-BE49-F238E27FC236}">
                <a16:creationId xmlns:a16="http://schemas.microsoft.com/office/drawing/2014/main" id="{A1535D4B-D78B-77D5-3A9F-D6D5D06D4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/>
          <a:lstStyle/>
          <a:p>
            <a:r>
              <a:rPr lang="en-US" altLang="en-US" sz="4000"/>
              <a:t>Probability Primer: Random Variables</a:t>
            </a:r>
          </a:p>
        </p:txBody>
      </p:sp>
      <p:sp>
        <p:nvSpPr>
          <p:cNvPr id="845827" name="Rectangle 3">
            <a:extLst>
              <a:ext uri="{FF2B5EF4-FFF2-40B4-BE49-F238E27FC236}">
                <a16:creationId xmlns:a16="http://schemas.microsoft.com/office/drawing/2014/main" id="{02D5DD06-B314-39C4-CE02-695F2E9B3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8542" y="2613009"/>
            <a:ext cx="8207477" cy="3810000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random variable </a:t>
            </a:r>
            <a:r>
              <a:rPr lang="en-US" altLang="en-US" dirty="0"/>
              <a:t>is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the basic element of probability </a:t>
            </a: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Refers to an event and there is some degree of uncertainty as to the outcome of the event</a:t>
            </a:r>
          </a:p>
          <a:p>
            <a:r>
              <a:rPr lang="en-US" altLang="en-US" dirty="0"/>
              <a:t>For example, the random variable </a:t>
            </a:r>
            <a:r>
              <a:rPr lang="en-US" altLang="en-US" i="1" dirty="0"/>
              <a:t>A</a:t>
            </a:r>
            <a:r>
              <a:rPr lang="en-US" altLang="en-US" dirty="0"/>
              <a:t> could be the event of getting a heads on a coin flip</a:t>
            </a:r>
          </a:p>
        </p:txBody>
      </p:sp>
      <p:pic>
        <p:nvPicPr>
          <p:cNvPr id="845828" name="Picture 4">
            <a:extLst>
              <a:ext uri="{FF2B5EF4-FFF2-40B4-BE49-F238E27FC236}">
                <a16:creationId xmlns:a16="http://schemas.microsoft.com/office/drawing/2014/main" id="{FF48BE8D-0616-E9BE-29C3-CA740C3FF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712" y="5181600"/>
            <a:ext cx="1196975" cy="1106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C93091-6B68-DF8E-0F0E-E73CB56D0232}"/>
              </a:ext>
            </a:extLst>
          </p:cNvPr>
          <p:cNvSpPr txBox="1"/>
          <p:nvPr/>
        </p:nvSpPr>
        <p:spPr>
          <a:xfrm>
            <a:off x="381000" y="1179212"/>
            <a:ext cx="82074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 variable called random variable because : They can take on different values. Their values are uncertain and described by probabilities.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5323F03-2B5E-8053-2155-8A3135872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A3A7ED-7763-45E2-8D7E-ED83870197FF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847874" name="Rectangle 2">
            <a:extLst>
              <a:ext uri="{FF2B5EF4-FFF2-40B4-BE49-F238E27FC236}">
                <a16:creationId xmlns:a16="http://schemas.microsoft.com/office/drawing/2014/main" id="{947D97B2-0BD0-BE6F-311F-91851FB15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Boolean Random Variables</a:t>
            </a:r>
          </a:p>
        </p:txBody>
      </p:sp>
      <p:sp>
        <p:nvSpPr>
          <p:cNvPr id="847875" name="Rectangle 3">
            <a:extLst>
              <a:ext uri="{FF2B5EF4-FFF2-40B4-BE49-F238E27FC236}">
                <a16:creationId xmlns:a16="http://schemas.microsoft.com/office/drawing/2014/main" id="{A5345E22-932B-419B-36C7-2F992EEF8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altLang="en-US" sz="2800"/>
              <a:t>We deal with the simplest type of random variables – Boolean ones</a:t>
            </a:r>
          </a:p>
          <a:p>
            <a:r>
              <a:rPr lang="en-US" altLang="en-US" sz="2800"/>
              <a:t>Take the values </a:t>
            </a:r>
            <a:r>
              <a:rPr lang="en-US" altLang="en-US" sz="2800" i="1"/>
              <a:t>true</a:t>
            </a:r>
            <a:r>
              <a:rPr lang="en-US" altLang="en-US" sz="2800"/>
              <a:t> or </a:t>
            </a:r>
            <a:r>
              <a:rPr lang="en-US" altLang="en-US" sz="2800" i="1"/>
              <a:t>false</a:t>
            </a:r>
          </a:p>
          <a:p>
            <a:r>
              <a:rPr lang="en-US" altLang="en-US" sz="2800"/>
              <a:t>Think of the event as occurring or not occurring</a:t>
            </a:r>
          </a:p>
          <a:p>
            <a:r>
              <a:rPr lang="en-US" altLang="en-US" sz="2800"/>
              <a:t>Examples (Let </a:t>
            </a:r>
            <a:r>
              <a:rPr lang="en-US" altLang="en-US" sz="2800" i="1"/>
              <a:t>A</a:t>
            </a:r>
            <a:r>
              <a:rPr lang="en-US" altLang="en-US" sz="2800"/>
              <a:t> be a Boolean random variable):</a:t>
            </a:r>
          </a:p>
          <a:p>
            <a:pPr lvl="1">
              <a:buFontTx/>
              <a:buNone/>
            </a:pPr>
            <a:r>
              <a:rPr lang="en-US" altLang="en-US" i="1"/>
              <a:t>A</a:t>
            </a:r>
            <a:r>
              <a:rPr lang="en-US" altLang="en-US"/>
              <a:t> = Getting heads on a coin flip </a:t>
            </a:r>
          </a:p>
          <a:p>
            <a:pPr lvl="1">
              <a:buFontTx/>
              <a:buNone/>
            </a:pPr>
            <a:r>
              <a:rPr lang="en-US" altLang="en-US" i="1"/>
              <a:t>A</a:t>
            </a:r>
            <a:r>
              <a:rPr lang="en-US" altLang="en-US"/>
              <a:t> = It will rain today</a:t>
            </a:r>
          </a:p>
          <a:p>
            <a:pPr lvl="1">
              <a:buFontTx/>
              <a:buNone/>
            </a:pPr>
            <a:r>
              <a:rPr lang="en-US" altLang="en-US" i="1"/>
              <a:t>A</a:t>
            </a:r>
            <a:r>
              <a:rPr lang="en-US" altLang="en-US"/>
              <a:t> = There is a typo in these slides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F3A0AD0-8693-1C1A-593C-9EAA9FFEF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AE46F-E4DF-4007-9031-56A00B3F5CF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848898" name="Rectangle 2">
            <a:extLst>
              <a:ext uri="{FF2B5EF4-FFF2-40B4-BE49-F238E27FC236}">
                <a16:creationId xmlns:a16="http://schemas.microsoft.com/office/drawing/2014/main" id="{6214520A-A3C5-C4A2-CF3C-3A0FCA7AF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Probabilities</a:t>
            </a:r>
          </a:p>
        </p:txBody>
      </p:sp>
      <p:sp>
        <p:nvSpPr>
          <p:cNvPr id="848900" name="Text Box 4">
            <a:extLst>
              <a:ext uri="{FF2B5EF4-FFF2-40B4-BE49-F238E27FC236}">
                <a16:creationId xmlns:a16="http://schemas.microsoft.com/office/drawing/2014/main" id="{AFEB7E28-1A06-D3EE-56B8-B9EBCE656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581400"/>
            <a:ext cx="2593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C6C7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Arial" panose="020B0604020202020204" pitchFamily="34" charset="0"/>
              </a:rPr>
              <a:t>The sum of the red and blue areas is 1</a:t>
            </a:r>
          </a:p>
        </p:txBody>
      </p:sp>
      <p:sp>
        <p:nvSpPr>
          <p:cNvPr id="848901" name="Rectangle 5">
            <a:extLst>
              <a:ext uri="{FF2B5EF4-FFF2-40B4-BE49-F238E27FC236}">
                <a16:creationId xmlns:a16="http://schemas.microsoft.com/office/drawing/2014/main" id="{E4E7F1C4-74D4-E9B5-6E59-5612CE654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276600"/>
            <a:ext cx="3810000" cy="2533650"/>
          </a:xfrm>
          <a:prstGeom prst="rect">
            <a:avLst/>
          </a:prstGeom>
          <a:solidFill>
            <a:srgbClr val="99CCFF"/>
          </a:solidFill>
          <a:ln w="3175">
            <a:solidFill>
              <a:srgbClr val="00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48902" name="Oval 6">
            <a:extLst>
              <a:ext uri="{FF2B5EF4-FFF2-40B4-BE49-F238E27FC236}">
                <a16:creationId xmlns:a16="http://schemas.microsoft.com/office/drawing/2014/main" id="{2C2A338A-9DF1-CB10-4E94-4A4D49EA0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371850"/>
            <a:ext cx="1905000" cy="1822450"/>
          </a:xfrm>
          <a:prstGeom prst="ellipse">
            <a:avLst/>
          </a:prstGeom>
          <a:solidFill>
            <a:srgbClr val="FF99CC"/>
          </a:solidFill>
          <a:ln w="31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  <a:p>
            <a:pPr algn="ctr"/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48903" name="Text Box 7">
            <a:extLst>
              <a:ext uri="{FF2B5EF4-FFF2-40B4-BE49-F238E27FC236}">
                <a16:creationId xmlns:a16="http://schemas.microsoft.com/office/drawing/2014/main" id="{D112A17F-B398-283B-52E6-7F2DBBDD0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276850"/>
            <a:ext cx="1252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C6C7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00099"/>
                </a:solidFill>
                <a:latin typeface="Arial" panose="020B0604020202020204" pitchFamily="34" charset="0"/>
              </a:rPr>
              <a:t>P(A = false)</a:t>
            </a:r>
          </a:p>
        </p:txBody>
      </p:sp>
      <p:sp>
        <p:nvSpPr>
          <p:cNvPr id="848904" name="Text Box 8">
            <a:extLst>
              <a:ext uri="{FF2B5EF4-FFF2-40B4-BE49-F238E27FC236}">
                <a16:creationId xmlns:a16="http://schemas.microsoft.com/office/drawing/2014/main" id="{02FD2680-F58F-C044-2705-31A567074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411480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C6C7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>
                <a:solidFill>
                  <a:srgbClr val="FF0000"/>
                </a:solidFill>
                <a:latin typeface="Arial" panose="020B0604020202020204" pitchFamily="34" charset="0"/>
              </a:rPr>
              <a:t>P(A = true)</a:t>
            </a:r>
          </a:p>
        </p:txBody>
      </p:sp>
      <p:sp>
        <p:nvSpPr>
          <p:cNvPr id="848907" name="Line 11">
            <a:extLst>
              <a:ext uri="{FF2B5EF4-FFF2-40B4-BE49-F238E27FC236}">
                <a16:creationId xmlns:a16="http://schemas.microsoft.com/office/drawing/2014/main" id="{590DE234-DCB8-E1FC-4370-7C29870F9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343400"/>
            <a:ext cx="990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48908" name="Text Box 12">
            <a:extLst>
              <a:ext uri="{FF2B5EF4-FFF2-40B4-BE49-F238E27FC236}">
                <a16:creationId xmlns:a16="http://schemas.microsoft.com/office/drawing/2014/main" id="{194565B7-09B5-5CCA-C984-55C72BF68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3058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We will write </a:t>
            </a:r>
            <a:r>
              <a:rPr lang="en-US" altLang="en-US" i="1"/>
              <a:t>P(A = true)</a:t>
            </a:r>
            <a:r>
              <a:rPr lang="en-US" altLang="en-US"/>
              <a:t> to mean the probability that </a:t>
            </a:r>
            <a:r>
              <a:rPr lang="en-US" altLang="en-US" i="1"/>
              <a:t>A = true</a:t>
            </a:r>
            <a:r>
              <a:rPr lang="en-US" altLang="en-US"/>
              <a:t>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What is probability?  It is the relative frequency with which an outcome would be obtained if the process were repeated a large number of times under similar conditions</a:t>
            </a:r>
            <a:r>
              <a:rPr lang="en-US" altLang="en-US" baseline="30000"/>
              <a:t>*</a:t>
            </a:r>
          </a:p>
        </p:txBody>
      </p:sp>
      <p:pic>
        <p:nvPicPr>
          <p:cNvPr id="848910" name="Picture 14">
            <a:extLst>
              <a:ext uri="{FF2B5EF4-FFF2-40B4-BE49-F238E27FC236}">
                <a16:creationId xmlns:a16="http://schemas.microsoft.com/office/drawing/2014/main" id="{0A012083-73A7-8A02-254E-E1A56AF9B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86400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8911" name="AutoShape 15">
            <a:extLst>
              <a:ext uri="{FF2B5EF4-FFF2-40B4-BE49-F238E27FC236}">
                <a16:creationId xmlns:a16="http://schemas.microsoft.com/office/drawing/2014/main" id="{0019A9DE-6451-3A90-E2DA-4AE8523B7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724400"/>
            <a:ext cx="2819400" cy="685800"/>
          </a:xfrm>
          <a:prstGeom prst="wedgeRoundRectCallout">
            <a:avLst>
              <a:gd name="adj1" fmla="val -50620"/>
              <a:gd name="adj2" fmla="val 745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200" baseline="30000"/>
              <a:t>*</a:t>
            </a:r>
            <a:r>
              <a:rPr lang="en-US" altLang="en-US" sz="1200"/>
              <a:t>Ahem…there’s also the Bayesian definition which says probability is your degree of belief in an outcome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8D85691-AF52-65F9-0665-507246F49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E08AA-5382-44BF-8FB0-E96BD525EA4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849922" name="Rectangle 2">
            <a:extLst>
              <a:ext uri="{FF2B5EF4-FFF2-40B4-BE49-F238E27FC236}">
                <a16:creationId xmlns:a16="http://schemas.microsoft.com/office/drawing/2014/main" id="{BB69209A-1F36-5454-A6C9-28AA0C823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Conditional Probability</a:t>
            </a:r>
          </a:p>
        </p:txBody>
      </p:sp>
      <p:sp>
        <p:nvSpPr>
          <p:cNvPr id="849923" name="Rectangle 3">
            <a:extLst>
              <a:ext uri="{FF2B5EF4-FFF2-40B4-BE49-F238E27FC236}">
                <a16:creationId xmlns:a16="http://schemas.microsoft.com/office/drawing/2014/main" id="{B36B6005-2E08-D0A8-4316-365C8981F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167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P(</a:t>
            </a:r>
            <a:r>
              <a:rPr lang="en-US" altLang="en-US" sz="2400" i="1"/>
              <a:t>A = true </a:t>
            </a:r>
            <a:r>
              <a:rPr lang="en-US" altLang="en-US" sz="2400"/>
              <a:t>| </a:t>
            </a:r>
            <a:r>
              <a:rPr lang="en-US" altLang="en-US" sz="2400" i="1"/>
              <a:t>B = true</a:t>
            </a:r>
            <a:r>
              <a:rPr lang="en-US" altLang="en-US" sz="2400"/>
              <a:t>) = Out of all the outcomes in which </a:t>
            </a:r>
            <a:r>
              <a:rPr lang="en-US" altLang="en-US" sz="2400" i="1"/>
              <a:t>B</a:t>
            </a:r>
            <a:r>
              <a:rPr lang="en-US" altLang="en-US" sz="2400"/>
              <a:t> is true, how many also have </a:t>
            </a:r>
            <a:r>
              <a:rPr lang="en-US" altLang="en-US" sz="2400" i="1"/>
              <a:t>A</a:t>
            </a:r>
            <a:r>
              <a:rPr lang="en-US" altLang="en-US" sz="2400"/>
              <a:t> equal to true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Read this as: “Probability of </a:t>
            </a:r>
            <a:r>
              <a:rPr lang="en-US" altLang="en-US" sz="2400" i="1"/>
              <a:t>A</a:t>
            </a:r>
            <a:r>
              <a:rPr lang="en-US" altLang="en-US" sz="2400"/>
              <a:t> conditioned on </a:t>
            </a:r>
            <a:r>
              <a:rPr lang="en-US" altLang="en-US" sz="2400" i="1"/>
              <a:t>B</a:t>
            </a:r>
            <a:r>
              <a:rPr lang="en-US" altLang="en-US" sz="2400"/>
              <a:t>” or “Probability of </a:t>
            </a:r>
            <a:r>
              <a:rPr lang="en-US" altLang="en-US" sz="2400" i="1"/>
              <a:t>A</a:t>
            </a:r>
            <a:r>
              <a:rPr lang="en-US" altLang="en-US" sz="2400"/>
              <a:t> given </a:t>
            </a:r>
            <a:r>
              <a:rPr lang="en-US" altLang="en-US" sz="2400" i="1"/>
              <a:t>B</a:t>
            </a:r>
            <a:r>
              <a:rPr lang="en-US" altLang="en-US" sz="2400"/>
              <a:t>”</a:t>
            </a:r>
          </a:p>
        </p:txBody>
      </p:sp>
      <p:sp>
        <p:nvSpPr>
          <p:cNvPr id="849936" name="Text Box 16">
            <a:extLst>
              <a:ext uri="{FF2B5EF4-FFF2-40B4-BE49-F238E27FC236}">
                <a16:creationId xmlns:a16="http://schemas.microsoft.com/office/drawing/2014/main" id="{6C409AC3-B1A8-489D-EA39-5D9390FDF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814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i="1">
                <a:solidFill>
                  <a:srgbClr val="0000FF"/>
                </a:solidFill>
              </a:rPr>
              <a:t>P(F = true)</a:t>
            </a:r>
          </a:p>
        </p:txBody>
      </p:sp>
      <p:sp>
        <p:nvSpPr>
          <p:cNvPr id="849937" name="Text Box 17">
            <a:extLst>
              <a:ext uri="{FF2B5EF4-FFF2-40B4-BE49-F238E27FC236}">
                <a16:creationId xmlns:a16="http://schemas.microsoft.com/office/drawing/2014/main" id="{3B550D8A-63F9-17EC-9892-D64FCF53A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4102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i="1">
                <a:solidFill>
                  <a:srgbClr val="FF0000"/>
                </a:solidFill>
              </a:rPr>
              <a:t>P(H = true)</a:t>
            </a:r>
          </a:p>
        </p:txBody>
      </p:sp>
      <p:sp>
        <p:nvSpPr>
          <p:cNvPr id="849938" name="Rectangle 18">
            <a:extLst>
              <a:ext uri="{FF2B5EF4-FFF2-40B4-BE49-F238E27FC236}">
                <a16:creationId xmlns:a16="http://schemas.microsoft.com/office/drawing/2014/main" id="{B5D6062C-655F-0167-42E0-5196AE3A9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124200"/>
            <a:ext cx="3733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39" name="Rectangle 19">
            <a:extLst>
              <a:ext uri="{FF2B5EF4-FFF2-40B4-BE49-F238E27FC236}">
                <a16:creationId xmlns:a16="http://schemas.microsoft.com/office/drawing/2014/main" id="{2262318A-6790-42EF-D2AD-6C81DA7DB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895600"/>
            <a:ext cx="4572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>
                <a:solidFill>
                  <a:srgbClr val="FF0000"/>
                </a:solidFill>
              </a:rPr>
              <a:t>H </a:t>
            </a:r>
            <a:r>
              <a:rPr lang="en-US" altLang="en-US" sz="2000">
                <a:solidFill>
                  <a:srgbClr val="FF0000"/>
                </a:solidFill>
              </a:rPr>
              <a:t>= “Have a headache”</a:t>
            </a:r>
          </a:p>
          <a:p>
            <a:r>
              <a:rPr lang="en-US" altLang="en-US" sz="2000" i="1">
                <a:solidFill>
                  <a:srgbClr val="0000FF"/>
                </a:solidFill>
              </a:rPr>
              <a:t>F</a:t>
            </a:r>
            <a:r>
              <a:rPr lang="en-US" altLang="en-US" sz="2000">
                <a:solidFill>
                  <a:srgbClr val="0000FF"/>
                </a:solidFill>
              </a:rPr>
              <a:t> = “Coming down with Flu”</a:t>
            </a:r>
          </a:p>
          <a:p>
            <a:endParaRPr lang="en-US" altLang="en-US" sz="2000"/>
          </a:p>
          <a:p>
            <a:r>
              <a:rPr lang="en-US" altLang="en-US" sz="2000">
                <a:solidFill>
                  <a:srgbClr val="FF0000"/>
                </a:solidFill>
              </a:rPr>
              <a:t>P(</a:t>
            </a:r>
            <a:r>
              <a:rPr lang="en-US" altLang="en-US" sz="2000" i="1">
                <a:solidFill>
                  <a:srgbClr val="FF0000"/>
                </a:solidFill>
              </a:rPr>
              <a:t>H = true</a:t>
            </a:r>
            <a:r>
              <a:rPr lang="en-US" altLang="en-US" sz="2000">
                <a:solidFill>
                  <a:srgbClr val="FF0000"/>
                </a:solidFill>
              </a:rPr>
              <a:t>) = 1/10</a:t>
            </a:r>
          </a:p>
          <a:p>
            <a:r>
              <a:rPr lang="en-US" altLang="en-US" sz="2000">
                <a:solidFill>
                  <a:srgbClr val="0000FF"/>
                </a:solidFill>
              </a:rPr>
              <a:t>P(</a:t>
            </a:r>
            <a:r>
              <a:rPr lang="en-US" altLang="en-US" sz="2000" i="1">
                <a:solidFill>
                  <a:srgbClr val="0000FF"/>
                </a:solidFill>
              </a:rPr>
              <a:t>F = true</a:t>
            </a:r>
            <a:r>
              <a:rPr lang="en-US" altLang="en-US" sz="2000">
                <a:solidFill>
                  <a:srgbClr val="0000FF"/>
                </a:solidFill>
              </a:rPr>
              <a:t>) = 1/40</a:t>
            </a:r>
          </a:p>
          <a:p>
            <a:r>
              <a:rPr lang="en-US" altLang="en-US" sz="2000"/>
              <a:t>P(</a:t>
            </a:r>
            <a:r>
              <a:rPr lang="en-US" altLang="en-US" sz="2000" i="1"/>
              <a:t>H  = true </a:t>
            </a:r>
            <a:r>
              <a:rPr lang="en-US" altLang="en-US" sz="2000"/>
              <a:t>| </a:t>
            </a:r>
            <a:r>
              <a:rPr lang="en-US" altLang="en-US" sz="2000" i="1"/>
              <a:t>F = true</a:t>
            </a:r>
            <a:r>
              <a:rPr lang="en-US" altLang="en-US" sz="2000"/>
              <a:t>) = 1/2</a:t>
            </a:r>
          </a:p>
          <a:p>
            <a:endParaRPr lang="en-US" altLang="en-US" sz="2000"/>
          </a:p>
          <a:p>
            <a:r>
              <a:rPr lang="en-US" altLang="en-US" sz="2000"/>
              <a:t>“Headaches are rare and flu is rarer, but if you’re coming down with flu there’s a 50-50 chance you’ll have a headache.”</a:t>
            </a:r>
          </a:p>
        </p:txBody>
      </p:sp>
      <p:sp>
        <p:nvSpPr>
          <p:cNvPr id="849941" name="Rectangle 21">
            <a:extLst>
              <a:ext uri="{FF2B5EF4-FFF2-40B4-BE49-F238E27FC236}">
                <a16:creationId xmlns:a16="http://schemas.microsoft.com/office/drawing/2014/main" id="{BEA24BBC-3E0D-80F7-8D6D-AD04D49A9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648200"/>
            <a:ext cx="2971800" cy="1143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40" name="Rectangle 20">
            <a:extLst>
              <a:ext uri="{FF2B5EF4-FFF2-40B4-BE49-F238E27FC236}">
                <a16:creationId xmlns:a16="http://schemas.microsoft.com/office/drawing/2014/main" id="{08A6338F-C83D-E941-4B83-8DE4C7E3F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581400"/>
            <a:ext cx="1524000" cy="16002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3888005-57DC-C900-EF38-844462E8A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9D901-7D35-40DF-9E1D-7AC9A04CA91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851970" name="Rectangle 2">
            <a:extLst>
              <a:ext uri="{FF2B5EF4-FFF2-40B4-BE49-F238E27FC236}">
                <a16:creationId xmlns:a16="http://schemas.microsoft.com/office/drawing/2014/main" id="{78A21C8A-96C5-C43F-CCA5-164D73B92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Joint Probability Distribution</a:t>
            </a:r>
          </a:p>
        </p:txBody>
      </p:sp>
      <p:sp>
        <p:nvSpPr>
          <p:cNvPr id="851971" name="Rectangle 3">
            <a:extLst>
              <a:ext uri="{FF2B5EF4-FFF2-40B4-BE49-F238E27FC236}">
                <a16:creationId xmlns:a16="http://schemas.microsoft.com/office/drawing/2014/main" id="{DDC14E21-FFAD-915C-F904-FF9EB5068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7772400" cy="4648200"/>
          </a:xfrm>
        </p:spPr>
        <p:txBody>
          <a:bodyPr/>
          <a:lstStyle/>
          <a:p>
            <a:r>
              <a:rPr lang="en-US" altLang="en-US" dirty="0"/>
              <a:t>We will write </a:t>
            </a:r>
            <a:r>
              <a:rPr lang="en-US" altLang="en-US" i="1" dirty="0"/>
              <a:t>P(A = true, B = true)</a:t>
            </a:r>
            <a:r>
              <a:rPr lang="en-US" altLang="en-US" dirty="0"/>
              <a:t> to mean “the probability of </a:t>
            </a:r>
            <a:r>
              <a:rPr lang="en-US" altLang="en-US" i="1" dirty="0"/>
              <a:t>A = true</a:t>
            </a:r>
            <a:r>
              <a:rPr lang="en-US" altLang="en-US" dirty="0"/>
              <a:t> </a:t>
            </a:r>
            <a:r>
              <a:rPr lang="en-US" altLang="en-US" b="1" dirty="0"/>
              <a:t>and</a:t>
            </a:r>
            <a:r>
              <a:rPr lang="en-US" altLang="en-US" dirty="0"/>
              <a:t> </a:t>
            </a:r>
            <a:r>
              <a:rPr lang="en-US" altLang="en-US" i="1" dirty="0"/>
              <a:t>B = true</a:t>
            </a:r>
            <a:r>
              <a:rPr lang="en-US" altLang="en-US" dirty="0"/>
              <a:t>”</a:t>
            </a:r>
          </a:p>
          <a:p>
            <a:r>
              <a:rPr lang="en-US" altLang="en-US" dirty="0"/>
              <a:t>Notice that:</a:t>
            </a:r>
          </a:p>
          <a:p>
            <a:endParaRPr lang="en-US" altLang="en-US" dirty="0"/>
          </a:p>
        </p:txBody>
      </p:sp>
      <p:sp>
        <p:nvSpPr>
          <p:cNvPr id="851972" name="Text Box 4">
            <a:extLst>
              <a:ext uri="{FF2B5EF4-FFF2-40B4-BE49-F238E27FC236}">
                <a16:creationId xmlns:a16="http://schemas.microsoft.com/office/drawing/2014/main" id="{2B407D36-0EB0-0695-055F-D253B8A81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710113"/>
            <a:ext cx="416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51973" name="Text Box 5">
            <a:extLst>
              <a:ext uri="{FF2B5EF4-FFF2-40B4-BE49-F238E27FC236}">
                <a16:creationId xmlns:a16="http://schemas.microsoft.com/office/drawing/2014/main" id="{77EC0CEF-9885-4EDC-6D72-C496FC0FC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352800"/>
            <a:ext cx="4240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latin typeface="Tahoma" panose="020B0604030504040204" pitchFamily="34" charset="0"/>
              </a:rPr>
              <a:t>P(</a:t>
            </a:r>
            <a:r>
              <a:rPr lang="en-US" altLang="en-US" sz="2000" i="1">
                <a:latin typeface="Tahoma" panose="020B0604030504040204" pitchFamily="34" charset="0"/>
              </a:rPr>
              <a:t>H=true</a:t>
            </a:r>
            <a:r>
              <a:rPr lang="en-US" altLang="en-US" sz="2000">
                <a:latin typeface="Tahoma" panose="020B0604030504040204" pitchFamily="34" charset="0"/>
              </a:rPr>
              <a:t>|</a:t>
            </a:r>
            <a:r>
              <a:rPr lang="en-US" altLang="en-US" sz="2000" i="1">
                <a:latin typeface="Tahoma" panose="020B0604030504040204" pitchFamily="34" charset="0"/>
              </a:rPr>
              <a:t>F=true</a:t>
            </a:r>
            <a:r>
              <a:rPr lang="en-US" altLang="en-US" sz="200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851974" name="Object 6">
            <a:extLst>
              <a:ext uri="{FF2B5EF4-FFF2-40B4-BE49-F238E27FC236}">
                <a16:creationId xmlns:a16="http://schemas.microsoft.com/office/drawing/2014/main" id="{5349D15E-CF0B-8B01-4CB5-5092A8E74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810000"/>
          <a:ext cx="35052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431640" progId="Equation.3">
                  <p:embed/>
                </p:oleObj>
              </mc:Choice>
              <mc:Fallback>
                <p:oleObj name="Equation" r:id="rId2" imgW="171432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810000"/>
                        <a:ext cx="35052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5" name="Object 7">
            <a:extLst>
              <a:ext uri="{FF2B5EF4-FFF2-40B4-BE49-F238E27FC236}">
                <a16:creationId xmlns:a16="http://schemas.microsoft.com/office/drawing/2014/main" id="{98D7502D-CA54-0127-66A5-2E884930D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4648200"/>
          <a:ext cx="292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419040" progId="Equation.3">
                  <p:embed/>
                </p:oleObj>
              </mc:Choice>
              <mc:Fallback>
                <p:oleObj name="Equation" r:id="rId4" imgW="146016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4648200"/>
                        <a:ext cx="292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81" name="Text Box 13">
            <a:extLst>
              <a:ext uri="{FF2B5EF4-FFF2-40B4-BE49-F238E27FC236}">
                <a16:creationId xmlns:a16="http://schemas.microsoft.com/office/drawing/2014/main" id="{2936D0D6-9174-5AB4-F7AA-2E6EA307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6388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In general, </a:t>
            </a:r>
            <a:r>
              <a:rPr lang="en-US" altLang="en-US" i="1" dirty="0"/>
              <a:t>P(X|Y)</a:t>
            </a:r>
            <a:r>
              <a:rPr lang="en-US" altLang="en-US" dirty="0"/>
              <a:t>=</a:t>
            </a:r>
            <a:r>
              <a:rPr lang="en-US" altLang="en-US" i="1" dirty="0"/>
              <a:t>P(X,Y)</a:t>
            </a:r>
            <a:r>
              <a:rPr lang="en-US" altLang="en-US" dirty="0"/>
              <a:t>/</a:t>
            </a:r>
            <a:r>
              <a:rPr lang="en-US" altLang="en-US" i="1" dirty="0"/>
              <a:t>P(Y)</a:t>
            </a:r>
          </a:p>
        </p:txBody>
      </p:sp>
      <p:sp>
        <p:nvSpPr>
          <p:cNvPr id="851987" name="Text Box 19">
            <a:extLst>
              <a:ext uri="{FF2B5EF4-FFF2-40B4-BE49-F238E27FC236}">
                <a16:creationId xmlns:a16="http://schemas.microsoft.com/office/drawing/2014/main" id="{5A7E1B13-D492-A7D1-8C45-BB4054CCF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5814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i="1">
                <a:solidFill>
                  <a:srgbClr val="0000FF"/>
                </a:solidFill>
              </a:rPr>
              <a:t>P(F = true)</a:t>
            </a:r>
          </a:p>
        </p:txBody>
      </p:sp>
      <p:sp>
        <p:nvSpPr>
          <p:cNvPr id="851988" name="Text Box 20">
            <a:extLst>
              <a:ext uri="{FF2B5EF4-FFF2-40B4-BE49-F238E27FC236}">
                <a16:creationId xmlns:a16="http://schemas.microsoft.com/office/drawing/2014/main" id="{234802E3-3048-F662-4CBB-184D20040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4102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i="1">
                <a:solidFill>
                  <a:srgbClr val="FF0000"/>
                </a:solidFill>
              </a:rPr>
              <a:t>P(H = true)</a:t>
            </a:r>
          </a:p>
        </p:txBody>
      </p:sp>
      <p:sp>
        <p:nvSpPr>
          <p:cNvPr id="851989" name="Rectangle 21">
            <a:extLst>
              <a:ext uri="{FF2B5EF4-FFF2-40B4-BE49-F238E27FC236}">
                <a16:creationId xmlns:a16="http://schemas.microsoft.com/office/drawing/2014/main" id="{A9C9EF3B-B4FC-0B70-344A-E9818FEEF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124200"/>
            <a:ext cx="3733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1990" name="Rectangle 22">
            <a:extLst>
              <a:ext uri="{FF2B5EF4-FFF2-40B4-BE49-F238E27FC236}">
                <a16:creationId xmlns:a16="http://schemas.microsoft.com/office/drawing/2014/main" id="{D5251484-BE8C-4E1F-A951-18463AE8C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648200"/>
            <a:ext cx="2971800" cy="1143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1991" name="Rectangle 23">
            <a:extLst>
              <a:ext uri="{FF2B5EF4-FFF2-40B4-BE49-F238E27FC236}">
                <a16:creationId xmlns:a16="http://schemas.microsoft.com/office/drawing/2014/main" id="{E9F12CF1-1ABF-93D6-E9F2-47817F92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581400"/>
            <a:ext cx="1524000" cy="16002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386D6-22FA-EC0C-81E7-7C01AFBCD151}"/>
              </a:ext>
            </a:extLst>
          </p:cNvPr>
          <p:cNvSpPr txBox="1"/>
          <p:nvPr/>
        </p:nvSpPr>
        <p:spPr>
          <a:xfrm>
            <a:off x="4572000" y="6248400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P(X|Y) = P(X) P(Y|X) /P(Y)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47E43CF-EB6A-5121-2BF9-362AB9F85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9D3D9-C8FA-41E6-B8C6-878BFCC76FF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854018" name="Rectangle 2">
            <a:extLst>
              <a:ext uri="{FF2B5EF4-FFF2-40B4-BE49-F238E27FC236}">
                <a16:creationId xmlns:a16="http://schemas.microsoft.com/office/drawing/2014/main" id="{B4210394-02C1-3E18-18F6-11750B066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Joint Probability Distribution</a:t>
            </a:r>
          </a:p>
        </p:txBody>
      </p:sp>
      <p:sp>
        <p:nvSpPr>
          <p:cNvPr id="854019" name="Rectangle 3">
            <a:extLst>
              <a:ext uri="{FF2B5EF4-FFF2-40B4-BE49-F238E27FC236}">
                <a16:creationId xmlns:a16="http://schemas.microsoft.com/office/drawing/2014/main" id="{75493FF7-C66F-2E38-98DD-F5D4EEEDD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4876800" cy="3276600"/>
          </a:xfrm>
        </p:spPr>
        <p:txBody>
          <a:bodyPr/>
          <a:lstStyle/>
          <a:p>
            <a:r>
              <a:rPr lang="en-US" altLang="en-US" sz="2400"/>
              <a:t>Joint probabilities can be between any number of variables</a:t>
            </a:r>
          </a:p>
          <a:p>
            <a:pPr>
              <a:buFontTx/>
              <a:buNone/>
            </a:pPr>
            <a:r>
              <a:rPr lang="en-US" altLang="en-US" sz="2400"/>
              <a:t>	eg. </a:t>
            </a:r>
            <a:r>
              <a:rPr lang="en-US" altLang="en-US" sz="2400" i="1"/>
              <a:t>P(A = true, B = true, C = true)</a:t>
            </a:r>
          </a:p>
          <a:p>
            <a:r>
              <a:rPr lang="en-US" altLang="en-US" sz="2400"/>
              <a:t>For each combination of variables, we need to say how probable that combination is</a:t>
            </a:r>
          </a:p>
          <a:p>
            <a:r>
              <a:rPr lang="en-US" altLang="en-US" sz="2400"/>
              <a:t>The probabilities of these combinations need to sum to 1</a:t>
            </a:r>
          </a:p>
        </p:txBody>
      </p:sp>
      <p:graphicFrame>
        <p:nvGraphicFramePr>
          <p:cNvPr id="854093" name="Group 77">
            <a:extLst>
              <a:ext uri="{FF2B5EF4-FFF2-40B4-BE49-F238E27FC236}">
                <a16:creationId xmlns:a16="http://schemas.microsoft.com/office/drawing/2014/main" id="{AA13F02E-C10A-15D0-9D96-3CA2E0CBFA0E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1447800"/>
          <a:ext cx="3124200" cy="32918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3886979824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511900500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186223042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43553389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P(A,B,C)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146283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716497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492561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764809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056483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582268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956300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968679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2249"/>
                  </a:ext>
                </a:extLst>
              </a:tr>
            </a:tbl>
          </a:graphicData>
        </a:graphic>
      </p:graphicFrame>
      <p:sp>
        <p:nvSpPr>
          <p:cNvPr id="854094" name="AutoShape 78">
            <a:extLst>
              <a:ext uri="{FF2B5EF4-FFF2-40B4-BE49-F238E27FC236}">
                <a16:creationId xmlns:a16="http://schemas.microsoft.com/office/drawing/2014/main" id="{6C759CFA-CE9F-85B3-0CA5-EAA91BB2F979}"/>
              </a:ext>
            </a:extLst>
          </p:cNvPr>
          <p:cNvSpPr>
            <a:spLocks/>
          </p:cNvSpPr>
          <p:nvPr/>
        </p:nvSpPr>
        <p:spPr bwMode="auto">
          <a:xfrm rot="5400000">
            <a:off x="7772400" y="4343400"/>
            <a:ext cx="381000" cy="11430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4095" name="Text Box 79">
            <a:extLst>
              <a:ext uri="{FF2B5EF4-FFF2-40B4-BE49-F238E27FC236}">
                <a16:creationId xmlns:a16="http://schemas.microsoft.com/office/drawing/2014/main" id="{06171CAA-9FEF-A3E3-B3B0-349AF5AB3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2578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Sums to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AA61FD6-F953-B77E-A78B-DFF8D3C153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C7E0F-C261-4CA7-9238-6A433AF33F2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855042" name="Rectangle 2">
            <a:extLst>
              <a:ext uri="{FF2B5EF4-FFF2-40B4-BE49-F238E27FC236}">
                <a16:creationId xmlns:a16="http://schemas.microsoft.com/office/drawing/2014/main" id="{05281B30-969C-FE75-F6AD-07DE38FF3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Joint Probability Distribution</a:t>
            </a:r>
          </a:p>
        </p:txBody>
      </p:sp>
      <p:sp>
        <p:nvSpPr>
          <p:cNvPr id="855043" name="Rectangle 3">
            <a:extLst>
              <a:ext uri="{FF2B5EF4-FFF2-40B4-BE49-F238E27FC236}">
                <a16:creationId xmlns:a16="http://schemas.microsoft.com/office/drawing/2014/main" id="{E52D7C4D-1EE7-3CDE-0F19-446D8A45FE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4876800" cy="2286000"/>
          </a:xfrm>
        </p:spPr>
        <p:txBody>
          <a:bodyPr/>
          <a:lstStyle/>
          <a:p>
            <a:pPr marL="350838" indent="-350838">
              <a:lnSpc>
                <a:spcPct val="80000"/>
              </a:lnSpc>
            </a:pPr>
            <a:r>
              <a:rPr lang="en-US" altLang="en-US" sz="2400"/>
              <a:t>Once you have the joint probability distribution, you can calculate any probability involving </a:t>
            </a:r>
            <a:r>
              <a:rPr lang="en-US" altLang="en-US" sz="2400" i="1"/>
              <a:t>A</a:t>
            </a:r>
            <a:r>
              <a:rPr lang="en-US" altLang="en-US" sz="2400"/>
              <a:t>, </a:t>
            </a:r>
            <a:r>
              <a:rPr lang="en-US" altLang="en-US" sz="2400" i="1"/>
              <a:t>B</a:t>
            </a:r>
            <a:r>
              <a:rPr lang="en-US" altLang="en-US" sz="2400"/>
              <a:t>, and </a:t>
            </a:r>
            <a:r>
              <a:rPr lang="en-US" altLang="en-US" sz="2400" i="1"/>
              <a:t>C</a:t>
            </a:r>
            <a:r>
              <a:rPr lang="en-US" altLang="en-US" sz="2400"/>
              <a:t> </a:t>
            </a:r>
          </a:p>
          <a:p>
            <a:pPr marL="350838" indent="-350838">
              <a:lnSpc>
                <a:spcPct val="80000"/>
              </a:lnSpc>
            </a:pPr>
            <a:r>
              <a:rPr lang="en-US" altLang="en-US" sz="2400"/>
              <a:t>Note: May need to use marginalization and Bayes rule, (both of which are not discussed in these slides)</a:t>
            </a:r>
          </a:p>
        </p:txBody>
      </p:sp>
      <p:graphicFrame>
        <p:nvGraphicFramePr>
          <p:cNvPr id="855044" name="Group 4">
            <a:extLst>
              <a:ext uri="{FF2B5EF4-FFF2-40B4-BE49-F238E27FC236}">
                <a16:creationId xmlns:a16="http://schemas.microsoft.com/office/drawing/2014/main" id="{A536737C-7C82-D42E-70EE-32AF4844717B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1219200"/>
          <a:ext cx="3124200" cy="32918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502307766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3611436142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4814566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90838989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P(A,B,C)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694224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772563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657660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655288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62421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170992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098441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68780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792373"/>
                  </a:ext>
                </a:extLst>
              </a:tr>
            </a:tbl>
          </a:graphicData>
        </a:graphic>
      </p:graphicFrame>
      <p:sp>
        <p:nvSpPr>
          <p:cNvPr id="855098" name="Text Box 58">
            <a:extLst>
              <a:ext uri="{FF2B5EF4-FFF2-40B4-BE49-F238E27FC236}">
                <a16:creationId xmlns:a16="http://schemas.microsoft.com/office/drawing/2014/main" id="{80CACE5D-6653-5219-9730-29E029DCE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91000"/>
            <a:ext cx="6858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0838" indent="-35083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Examples of things you can compute: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solidFill>
                  <a:srgbClr val="FF0000"/>
                </a:solidFill>
              </a:rPr>
              <a:t>P(A=true)</a:t>
            </a:r>
            <a:r>
              <a:rPr lang="en-US" altLang="en-US" dirty="0">
                <a:solidFill>
                  <a:srgbClr val="FF0000"/>
                </a:solidFill>
              </a:rPr>
              <a:t> = sum of </a:t>
            </a:r>
            <a:r>
              <a:rPr lang="en-US" altLang="en-US" i="1" dirty="0">
                <a:solidFill>
                  <a:srgbClr val="FF0000"/>
                </a:solidFill>
              </a:rPr>
              <a:t>P(A,B,C)</a:t>
            </a:r>
            <a:r>
              <a:rPr lang="en-US" altLang="en-US" dirty="0">
                <a:solidFill>
                  <a:srgbClr val="FF0000"/>
                </a:solidFill>
              </a:rPr>
              <a:t> in rows with </a:t>
            </a:r>
            <a:r>
              <a:rPr lang="en-US" altLang="en-US" i="1" dirty="0">
                <a:solidFill>
                  <a:srgbClr val="FF0000"/>
                </a:solidFill>
              </a:rPr>
              <a:t>A=true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i="1" dirty="0">
                <a:solidFill>
                  <a:srgbClr val="CC00FF"/>
                </a:solidFill>
              </a:rPr>
              <a:t>P(A=true, B = true | C=true)</a:t>
            </a:r>
            <a:r>
              <a:rPr lang="en-US" altLang="en-US" dirty="0">
                <a:solidFill>
                  <a:srgbClr val="CC00FF"/>
                </a:solidFill>
              </a:rPr>
              <a:t> =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CC00FF"/>
                </a:solidFill>
              </a:rPr>
              <a:t>	</a:t>
            </a:r>
            <a:r>
              <a:rPr lang="en-US" altLang="en-US" i="1" dirty="0">
                <a:solidFill>
                  <a:srgbClr val="CC00FF"/>
                </a:solidFill>
              </a:rPr>
              <a:t>P(A = true, B = true, C = true)</a:t>
            </a:r>
            <a:r>
              <a:rPr lang="en-US" altLang="en-US" dirty="0">
                <a:solidFill>
                  <a:srgbClr val="CC00FF"/>
                </a:solidFill>
              </a:rPr>
              <a:t> / </a:t>
            </a:r>
            <a:r>
              <a:rPr lang="en-US" altLang="en-US" i="1" dirty="0">
                <a:solidFill>
                  <a:srgbClr val="CC00FF"/>
                </a:solidFill>
              </a:rPr>
              <a:t>P(C = true)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6799F57-8E23-606F-7E77-B988ED1A75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09EEB-71B1-4E61-A3D7-E93794E0885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856066" name="Rectangle 2">
            <a:extLst>
              <a:ext uri="{FF2B5EF4-FFF2-40B4-BE49-F238E27FC236}">
                <a16:creationId xmlns:a16="http://schemas.microsoft.com/office/drawing/2014/main" id="{2FD08982-57F6-7A18-BD36-902BA5A52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The Problem with the Joint Distribution</a:t>
            </a:r>
          </a:p>
        </p:txBody>
      </p:sp>
      <p:sp>
        <p:nvSpPr>
          <p:cNvPr id="856067" name="Rectangle 3">
            <a:extLst>
              <a:ext uri="{FF2B5EF4-FFF2-40B4-BE49-F238E27FC236}">
                <a16:creationId xmlns:a16="http://schemas.microsoft.com/office/drawing/2014/main" id="{8360D477-D4F9-D05D-DBC3-5DE0996E0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41910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Lots of entries in the table to fill up!</a:t>
            </a:r>
          </a:p>
          <a:p>
            <a:pPr>
              <a:lnSpc>
                <a:spcPct val="90000"/>
              </a:lnSpc>
            </a:pPr>
            <a:r>
              <a:rPr lang="en-US" altLang="en-US"/>
              <a:t>For </a:t>
            </a:r>
            <a:r>
              <a:rPr lang="en-US" altLang="en-US" i="1"/>
              <a:t>k</a:t>
            </a:r>
            <a:r>
              <a:rPr lang="en-US" altLang="en-US"/>
              <a:t> Boolean random variables, you need a table of size 2</a:t>
            </a:r>
            <a:r>
              <a:rPr lang="en-US" altLang="en-US" baseline="30000"/>
              <a:t>k</a:t>
            </a:r>
          </a:p>
          <a:p>
            <a:pPr>
              <a:lnSpc>
                <a:spcPct val="90000"/>
              </a:lnSpc>
            </a:pPr>
            <a:r>
              <a:rPr lang="en-US" altLang="en-US"/>
              <a:t>How do we use fewer numbers?  Need the concept of independence</a:t>
            </a:r>
          </a:p>
        </p:txBody>
      </p:sp>
      <p:graphicFrame>
        <p:nvGraphicFramePr>
          <p:cNvPr id="856068" name="Group 4">
            <a:extLst>
              <a:ext uri="{FF2B5EF4-FFF2-40B4-BE49-F238E27FC236}">
                <a16:creationId xmlns:a16="http://schemas.microsoft.com/office/drawing/2014/main" id="{AD60F687-79FF-E76E-FFC3-30A14315099A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124200" cy="32918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3823034418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417628652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91810365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40236630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P(A,B,C)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186915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413814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064421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764988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39767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414626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601810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272055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6376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9B10B9A-FDD8-B7D2-C3BA-5921ED246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8002E-5F2F-404C-9BD7-4E59C367718B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857090" name="Rectangle 2">
            <a:extLst>
              <a:ext uri="{FF2B5EF4-FFF2-40B4-BE49-F238E27FC236}">
                <a16:creationId xmlns:a16="http://schemas.microsoft.com/office/drawing/2014/main" id="{F1C7294A-802A-AD18-14CE-0B0240234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Independence</a:t>
            </a:r>
          </a:p>
        </p:txBody>
      </p:sp>
      <p:sp>
        <p:nvSpPr>
          <p:cNvPr id="857091" name="Rectangle 3">
            <a:extLst>
              <a:ext uri="{FF2B5EF4-FFF2-40B4-BE49-F238E27FC236}">
                <a16:creationId xmlns:a16="http://schemas.microsoft.com/office/drawing/2014/main" id="{6B1D68DE-0AE7-42C7-C89D-C20EAAF3B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971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Variables </a:t>
            </a:r>
            <a:r>
              <a:rPr lang="en-US" altLang="en-US" i="1" dirty="0">
                <a:solidFill>
                  <a:srgbClr val="FF0000"/>
                </a:solidFill>
              </a:rPr>
              <a:t>A</a:t>
            </a:r>
            <a:r>
              <a:rPr lang="en-US" altLang="en-US" dirty="0">
                <a:solidFill>
                  <a:srgbClr val="FF0000"/>
                </a:solidFill>
              </a:rPr>
              <a:t> and </a:t>
            </a:r>
            <a:r>
              <a:rPr lang="en-US" altLang="en-US" i="1" dirty="0">
                <a:solidFill>
                  <a:srgbClr val="FF0000"/>
                </a:solidFill>
              </a:rPr>
              <a:t>B</a:t>
            </a:r>
            <a:r>
              <a:rPr lang="en-US" altLang="en-US" dirty="0">
                <a:solidFill>
                  <a:srgbClr val="FF0000"/>
                </a:solidFill>
              </a:rPr>
              <a:t> are independent if any of the following hold:</a:t>
            </a:r>
          </a:p>
          <a:p>
            <a:r>
              <a:rPr lang="en-US" altLang="en-US" i="1" dirty="0"/>
              <a:t>P(A,B)</a:t>
            </a:r>
            <a:r>
              <a:rPr lang="en-US" altLang="en-US" dirty="0"/>
              <a:t> = </a:t>
            </a:r>
            <a:r>
              <a:rPr lang="en-US" altLang="en-US" i="1" dirty="0"/>
              <a:t>P(A)</a:t>
            </a:r>
            <a:r>
              <a:rPr lang="en-US" altLang="en-US" dirty="0"/>
              <a:t> </a:t>
            </a:r>
            <a:r>
              <a:rPr lang="en-US" altLang="en-US" i="1" dirty="0"/>
              <a:t>P(B)</a:t>
            </a:r>
          </a:p>
          <a:p>
            <a:r>
              <a:rPr lang="en-US" altLang="en-US" i="1" dirty="0"/>
              <a:t>P(A | B)</a:t>
            </a:r>
            <a:r>
              <a:rPr lang="en-US" altLang="en-US" dirty="0"/>
              <a:t> = </a:t>
            </a:r>
            <a:r>
              <a:rPr lang="en-US" altLang="en-US" i="1" dirty="0"/>
              <a:t>P(A)</a:t>
            </a:r>
          </a:p>
          <a:p>
            <a:r>
              <a:rPr lang="en-US" altLang="en-US" i="1" dirty="0"/>
              <a:t>P(B | A)</a:t>
            </a:r>
            <a:r>
              <a:rPr lang="en-US" altLang="en-US" dirty="0"/>
              <a:t> = </a:t>
            </a:r>
            <a:r>
              <a:rPr lang="en-US" altLang="en-US" i="1" dirty="0"/>
              <a:t>P(B)</a:t>
            </a:r>
          </a:p>
        </p:txBody>
      </p:sp>
      <p:sp>
        <p:nvSpPr>
          <p:cNvPr id="857093" name="Text Box 5">
            <a:extLst>
              <a:ext uri="{FF2B5EF4-FFF2-40B4-BE49-F238E27FC236}">
                <a16:creationId xmlns:a16="http://schemas.microsoft.com/office/drawing/2014/main" id="{4888AE9A-2D2A-5C28-E87A-91DFAFD9C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00600"/>
            <a:ext cx="4953000" cy="1196975"/>
          </a:xfrm>
          <a:prstGeom prst="rect">
            <a:avLst/>
          </a:prstGeom>
          <a:solidFill>
            <a:srgbClr val="FF99CC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This says that knowing the outcome of </a:t>
            </a:r>
            <a:r>
              <a:rPr lang="en-US" altLang="en-US" i="1"/>
              <a:t>A</a:t>
            </a:r>
            <a:r>
              <a:rPr lang="en-US" altLang="en-US"/>
              <a:t> does not tell me anything new about the outcome of </a:t>
            </a:r>
            <a:r>
              <a:rPr lang="en-US" altLang="en-US" i="1"/>
              <a:t>B</a:t>
            </a:r>
            <a:r>
              <a:rPr lang="en-US" altLang="en-US"/>
              <a:t>.</a:t>
            </a:r>
          </a:p>
        </p:txBody>
      </p:sp>
      <p:sp>
        <p:nvSpPr>
          <p:cNvPr id="857094" name="AutoShape 6">
            <a:extLst>
              <a:ext uri="{FF2B5EF4-FFF2-40B4-BE49-F238E27FC236}">
                <a16:creationId xmlns:a16="http://schemas.microsoft.com/office/drawing/2014/main" id="{FB300C85-A81A-B7B2-9A90-F8B34C808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267200"/>
            <a:ext cx="381000" cy="533400"/>
          </a:xfrm>
          <a:prstGeom prst="upArrow">
            <a:avLst>
              <a:gd name="adj1" fmla="val 50000"/>
              <a:gd name="adj2" fmla="val 35000"/>
            </a:avLst>
          </a:prstGeom>
          <a:solidFill>
            <a:srgbClr val="CC99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74C75DE-5172-FBB9-7B18-91360417D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3D763-F967-4B63-848C-F3573BC06D7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28C946B2-E0DA-992E-2F07-0FC7A2395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Independence</a:t>
            </a:r>
          </a:p>
        </p:txBody>
      </p:sp>
      <p:sp>
        <p:nvSpPr>
          <p:cNvPr id="858115" name="Rectangle 3">
            <a:extLst>
              <a:ext uri="{FF2B5EF4-FFF2-40B4-BE49-F238E27FC236}">
                <a16:creationId xmlns:a16="http://schemas.microsoft.com/office/drawing/2014/main" id="{6098D88A-FA0E-788B-C5B3-66F1E6ED9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304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/>
              <a:t>How is independence useful?</a:t>
            </a:r>
          </a:p>
          <a:p>
            <a:r>
              <a:rPr lang="en-US" altLang="en-US" sz="2800"/>
              <a:t>Suppose you have n coin flips and you want to calculate the joint distribution </a:t>
            </a:r>
            <a:r>
              <a:rPr lang="en-US" altLang="en-US" sz="2800" b="1" i="1"/>
              <a:t>P</a:t>
            </a:r>
            <a:r>
              <a:rPr lang="en-US" altLang="en-US" sz="2800"/>
              <a:t>(</a:t>
            </a:r>
            <a:r>
              <a:rPr lang="en-US" altLang="en-US" sz="2800" i="1"/>
              <a:t>C</a:t>
            </a:r>
            <a:r>
              <a:rPr lang="en-US" altLang="en-US" sz="2800" i="1" baseline="-25000"/>
              <a:t>1</a:t>
            </a:r>
            <a:r>
              <a:rPr lang="en-US" altLang="en-US" sz="2800"/>
              <a:t>, …, </a:t>
            </a:r>
            <a:r>
              <a:rPr lang="en-US" altLang="en-US" sz="2800" i="1"/>
              <a:t>C</a:t>
            </a:r>
            <a:r>
              <a:rPr lang="en-US" altLang="en-US" sz="2800" i="1" baseline="-25000"/>
              <a:t>n</a:t>
            </a:r>
            <a:r>
              <a:rPr lang="en-US" altLang="en-US" sz="2800"/>
              <a:t>)</a:t>
            </a:r>
          </a:p>
          <a:p>
            <a:r>
              <a:rPr lang="en-US" altLang="en-US" sz="2800"/>
              <a:t>If the coin flips are not independent, you need 2</a:t>
            </a:r>
            <a:r>
              <a:rPr lang="en-US" altLang="en-US" sz="2800" baseline="30000"/>
              <a:t>n</a:t>
            </a:r>
            <a:r>
              <a:rPr lang="en-US" altLang="en-US" sz="2800"/>
              <a:t> values in the table</a:t>
            </a:r>
          </a:p>
          <a:p>
            <a:r>
              <a:rPr lang="en-US" altLang="en-US" sz="2800"/>
              <a:t>If the coin flips are independent, then</a:t>
            </a:r>
          </a:p>
          <a:p>
            <a:endParaRPr lang="en-US" altLang="en-US" sz="2800"/>
          </a:p>
        </p:txBody>
      </p:sp>
      <p:graphicFrame>
        <p:nvGraphicFramePr>
          <p:cNvPr id="858116" name="Object 4">
            <a:extLst>
              <a:ext uri="{FF2B5EF4-FFF2-40B4-BE49-F238E27FC236}">
                <a16:creationId xmlns:a16="http://schemas.microsoft.com/office/drawing/2014/main" id="{6396ABB2-541F-4761-175B-B28C812B9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419600"/>
          <a:ext cx="3581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720" imgH="431640" progId="Equation.3">
                  <p:embed/>
                </p:oleObj>
              </mc:Choice>
              <mc:Fallback>
                <p:oleObj name="Equation" r:id="rId2" imgW="14857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3581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8118" name="Text Box 6">
            <a:extLst>
              <a:ext uri="{FF2B5EF4-FFF2-40B4-BE49-F238E27FC236}">
                <a16:creationId xmlns:a16="http://schemas.microsoft.com/office/drawing/2014/main" id="{CE30BF23-ABEB-91DE-F80B-F05028C6F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572000"/>
            <a:ext cx="3810000" cy="1196975"/>
          </a:xfrm>
          <a:prstGeom prst="rect">
            <a:avLst/>
          </a:prstGeom>
          <a:solidFill>
            <a:srgbClr val="FF99CC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Each P(</a:t>
            </a:r>
            <a:r>
              <a:rPr lang="en-US" altLang="en-US" i="1"/>
              <a:t>C</a:t>
            </a:r>
            <a:r>
              <a:rPr lang="en-US" altLang="en-US" i="1" baseline="-25000"/>
              <a:t>i</a:t>
            </a:r>
            <a:r>
              <a:rPr lang="en-US" altLang="en-US"/>
              <a:t>) table has 2 entries and there are </a:t>
            </a:r>
            <a:r>
              <a:rPr lang="en-US" altLang="en-US" i="1"/>
              <a:t>n</a:t>
            </a:r>
            <a:r>
              <a:rPr lang="en-US" altLang="en-US"/>
              <a:t> of them for a total of 2</a:t>
            </a:r>
            <a:r>
              <a:rPr lang="en-US" altLang="en-US" i="1"/>
              <a:t>n</a:t>
            </a:r>
            <a:r>
              <a:rPr lang="en-US" altLang="en-US"/>
              <a:t> values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679749-DA90-450F-A6FD-79744A613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0533D-74E5-4E69-8592-B620FEDAAF4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9E7970F0-4052-925C-3D51-E4E5A87FF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Conditional Independence</a:t>
            </a:r>
          </a:p>
        </p:txBody>
      </p:sp>
      <p:sp>
        <p:nvSpPr>
          <p:cNvPr id="859139" name="Rectangle 3">
            <a:extLst>
              <a:ext uri="{FF2B5EF4-FFF2-40B4-BE49-F238E27FC236}">
                <a16:creationId xmlns:a16="http://schemas.microsoft.com/office/drawing/2014/main" id="{24A11E49-3BDC-6057-2456-8184E6EAB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3352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Variables </a:t>
            </a:r>
            <a:r>
              <a:rPr lang="en-US" altLang="en-US" i="1" dirty="0">
                <a:solidFill>
                  <a:srgbClr val="C00000"/>
                </a:solidFill>
              </a:rPr>
              <a:t>A</a:t>
            </a:r>
            <a:r>
              <a:rPr lang="en-US" altLang="en-US" dirty="0">
                <a:solidFill>
                  <a:srgbClr val="C00000"/>
                </a:solidFill>
              </a:rPr>
              <a:t> and </a:t>
            </a:r>
            <a:r>
              <a:rPr lang="en-US" altLang="en-US" i="1" dirty="0">
                <a:solidFill>
                  <a:srgbClr val="C00000"/>
                </a:solidFill>
              </a:rPr>
              <a:t>B</a:t>
            </a:r>
            <a:r>
              <a:rPr lang="en-US" altLang="en-US" dirty="0">
                <a:solidFill>
                  <a:srgbClr val="C00000"/>
                </a:solidFill>
              </a:rPr>
              <a:t> are conditionally independent given </a:t>
            </a:r>
            <a:r>
              <a:rPr lang="en-US" altLang="en-US" i="1" dirty="0">
                <a:solidFill>
                  <a:srgbClr val="C00000"/>
                </a:solidFill>
              </a:rPr>
              <a:t>C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if any of the following hold:</a:t>
            </a:r>
          </a:p>
          <a:p>
            <a:r>
              <a:rPr lang="en-US" altLang="en-US" i="1" dirty="0"/>
              <a:t>P(A, B | C)</a:t>
            </a:r>
            <a:r>
              <a:rPr lang="en-US" altLang="en-US" dirty="0"/>
              <a:t> = </a:t>
            </a:r>
            <a:r>
              <a:rPr lang="en-US" altLang="en-US" i="1" dirty="0"/>
              <a:t>P(A | C)</a:t>
            </a:r>
            <a:r>
              <a:rPr lang="en-US" altLang="en-US" dirty="0"/>
              <a:t> </a:t>
            </a:r>
            <a:r>
              <a:rPr lang="en-US" altLang="en-US" i="1" dirty="0"/>
              <a:t>P(B | C)</a:t>
            </a:r>
          </a:p>
          <a:p>
            <a:r>
              <a:rPr lang="en-US" altLang="en-US" i="1" dirty="0"/>
              <a:t>P(A | B, C)</a:t>
            </a:r>
            <a:r>
              <a:rPr lang="en-US" altLang="en-US" dirty="0"/>
              <a:t> = </a:t>
            </a:r>
            <a:r>
              <a:rPr lang="en-US" altLang="en-US" i="1" dirty="0"/>
              <a:t>P(A | C)</a:t>
            </a:r>
          </a:p>
          <a:p>
            <a:r>
              <a:rPr lang="en-US" altLang="en-US" i="1" dirty="0"/>
              <a:t>P(B | A, C)</a:t>
            </a:r>
            <a:r>
              <a:rPr lang="en-US" altLang="en-US" dirty="0"/>
              <a:t> = </a:t>
            </a:r>
            <a:r>
              <a:rPr lang="en-US" altLang="en-US" i="1" dirty="0"/>
              <a:t>P(B | C)</a:t>
            </a:r>
          </a:p>
        </p:txBody>
      </p:sp>
      <p:sp>
        <p:nvSpPr>
          <p:cNvPr id="859142" name="Text Box 6">
            <a:extLst>
              <a:ext uri="{FF2B5EF4-FFF2-40B4-BE49-F238E27FC236}">
                <a16:creationId xmlns:a16="http://schemas.microsoft.com/office/drawing/2014/main" id="{8C078A18-175F-7AA6-2B8E-EA77F47A6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00600"/>
            <a:ext cx="6781800" cy="1562100"/>
          </a:xfrm>
          <a:prstGeom prst="rect">
            <a:avLst/>
          </a:prstGeom>
          <a:solidFill>
            <a:srgbClr val="FF99CC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Knowing </a:t>
            </a:r>
            <a:r>
              <a:rPr lang="en-US" altLang="en-US" i="1"/>
              <a:t>C </a:t>
            </a:r>
            <a:r>
              <a:rPr lang="en-US" altLang="en-US"/>
              <a:t>tells me everything about </a:t>
            </a:r>
            <a:r>
              <a:rPr lang="en-US" altLang="en-US" i="1"/>
              <a:t>B</a:t>
            </a:r>
            <a:r>
              <a:rPr lang="en-US" altLang="en-US"/>
              <a:t>. I don’t gain anything by knowing </a:t>
            </a:r>
            <a:r>
              <a:rPr lang="en-US" altLang="en-US" i="1"/>
              <a:t>A </a:t>
            </a:r>
            <a:r>
              <a:rPr lang="en-US" altLang="en-US"/>
              <a:t>(either because </a:t>
            </a:r>
            <a:r>
              <a:rPr lang="en-US" altLang="en-US" i="1"/>
              <a:t>A</a:t>
            </a:r>
            <a:r>
              <a:rPr lang="en-US" altLang="en-US"/>
              <a:t> doesn’t influence </a:t>
            </a:r>
            <a:r>
              <a:rPr lang="en-US" altLang="en-US" i="1"/>
              <a:t>B</a:t>
            </a:r>
            <a:r>
              <a:rPr lang="en-US" altLang="en-US"/>
              <a:t> or because knowing </a:t>
            </a:r>
            <a:r>
              <a:rPr lang="en-US" altLang="en-US" i="1"/>
              <a:t>C</a:t>
            </a:r>
            <a:r>
              <a:rPr lang="en-US" altLang="en-US"/>
              <a:t> provides all the information knowing </a:t>
            </a:r>
            <a:r>
              <a:rPr lang="en-US" altLang="en-US" i="1"/>
              <a:t>A</a:t>
            </a:r>
            <a:r>
              <a:rPr lang="en-US" altLang="en-US"/>
              <a:t> would give)</a:t>
            </a:r>
          </a:p>
        </p:txBody>
      </p:sp>
      <p:sp>
        <p:nvSpPr>
          <p:cNvPr id="859144" name="AutoShape 8">
            <a:extLst>
              <a:ext uri="{FF2B5EF4-FFF2-40B4-BE49-F238E27FC236}">
                <a16:creationId xmlns:a16="http://schemas.microsoft.com/office/drawing/2014/main" id="{B9F17ACC-6CFF-2235-1CBA-DDD151D9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267200"/>
            <a:ext cx="381000" cy="533400"/>
          </a:xfrm>
          <a:prstGeom prst="upArrow">
            <a:avLst>
              <a:gd name="adj1" fmla="val 50000"/>
              <a:gd name="adj2" fmla="val 35000"/>
            </a:avLst>
          </a:prstGeom>
          <a:solidFill>
            <a:srgbClr val="CC99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2EB26FC-BF76-1DC3-E6FE-9C6FDAA5F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F97AC6-5AE4-4DFB-BB9D-EC9E4AE6579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60162" name="Rectangle 2">
            <a:extLst>
              <a:ext uri="{FF2B5EF4-FFF2-40B4-BE49-F238E27FC236}">
                <a16:creationId xmlns:a16="http://schemas.microsoft.com/office/drawing/2014/main" id="{50331038-B284-80A7-800F-311570092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860163" name="Rectangle 3">
            <a:extLst>
              <a:ext uri="{FF2B5EF4-FFF2-40B4-BE49-F238E27FC236}">
                <a16:creationId xmlns:a16="http://schemas.microsoft.com/office/drawing/2014/main" id="{A6F30F0B-A128-B6F2-C2FF-F5EF00E9C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772400" cy="46482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en-US"/>
              <a:t>Introduction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Probability Primer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Bayesian networks </a:t>
            </a:r>
          </a:p>
          <a:p>
            <a:pPr marL="609600" indent="-609600">
              <a:buFontTx/>
              <a:buAutoNum type="arabicPeriod"/>
            </a:pPr>
            <a:r>
              <a:rPr lang="en-US" altLang="en-US"/>
              <a:t>Bayesian networks in syndromic surveillance</a:t>
            </a:r>
          </a:p>
          <a:p>
            <a:pPr marL="609600" indent="-609600">
              <a:buFontTx/>
              <a:buAutoNum type="arabicPeriod"/>
            </a:pPr>
            <a:endParaRPr lang="en-US" altLang="en-US"/>
          </a:p>
        </p:txBody>
      </p:sp>
      <p:sp>
        <p:nvSpPr>
          <p:cNvPr id="860164" name="AutoShape 4">
            <a:extLst>
              <a:ext uri="{FF2B5EF4-FFF2-40B4-BE49-F238E27FC236}">
                <a16:creationId xmlns:a16="http://schemas.microsoft.com/office/drawing/2014/main" id="{A6D5F02E-4516-1A06-5597-00D4FA94D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670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0" name="Rectangle 2">
            <a:extLst>
              <a:ext uri="{FF2B5EF4-FFF2-40B4-BE49-F238E27FC236}">
                <a16:creationId xmlns:a16="http://schemas.microsoft.com/office/drawing/2014/main" id="{8975EF0A-7CFA-B9FF-C0C7-7BF6DC239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altLang="en-US"/>
              <a:t>A Bayesian Network</a:t>
            </a:r>
          </a:p>
        </p:txBody>
      </p:sp>
      <p:sp>
        <p:nvSpPr>
          <p:cNvPr id="862211" name="Rectangle 3">
            <a:extLst>
              <a:ext uri="{FF2B5EF4-FFF2-40B4-BE49-F238E27FC236}">
                <a16:creationId xmlns:a16="http://schemas.microsoft.com/office/drawing/2014/main" id="{7C105F61-140A-F8B1-DE87-115ED5225FB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066800"/>
            <a:ext cx="4572000" cy="533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/>
              <a:t>A Bayesian network is made up of:</a:t>
            </a:r>
          </a:p>
        </p:txBody>
      </p:sp>
      <p:graphicFrame>
        <p:nvGraphicFramePr>
          <p:cNvPr id="862217" name="Group 9">
            <a:extLst>
              <a:ext uri="{FF2B5EF4-FFF2-40B4-BE49-F238E27FC236}">
                <a16:creationId xmlns:a16="http://schemas.microsoft.com/office/drawing/2014/main" id="{6CDD46B7-BB26-A163-A9B8-517584BD96BC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876800"/>
          <a:ext cx="1295400" cy="10058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34913933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58518633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818096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034332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860139"/>
                  </a:ext>
                </a:extLst>
              </a:tr>
            </a:tbl>
          </a:graphicData>
        </a:graphic>
      </p:graphicFrame>
      <p:sp>
        <p:nvSpPr>
          <p:cNvPr id="862297" name="Oval 89">
            <a:extLst>
              <a:ext uri="{FF2B5EF4-FFF2-40B4-BE49-F238E27FC236}">
                <a16:creationId xmlns:a16="http://schemas.microsoft.com/office/drawing/2014/main" id="{2551011A-476E-0CF5-7F96-E18AE6E7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7526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862298" name="Oval 90">
            <a:extLst>
              <a:ext uri="{FF2B5EF4-FFF2-40B4-BE49-F238E27FC236}">
                <a16:creationId xmlns:a16="http://schemas.microsoft.com/office/drawing/2014/main" id="{7D387C53-9358-2BC6-0FD9-FBC39D3BE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667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862299" name="Oval 91">
            <a:extLst>
              <a:ext uri="{FF2B5EF4-FFF2-40B4-BE49-F238E27FC236}">
                <a16:creationId xmlns:a16="http://schemas.microsoft.com/office/drawing/2014/main" id="{95FB8664-3EA4-A835-6665-DEEBB7EEC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5052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</a:p>
        </p:txBody>
      </p:sp>
      <p:sp>
        <p:nvSpPr>
          <p:cNvPr id="862300" name="Oval 92">
            <a:extLst>
              <a:ext uri="{FF2B5EF4-FFF2-40B4-BE49-F238E27FC236}">
                <a16:creationId xmlns:a16="http://schemas.microsoft.com/office/drawing/2014/main" id="{3AA510B3-C647-2F24-487F-C2DECF60D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052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</a:t>
            </a:r>
          </a:p>
        </p:txBody>
      </p:sp>
      <p:cxnSp>
        <p:nvCxnSpPr>
          <p:cNvPr id="862301" name="AutoShape 93">
            <a:extLst>
              <a:ext uri="{FF2B5EF4-FFF2-40B4-BE49-F238E27FC236}">
                <a16:creationId xmlns:a16="http://schemas.microsoft.com/office/drawing/2014/main" id="{B8706D94-73BD-49A4-9BF4-7DC9D844A6F3}"/>
              </a:ext>
            </a:extLst>
          </p:cNvPr>
          <p:cNvCxnSpPr>
            <a:cxnSpLocks noChangeShapeType="1"/>
            <a:stCxn id="862297" idx="4"/>
            <a:endCxn id="862298" idx="0"/>
          </p:cNvCxnSpPr>
          <p:nvPr/>
        </p:nvCxnSpPr>
        <p:spPr bwMode="auto">
          <a:xfrm>
            <a:off x="4838700" y="2286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2302" name="AutoShape 94">
            <a:extLst>
              <a:ext uri="{FF2B5EF4-FFF2-40B4-BE49-F238E27FC236}">
                <a16:creationId xmlns:a16="http://schemas.microsoft.com/office/drawing/2014/main" id="{78AF4593-CD73-A75C-1076-F8500A78DD54}"/>
              </a:ext>
            </a:extLst>
          </p:cNvPr>
          <p:cNvCxnSpPr>
            <a:cxnSpLocks noChangeShapeType="1"/>
            <a:stCxn id="862298" idx="3"/>
            <a:endCxn id="862299" idx="0"/>
          </p:cNvCxnSpPr>
          <p:nvPr/>
        </p:nvCxnSpPr>
        <p:spPr bwMode="auto">
          <a:xfrm flipH="1">
            <a:off x="4305300" y="31226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2303" name="AutoShape 95">
            <a:extLst>
              <a:ext uri="{FF2B5EF4-FFF2-40B4-BE49-F238E27FC236}">
                <a16:creationId xmlns:a16="http://schemas.microsoft.com/office/drawing/2014/main" id="{C1A96CF6-8F4B-F6E2-9DEA-EBF19775CA66}"/>
              </a:ext>
            </a:extLst>
          </p:cNvPr>
          <p:cNvCxnSpPr>
            <a:cxnSpLocks noChangeShapeType="1"/>
            <a:stCxn id="862298" idx="5"/>
            <a:endCxn id="862300" idx="0"/>
          </p:cNvCxnSpPr>
          <p:nvPr/>
        </p:nvCxnSpPr>
        <p:spPr bwMode="auto">
          <a:xfrm>
            <a:off x="5027613" y="31226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62409" name="Group 201">
            <a:extLst>
              <a:ext uri="{FF2B5EF4-FFF2-40B4-BE49-F238E27FC236}">
                <a16:creationId xmlns:a16="http://schemas.microsoft.com/office/drawing/2014/main" id="{F2E9E506-F921-EEA3-ED73-EABF8115E8B8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8043195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4624401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847792907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91533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38919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27107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11531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094252"/>
                  </a:ext>
                </a:extLst>
              </a:tr>
            </a:tbl>
          </a:graphicData>
        </a:graphic>
      </p:graphicFrame>
      <p:graphicFrame>
        <p:nvGraphicFramePr>
          <p:cNvPr id="862376" name="Group 168">
            <a:extLst>
              <a:ext uri="{FF2B5EF4-FFF2-40B4-BE49-F238E27FC236}">
                <a16:creationId xmlns:a16="http://schemas.microsoft.com/office/drawing/2014/main" id="{1DF9C682-04DC-BF9F-D9FF-82B42B866B51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85348866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2243811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11763530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267165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444119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618585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25575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518065"/>
                  </a:ext>
                </a:extLst>
              </a:tr>
            </a:tbl>
          </a:graphicData>
        </a:graphic>
      </p:graphicFrame>
      <p:graphicFrame>
        <p:nvGraphicFramePr>
          <p:cNvPr id="862377" name="Group 169">
            <a:extLst>
              <a:ext uri="{FF2B5EF4-FFF2-40B4-BE49-F238E27FC236}">
                <a16:creationId xmlns:a16="http://schemas.microsoft.com/office/drawing/2014/main" id="{7838E559-BADB-5759-0DBF-0A2F144DF8EB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487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2427128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182115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684854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54200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261287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02663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53555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694479"/>
                  </a:ext>
                </a:extLst>
              </a:tr>
            </a:tbl>
          </a:graphicData>
        </a:graphic>
      </p:graphicFrame>
      <p:sp>
        <p:nvSpPr>
          <p:cNvPr id="862410" name="Text Box 202">
            <a:extLst>
              <a:ext uri="{FF2B5EF4-FFF2-40B4-BE49-F238E27FC236}">
                <a16:creationId xmlns:a16="http://schemas.microsoft.com/office/drawing/2014/main" id="{E04E0723-DC6F-248C-9EAA-6D6A41DB9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002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1. A Directed Acyclic Graph</a:t>
            </a:r>
          </a:p>
        </p:txBody>
      </p:sp>
      <p:sp>
        <p:nvSpPr>
          <p:cNvPr id="862411" name="Text Box 203">
            <a:extLst>
              <a:ext uri="{FF2B5EF4-FFF2-40B4-BE49-F238E27FC236}">
                <a16:creationId xmlns:a16="http://schemas.microsoft.com/office/drawing/2014/main" id="{47C4EAFE-4999-7926-D549-92271A5BB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343400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2. A set of tables for each node in the graph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640DD597-B798-DB6C-D85C-632621993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F530E-7F96-414E-B627-B3F2E4D51C96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863234" name="Rectangle 2">
            <a:extLst>
              <a:ext uri="{FF2B5EF4-FFF2-40B4-BE49-F238E27FC236}">
                <a16:creationId xmlns:a16="http://schemas.microsoft.com/office/drawing/2014/main" id="{D4AE28AE-DF88-5BEB-72E7-B77086DE7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altLang="en-US"/>
              <a:t>A Directed Acyclic Graph</a:t>
            </a:r>
          </a:p>
        </p:txBody>
      </p:sp>
      <p:sp>
        <p:nvSpPr>
          <p:cNvPr id="863241" name="Oval 9">
            <a:extLst>
              <a:ext uri="{FF2B5EF4-FFF2-40B4-BE49-F238E27FC236}">
                <a16:creationId xmlns:a16="http://schemas.microsoft.com/office/drawing/2014/main" id="{B662CBD1-B6AE-D78E-BFAA-FB464110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4384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863242" name="Oval 10">
            <a:extLst>
              <a:ext uri="{FF2B5EF4-FFF2-40B4-BE49-F238E27FC236}">
                <a16:creationId xmlns:a16="http://schemas.microsoft.com/office/drawing/2014/main" id="{A9732C4B-27CA-02DA-5E4A-EC1509284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3528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863243" name="Oval 11">
            <a:extLst>
              <a:ext uri="{FF2B5EF4-FFF2-40B4-BE49-F238E27FC236}">
                <a16:creationId xmlns:a16="http://schemas.microsoft.com/office/drawing/2014/main" id="{1DA84F4E-2FD9-B3AF-E4AC-334851B04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</a:p>
        </p:txBody>
      </p:sp>
      <p:sp>
        <p:nvSpPr>
          <p:cNvPr id="863244" name="Oval 12">
            <a:extLst>
              <a:ext uri="{FF2B5EF4-FFF2-40B4-BE49-F238E27FC236}">
                <a16:creationId xmlns:a16="http://schemas.microsoft.com/office/drawing/2014/main" id="{B50F2ABF-0F0F-14BD-1838-89F041953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</a:t>
            </a:r>
          </a:p>
        </p:txBody>
      </p:sp>
      <p:cxnSp>
        <p:nvCxnSpPr>
          <p:cNvPr id="863245" name="AutoShape 13">
            <a:extLst>
              <a:ext uri="{FF2B5EF4-FFF2-40B4-BE49-F238E27FC236}">
                <a16:creationId xmlns:a16="http://schemas.microsoft.com/office/drawing/2014/main" id="{49835F78-1934-2E93-441D-8EB59C2C993C}"/>
              </a:ext>
            </a:extLst>
          </p:cNvPr>
          <p:cNvCxnSpPr>
            <a:cxnSpLocks noChangeShapeType="1"/>
            <a:stCxn id="863241" idx="4"/>
            <a:endCxn id="863242" idx="0"/>
          </p:cNvCxnSpPr>
          <p:nvPr/>
        </p:nvCxnSpPr>
        <p:spPr bwMode="auto">
          <a:xfrm>
            <a:off x="4457700" y="2971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3246" name="AutoShape 14">
            <a:extLst>
              <a:ext uri="{FF2B5EF4-FFF2-40B4-BE49-F238E27FC236}">
                <a16:creationId xmlns:a16="http://schemas.microsoft.com/office/drawing/2014/main" id="{54BDA2AA-9B62-F3F6-BD7F-0920161CA33E}"/>
              </a:ext>
            </a:extLst>
          </p:cNvPr>
          <p:cNvCxnSpPr>
            <a:cxnSpLocks noChangeShapeType="1"/>
            <a:stCxn id="863242" idx="3"/>
            <a:endCxn id="863243" idx="0"/>
          </p:cNvCxnSpPr>
          <p:nvPr/>
        </p:nvCxnSpPr>
        <p:spPr bwMode="auto">
          <a:xfrm flipH="1">
            <a:off x="3924300" y="3808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3247" name="AutoShape 15">
            <a:extLst>
              <a:ext uri="{FF2B5EF4-FFF2-40B4-BE49-F238E27FC236}">
                <a16:creationId xmlns:a16="http://schemas.microsoft.com/office/drawing/2014/main" id="{E7CF83F9-A8C4-B73B-1193-586D08DE0190}"/>
              </a:ext>
            </a:extLst>
          </p:cNvPr>
          <p:cNvCxnSpPr>
            <a:cxnSpLocks noChangeShapeType="1"/>
            <a:stCxn id="863242" idx="5"/>
            <a:endCxn id="863244" idx="0"/>
          </p:cNvCxnSpPr>
          <p:nvPr/>
        </p:nvCxnSpPr>
        <p:spPr bwMode="auto">
          <a:xfrm>
            <a:off x="4646613" y="3808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3248" name="Text Box 16">
            <a:extLst>
              <a:ext uri="{FF2B5EF4-FFF2-40B4-BE49-F238E27FC236}">
                <a16:creationId xmlns:a16="http://schemas.microsoft.com/office/drawing/2014/main" id="{44563CE0-A198-39B1-E849-837983BA7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3581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Each node in the graph is a random variable</a:t>
            </a:r>
          </a:p>
        </p:txBody>
      </p:sp>
      <p:sp>
        <p:nvSpPr>
          <p:cNvPr id="863249" name="Text Box 17">
            <a:extLst>
              <a:ext uri="{FF2B5EF4-FFF2-40B4-BE49-F238E27FC236}">
                <a16:creationId xmlns:a16="http://schemas.microsoft.com/office/drawing/2014/main" id="{708F3D04-D6AF-4395-1D0B-FCA0637B5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371600"/>
            <a:ext cx="381000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A node </a:t>
            </a:r>
            <a:r>
              <a:rPr lang="en-US" altLang="en-US" i="1"/>
              <a:t>X</a:t>
            </a:r>
            <a:r>
              <a:rPr lang="en-US" altLang="en-US"/>
              <a:t> is a parent of another node </a:t>
            </a:r>
            <a:r>
              <a:rPr lang="en-US" altLang="en-US" i="1"/>
              <a:t>Y</a:t>
            </a:r>
            <a:r>
              <a:rPr lang="en-US" altLang="en-US"/>
              <a:t> if there is an arrow from node </a:t>
            </a:r>
            <a:r>
              <a:rPr lang="en-US" altLang="en-US" i="1"/>
              <a:t>X</a:t>
            </a:r>
            <a:r>
              <a:rPr lang="en-US" altLang="en-US"/>
              <a:t> to node </a:t>
            </a:r>
            <a:r>
              <a:rPr lang="en-US" altLang="en-US" i="1"/>
              <a:t>Y</a:t>
            </a:r>
            <a:r>
              <a:rPr lang="en-US" altLang="en-US"/>
              <a:t> eg. </a:t>
            </a:r>
            <a:r>
              <a:rPr lang="en-US" altLang="en-US" i="1"/>
              <a:t>A</a:t>
            </a:r>
            <a:r>
              <a:rPr lang="en-US" altLang="en-US"/>
              <a:t> is a parent of </a:t>
            </a:r>
            <a:r>
              <a:rPr lang="en-US" altLang="en-US" i="1"/>
              <a:t>B</a:t>
            </a:r>
            <a:r>
              <a:rPr lang="en-US" altLang="en-US"/>
              <a:t> </a:t>
            </a:r>
          </a:p>
        </p:txBody>
      </p:sp>
      <p:sp>
        <p:nvSpPr>
          <p:cNvPr id="863250" name="Text Box 18">
            <a:extLst>
              <a:ext uri="{FF2B5EF4-FFF2-40B4-BE49-F238E27FC236}">
                <a16:creationId xmlns:a16="http://schemas.microsoft.com/office/drawing/2014/main" id="{CDDBACD6-C124-ACF5-0647-330AAE442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53000"/>
            <a:ext cx="3581400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/>
              <a:t>Informally, an arrow from node </a:t>
            </a:r>
            <a:r>
              <a:rPr lang="en-US" altLang="en-US" i="1"/>
              <a:t>X</a:t>
            </a:r>
            <a:r>
              <a:rPr lang="en-US" altLang="en-US"/>
              <a:t> to node </a:t>
            </a:r>
            <a:r>
              <a:rPr lang="en-US" altLang="en-US" i="1"/>
              <a:t>Y</a:t>
            </a:r>
            <a:r>
              <a:rPr lang="en-US" altLang="en-US"/>
              <a:t> means </a:t>
            </a:r>
            <a:r>
              <a:rPr lang="en-US" altLang="en-US" i="1"/>
              <a:t>X</a:t>
            </a:r>
            <a:r>
              <a:rPr lang="en-US" altLang="en-US"/>
              <a:t> has a direct influence on </a:t>
            </a:r>
            <a:r>
              <a:rPr lang="en-US" altLang="en-US" i="1"/>
              <a:t>Y</a:t>
            </a:r>
          </a:p>
        </p:txBody>
      </p:sp>
      <p:sp>
        <p:nvSpPr>
          <p:cNvPr id="863252" name="Line 20">
            <a:extLst>
              <a:ext uri="{FF2B5EF4-FFF2-40B4-BE49-F238E27FC236}">
                <a16:creationId xmlns:a16="http://schemas.microsoft.com/office/drawing/2014/main" id="{429A8223-473A-5160-31BA-0EEC2CB89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209800"/>
            <a:ext cx="609600" cy="381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3253" name="Line 21">
            <a:extLst>
              <a:ext uri="{FF2B5EF4-FFF2-40B4-BE49-F238E27FC236}">
                <a16:creationId xmlns:a16="http://schemas.microsoft.com/office/drawing/2014/main" id="{1907179D-B5D8-A0EF-A508-B9D235C5C5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8956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3254" name="Line 22">
            <a:extLst>
              <a:ext uri="{FF2B5EF4-FFF2-40B4-BE49-F238E27FC236}">
                <a16:creationId xmlns:a16="http://schemas.microsoft.com/office/drawing/2014/main" id="{6118F2DD-FD56-84E6-93AE-AC3F8CEB08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3962400"/>
            <a:ext cx="129540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>
            <a:extLst>
              <a:ext uri="{FF2B5EF4-FFF2-40B4-BE49-F238E27FC236}">
                <a16:creationId xmlns:a16="http://schemas.microsoft.com/office/drawing/2014/main" id="{86C937C1-565C-198F-71EB-E82BD58BF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altLang="en-US"/>
              <a:t>A Set of Tables for Each Node</a:t>
            </a:r>
          </a:p>
        </p:txBody>
      </p:sp>
      <p:sp>
        <p:nvSpPr>
          <p:cNvPr id="865368" name="Text Box 88">
            <a:extLst>
              <a:ext uri="{FF2B5EF4-FFF2-40B4-BE49-F238E27FC236}">
                <a16:creationId xmlns:a16="http://schemas.microsoft.com/office/drawing/2014/main" id="{ADBFA3C4-2657-902C-5543-BD0B47C7B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066800"/>
            <a:ext cx="3886200" cy="356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Each node </a:t>
            </a:r>
            <a:r>
              <a:rPr lang="en-US" altLang="en-US" i="1">
                <a:solidFill>
                  <a:srgbClr val="FF0000"/>
                </a:solidFill>
              </a:rPr>
              <a:t>X</a:t>
            </a:r>
            <a:r>
              <a:rPr lang="en-US" altLang="en-US" i="1" baseline="-25000">
                <a:solidFill>
                  <a:srgbClr val="FF0000"/>
                </a:solidFill>
              </a:rPr>
              <a:t>i</a:t>
            </a:r>
            <a:r>
              <a:rPr lang="en-US" altLang="en-US">
                <a:solidFill>
                  <a:srgbClr val="FF0000"/>
                </a:solidFill>
              </a:rPr>
              <a:t> has a conditional probability distribution P(</a:t>
            </a:r>
            <a:r>
              <a:rPr lang="en-US" altLang="en-US" i="1">
                <a:solidFill>
                  <a:srgbClr val="FF0000"/>
                </a:solidFill>
              </a:rPr>
              <a:t>X</a:t>
            </a:r>
            <a:r>
              <a:rPr lang="en-US" altLang="en-US" i="1" baseline="-25000">
                <a:solidFill>
                  <a:srgbClr val="FF0000"/>
                </a:solidFill>
              </a:rPr>
              <a:t>i</a:t>
            </a:r>
            <a:r>
              <a:rPr lang="en-US" altLang="en-US">
                <a:solidFill>
                  <a:srgbClr val="FF0000"/>
                </a:solidFill>
              </a:rPr>
              <a:t> | Parents(</a:t>
            </a:r>
            <a:r>
              <a:rPr lang="en-US" altLang="en-US" i="1">
                <a:solidFill>
                  <a:srgbClr val="FF0000"/>
                </a:solidFill>
              </a:rPr>
              <a:t>X</a:t>
            </a:r>
            <a:r>
              <a:rPr lang="en-US" altLang="en-US" i="1" baseline="-25000">
                <a:solidFill>
                  <a:srgbClr val="FF0000"/>
                </a:solidFill>
              </a:rPr>
              <a:t>i</a:t>
            </a:r>
            <a:r>
              <a:rPr lang="en-US" altLang="en-US">
                <a:solidFill>
                  <a:srgbClr val="FF0000"/>
                </a:solidFill>
              </a:rPr>
              <a:t>)) that quantifies the effect of the parents on the node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The parameters are the probabilities in these conditional probability tables (CPTs)</a:t>
            </a:r>
          </a:p>
        </p:txBody>
      </p:sp>
      <p:graphicFrame>
        <p:nvGraphicFramePr>
          <p:cNvPr id="865395" name="Group 115">
            <a:extLst>
              <a:ext uri="{FF2B5EF4-FFF2-40B4-BE49-F238E27FC236}">
                <a16:creationId xmlns:a16="http://schemas.microsoft.com/office/drawing/2014/main" id="{8C8441C2-C33F-C209-8B9E-C6F44A372C59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066800"/>
          <a:ext cx="1295400" cy="10058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32988054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223384492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330228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38658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008887"/>
                  </a:ext>
                </a:extLst>
              </a:tr>
            </a:tbl>
          </a:graphicData>
        </a:graphic>
      </p:graphicFrame>
      <p:graphicFrame>
        <p:nvGraphicFramePr>
          <p:cNvPr id="865409" name="Group 129">
            <a:extLst>
              <a:ext uri="{FF2B5EF4-FFF2-40B4-BE49-F238E27FC236}">
                <a16:creationId xmlns:a16="http://schemas.microsoft.com/office/drawing/2014/main" id="{7F30313D-61D7-5CB1-D044-8F15D4B3D235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10668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9520368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9117148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701349534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P(B|A)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1454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10825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304209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20520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534"/>
                  </a:ext>
                </a:extLst>
              </a:tr>
            </a:tbl>
          </a:graphicData>
        </a:graphic>
      </p:graphicFrame>
      <p:graphicFrame>
        <p:nvGraphicFramePr>
          <p:cNvPr id="865435" name="Group 155">
            <a:extLst>
              <a:ext uri="{FF2B5EF4-FFF2-40B4-BE49-F238E27FC236}">
                <a16:creationId xmlns:a16="http://schemas.microsoft.com/office/drawing/2014/main" id="{81AC278C-3EE2-FA07-1B26-A9D30294BB2E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30480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77994752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312044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629962913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45207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323139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766927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027134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312003"/>
                  </a:ext>
                </a:extLst>
              </a:tr>
            </a:tbl>
          </a:graphicData>
        </a:graphic>
      </p:graphicFrame>
      <p:graphicFrame>
        <p:nvGraphicFramePr>
          <p:cNvPr id="865499" name="Group 219">
            <a:extLst>
              <a:ext uri="{FF2B5EF4-FFF2-40B4-BE49-F238E27FC236}">
                <a16:creationId xmlns:a16="http://schemas.microsoft.com/office/drawing/2014/main" id="{BBA41945-8B8D-B7E8-19A3-E962924D2445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0292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2043705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9520448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738423983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P(D|B)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9570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27054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27647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256383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088155"/>
                  </a:ext>
                </a:extLst>
              </a:tr>
            </a:tbl>
          </a:graphicData>
        </a:graphic>
      </p:graphicFrame>
      <p:sp>
        <p:nvSpPr>
          <p:cNvPr id="865487" name="Oval 207">
            <a:extLst>
              <a:ext uri="{FF2B5EF4-FFF2-40B4-BE49-F238E27FC236}">
                <a16:creationId xmlns:a16="http://schemas.microsoft.com/office/drawing/2014/main" id="{667070AA-99B7-DCCD-E210-4E67C2D58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5814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865488" name="Oval 208">
            <a:extLst>
              <a:ext uri="{FF2B5EF4-FFF2-40B4-BE49-F238E27FC236}">
                <a16:creationId xmlns:a16="http://schemas.microsoft.com/office/drawing/2014/main" id="{AC3FEB03-045F-6F94-76FF-607E17863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4958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865489" name="Oval 209">
            <a:extLst>
              <a:ext uri="{FF2B5EF4-FFF2-40B4-BE49-F238E27FC236}">
                <a16:creationId xmlns:a16="http://schemas.microsoft.com/office/drawing/2014/main" id="{6A7931FE-7C40-BA5A-ADF8-284F3B1CF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334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</a:p>
        </p:txBody>
      </p:sp>
      <p:sp>
        <p:nvSpPr>
          <p:cNvPr id="865490" name="Oval 210">
            <a:extLst>
              <a:ext uri="{FF2B5EF4-FFF2-40B4-BE49-F238E27FC236}">
                <a16:creationId xmlns:a16="http://schemas.microsoft.com/office/drawing/2014/main" id="{30771199-B6D4-F682-6AA6-AAD7E5AC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</a:t>
            </a:r>
          </a:p>
        </p:txBody>
      </p:sp>
      <p:cxnSp>
        <p:nvCxnSpPr>
          <p:cNvPr id="865491" name="AutoShape 211">
            <a:extLst>
              <a:ext uri="{FF2B5EF4-FFF2-40B4-BE49-F238E27FC236}">
                <a16:creationId xmlns:a16="http://schemas.microsoft.com/office/drawing/2014/main" id="{86E00F6E-4853-1301-FA7F-B878C14178F2}"/>
              </a:ext>
            </a:extLst>
          </p:cNvPr>
          <p:cNvCxnSpPr>
            <a:cxnSpLocks noChangeShapeType="1"/>
            <a:stCxn id="865487" idx="4"/>
            <a:endCxn id="865488" idx="0"/>
          </p:cNvCxnSpPr>
          <p:nvPr/>
        </p:nvCxnSpPr>
        <p:spPr bwMode="auto">
          <a:xfrm>
            <a:off x="3086100" y="4114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5492" name="AutoShape 212">
            <a:extLst>
              <a:ext uri="{FF2B5EF4-FFF2-40B4-BE49-F238E27FC236}">
                <a16:creationId xmlns:a16="http://schemas.microsoft.com/office/drawing/2014/main" id="{6BA804BE-E7AC-50D7-F7BE-4620615FC5F9}"/>
              </a:ext>
            </a:extLst>
          </p:cNvPr>
          <p:cNvCxnSpPr>
            <a:cxnSpLocks noChangeShapeType="1"/>
            <a:stCxn id="865488" idx="3"/>
            <a:endCxn id="865489" idx="0"/>
          </p:cNvCxnSpPr>
          <p:nvPr/>
        </p:nvCxnSpPr>
        <p:spPr bwMode="auto">
          <a:xfrm flipH="1">
            <a:off x="2552700" y="49514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5493" name="AutoShape 213">
            <a:extLst>
              <a:ext uri="{FF2B5EF4-FFF2-40B4-BE49-F238E27FC236}">
                <a16:creationId xmlns:a16="http://schemas.microsoft.com/office/drawing/2014/main" id="{E7342EC7-D3EF-F764-AA44-5DA024E100FD}"/>
              </a:ext>
            </a:extLst>
          </p:cNvPr>
          <p:cNvCxnSpPr>
            <a:cxnSpLocks noChangeShapeType="1"/>
            <a:stCxn id="865488" idx="5"/>
            <a:endCxn id="865490" idx="0"/>
          </p:cNvCxnSpPr>
          <p:nvPr/>
        </p:nvCxnSpPr>
        <p:spPr bwMode="auto">
          <a:xfrm>
            <a:off x="3275013" y="49514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5494" name="Line 214">
            <a:extLst>
              <a:ext uri="{FF2B5EF4-FFF2-40B4-BE49-F238E27FC236}">
                <a16:creationId xmlns:a16="http://schemas.microsoft.com/office/drawing/2014/main" id="{7CC6C2CE-8284-C0F1-82E5-06EDE7EE8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133600"/>
            <a:ext cx="1447800" cy="1371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5495" name="Line 215">
            <a:extLst>
              <a:ext uri="{FF2B5EF4-FFF2-40B4-BE49-F238E27FC236}">
                <a16:creationId xmlns:a16="http://schemas.microsoft.com/office/drawing/2014/main" id="{08070169-C366-3236-7D4C-1022563529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2819400"/>
            <a:ext cx="45720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5496" name="Line 216">
            <a:extLst>
              <a:ext uri="{FF2B5EF4-FFF2-40B4-BE49-F238E27FC236}">
                <a16:creationId xmlns:a16="http://schemas.microsoft.com/office/drawing/2014/main" id="{0B2EE513-ACE2-30E1-BE98-C1E940EF5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55626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5497" name="Line 217">
            <a:extLst>
              <a:ext uri="{FF2B5EF4-FFF2-40B4-BE49-F238E27FC236}">
                <a16:creationId xmlns:a16="http://schemas.microsoft.com/office/drawing/2014/main" id="{2C8C2D1F-B61D-0C1D-A11E-5203284E2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800600"/>
            <a:ext cx="68580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DE103F2-CDD1-80B3-044C-6A169A782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B2906-B989-4EB3-8502-C3B36B4886E9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866306" name="Rectangle 2">
            <a:extLst>
              <a:ext uri="{FF2B5EF4-FFF2-40B4-BE49-F238E27FC236}">
                <a16:creationId xmlns:a16="http://schemas.microsoft.com/office/drawing/2014/main" id="{B8981C70-5E26-CC12-2616-B69300B2C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altLang="en-US"/>
              <a:t>A Set of Tables for Each Node</a:t>
            </a:r>
          </a:p>
        </p:txBody>
      </p:sp>
      <p:sp>
        <p:nvSpPr>
          <p:cNvPr id="866359" name="Text Box 55">
            <a:extLst>
              <a:ext uri="{FF2B5EF4-FFF2-40B4-BE49-F238E27FC236}">
                <a16:creationId xmlns:a16="http://schemas.microsoft.com/office/drawing/2014/main" id="{AF888144-FC86-D788-233B-3749BD258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19200"/>
            <a:ext cx="3733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Conditional Probability Distribution for C given B</a:t>
            </a:r>
          </a:p>
        </p:txBody>
      </p:sp>
      <p:sp>
        <p:nvSpPr>
          <p:cNvPr id="866360" name="AutoShape 56">
            <a:extLst>
              <a:ext uri="{FF2B5EF4-FFF2-40B4-BE49-F238E27FC236}">
                <a16:creationId xmlns:a16="http://schemas.microsoft.com/office/drawing/2014/main" id="{CB03FF72-4B94-8782-8D96-DDCE131AEA1A}"/>
              </a:ext>
            </a:extLst>
          </p:cNvPr>
          <p:cNvSpPr>
            <a:spLocks/>
          </p:cNvSpPr>
          <p:nvPr/>
        </p:nvSpPr>
        <p:spPr bwMode="auto">
          <a:xfrm>
            <a:off x="2895600" y="26670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66364" name="Group 60">
            <a:extLst>
              <a:ext uri="{FF2B5EF4-FFF2-40B4-BE49-F238E27FC236}">
                <a16:creationId xmlns:a16="http://schemas.microsoft.com/office/drawing/2014/main" id="{BD2FBDF4-4A06-D806-A262-1746769B649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286000"/>
          <a:ext cx="2133600" cy="167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8957924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7857181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98935572"/>
                    </a:ext>
                  </a:extLst>
                </a:gridCol>
              </a:tblGrid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P(C|B)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695018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20915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58074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465259"/>
                  </a:ext>
                </a:extLst>
              </a:tr>
              <a:tr h="254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547918"/>
                  </a:ext>
                </a:extLst>
              </a:tr>
            </a:tbl>
          </a:graphicData>
        </a:graphic>
      </p:graphicFrame>
      <p:sp>
        <p:nvSpPr>
          <p:cNvPr id="866390" name="Text Box 86">
            <a:extLst>
              <a:ext uri="{FF2B5EF4-FFF2-40B4-BE49-F238E27FC236}">
                <a16:creationId xmlns:a16="http://schemas.microsoft.com/office/drawing/2014/main" id="{3D1DA71A-444F-1999-B88D-DAC013DE0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81400"/>
            <a:ext cx="5486400" cy="1320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For a given combination of values of the parents (B in this example), the entries for P(C=true | B) and P(C=false | B) must add up to 1 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eg. P(C=true | B=false) + P(C=false |B=false )=1</a:t>
            </a:r>
          </a:p>
        </p:txBody>
      </p:sp>
      <p:sp>
        <p:nvSpPr>
          <p:cNvPr id="866392" name="Line 88">
            <a:extLst>
              <a:ext uri="{FF2B5EF4-FFF2-40B4-BE49-F238E27FC236}">
                <a16:creationId xmlns:a16="http://schemas.microsoft.com/office/drawing/2014/main" id="{A94A8E49-2B68-8C95-31E0-AD06A378EB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4200" y="3048000"/>
            <a:ext cx="38100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7F41070-6787-D791-2A6D-B79432BCE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1CFA31-E849-46B5-9272-38C490D14223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868354" name="Rectangle 2">
            <a:extLst>
              <a:ext uri="{FF2B5EF4-FFF2-40B4-BE49-F238E27FC236}">
                <a16:creationId xmlns:a16="http://schemas.microsoft.com/office/drawing/2014/main" id="{D03A317E-D1F7-5262-F025-0E056590C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Conditional Independence</a:t>
            </a:r>
          </a:p>
        </p:txBody>
      </p:sp>
      <p:sp>
        <p:nvSpPr>
          <p:cNvPr id="868355" name="Rectangle 3">
            <a:extLst>
              <a:ext uri="{FF2B5EF4-FFF2-40B4-BE49-F238E27FC236}">
                <a16:creationId xmlns:a16="http://schemas.microsoft.com/office/drawing/2014/main" id="{9C537737-7A2E-D320-97EB-F5FADCCCC8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848600" cy="13716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800" dirty="0"/>
              <a:t>The Markov condition: given its parents (P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P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),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800" dirty="0"/>
              <a:t>a </a:t>
            </a:r>
            <a:r>
              <a:rPr lang="en-US" altLang="en-US" sz="2800" dirty="0">
                <a:solidFill>
                  <a:srgbClr val="C00000"/>
                </a:solidFill>
              </a:rPr>
              <a:t>node (X) is conditionally independent of its non-descendants (ND</a:t>
            </a:r>
            <a:r>
              <a:rPr lang="en-US" altLang="en-US" sz="2800" baseline="-25000" dirty="0">
                <a:solidFill>
                  <a:srgbClr val="C00000"/>
                </a:solidFill>
              </a:rPr>
              <a:t>1</a:t>
            </a:r>
            <a:r>
              <a:rPr lang="en-US" altLang="en-US" sz="2800" dirty="0">
                <a:solidFill>
                  <a:srgbClr val="C00000"/>
                </a:solidFill>
              </a:rPr>
              <a:t>, ND</a:t>
            </a:r>
            <a:r>
              <a:rPr lang="en-US" altLang="en-US" sz="2800" baseline="-25000" dirty="0">
                <a:solidFill>
                  <a:srgbClr val="C00000"/>
                </a:solidFill>
              </a:rPr>
              <a:t>2</a:t>
            </a:r>
            <a:r>
              <a:rPr lang="en-US" altLang="en-US" sz="28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868356" name="Oval 4">
            <a:extLst>
              <a:ext uri="{FF2B5EF4-FFF2-40B4-BE49-F238E27FC236}">
                <a16:creationId xmlns:a16="http://schemas.microsoft.com/office/drawing/2014/main" id="{F12AF195-1E59-CCBF-CB7D-C56B31728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191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X</a:t>
            </a:r>
          </a:p>
        </p:txBody>
      </p:sp>
      <p:sp>
        <p:nvSpPr>
          <p:cNvPr id="868357" name="Oval 5">
            <a:extLst>
              <a:ext uri="{FF2B5EF4-FFF2-40B4-BE49-F238E27FC236}">
                <a16:creationId xmlns:a16="http://schemas.microsoft.com/office/drawing/2014/main" id="{4487C3C4-F2F2-B46B-68B8-56D47077A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276600"/>
            <a:ext cx="533400" cy="533400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P</a:t>
            </a:r>
            <a:r>
              <a:rPr lang="en-US" altLang="en-US" baseline="-25000"/>
              <a:t>1</a:t>
            </a:r>
          </a:p>
        </p:txBody>
      </p:sp>
      <p:sp>
        <p:nvSpPr>
          <p:cNvPr id="868358" name="Oval 6">
            <a:extLst>
              <a:ext uri="{FF2B5EF4-FFF2-40B4-BE49-F238E27FC236}">
                <a16:creationId xmlns:a16="http://schemas.microsoft.com/office/drawing/2014/main" id="{F0B6E82A-F046-22A5-31F1-63E719B7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276600"/>
            <a:ext cx="533400" cy="533400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P</a:t>
            </a:r>
            <a:r>
              <a:rPr lang="en-US" altLang="en-US" baseline="-25000"/>
              <a:t>2</a:t>
            </a:r>
          </a:p>
        </p:txBody>
      </p:sp>
      <p:sp>
        <p:nvSpPr>
          <p:cNvPr id="868359" name="Oval 7">
            <a:extLst>
              <a:ext uri="{FF2B5EF4-FFF2-40B4-BE49-F238E27FC236}">
                <a16:creationId xmlns:a16="http://schemas.microsoft.com/office/drawing/2014/main" id="{DF35692D-EA0D-C168-1F29-5A62BB4CD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257800"/>
            <a:ext cx="533400" cy="533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  <a:r>
              <a:rPr lang="en-US" altLang="en-US" baseline="-25000"/>
              <a:t>1</a:t>
            </a:r>
          </a:p>
        </p:txBody>
      </p:sp>
      <p:sp>
        <p:nvSpPr>
          <p:cNvPr id="868360" name="Oval 8">
            <a:extLst>
              <a:ext uri="{FF2B5EF4-FFF2-40B4-BE49-F238E27FC236}">
                <a16:creationId xmlns:a16="http://schemas.microsoft.com/office/drawing/2014/main" id="{96BEC896-52A0-A9EC-FDCE-2DBD03917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257800"/>
            <a:ext cx="533400" cy="533400"/>
          </a:xfrm>
          <a:prstGeom prst="ellipse">
            <a:avLst/>
          </a:prstGeom>
          <a:solidFill>
            <a:srgbClr val="66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  <a:r>
              <a:rPr lang="en-US" altLang="en-US" baseline="-25000"/>
              <a:t>2</a:t>
            </a:r>
          </a:p>
        </p:txBody>
      </p:sp>
      <p:sp>
        <p:nvSpPr>
          <p:cNvPr id="868361" name="Oval 9">
            <a:extLst>
              <a:ext uri="{FF2B5EF4-FFF2-40B4-BE49-F238E27FC236}">
                <a16:creationId xmlns:a16="http://schemas.microsoft.com/office/drawing/2014/main" id="{64311FD3-78AE-E150-3CB0-352CB7A4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191000"/>
            <a:ext cx="6858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ND</a:t>
            </a:r>
            <a:r>
              <a:rPr lang="en-US" altLang="en-US" baseline="-25000"/>
              <a:t>2</a:t>
            </a:r>
          </a:p>
        </p:txBody>
      </p:sp>
      <p:sp>
        <p:nvSpPr>
          <p:cNvPr id="868362" name="Oval 10">
            <a:extLst>
              <a:ext uri="{FF2B5EF4-FFF2-40B4-BE49-F238E27FC236}">
                <a16:creationId xmlns:a16="http://schemas.microsoft.com/office/drawing/2014/main" id="{D0842464-70DE-BD60-6FC1-138C961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191000"/>
            <a:ext cx="685800" cy="533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ND</a:t>
            </a:r>
            <a:r>
              <a:rPr lang="en-US" altLang="en-US" baseline="-25000"/>
              <a:t>1</a:t>
            </a:r>
          </a:p>
        </p:txBody>
      </p:sp>
      <p:cxnSp>
        <p:nvCxnSpPr>
          <p:cNvPr id="868363" name="AutoShape 11">
            <a:extLst>
              <a:ext uri="{FF2B5EF4-FFF2-40B4-BE49-F238E27FC236}">
                <a16:creationId xmlns:a16="http://schemas.microsoft.com/office/drawing/2014/main" id="{8D22D707-F8C4-315C-62E2-42E77FD82402}"/>
              </a:ext>
            </a:extLst>
          </p:cNvPr>
          <p:cNvCxnSpPr>
            <a:cxnSpLocks noChangeShapeType="1"/>
            <a:stCxn id="868357" idx="4"/>
            <a:endCxn id="868356" idx="1"/>
          </p:cNvCxnSpPr>
          <p:nvPr/>
        </p:nvCxnSpPr>
        <p:spPr bwMode="auto">
          <a:xfrm>
            <a:off x="3467100" y="3810000"/>
            <a:ext cx="573088" cy="458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8364" name="AutoShape 12">
            <a:extLst>
              <a:ext uri="{FF2B5EF4-FFF2-40B4-BE49-F238E27FC236}">
                <a16:creationId xmlns:a16="http://schemas.microsoft.com/office/drawing/2014/main" id="{D8F6675B-F9AB-8E92-18D8-99FB9C7E0BAA}"/>
              </a:ext>
            </a:extLst>
          </p:cNvPr>
          <p:cNvCxnSpPr>
            <a:cxnSpLocks noChangeShapeType="1"/>
            <a:stCxn id="868358" idx="4"/>
            <a:endCxn id="868356" idx="7"/>
          </p:cNvCxnSpPr>
          <p:nvPr/>
        </p:nvCxnSpPr>
        <p:spPr bwMode="auto">
          <a:xfrm flipH="1">
            <a:off x="4418013" y="3810000"/>
            <a:ext cx="573087" cy="458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8365" name="AutoShape 13">
            <a:extLst>
              <a:ext uri="{FF2B5EF4-FFF2-40B4-BE49-F238E27FC236}">
                <a16:creationId xmlns:a16="http://schemas.microsoft.com/office/drawing/2014/main" id="{99576E6D-931F-48FA-1D84-DE7E4F14C42D}"/>
              </a:ext>
            </a:extLst>
          </p:cNvPr>
          <p:cNvCxnSpPr>
            <a:cxnSpLocks noChangeShapeType="1"/>
            <a:stCxn id="868356" idx="5"/>
            <a:endCxn id="868360" idx="0"/>
          </p:cNvCxnSpPr>
          <p:nvPr/>
        </p:nvCxnSpPr>
        <p:spPr bwMode="auto">
          <a:xfrm>
            <a:off x="4418013" y="4646613"/>
            <a:ext cx="573087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8366" name="AutoShape 14">
            <a:extLst>
              <a:ext uri="{FF2B5EF4-FFF2-40B4-BE49-F238E27FC236}">
                <a16:creationId xmlns:a16="http://schemas.microsoft.com/office/drawing/2014/main" id="{F56B8753-5BA9-D3DC-1808-6DC9BB5354A1}"/>
              </a:ext>
            </a:extLst>
          </p:cNvPr>
          <p:cNvCxnSpPr>
            <a:cxnSpLocks noChangeShapeType="1"/>
            <a:stCxn id="868356" idx="3"/>
            <a:endCxn id="868359" idx="0"/>
          </p:cNvCxnSpPr>
          <p:nvPr/>
        </p:nvCxnSpPr>
        <p:spPr bwMode="auto">
          <a:xfrm flipH="1">
            <a:off x="3467100" y="4646613"/>
            <a:ext cx="573088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8367" name="AutoShape 15">
            <a:extLst>
              <a:ext uri="{FF2B5EF4-FFF2-40B4-BE49-F238E27FC236}">
                <a16:creationId xmlns:a16="http://schemas.microsoft.com/office/drawing/2014/main" id="{156E8303-C2FD-9593-2C20-9AC4C2789B69}"/>
              </a:ext>
            </a:extLst>
          </p:cNvPr>
          <p:cNvCxnSpPr>
            <a:cxnSpLocks noChangeShapeType="1"/>
            <a:stCxn id="868362" idx="4"/>
            <a:endCxn id="868359" idx="0"/>
          </p:cNvCxnSpPr>
          <p:nvPr/>
        </p:nvCxnSpPr>
        <p:spPr bwMode="auto">
          <a:xfrm>
            <a:off x="2628900" y="4724400"/>
            <a:ext cx="8382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8368" name="AutoShape 16">
            <a:extLst>
              <a:ext uri="{FF2B5EF4-FFF2-40B4-BE49-F238E27FC236}">
                <a16:creationId xmlns:a16="http://schemas.microsoft.com/office/drawing/2014/main" id="{697CA6F1-74D8-4B6B-2AF0-E4BE5F7B5319}"/>
              </a:ext>
            </a:extLst>
          </p:cNvPr>
          <p:cNvCxnSpPr>
            <a:cxnSpLocks noChangeShapeType="1"/>
            <a:stCxn id="868361" idx="4"/>
            <a:endCxn id="868360" idx="0"/>
          </p:cNvCxnSpPr>
          <p:nvPr/>
        </p:nvCxnSpPr>
        <p:spPr bwMode="auto">
          <a:xfrm flipH="1">
            <a:off x="4991100" y="4724400"/>
            <a:ext cx="9144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970FDEE-C9DA-C30C-6D59-4055AEA2D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DBEA3-EF1E-4609-9603-2DEE62B7EC0B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CED971BC-B4A1-56A2-B978-ABC31F77A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Joint Probability Distribution</a:t>
            </a:r>
          </a:p>
        </p:txBody>
      </p:sp>
      <p:sp>
        <p:nvSpPr>
          <p:cNvPr id="869379" name="Rectangle 3">
            <a:extLst>
              <a:ext uri="{FF2B5EF4-FFF2-40B4-BE49-F238E27FC236}">
                <a16:creationId xmlns:a16="http://schemas.microsoft.com/office/drawing/2014/main" id="{C1F1D1CB-369A-D25F-B8EE-078957783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133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/>
              <a:t>Due to the Markov condition, we can compute the joint probability distribution over all the variables X</a:t>
            </a:r>
            <a:r>
              <a:rPr lang="en-US" altLang="en-US" baseline="-25000"/>
              <a:t>1</a:t>
            </a:r>
            <a:r>
              <a:rPr lang="en-US" altLang="en-US"/>
              <a:t>, …, X</a:t>
            </a:r>
            <a:r>
              <a:rPr lang="en-US" altLang="en-US" baseline="-25000"/>
              <a:t>n</a:t>
            </a:r>
            <a:r>
              <a:rPr lang="en-US" altLang="en-US"/>
              <a:t> in the Bayesian net using the formula:</a:t>
            </a:r>
          </a:p>
        </p:txBody>
      </p:sp>
      <p:graphicFrame>
        <p:nvGraphicFramePr>
          <p:cNvPr id="869380" name="Object 4">
            <a:extLst>
              <a:ext uri="{FF2B5EF4-FFF2-40B4-BE49-F238E27FC236}">
                <a16:creationId xmlns:a16="http://schemas.microsoft.com/office/drawing/2014/main" id="{73711E4D-A87A-EA79-AEF2-E66C3F3082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13959"/>
              </p:ext>
            </p:extLst>
          </p:nvPr>
        </p:nvGraphicFramePr>
        <p:xfrm>
          <a:off x="685800" y="3569110"/>
          <a:ext cx="754538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25600" imgH="431640" progId="Equation.3">
                  <p:embed/>
                </p:oleObj>
              </mc:Choice>
              <mc:Fallback>
                <p:oleObj name="Equation" r:id="rId2" imgW="32256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69110"/>
                        <a:ext cx="754538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9381" name="Text Box 5">
            <a:extLst>
              <a:ext uri="{FF2B5EF4-FFF2-40B4-BE49-F238E27FC236}">
                <a16:creationId xmlns:a16="http://schemas.microsoft.com/office/drawing/2014/main" id="{CAE7ADE4-DEE8-A384-5131-D871C9EAB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29200"/>
            <a:ext cx="8382000" cy="831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Where Parents(X</a:t>
            </a:r>
            <a:r>
              <a:rPr lang="en-US" altLang="en-US" baseline="-25000">
                <a:solidFill>
                  <a:srgbClr val="FF0000"/>
                </a:solidFill>
              </a:rPr>
              <a:t>i</a:t>
            </a:r>
            <a:r>
              <a:rPr lang="en-US" altLang="en-US">
                <a:solidFill>
                  <a:srgbClr val="FF0000"/>
                </a:solidFill>
              </a:rPr>
              <a:t>) means the values of the Parents of the node X</a:t>
            </a:r>
            <a:r>
              <a:rPr lang="en-US" altLang="en-US" baseline="-25000">
                <a:solidFill>
                  <a:srgbClr val="FF0000"/>
                </a:solidFill>
              </a:rPr>
              <a:t>i</a:t>
            </a:r>
            <a:r>
              <a:rPr lang="en-US" altLang="en-US">
                <a:solidFill>
                  <a:srgbClr val="FF0000"/>
                </a:solidFill>
              </a:rPr>
              <a:t> with respect to the graph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B79CE4A-FC2A-F093-4408-8D330F5F9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1BC68E-A77C-4999-AD5F-FCF77DEF1BF7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870402" name="Rectangle 2">
            <a:extLst>
              <a:ext uri="{FF2B5EF4-FFF2-40B4-BE49-F238E27FC236}">
                <a16:creationId xmlns:a16="http://schemas.microsoft.com/office/drawing/2014/main" id="{EAE9A549-4EAC-5100-CC07-D99B093B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Using a Bayesian Network Example</a:t>
            </a:r>
          </a:p>
        </p:txBody>
      </p:sp>
      <p:sp>
        <p:nvSpPr>
          <p:cNvPr id="870403" name="Rectangle 3">
            <a:extLst>
              <a:ext uri="{FF2B5EF4-FFF2-40B4-BE49-F238E27FC236}">
                <a16:creationId xmlns:a16="http://schemas.microsoft.com/office/drawing/2014/main" id="{2F733C56-00FA-5CF4-C365-7E8630946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 dirty="0"/>
              <a:t>Using the network in the example, suppose you want to calculate: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P(A = true, B = true, C = true, D = true)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= P(A = true) * P(B = true | A = true) * 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   P(C = true | B = true) P( D = true | B = true) </a:t>
            </a:r>
          </a:p>
          <a:p>
            <a:pPr marL="0" indent="0">
              <a:buFontTx/>
              <a:buNone/>
            </a:pPr>
            <a:r>
              <a:rPr lang="en-US" altLang="en-US" sz="2400" dirty="0"/>
              <a:t>= (0.4)*(0.3)*(0.1)*(0.95)</a:t>
            </a:r>
          </a:p>
        </p:txBody>
      </p:sp>
      <p:cxnSp>
        <p:nvCxnSpPr>
          <p:cNvPr id="870408" name="AutoShape 8">
            <a:extLst>
              <a:ext uri="{FF2B5EF4-FFF2-40B4-BE49-F238E27FC236}">
                <a16:creationId xmlns:a16="http://schemas.microsoft.com/office/drawing/2014/main" id="{BF436063-A785-B36F-C738-54E318257D5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96200" y="4191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744620F-C5A5-081F-553C-EE349CED01F4}"/>
              </a:ext>
            </a:extLst>
          </p:cNvPr>
          <p:cNvGrpSpPr/>
          <p:nvPr/>
        </p:nvGrpSpPr>
        <p:grpSpPr>
          <a:xfrm>
            <a:off x="6858000" y="3657600"/>
            <a:ext cx="1676400" cy="2286000"/>
            <a:chOff x="6858000" y="3657600"/>
            <a:chExt cx="1676400" cy="2286000"/>
          </a:xfrm>
        </p:grpSpPr>
        <p:sp>
          <p:nvSpPr>
            <p:cNvPr id="870404" name="Oval 4">
              <a:extLst>
                <a:ext uri="{FF2B5EF4-FFF2-40B4-BE49-F238E27FC236}">
                  <a16:creationId xmlns:a16="http://schemas.microsoft.com/office/drawing/2014/main" id="{90760B04-7EDC-B8A2-F097-609870959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3657600"/>
              <a:ext cx="533400" cy="533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A</a:t>
              </a:r>
            </a:p>
          </p:txBody>
        </p:sp>
        <p:sp>
          <p:nvSpPr>
            <p:cNvPr id="870405" name="Oval 5">
              <a:extLst>
                <a:ext uri="{FF2B5EF4-FFF2-40B4-BE49-F238E27FC236}">
                  <a16:creationId xmlns:a16="http://schemas.microsoft.com/office/drawing/2014/main" id="{97C1F270-64A7-BCA7-7B26-3F42BB312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4572000"/>
              <a:ext cx="533400" cy="533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B</a:t>
              </a:r>
            </a:p>
          </p:txBody>
        </p:sp>
        <p:sp>
          <p:nvSpPr>
            <p:cNvPr id="870406" name="Oval 6">
              <a:extLst>
                <a:ext uri="{FF2B5EF4-FFF2-40B4-BE49-F238E27FC236}">
                  <a16:creationId xmlns:a16="http://schemas.microsoft.com/office/drawing/2014/main" id="{283DA6BF-093A-492A-2D74-5BB234C83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5410200"/>
              <a:ext cx="533400" cy="533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C</a:t>
              </a:r>
            </a:p>
          </p:txBody>
        </p:sp>
        <p:sp>
          <p:nvSpPr>
            <p:cNvPr id="870407" name="Oval 7">
              <a:extLst>
                <a:ext uri="{FF2B5EF4-FFF2-40B4-BE49-F238E27FC236}">
                  <a16:creationId xmlns:a16="http://schemas.microsoft.com/office/drawing/2014/main" id="{0545B955-F6F6-1718-23C1-DE33D3925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5410200"/>
              <a:ext cx="533400" cy="53340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D</a:t>
              </a:r>
            </a:p>
          </p:txBody>
        </p:sp>
        <p:cxnSp>
          <p:nvCxnSpPr>
            <p:cNvPr id="870409" name="AutoShape 9">
              <a:extLst>
                <a:ext uri="{FF2B5EF4-FFF2-40B4-BE49-F238E27FC236}">
                  <a16:creationId xmlns:a16="http://schemas.microsoft.com/office/drawing/2014/main" id="{E4BB664E-270B-480B-1849-E456AE1A481F}"/>
                </a:ext>
              </a:extLst>
            </p:cNvPr>
            <p:cNvCxnSpPr>
              <a:cxnSpLocks noChangeShapeType="1"/>
              <a:stCxn id="870405" idx="3"/>
              <a:endCxn id="870406" idx="0"/>
            </p:cNvCxnSpPr>
            <p:nvPr/>
          </p:nvCxnSpPr>
          <p:spPr bwMode="auto">
            <a:xfrm flipH="1">
              <a:off x="7124700" y="5027613"/>
              <a:ext cx="344488" cy="382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0410" name="AutoShape 10">
              <a:extLst>
                <a:ext uri="{FF2B5EF4-FFF2-40B4-BE49-F238E27FC236}">
                  <a16:creationId xmlns:a16="http://schemas.microsoft.com/office/drawing/2014/main" id="{DE9B4F32-749C-319D-2031-07F17CA44111}"/>
                </a:ext>
              </a:extLst>
            </p:cNvPr>
            <p:cNvCxnSpPr>
              <a:cxnSpLocks noChangeShapeType="1"/>
              <a:stCxn id="870405" idx="5"/>
              <a:endCxn id="870407" idx="0"/>
            </p:cNvCxnSpPr>
            <p:nvPr/>
          </p:nvCxnSpPr>
          <p:spPr bwMode="auto">
            <a:xfrm>
              <a:off x="7847013" y="5027613"/>
              <a:ext cx="420687" cy="382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2BA92F9-E39F-ACBC-C6D2-BD58DEB20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36A842-B325-4D00-8762-43BEBD00BBB2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871426" name="Rectangle 2">
            <a:extLst>
              <a:ext uri="{FF2B5EF4-FFF2-40B4-BE49-F238E27FC236}">
                <a16:creationId xmlns:a16="http://schemas.microsoft.com/office/drawing/2014/main" id="{A1B544A2-71EC-E7E2-69A4-F9F8BE1B4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Using a Bayesian Network Example</a:t>
            </a:r>
          </a:p>
        </p:txBody>
      </p:sp>
      <p:sp>
        <p:nvSpPr>
          <p:cNvPr id="871427" name="Rectangle 3">
            <a:extLst>
              <a:ext uri="{FF2B5EF4-FFF2-40B4-BE49-F238E27FC236}">
                <a16:creationId xmlns:a16="http://schemas.microsoft.com/office/drawing/2014/main" id="{9E5F8A8F-A23F-8FAA-1C41-2A58ABF59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400"/>
              <a:t>Using the network in the example, suppose you want to calculate:</a:t>
            </a:r>
          </a:p>
          <a:p>
            <a:pPr marL="0" indent="0">
              <a:buFontTx/>
              <a:buNone/>
            </a:pPr>
            <a:r>
              <a:rPr lang="en-US" altLang="en-US" sz="2400"/>
              <a:t>P(A = true, B = true, C = true, D = true)</a:t>
            </a:r>
          </a:p>
          <a:p>
            <a:pPr marL="0" indent="0">
              <a:buFontTx/>
              <a:buNone/>
            </a:pPr>
            <a:r>
              <a:rPr lang="en-US" altLang="en-US" sz="2400"/>
              <a:t>= P(A = true) * P(B = true | A = true) * </a:t>
            </a:r>
          </a:p>
          <a:p>
            <a:pPr marL="0" indent="0">
              <a:buFontTx/>
              <a:buNone/>
            </a:pPr>
            <a:r>
              <a:rPr lang="en-US" altLang="en-US" sz="2400"/>
              <a:t>   P(C = true | B = true) P( D = true | B = true) </a:t>
            </a:r>
          </a:p>
          <a:p>
            <a:pPr marL="0" indent="0">
              <a:buFontTx/>
              <a:buNone/>
            </a:pPr>
            <a:r>
              <a:rPr lang="en-US" altLang="en-US" sz="2400"/>
              <a:t>= (0.4)*(0.3)*(0.1)*(0.95)</a:t>
            </a:r>
          </a:p>
        </p:txBody>
      </p:sp>
      <p:sp>
        <p:nvSpPr>
          <p:cNvPr id="871428" name="Oval 4">
            <a:extLst>
              <a:ext uri="{FF2B5EF4-FFF2-40B4-BE49-F238E27FC236}">
                <a16:creationId xmlns:a16="http://schemas.microsoft.com/office/drawing/2014/main" id="{D2F9A3EF-7021-690E-0725-2BB38A768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6576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A</a:t>
            </a:r>
          </a:p>
        </p:txBody>
      </p:sp>
      <p:sp>
        <p:nvSpPr>
          <p:cNvPr id="871429" name="Oval 5">
            <a:extLst>
              <a:ext uri="{FF2B5EF4-FFF2-40B4-BE49-F238E27FC236}">
                <a16:creationId xmlns:a16="http://schemas.microsoft.com/office/drawing/2014/main" id="{0DC8AB10-4F7D-A74D-E448-8ACCFED05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5720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B</a:t>
            </a:r>
          </a:p>
        </p:txBody>
      </p:sp>
      <p:sp>
        <p:nvSpPr>
          <p:cNvPr id="871430" name="Oval 6">
            <a:extLst>
              <a:ext uri="{FF2B5EF4-FFF2-40B4-BE49-F238E27FC236}">
                <a16:creationId xmlns:a16="http://schemas.microsoft.com/office/drawing/2014/main" id="{2C479D38-C7AE-6ED3-C9CA-53E9D6B31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102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C</a:t>
            </a:r>
          </a:p>
        </p:txBody>
      </p:sp>
      <p:sp>
        <p:nvSpPr>
          <p:cNvPr id="871431" name="Oval 7">
            <a:extLst>
              <a:ext uri="{FF2B5EF4-FFF2-40B4-BE49-F238E27FC236}">
                <a16:creationId xmlns:a16="http://schemas.microsoft.com/office/drawing/2014/main" id="{5FB9FFAD-9B6D-05E1-11F2-C97DB54CA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410200"/>
            <a:ext cx="533400" cy="5334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</a:t>
            </a:r>
          </a:p>
        </p:txBody>
      </p:sp>
      <p:cxnSp>
        <p:nvCxnSpPr>
          <p:cNvPr id="871432" name="AutoShape 8">
            <a:extLst>
              <a:ext uri="{FF2B5EF4-FFF2-40B4-BE49-F238E27FC236}">
                <a16:creationId xmlns:a16="http://schemas.microsoft.com/office/drawing/2014/main" id="{2AD5FA2B-E5CF-6D97-5A2A-F37AA9F4675E}"/>
              </a:ext>
            </a:extLst>
          </p:cNvPr>
          <p:cNvCxnSpPr>
            <a:cxnSpLocks noChangeShapeType="1"/>
            <a:stCxn id="871428" idx="4"/>
            <a:endCxn id="871429" idx="0"/>
          </p:cNvCxnSpPr>
          <p:nvPr/>
        </p:nvCxnSpPr>
        <p:spPr bwMode="auto">
          <a:xfrm>
            <a:off x="7658100" y="4191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1433" name="AutoShape 9">
            <a:extLst>
              <a:ext uri="{FF2B5EF4-FFF2-40B4-BE49-F238E27FC236}">
                <a16:creationId xmlns:a16="http://schemas.microsoft.com/office/drawing/2014/main" id="{63A50C4B-B4CE-EB8A-CD27-9E1E876AD315}"/>
              </a:ext>
            </a:extLst>
          </p:cNvPr>
          <p:cNvCxnSpPr>
            <a:cxnSpLocks noChangeShapeType="1"/>
            <a:stCxn id="871429" idx="3"/>
            <a:endCxn id="871430" idx="0"/>
          </p:cNvCxnSpPr>
          <p:nvPr/>
        </p:nvCxnSpPr>
        <p:spPr bwMode="auto">
          <a:xfrm flipH="1">
            <a:off x="7124700" y="5027613"/>
            <a:ext cx="344488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1434" name="AutoShape 10">
            <a:extLst>
              <a:ext uri="{FF2B5EF4-FFF2-40B4-BE49-F238E27FC236}">
                <a16:creationId xmlns:a16="http://schemas.microsoft.com/office/drawing/2014/main" id="{7A832C72-01F2-A34A-02FF-EF27D374E4F6}"/>
              </a:ext>
            </a:extLst>
          </p:cNvPr>
          <p:cNvCxnSpPr>
            <a:cxnSpLocks noChangeShapeType="1"/>
            <a:stCxn id="871429" idx="5"/>
            <a:endCxn id="871431" idx="0"/>
          </p:cNvCxnSpPr>
          <p:nvPr/>
        </p:nvCxnSpPr>
        <p:spPr bwMode="auto">
          <a:xfrm>
            <a:off x="7847013" y="5027613"/>
            <a:ext cx="420687" cy="382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1435" name="AutoShape 11">
            <a:extLst>
              <a:ext uri="{FF2B5EF4-FFF2-40B4-BE49-F238E27FC236}">
                <a16:creationId xmlns:a16="http://schemas.microsoft.com/office/drawing/2014/main" id="{89FC103D-061D-AAAD-4EA6-D677F67F0482}"/>
              </a:ext>
            </a:extLst>
          </p:cNvPr>
          <p:cNvSpPr>
            <a:spLocks/>
          </p:cNvSpPr>
          <p:nvPr/>
        </p:nvSpPr>
        <p:spPr bwMode="auto">
          <a:xfrm>
            <a:off x="6553200" y="2819400"/>
            <a:ext cx="304800" cy="685800"/>
          </a:xfrm>
          <a:prstGeom prst="rightBrace">
            <a:avLst>
              <a:gd name="adj1" fmla="val 1875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1436" name="Text Box 12">
            <a:extLst>
              <a:ext uri="{FF2B5EF4-FFF2-40B4-BE49-F238E27FC236}">
                <a16:creationId xmlns:a16="http://schemas.microsoft.com/office/drawing/2014/main" id="{0508D01C-EAA2-FF6E-ED70-DC7BDD0EE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981200"/>
            <a:ext cx="2133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This is from the graph structure</a:t>
            </a:r>
          </a:p>
        </p:txBody>
      </p:sp>
      <p:sp>
        <p:nvSpPr>
          <p:cNvPr id="871437" name="Line 13">
            <a:extLst>
              <a:ext uri="{FF2B5EF4-FFF2-40B4-BE49-F238E27FC236}">
                <a16:creationId xmlns:a16="http://schemas.microsoft.com/office/drawing/2014/main" id="{8F7E9D05-962B-8E19-61F5-EFE311F257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2743200"/>
            <a:ext cx="6096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38" name="AutoShape 14">
            <a:extLst>
              <a:ext uri="{FF2B5EF4-FFF2-40B4-BE49-F238E27FC236}">
                <a16:creationId xmlns:a16="http://schemas.microsoft.com/office/drawing/2014/main" id="{EC94A078-4AFF-46C7-4BEF-E0AB0B4020D6}"/>
              </a:ext>
            </a:extLst>
          </p:cNvPr>
          <p:cNvSpPr>
            <a:spLocks/>
          </p:cNvSpPr>
          <p:nvPr/>
        </p:nvSpPr>
        <p:spPr bwMode="auto">
          <a:xfrm rot="5400000">
            <a:off x="2324100" y="2628900"/>
            <a:ext cx="381000" cy="3048000"/>
          </a:xfrm>
          <a:prstGeom prst="rightBrace">
            <a:avLst>
              <a:gd name="adj1" fmla="val 108185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1439" name="Text Box 15">
            <a:extLst>
              <a:ext uri="{FF2B5EF4-FFF2-40B4-BE49-F238E27FC236}">
                <a16:creationId xmlns:a16="http://schemas.microsoft.com/office/drawing/2014/main" id="{1BAEFD8A-FDB6-4A09-0536-FA5FB8A90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76800"/>
            <a:ext cx="388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</a:rPr>
              <a:t>These numbers are from the conditional probability tables</a:t>
            </a:r>
          </a:p>
        </p:txBody>
      </p:sp>
      <p:sp>
        <p:nvSpPr>
          <p:cNvPr id="871440" name="Line 16">
            <a:extLst>
              <a:ext uri="{FF2B5EF4-FFF2-40B4-BE49-F238E27FC236}">
                <a16:creationId xmlns:a16="http://schemas.microsoft.com/office/drawing/2014/main" id="{D2EFB95B-A4C4-91C9-9925-72044375A3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14600" y="4419600"/>
            <a:ext cx="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7A91-7C5A-4480-137A-BD87DA55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22191-B1E1-9B23-2583-49FA46C54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1054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We aim to predict whether a person has the flu based on symptoms such as fever, cough, and fatigue.</a:t>
            </a:r>
            <a:r>
              <a:rPr lang="en-US" dirty="0"/>
              <a:t> The assumption is that flu causes these symptoms, and they are conditionally independent given the flu.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90E5E-D179-67A2-40ED-136A1A607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693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9C04-A11E-A461-D990-98E0E8CE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52121-DA00-972D-CCC5-9D118076F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Network Structure</a:t>
            </a:r>
          </a:p>
          <a:p>
            <a:pPr marL="0" indent="0">
              <a:buNone/>
            </a:pPr>
            <a:r>
              <a:rPr lang="en-US" dirty="0"/>
              <a:t>The Bayesian Network structure is as follows:</a:t>
            </a:r>
          </a:p>
          <a:p>
            <a:pPr marL="0" indent="0">
              <a:buNone/>
            </a:pPr>
            <a:r>
              <a:rPr lang="en-US" dirty="0"/>
              <a:t>Flu → Fever, Cough, Fatigue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078CC-84CC-9DF5-5680-9985A79EF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AFEC6-D375-B8DE-496F-F08D47338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200400"/>
            <a:ext cx="65532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19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002E-7B97-C31F-F8F0-2A02A3632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1537-9378-B193-B11A-1A8DD54F4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410200"/>
          </a:xfrm>
        </p:spPr>
        <p:txBody>
          <a:bodyPr/>
          <a:lstStyle/>
          <a:p>
            <a:r>
              <a:rPr lang="en-US" b="1" dirty="0"/>
              <a:t>Conditional Probability Tables (CPTs)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P(Flu):</a:t>
            </a:r>
            <a:br>
              <a:rPr lang="en-US" sz="2400" dirty="0"/>
            </a:br>
            <a:r>
              <a:rPr lang="en-US" sz="2400" dirty="0"/>
              <a:t>Yes: 0.1</a:t>
            </a:r>
            <a:br>
              <a:rPr lang="en-US" sz="2400" dirty="0"/>
            </a:br>
            <a:r>
              <a:rPr lang="en-US" sz="2400" dirty="0"/>
              <a:t>No: 0.9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P(Fever | Flu):</a:t>
            </a:r>
            <a:br>
              <a:rPr lang="en-US" sz="2400" dirty="0"/>
            </a:br>
            <a:r>
              <a:rPr lang="en-US" sz="2400" dirty="0"/>
              <a:t>Flu=Yes: Yes: 0.8, No: 0.2</a:t>
            </a:r>
            <a:br>
              <a:rPr lang="en-US" sz="2400" dirty="0"/>
            </a:br>
            <a:r>
              <a:rPr lang="en-US" sz="2400" dirty="0"/>
              <a:t>Flu=No: Yes: 0.3, No: 0.7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P(Cough | Flu):</a:t>
            </a:r>
            <a:br>
              <a:rPr lang="en-US" sz="2400" dirty="0"/>
            </a:br>
            <a:r>
              <a:rPr lang="en-US" sz="2400" dirty="0"/>
              <a:t>Flu=Yes: Yes: 0.7, No: 0.3</a:t>
            </a:r>
            <a:br>
              <a:rPr lang="en-US" sz="2400" dirty="0"/>
            </a:br>
            <a:r>
              <a:rPr lang="en-US" sz="2400" dirty="0"/>
              <a:t>Flu=No: Yes: 0.2, No: 0.8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P(Fatigue | Flu):</a:t>
            </a:r>
            <a:br>
              <a:rPr lang="en-US" sz="2400" dirty="0"/>
            </a:br>
            <a:r>
              <a:rPr lang="en-US" sz="2400" dirty="0"/>
              <a:t>Flu=Yes: Yes: 0.6, No: 0.4</a:t>
            </a:r>
            <a:br>
              <a:rPr lang="en-US" sz="2400" dirty="0"/>
            </a:br>
            <a:r>
              <a:rPr lang="en-US" sz="2400" dirty="0"/>
              <a:t>Flu=No: Yes: 0.3, No: 0.7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6C9B8-1595-17E2-C6BE-C96437741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968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1679-5403-2F34-E274-64A3708B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841C1-316F-AF7D-17E9-C62A1E8EA4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990600"/>
                <a:ext cx="80772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Manual Inference Calculation</a:t>
                </a:r>
              </a:p>
              <a:p>
                <a:pPr marL="0" indent="0">
                  <a:buNone/>
                </a:pPr>
                <a:r>
                  <a:rPr lang="en-US" sz="2800" dirty="0"/>
                  <a:t>We compute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the probability of Flu given Fever=Yes and Cough=Yes using Bayes' theorem:</a:t>
                </a:r>
              </a:p>
              <a:p>
                <a:pPr marL="0" indent="0">
                  <a:buNone/>
                </a:pPr>
                <a:r>
                  <a:rPr lang="pt-BR" sz="2800" dirty="0">
                    <a:solidFill>
                      <a:srgbClr val="0070C0"/>
                    </a:solidFill>
                  </a:rPr>
                  <a:t>P(H∣E)=P(E∣H)​. P(H) / P(E) 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0070C0"/>
                    </a:solidFill>
                  </a:rPr>
                  <a:t>P(</a:t>
                </a:r>
                <a:r>
                  <a:rPr lang="en-US" sz="2800" b="1" dirty="0" err="1">
                    <a:solidFill>
                      <a:srgbClr val="0070C0"/>
                    </a:solidFill>
                  </a:rPr>
                  <a:t>Flu∣Fever,Cough</a:t>
                </a:r>
                <a:r>
                  <a:rPr lang="en-US" sz="2800" dirty="0">
                    <a:solidFill>
                      <a:srgbClr val="0070C0"/>
                    </a:solidFill>
                  </a:rPr>
                  <a:t>) = P(</a:t>
                </a:r>
                <a:r>
                  <a:rPr lang="en-US" sz="2800" dirty="0" err="1">
                    <a:solidFill>
                      <a:srgbClr val="0070C0"/>
                    </a:solidFill>
                  </a:rPr>
                  <a:t>Fever,Cough∣Flu</a:t>
                </a:r>
                <a:r>
                  <a:rPr lang="en-US" sz="2800" dirty="0">
                    <a:solidFill>
                      <a:srgbClr val="0070C0"/>
                    </a:solidFill>
                  </a:rPr>
                  <a:t>)​. P(Flu) / P(</a:t>
                </a:r>
                <a:r>
                  <a:rPr lang="en-US" sz="2800" dirty="0" err="1">
                    <a:solidFill>
                      <a:srgbClr val="0070C0"/>
                    </a:solidFill>
                  </a:rPr>
                  <a:t>Fever,Cough</a:t>
                </a:r>
                <a:r>
                  <a:rPr lang="en-US" sz="2800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800" dirty="0"/>
                  <a:t>The denominator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B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B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BH" sz="2800" dirty="0"/>
                  <a:t>= </a:t>
                </a:r>
                <a14:m>
                  <m:oMath xmlns:m="http://schemas.openxmlformats.org/officeDocument/2006/math">
                    <m:r>
                      <a:rPr lang="ar-BH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ar-B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Fever</m:t>
                        </m:r>
                      </m:e>
                      <m:e>
                        <m:r>
                          <m:rPr>
                            <m:nor/>
                          </m:rPr>
                          <a:rPr lang="en-US" i="1"/>
                          <m:t>Cough</m:t>
                        </m:r>
                      </m:e>
                    </m:d>
                  </m:oMath>
                </a14:m>
                <a:r>
                  <a:rPr lang="en-US" sz="2800" dirty="0"/>
                  <a:t>is the same for all hypotheses (Flu=Yes or Flu=No), so when we compare or compute relative probabilities, we can </a:t>
                </a:r>
                <a:r>
                  <a:rPr lang="en-US" sz="2800" b="1" dirty="0"/>
                  <a:t>ignore it temporarily</a:t>
                </a:r>
                <a:r>
                  <a:rPr lang="en-US" sz="2800" dirty="0"/>
                  <a:t> and normalize later.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841C1-316F-AF7D-17E9-C62A1E8EA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990600"/>
                <a:ext cx="8077200" cy="5486400"/>
              </a:xfrm>
              <a:blipFill>
                <a:blip r:embed="rId2"/>
                <a:stretch>
                  <a:fillRect l="-1585" t="-1222" r="-1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0FA05-E2A7-FF63-379F-2EEC594CE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324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4457-164F-C997-CF0A-6F1F7320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3810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59CA5-3B05-6CFC-FFF4-36561B11B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534400" cy="57150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Note:</a:t>
            </a:r>
          </a:p>
          <a:p>
            <a:pPr marL="0" indent="0">
              <a:buNone/>
            </a:pPr>
            <a:r>
              <a:rPr lang="en-US" sz="2800" dirty="0"/>
              <a:t>P(E)=all hypotheses∑​P(H)⋅P(E∣H)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n-US" dirty="0" err="1"/>
              <a:t>Fever,Cough</a:t>
            </a:r>
            <a:r>
              <a:rPr lang="en-US" dirty="0"/>
              <a:t>)=∑​P(Flu)⋅P(</a:t>
            </a:r>
            <a:r>
              <a:rPr lang="en-US" dirty="0" err="1"/>
              <a:t>Fever,Cough∣Flu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sz="2400" dirty="0"/>
              <a:t>flu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P(Flu | Fever, Cough) ∝ P(Flu) × P(</a:t>
            </a:r>
            <a:r>
              <a:rPr lang="en-US" sz="2400" b="1" dirty="0" err="1">
                <a:solidFill>
                  <a:srgbClr val="C00000"/>
                </a:solidFill>
              </a:rPr>
              <a:t>Fever|Flu</a:t>
            </a:r>
            <a:r>
              <a:rPr lang="en-US" sz="2400" b="1" dirty="0">
                <a:solidFill>
                  <a:srgbClr val="C00000"/>
                </a:solidFill>
              </a:rPr>
              <a:t>) × P(</a:t>
            </a:r>
            <a:r>
              <a:rPr lang="en-US" sz="2400" b="1" dirty="0" err="1">
                <a:solidFill>
                  <a:srgbClr val="C00000"/>
                </a:solidFill>
              </a:rPr>
              <a:t>Cough|Flu</a:t>
            </a:r>
            <a:r>
              <a:rPr lang="en-US" sz="2400" b="1" dirty="0">
                <a:solidFill>
                  <a:srgbClr val="C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800" dirty="0"/>
              <a:t>For Flu=Yes: 0.1 × 0.8 × 0.7 = 0.056</a:t>
            </a:r>
          </a:p>
          <a:p>
            <a:pPr marL="0" indent="0">
              <a:buNone/>
            </a:pPr>
            <a:r>
              <a:rPr lang="en-US" sz="2800" dirty="0"/>
              <a:t>For Flu=No: 0.9 × 0.3 × 0.2 = 0.054</a:t>
            </a:r>
          </a:p>
          <a:p>
            <a:pPr marL="0" indent="0">
              <a:buNone/>
            </a:pPr>
            <a:r>
              <a:rPr lang="en-US" sz="2800" dirty="0"/>
              <a:t>P(E) = 0.056 + 0.509 = 0.11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P(Flu=</a:t>
            </a:r>
            <a:r>
              <a:rPr lang="en-US" sz="2800" dirty="0" err="1">
                <a:solidFill>
                  <a:srgbClr val="FF0000"/>
                </a:solidFill>
              </a:rPr>
              <a:t>Yes∣Fever</a:t>
            </a:r>
            <a:r>
              <a:rPr lang="en-US" sz="2800" dirty="0">
                <a:solidFill>
                  <a:srgbClr val="FF0000"/>
                </a:solidFill>
              </a:rPr>
              <a:t>, Cough)= 0.056/0.11​≈ 0.509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Normalized: P(Flu=Yes) ≈ 0.509</a:t>
            </a:r>
          </a:p>
          <a:p>
            <a:pPr marL="0" indent="0">
              <a:buNone/>
            </a:pPr>
            <a:r>
              <a:rPr lang="en-US" sz="2800" dirty="0"/>
              <a:t>P(Flu = No ∣Fever, Cough) 0.054 / 0.11 ≈ 0.491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65CAD-A104-C12F-AF33-0429431D2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420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4779-0179-78A4-DBF2-8298003D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F6BB-98C3-B71D-5AE9-1A3B3B459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there's approximately a 51% chance of having the flu given fever and cough.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8079F-4091-88B7-39FA-14B9D270E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751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B448-A1E3-34AC-7DA6-FE635434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76B92-8DD0-17A4-72AD-5969E700E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8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want to </a:t>
            </a:r>
            <a:r>
              <a:rPr lang="en-US" dirty="0">
                <a:solidFill>
                  <a:srgbClr val="00B050"/>
                </a:solidFill>
              </a:rPr>
              <a:t>determine the probability that an email is spam based on the following features: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/>
              <a:t>- </a:t>
            </a:r>
            <a:r>
              <a:rPr lang="en-US" dirty="0" err="1">
                <a:solidFill>
                  <a:srgbClr val="FF0000"/>
                </a:solidFill>
              </a:rPr>
              <a:t>ContainsOffer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Whether the email contains promotional offers.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- </a:t>
            </a:r>
            <a:r>
              <a:rPr lang="en-US" dirty="0" err="1">
                <a:solidFill>
                  <a:srgbClr val="FF0000"/>
                </a:solidFill>
              </a:rPr>
              <a:t>ContainsLink</a:t>
            </a:r>
            <a:r>
              <a:rPr lang="en-US" dirty="0"/>
              <a:t>: Whether the email contains hyperlinks.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- </a:t>
            </a:r>
            <a:r>
              <a:rPr lang="en-US" dirty="0" err="1">
                <a:solidFill>
                  <a:srgbClr val="FF0000"/>
                </a:solidFill>
              </a:rPr>
              <a:t>SenderKnown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Whether the sender is known to the recipient.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6B85A-FDAD-5F3A-81A3-B0F43C5B3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370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52E7-E517-CDE3-0AE6-318C682C3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267DA-2881-5484-A1F7-C2FE935C1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36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CDFC597-D428-9623-A736-DC4D70DD3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95400"/>
            <a:ext cx="75438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43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B85E-9E50-2AB7-A22A-38E1A170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DFB9-3E3A-7EC6-A5D4-3B23D165C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28700"/>
            <a:ext cx="8534400" cy="53721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The Bayesian Network structure is as follows:</a:t>
            </a:r>
            <a:br>
              <a:rPr lang="en-US" sz="2800" dirty="0"/>
            </a:br>
            <a:endParaRPr lang="en-US" sz="2800" dirty="0"/>
          </a:p>
          <a:p>
            <a:pPr marL="0" indent="0">
              <a:buNone/>
            </a:pPr>
            <a:r>
              <a:rPr lang="en-US" sz="2800" dirty="0"/>
              <a:t>Spam influences </a:t>
            </a:r>
            <a:r>
              <a:rPr lang="en-US" sz="2800" dirty="0" err="1"/>
              <a:t>ContainsOffer</a:t>
            </a:r>
            <a:r>
              <a:rPr lang="en-US" sz="2800" dirty="0"/>
              <a:t>, </a:t>
            </a:r>
            <a:r>
              <a:rPr lang="en-US" sz="2800" dirty="0" err="1"/>
              <a:t>ContainsLink</a:t>
            </a:r>
            <a:r>
              <a:rPr lang="en-US" sz="2800" dirty="0"/>
              <a:t>, and </a:t>
            </a:r>
            <a:r>
              <a:rPr lang="en-US" sz="2800" dirty="0" err="1"/>
              <a:t>SenderKnown</a:t>
            </a:r>
            <a:r>
              <a:rPr lang="en-US" sz="2800" dirty="0"/>
              <a:t>.</a:t>
            </a:r>
            <a:br>
              <a:rPr lang="en-US" sz="2800" dirty="0"/>
            </a:br>
            <a:endParaRPr lang="en-US" sz="2800" dirty="0"/>
          </a:p>
          <a:p>
            <a:pPr marL="0" indent="0">
              <a:buNone/>
            </a:pPr>
            <a:r>
              <a:rPr lang="en-US" sz="2800" dirty="0"/>
              <a:t>This means these features are conditionally dependent on whether the email is spam.</a:t>
            </a:r>
          </a:p>
          <a:p>
            <a:pPr marL="0" indent="0">
              <a:buNone/>
            </a:pPr>
            <a:r>
              <a:rPr lang="en-US" sz="2800" dirty="0"/>
              <a:t>Graphical representation:</a:t>
            </a:r>
          </a:p>
          <a:p>
            <a:pPr marL="0" indent="0">
              <a:buNone/>
            </a:pPr>
            <a:r>
              <a:rPr lang="en-US" sz="2800" dirty="0"/>
              <a:t>     Spam → </a:t>
            </a:r>
            <a:r>
              <a:rPr lang="en-US" sz="2800" dirty="0" err="1"/>
              <a:t>ContainsOffer</a:t>
            </a:r>
            <a:br>
              <a:rPr lang="en-US" sz="2800" dirty="0"/>
            </a:br>
            <a:r>
              <a:rPr lang="en-US" sz="2800" dirty="0"/>
              <a:t>     Spam → </a:t>
            </a:r>
            <a:r>
              <a:rPr lang="en-US" sz="2800" dirty="0" err="1"/>
              <a:t>ContainsLink</a:t>
            </a:r>
            <a:br>
              <a:rPr lang="en-US" sz="2800" dirty="0"/>
            </a:br>
            <a:r>
              <a:rPr lang="en-US" sz="2800" dirty="0"/>
              <a:t>     Spam → </a:t>
            </a:r>
            <a:r>
              <a:rPr lang="en-US" sz="2800" dirty="0" err="1"/>
              <a:t>SenderKnown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FBFF1-9675-D70D-7865-5717FB324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2629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C5F2-65E4-D367-0B19-0912C3B18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4CBE8-7AA2-9BE0-C358-9E404B3C6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Conditional Probability Tables (CPTs)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P(Spam):</a:t>
            </a:r>
          </a:p>
          <a:p>
            <a:r>
              <a:rPr lang="en-US" dirty="0"/>
              <a:t>Spam=Yes: 0.3</a:t>
            </a:r>
          </a:p>
          <a:p>
            <a:r>
              <a:rPr lang="en-US" dirty="0"/>
              <a:t>Spam=No: 0.7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ContainsOffer</a:t>
            </a:r>
            <a:r>
              <a:rPr lang="en-US" dirty="0">
                <a:solidFill>
                  <a:srgbClr val="FF0000"/>
                </a:solidFill>
              </a:rPr>
              <a:t> | Spam):</a:t>
            </a:r>
          </a:p>
          <a:p>
            <a:r>
              <a:rPr lang="en-US" dirty="0"/>
              <a:t>Spam=Yes: {Yes: 0.8, No: 0.2}</a:t>
            </a:r>
          </a:p>
          <a:p>
            <a:r>
              <a:rPr lang="en-US" dirty="0"/>
              <a:t>Spam=No: {Yes: 0.1, No: 0.9}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FED0C-BB03-D7BC-7DC3-A5D28FAB9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451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0DEB-4A2E-C2A9-062B-6D82E9DC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40163-9C2A-888A-0B99-EC64BC22F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ContainsLink</a:t>
            </a:r>
            <a:r>
              <a:rPr lang="en-US" dirty="0">
                <a:solidFill>
                  <a:srgbClr val="FF0000"/>
                </a:solidFill>
              </a:rPr>
              <a:t> | Spam):</a:t>
            </a:r>
          </a:p>
          <a:p>
            <a:pPr marL="0" indent="0">
              <a:buNone/>
            </a:pPr>
            <a:r>
              <a:rPr lang="en-US" dirty="0"/>
              <a:t>   Spam=Yes: {Yes: 0.9, No: 0.1}</a:t>
            </a:r>
          </a:p>
          <a:p>
            <a:pPr marL="0" indent="0">
              <a:buNone/>
            </a:pPr>
            <a:r>
              <a:rPr lang="en-US" dirty="0"/>
              <a:t>   Spam=No: {Yes: 0.4, No: 0.6}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SenderKnown</a:t>
            </a:r>
            <a:r>
              <a:rPr lang="en-US" dirty="0">
                <a:solidFill>
                  <a:srgbClr val="FF0000"/>
                </a:solidFill>
              </a:rPr>
              <a:t> | Spam):</a:t>
            </a:r>
          </a:p>
          <a:p>
            <a:pPr marL="0" indent="0">
              <a:buNone/>
            </a:pPr>
            <a:r>
              <a:rPr lang="en-US" dirty="0"/>
              <a:t>   Spam=Yes: {Yes: 0.2, No: 0.8}</a:t>
            </a:r>
          </a:p>
          <a:p>
            <a:pPr marL="0" indent="0">
              <a:buNone/>
            </a:pPr>
            <a:r>
              <a:rPr lang="en-US" dirty="0"/>
              <a:t>   Spam=No: {Yes: 0.9, No: 0.1}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134F3-F273-BFEC-239A-91A5A543E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920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016F-1C1A-84D0-4189-1FC5D2E1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63813-E003-BEA2-843D-E43D413C3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382000" cy="4648200"/>
          </a:xfrm>
        </p:spPr>
        <p:txBody>
          <a:bodyPr/>
          <a:lstStyle/>
          <a:p>
            <a:r>
              <a:rPr lang="en-US" b="1" dirty="0"/>
              <a:t>Manual Inference Calculation</a:t>
            </a:r>
          </a:p>
          <a:p>
            <a:r>
              <a:rPr lang="en-US" sz="2800" dirty="0"/>
              <a:t>Suppose we observe an email with the following features: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800" dirty="0" err="1">
                <a:solidFill>
                  <a:srgbClr val="00B050"/>
                </a:solidFill>
              </a:rPr>
              <a:t>ContainsOffer</a:t>
            </a:r>
            <a:r>
              <a:rPr lang="en-US" sz="2800" dirty="0">
                <a:solidFill>
                  <a:srgbClr val="00B050"/>
                </a:solidFill>
              </a:rPr>
              <a:t> = Yes</a:t>
            </a:r>
            <a:br>
              <a:rPr lang="en-US" sz="2800" dirty="0">
                <a:solidFill>
                  <a:srgbClr val="00B050"/>
                </a:solidFill>
              </a:rPr>
            </a:br>
            <a:r>
              <a:rPr lang="en-US" sz="2800" dirty="0">
                <a:solidFill>
                  <a:srgbClr val="00B050"/>
                </a:solidFill>
              </a:rPr>
              <a:t>- </a:t>
            </a:r>
            <a:r>
              <a:rPr lang="en-US" sz="2800" dirty="0" err="1">
                <a:solidFill>
                  <a:srgbClr val="00B050"/>
                </a:solidFill>
              </a:rPr>
              <a:t>ContainsLink</a:t>
            </a:r>
            <a:r>
              <a:rPr lang="en-US" sz="2800" dirty="0">
                <a:solidFill>
                  <a:srgbClr val="00B050"/>
                </a:solidFill>
              </a:rPr>
              <a:t> = Yes</a:t>
            </a:r>
            <a:br>
              <a:rPr lang="en-US" sz="2800" dirty="0">
                <a:solidFill>
                  <a:srgbClr val="00B050"/>
                </a:solidFill>
              </a:rPr>
            </a:br>
            <a:r>
              <a:rPr lang="en-US" sz="2800" dirty="0">
                <a:solidFill>
                  <a:srgbClr val="00B050"/>
                </a:solidFill>
              </a:rPr>
              <a:t>- </a:t>
            </a:r>
            <a:r>
              <a:rPr lang="en-US" sz="2800" dirty="0" err="1">
                <a:solidFill>
                  <a:srgbClr val="00B050"/>
                </a:solidFill>
              </a:rPr>
              <a:t>SenderKnown</a:t>
            </a:r>
            <a:r>
              <a:rPr lang="en-US" sz="2800" dirty="0">
                <a:solidFill>
                  <a:srgbClr val="00B050"/>
                </a:solidFill>
              </a:rPr>
              <a:t> = No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US" sz="2800" dirty="0"/>
              <a:t>We want to compute P(Spam | </a:t>
            </a:r>
            <a:r>
              <a:rPr lang="en-US" sz="2800" dirty="0" err="1"/>
              <a:t>ContainsOffer</a:t>
            </a:r>
            <a:r>
              <a:rPr lang="en-US" sz="2800" dirty="0"/>
              <a:t>=Yes, </a:t>
            </a:r>
            <a:r>
              <a:rPr lang="en-US" sz="2800" dirty="0" err="1"/>
              <a:t>ContainsLink</a:t>
            </a:r>
            <a:r>
              <a:rPr lang="en-US" sz="2800" dirty="0"/>
              <a:t>=Yes, </a:t>
            </a:r>
            <a:r>
              <a:rPr lang="en-US" sz="2800" dirty="0" err="1"/>
              <a:t>SenderKnown</a:t>
            </a:r>
            <a:r>
              <a:rPr lang="en-US" sz="2800" dirty="0"/>
              <a:t>=No).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175BF-8E9B-6347-C8B2-0E97C5234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759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AA30-07F0-CB06-59E1-C158CCA6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6FB75-94C9-78F5-6FB9-8E3105CE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Bayes' theorem:</a:t>
            </a:r>
          </a:p>
          <a:p>
            <a:pPr marL="0" indent="0">
              <a:buNone/>
            </a:pPr>
            <a:r>
              <a:rPr lang="en-US" dirty="0"/>
              <a:t>P(Spam | Evidence) ∝ P(Spam) × P(</a:t>
            </a:r>
            <a:r>
              <a:rPr lang="en-US" dirty="0" err="1"/>
              <a:t>ContainsOffer</a:t>
            </a:r>
            <a:r>
              <a:rPr lang="en-US" dirty="0"/>
              <a:t> | Spam) × P(</a:t>
            </a:r>
            <a:r>
              <a:rPr lang="en-US" dirty="0" err="1"/>
              <a:t>ContainsLink</a:t>
            </a:r>
            <a:r>
              <a:rPr lang="en-US" dirty="0"/>
              <a:t> | Spam) × P(</a:t>
            </a:r>
            <a:r>
              <a:rPr lang="en-US" dirty="0" err="1"/>
              <a:t>SenderKnown</a:t>
            </a:r>
            <a:r>
              <a:rPr lang="en-US" dirty="0"/>
              <a:t> | Spam)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For Spam=Yes:</a:t>
            </a:r>
          </a:p>
          <a:p>
            <a:pPr marL="0" indent="0">
              <a:buNone/>
            </a:pPr>
            <a:r>
              <a:rPr lang="en-US" dirty="0"/>
              <a:t>0.3 × 0.8 × 0.9 × 0.8 = 0.1728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For Spam=No:</a:t>
            </a:r>
          </a:p>
          <a:p>
            <a:pPr marL="0" indent="0">
              <a:buNone/>
            </a:pPr>
            <a:r>
              <a:rPr lang="en-US" dirty="0"/>
              <a:t>0.7 × 0.1 × 0.4 × 0.1 = 0.0028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6F434-1FAB-928E-631B-8CDE386E7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8486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F23E-79C3-04DA-E419-582BA272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DA1EB-303D-5885-F6AE-75C840242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Normalize:</a:t>
            </a:r>
          </a:p>
          <a:p>
            <a:pPr marL="0" indent="0">
              <a:buNone/>
            </a:pPr>
            <a:r>
              <a:rPr lang="en-US" dirty="0"/>
              <a:t>Total = 0.1728 + 0.0028 = 0.1756</a:t>
            </a:r>
          </a:p>
          <a:p>
            <a:pPr marL="0" indent="0">
              <a:buNone/>
            </a:pPr>
            <a:r>
              <a:rPr lang="en-US" dirty="0"/>
              <a:t>P(Spam=Yes | Evidence) = 0.1728 / 0.1756 ≈ </a:t>
            </a:r>
            <a:r>
              <a:rPr lang="en-US" dirty="0">
                <a:solidFill>
                  <a:srgbClr val="00B050"/>
                </a:solidFill>
              </a:rPr>
              <a:t>0.984</a:t>
            </a:r>
          </a:p>
          <a:p>
            <a:pPr marL="0" indent="0">
              <a:buNone/>
            </a:pPr>
            <a:r>
              <a:rPr lang="en-US" dirty="0"/>
              <a:t>P(Spam=No | Evidence) = 0.0028 / 0.1756 ≈ </a:t>
            </a:r>
            <a:r>
              <a:rPr lang="en-US" dirty="0">
                <a:solidFill>
                  <a:srgbClr val="00B050"/>
                </a:solidFill>
              </a:rPr>
              <a:t>0.016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1B82-6EAB-F305-6D1E-09C9DE942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4804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D464-F843-715D-A3FD-CABD4B51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B621-C730-F606-5E80-2350BE652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5334000"/>
          </a:xfrm>
        </p:spPr>
        <p:txBody>
          <a:bodyPr/>
          <a:lstStyle/>
          <a:p>
            <a:r>
              <a:rPr lang="en-US" b="1" dirty="0"/>
              <a:t>Problem Definition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We consider a medical diagnosis scenario with the following variables: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/>
              <a:t>- Disease (Yes/No)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TestPositive</a:t>
            </a:r>
            <a:r>
              <a:rPr lang="en-US" dirty="0"/>
              <a:t> (Yes/No)</a:t>
            </a:r>
            <a:br>
              <a:rPr lang="en-US" dirty="0"/>
            </a:br>
            <a:r>
              <a:rPr lang="en-US" dirty="0"/>
              <a:t>- Symptom (Yes/No)</a:t>
            </a:r>
            <a:br>
              <a:rPr lang="en-US" dirty="0"/>
            </a:br>
            <a:r>
              <a:rPr lang="en-US" dirty="0"/>
              <a:t>The structure of the network is: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Disease → </a:t>
            </a:r>
            <a:r>
              <a:rPr lang="en-US" dirty="0" err="1">
                <a:solidFill>
                  <a:srgbClr val="FF0000"/>
                </a:solidFill>
              </a:rPr>
              <a:t>TestPositive</a:t>
            </a:r>
            <a:r>
              <a:rPr lang="en-US" dirty="0">
                <a:solidFill>
                  <a:srgbClr val="FF0000"/>
                </a:solidFill>
              </a:rPr>
              <a:t> and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Disease → Symptom.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8E7DA-8D7C-5657-8B4A-1FAADCB0B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429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69F7-2212-1C10-120B-7607BC0A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A8926-5E8B-108B-8F20-A5B3FCFEC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44</a:t>
            </a:fld>
            <a:endParaRPr lang="en-US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1CA3EE-48EF-FFFE-AE0F-301346620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752600"/>
            <a:ext cx="6477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20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70A7-58B7-949F-8B1B-6DF4D02C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8DCA-E02D-EBA2-0506-1C4B1DE13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Conditional Probability Tables (CPTs)</a:t>
            </a:r>
          </a:p>
          <a:p>
            <a:pPr marL="0" indent="0">
              <a:buNone/>
            </a:pPr>
            <a:r>
              <a:rPr lang="en-US" dirty="0"/>
              <a:t>P(Disease): Yes: 0.05, No: 0.95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TestPositive</a:t>
            </a:r>
            <a:r>
              <a:rPr lang="en-US" dirty="0">
                <a:solidFill>
                  <a:srgbClr val="FF0000"/>
                </a:solidFill>
              </a:rPr>
              <a:t> | Disease):</a:t>
            </a:r>
          </a:p>
          <a:p>
            <a:pPr marL="0" indent="0">
              <a:buNone/>
            </a:pPr>
            <a:r>
              <a:rPr lang="en-US" dirty="0"/>
              <a:t>Disease=Yes: Yes: 0.9, No: 0.1</a:t>
            </a:r>
          </a:p>
          <a:p>
            <a:pPr marL="0" indent="0">
              <a:buNone/>
            </a:pPr>
            <a:r>
              <a:rPr lang="en-US" dirty="0"/>
              <a:t>Disease=No: Yes: 0.2, No: 0.8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P(Symptom | Disease):</a:t>
            </a:r>
          </a:p>
          <a:p>
            <a:pPr marL="0" indent="0">
              <a:buNone/>
            </a:pPr>
            <a:r>
              <a:rPr lang="en-US" dirty="0"/>
              <a:t>Disease=Yes: Yes: 0.8, No: 0.2</a:t>
            </a:r>
          </a:p>
          <a:p>
            <a:pPr marL="0" indent="0">
              <a:buNone/>
            </a:pPr>
            <a:r>
              <a:rPr lang="en-US" dirty="0"/>
              <a:t>Disease=No: Yes: 0.1, No: 0.9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821BD-33BA-4273-050C-D67155B3A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6444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F4D3C-B76F-97F0-56C8-B3EE42AA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864B-3332-B86A-8E1D-890A131C6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763000" cy="54102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Step-by-Step Joint Probability Calculation</a:t>
            </a:r>
          </a:p>
          <a:p>
            <a:pPr marL="0" indent="0">
              <a:buNone/>
            </a:pPr>
            <a:r>
              <a:rPr lang="en-US" sz="2800" b="1" dirty="0"/>
              <a:t>Joint Probability Calculation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2"/>
                </a:solidFill>
              </a:rPr>
              <a:t>Using the formula: P(X1,...,</a:t>
            </a:r>
            <a:r>
              <a:rPr lang="en-US" sz="2800" dirty="0" err="1">
                <a:solidFill>
                  <a:schemeClr val="accent2"/>
                </a:solidFill>
              </a:rPr>
              <a:t>Xn</a:t>
            </a:r>
            <a:r>
              <a:rPr lang="en-US" sz="2800" dirty="0">
                <a:solidFill>
                  <a:schemeClr val="accent2"/>
                </a:solidFill>
              </a:rPr>
              <a:t>) = ∏ P(Xi | Parents(Xi)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Example: Compute P(Disease=Yes, </a:t>
            </a:r>
            <a:r>
              <a:rPr lang="en-US" sz="2400" dirty="0" err="1">
                <a:solidFill>
                  <a:srgbClr val="C00000"/>
                </a:solidFill>
              </a:rPr>
              <a:t>TestPositive</a:t>
            </a:r>
            <a:r>
              <a:rPr lang="en-US" sz="2400" dirty="0">
                <a:solidFill>
                  <a:srgbClr val="C00000"/>
                </a:solidFill>
              </a:rPr>
              <a:t>=Yes, Symptom=Yes)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Using the formula:</a:t>
            </a:r>
          </a:p>
          <a:p>
            <a:pPr marL="0" indent="0">
              <a:buNone/>
            </a:pPr>
            <a:r>
              <a:rPr lang="en-US" sz="2400" b="1" dirty="0"/>
              <a:t>P(D, T, S) = P(D) × P(T|D) × P(S|D)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= 0.05 × 0.9 × 0.8 = 0.036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Another example: P(Disease=No, </a:t>
            </a:r>
            <a:r>
              <a:rPr lang="en-US" sz="2400" dirty="0" err="1">
                <a:solidFill>
                  <a:srgbClr val="C00000"/>
                </a:solidFill>
              </a:rPr>
              <a:t>TestPositive</a:t>
            </a:r>
            <a:r>
              <a:rPr lang="en-US" sz="2400" dirty="0">
                <a:solidFill>
                  <a:srgbClr val="C00000"/>
                </a:solidFill>
              </a:rPr>
              <a:t>=Yes, Symptom=Yes)</a:t>
            </a:r>
          </a:p>
          <a:p>
            <a:pPr marL="0" indent="0">
              <a:buNone/>
            </a:pPr>
            <a:r>
              <a:rPr lang="en-US" sz="2400" dirty="0"/>
              <a:t>= 0.95 × 0.2 × 0.1 = 0.019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4027D-8185-9C2D-0D3E-D91F13C5A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07054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6D7A-AB7A-330C-5AA0-638D8991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9F02-A22D-699D-1FFD-2FE1E5C9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This example demonstrates a Bayesian Network with both dependent and independent variables. </a:t>
            </a:r>
            <a:r>
              <a:rPr lang="en-US" b="1" dirty="0">
                <a:solidFill>
                  <a:srgbClr val="FF0000"/>
                </a:solidFill>
              </a:rPr>
              <a:t>We use a realistic scenario involving Weather, Traffic, Accident, and </a:t>
            </a:r>
            <a:r>
              <a:rPr lang="en-US" b="1" dirty="0" err="1">
                <a:solidFill>
                  <a:srgbClr val="FF0000"/>
                </a:solidFill>
              </a:rPr>
              <a:t>LateForWork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/>
              <a:t>Network Structure</a:t>
            </a:r>
          </a:p>
          <a:p>
            <a:pPr marL="0" indent="0">
              <a:buNone/>
            </a:pPr>
            <a:r>
              <a:rPr lang="en-US" b="1" dirty="0"/>
              <a:t>The structure of the network is as follows:</a:t>
            </a:r>
          </a:p>
          <a:p>
            <a:pPr marL="0" indent="0">
              <a:buNone/>
            </a:pPr>
            <a:r>
              <a:rPr lang="en-US" dirty="0"/>
              <a:t>- Weather influences Traffic and </a:t>
            </a:r>
            <a:r>
              <a:rPr lang="en-US" dirty="0" err="1"/>
              <a:t>LateForWork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Traffic influences Accident</a:t>
            </a:r>
          </a:p>
          <a:p>
            <a:pPr marL="0" indent="0">
              <a:buNone/>
            </a:pPr>
            <a:r>
              <a:rPr lang="en-US" dirty="0"/>
              <a:t>- Accident influences </a:t>
            </a:r>
            <a:r>
              <a:rPr lang="en-US" dirty="0" err="1"/>
              <a:t>LateForWork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BE315-13D5-DEB6-6039-B9C07F3BE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442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5B7A-9717-32F7-B675-546406A9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F6657-C625-36DB-9B4B-363E2D71B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48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BAB71-1965-1BB3-4BD4-3C0D8D2FCCED}"/>
              </a:ext>
            </a:extLst>
          </p:cNvPr>
          <p:cNvSpPr txBox="1"/>
          <p:nvPr/>
        </p:nvSpPr>
        <p:spPr>
          <a:xfrm>
            <a:off x="4343400" y="1066800"/>
            <a:ext cx="4648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Network Structure</a:t>
            </a:r>
          </a:p>
          <a:p>
            <a:r>
              <a:rPr lang="en-US" sz="2800" dirty="0"/>
              <a:t>The structure of the network is as follows:</a:t>
            </a:r>
          </a:p>
          <a:p>
            <a:r>
              <a:rPr lang="en-US" sz="2800" dirty="0"/>
              <a:t>- Weather influences Traffic and </a:t>
            </a:r>
            <a:r>
              <a:rPr lang="en-US" sz="2800" dirty="0" err="1"/>
              <a:t>LateForWork</a:t>
            </a:r>
            <a:endParaRPr lang="en-US" sz="2800" dirty="0"/>
          </a:p>
          <a:p>
            <a:r>
              <a:rPr lang="en-US" sz="2800" dirty="0"/>
              <a:t>- Traffic influences Accident</a:t>
            </a:r>
          </a:p>
          <a:p>
            <a:r>
              <a:rPr lang="en-US" sz="2800" dirty="0"/>
              <a:t>- Accident influences </a:t>
            </a:r>
            <a:r>
              <a:rPr lang="en-US" sz="2800" dirty="0" err="1"/>
              <a:t>LateForWork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9EEAE-EC1C-0DCF-24EF-10B3326CD848}"/>
              </a:ext>
            </a:extLst>
          </p:cNvPr>
          <p:cNvSpPr txBox="1"/>
          <p:nvPr/>
        </p:nvSpPr>
        <p:spPr>
          <a:xfrm>
            <a:off x="3581400" y="4697075"/>
            <a:ext cx="533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Some variables like Traffic and Accident are dependent, while others like Weather are independent of Accident.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6295CBB-F210-5C1D-8993-0EA03C4A2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676400"/>
            <a:ext cx="3316310" cy="398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160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CF9D-F028-8212-ABA8-81745A39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07E5-4B10-CF56-D78D-82F0E3779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Conditional Probability Tables (CPTs)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P(Weather): </a:t>
            </a:r>
            <a:r>
              <a:rPr lang="en-US" dirty="0"/>
              <a:t>{Sunny: 0.6, Rainy: 0.4}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P(Traffic | Weather):</a:t>
            </a:r>
          </a:p>
          <a:p>
            <a:pPr marL="0" indent="0">
              <a:buNone/>
            </a:pPr>
            <a:r>
              <a:rPr lang="en-US" dirty="0"/>
              <a:t>- Weather=Sunny: {Heavy: 0.3, Light: 0.7}</a:t>
            </a:r>
          </a:p>
          <a:p>
            <a:pPr marL="0" indent="0">
              <a:buNone/>
            </a:pPr>
            <a:r>
              <a:rPr lang="en-US" dirty="0"/>
              <a:t>- Weather=Rainy: {Heavy: 0.8, Light: 0.2}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P(Accident | Traffic):</a:t>
            </a:r>
          </a:p>
          <a:p>
            <a:pPr marL="0" indent="0">
              <a:buNone/>
            </a:pPr>
            <a:r>
              <a:rPr lang="en-US" dirty="0"/>
              <a:t>- Traffic=Heavy: {Yes: 0.6, No: 0.4}</a:t>
            </a:r>
          </a:p>
          <a:p>
            <a:pPr marL="0" indent="0">
              <a:buNone/>
            </a:pPr>
            <a:r>
              <a:rPr lang="en-US" dirty="0"/>
              <a:t>- Traffic=Light: {Yes: 0.2, No: 0.8}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CD294-AB29-1CFD-19B4-9FBAFD76A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319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2B8E-226F-FE15-2EFB-13AA8561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81A8-A561-C3B5-3408-B55821296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82296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LateForWork</a:t>
            </a:r>
            <a:r>
              <a:rPr lang="en-US" dirty="0">
                <a:solidFill>
                  <a:srgbClr val="FF0000"/>
                </a:solidFill>
              </a:rPr>
              <a:t> | Weather, Accident):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sz="2800" dirty="0"/>
              <a:t>Weather=Sunny, Accident=No: {Yes: 0.2, No: 0.8}</a:t>
            </a:r>
          </a:p>
          <a:p>
            <a:pPr marL="0" indent="0">
              <a:buNone/>
            </a:pPr>
            <a:r>
              <a:rPr lang="en-US" sz="2800" dirty="0"/>
              <a:t>- Weather=Sunny, Accident=Yes: {Yes: 0.6, No: 0.4}</a:t>
            </a:r>
          </a:p>
          <a:p>
            <a:pPr marL="0" indent="0">
              <a:buNone/>
            </a:pPr>
            <a:r>
              <a:rPr lang="en-US" sz="2800" dirty="0"/>
              <a:t>- Weather=Rainy, Accident=No: {Yes: 0.5, No: 0.5}</a:t>
            </a:r>
          </a:p>
          <a:p>
            <a:pPr marL="0" indent="0">
              <a:buNone/>
            </a:pPr>
            <a:r>
              <a:rPr lang="en-US" sz="2800" dirty="0"/>
              <a:t>- Weather=Rainy, Accident=Yes: {Yes: 0.9, No: 0.1}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C9628-FDA4-1666-2504-C9C82B1A4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4097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EB46-6FEE-5344-4435-72739309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7F82E-00D9-74D1-200B-A0565382B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953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Step-by-Step Joint Probability Calculation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Example: </a:t>
            </a:r>
            <a:r>
              <a:rPr lang="en-US" dirty="0">
                <a:solidFill>
                  <a:srgbClr val="CC00FF"/>
                </a:solidFill>
              </a:rPr>
              <a:t>Compute </a:t>
            </a:r>
            <a:r>
              <a:rPr lang="en-US" sz="2800" dirty="0">
                <a:solidFill>
                  <a:srgbClr val="CC00FF"/>
                </a:solidFill>
              </a:rPr>
              <a:t>P(Weather=Rainy, Traffic=Heavy, Accident=Yes, </a:t>
            </a:r>
            <a:r>
              <a:rPr lang="en-US" sz="2800" dirty="0" err="1">
                <a:solidFill>
                  <a:srgbClr val="CC00FF"/>
                </a:solidFill>
              </a:rPr>
              <a:t>LateForWork</a:t>
            </a:r>
            <a:r>
              <a:rPr lang="en-US" sz="2800" dirty="0">
                <a:solidFill>
                  <a:srgbClr val="CC00FF"/>
                </a:solidFill>
              </a:rPr>
              <a:t>=Yes)</a:t>
            </a:r>
          </a:p>
          <a:p>
            <a:pPr marL="0" indent="0">
              <a:buNone/>
            </a:pPr>
            <a:r>
              <a:rPr lang="en-US" dirty="0">
                <a:solidFill>
                  <a:srgbClr val="CC00FF"/>
                </a:solidFill>
              </a:rPr>
              <a:t>Using the factorization formula: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P(W, T, A, L) = P(W) * P(T|W) * P(A|T) * P(L|W, A)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= 0.4 * 0.8 * 0.6 * 0.9 = 0.1728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30C6-F504-982F-C0DB-D9524084B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26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537C-F71D-6012-1A53-75456814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8D050-506E-BD72-6678-E5DD894E5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previous example illustrates how Bayesian Networks can model complex dependencies. Some variables like Traffic and Accident are dependent, while others like Weather are independent of Accident.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B37CA-C39E-B62B-A41E-295FEAA37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463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E808-7020-FA91-F6A8-6FEA7245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DA1E-56C0-4D5B-9FC6-21FDFD6C2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8229600" cy="4648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 </a:t>
            </a:r>
            <a:r>
              <a:rPr lang="en-US" dirty="0">
                <a:solidFill>
                  <a:srgbClr val="CC00FF"/>
                </a:solidFill>
              </a:rPr>
              <a:t>Compute P(Weather=Sunny, Traffic=Heavy, Accident=No, </a:t>
            </a:r>
            <a:r>
              <a:rPr lang="en-US" dirty="0" err="1">
                <a:solidFill>
                  <a:srgbClr val="CC00FF"/>
                </a:solidFill>
              </a:rPr>
              <a:t>LateForWork</a:t>
            </a:r>
            <a:r>
              <a:rPr lang="en-US" dirty="0">
                <a:solidFill>
                  <a:srgbClr val="CC00FF"/>
                </a:solidFill>
              </a:rPr>
              <a:t>=Yes)</a:t>
            </a:r>
          </a:p>
          <a:p>
            <a:r>
              <a:rPr lang="en-US" sz="2400" dirty="0"/>
              <a:t>P(W, T, A, L) = P(W) * P(T|W) * P(A|T) * P(L|W, A)</a:t>
            </a:r>
          </a:p>
          <a:p>
            <a:r>
              <a:rPr lang="en-US" sz="2400" dirty="0"/>
              <a:t>P(W=Sunny) = 0.4</a:t>
            </a:r>
          </a:p>
          <a:p>
            <a:r>
              <a:rPr lang="en-US" sz="2400" dirty="0"/>
              <a:t>P(T=H | W=S) =  0.3</a:t>
            </a:r>
          </a:p>
          <a:p>
            <a:r>
              <a:rPr lang="en-US" sz="2400" dirty="0"/>
              <a:t>P(A = N | T=H) = 0.4</a:t>
            </a:r>
          </a:p>
          <a:p>
            <a:r>
              <a:rPr lang="en-US" sz="2400" dirty="0"/>
              <a:t>P(L = yes| W =S,A = N)=  0.2</a:t>
            </a:r>
          </a:p>
          <a:p>
            <a:pPr marL="0" indent="0">
              <a:buNone/>
            </a:pPr>
            <a:r>
              <a:rPr lang="en-US" sz="2400" dirty="0"/>
              <a:t>      = 0.4 * 0.3 * 0.4 * 0.2 = 0.009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C3F5B-A35C-C0A6-C43D-D4EF108CD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08021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755C-0483-3E9A-4509-958A6392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55269-8647-EBD7-C65D-35C06EA1D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54</a:t>
            </a:fld>
            <a:endParaRPr lang="en-US" altLang="en-US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962AF23A-155A-E7F8-43AB-87C0B4DCA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5366"/>
              </p:ext>
            </p:extLst>
          </p:nvPr>
        </p:nvGraphicFramePr>
        <p:xfrm>
          <a:off x="762000" y="1295400"/>
          <a:ext cx="7772400" cy="519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3057401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67789223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90710700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03849171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7791649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Diago-1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Diago-2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Diago-3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Diago-4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Disease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1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68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47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651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2710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6229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617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399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334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9426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325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143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4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sz="4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1081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6906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38C8-0947-BAB5-BAA4-FCE1A6CC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2272-D7E9-08FD-3EF2-AAA1AC1F1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Bayesian Network is </a:t>
            </a:r>
          </a:p>
          <a:p>
            <a:r>
              <a:rPr lang="en-US" dirty="0"/>
              <a:t>Disease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diago-1</a:t>
            </a:r>
          </a:p>
          <a:p>
            <a:r>
              <a:rPr lang="en-US" dirty="0"/>
              <a:t>Disease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diago-2</a:t>
            </a:r>
          </a:p>
          <a:p>
            <a:r>
              <a:rPr lang="en-US" dirty="0"/>
              <a:t>Disease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diago-3</a:t>
            </a:r>
          </a:p>
          <a:p>
            <a:r>
              <a:rPr lang="en-US" dirty="0"/>
              <a:t>Disease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diago-4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419E-B7E0-1407-2EA6-676A8DD63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6470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F7E6-A191-8C21-5B9E-A6051E4F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D7B3-07BF-2C95-6B55-6B107E1C1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153400" cy="4724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P(Dis) = yes   5/12 = 0.41</a:t>
            </a:r>
          </a:p>
          <a:p>
            <a:pPr marL="0" indent="0">
              <a:buNone/>
            </a:pPr>
            <a:r>
              <a:rPr lang="en-US" dirty="0"/>
              <a:t>P(Dis) = No  7/12 = 0.583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P(d1|Dis)</a:t>
            </a:r>
          </a:p>
          <a:p>
            <a:pPr marL="0" indent="0">
              <a:buNone/>
            </a:pPr>
            <a:r>
              <a:rPr lang="en-US" dirty="0" err="1"/>
              <a:t>Dis:Yes</a:t>
            </a:r>
            <a:r>
              <a:rPr lang="en-US" dirty="0"/>
              <a:t>     d1= T  2/5 = 0.4   d2=F  3/5=0.6</a:t>
            </a:r>
          </a:p>
          <a:p>
            <a:pPr marL="0" indent="0">
              <a:buNone/>
            </a:pPr>
            <a:r>
              <a:rPr lang="en-US" dirty="0"/>
              <a:t>Dis: No    d1=T  4/7 = 0.571  d2= F  3/7= 0.428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BE310-2377-ABE6-7A21-1D8C80DF6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10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DACF-BDDC-0DCF-CB05-010EA7EF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C9CB-7B51-BAE3-93B0-51BA7280D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P(d2|Dis)</a:t>
            </a:r>
          </a:p>
          <a:p>
            <a:pPr marL="0" indent="0">
              <a:buNone/>
            </a:pPr>
            <a:r>
              <a:rPr lang="en-US" sz="2800" dirty="0"/>
              <a:t>Dis: Yes  d2=T  4/5=0.8      d2=F 1/5=0.2</a:t>
            </a:r>
          </a:p>
          <a:p>
            <a:pPr marL="0" indent="0">
              <a:buNone/>
            </a:pPr>
            <a:r>
              <a:rPr lang="en-US" sz="2800" dirty="0"/>
              <a:t>Dis: No  d2 = 2/7= 0.285    d2=F  5/7=0.714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P(d3|Dis)</a:t>
            </a:r>
          </a:p>
          <a:p>
            <a:pPr marL="0" indent="0">
              <a:buNone/>
            </a:pPr>
            <a:r>
              <a:rPr lang="en-US" sz="2800" dirty="0" err="1"/>
              <a:t>Dis:Yes</a:t>
            </a:r>
            <a:r>
              <a:rPr lang="en-US" sz="2800" dirty="0"/>
              <a:t>  d3=T  4/5=0.8  d3= F 1/5=0.2</a:t>
            </a:r>
          </a:p>
          <a:p>
            <a:pPr marL="0" indent="0">
              <a:buNone/>
            </a:pPr>
            <a:r>
              <a:rPr lang="en-US" sz="2800" dirty="0"/>
              <a:t>Dis: No d3=T  4/7 =0.571    dis3=F  2/7 =0.285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P(d3|Dis)</a:t>
            </a:r>
          </a:p>
          <a:p>
            <a:pPr marL="0" indent="0">
              <a:buNone/>
            </a:pPr>
            <a:r>
              <a:rPr lang="en-US" sz="2800" dirty="0"/>
              <a:t>Dis: Yes  d4=T  3/5= 0.6  d4=F  2/5= 0.4</a:t>
            </a:r>
          </a:p>
          <a:p>
            <a:pPr marL="0" indent="0">
              <a:buNone/>
            </a:pPr>
            <a:r>
              <a:rPr lang="en-US" sz="2800" dirty="0"/>
              <a:t>Dis: No d4=T  5/7 = 0.714   d4=F 2/7 = 0.285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158A7-5E82-BE4D-FE20-E2D1FD4EF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1070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8E1F-0DBA-B381-143C-2D065D1D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84D00-6FFC-E387-2F9A-62C622703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Given d1=T  d2= F  d3 =F  d4=T</a:t>
            </a:r>
          </a:p>
          <a:p>
            <a:pPr marL="0" indent="0">
              <a:buNone/>
            </a:pPr>
            <a:r>
              <a:rPr lang="en-US" sz="2800" b="1" dirty="0"/>
              <a:t>Find probability of disease given d1,d2,d3 and d4  Using the product formula of Bayesian Network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P(dis=Y |d1=T,d2=F,d3=F,d4=T) </a:t>
            </a:r>
            <a:r>
              <a:rPr lang="en-US" sz="2800" dirty="0">
                <a:solidFill>
                  <a:srgbClr val="C00000"/>
                </a:solidFill>
              </a:rPr>
              <a:t>proportional to </a:t>
            </a:r>
          </a:p>
          <a:p>
            <a:pPr marL="0" indent="0">
              <a:buNone/>
            </a:pPr>
            <a:r>
              <a:rPr lang="en-US" sz="2800" dirty="0"/>
              <a:t>P(dis=Y) x P(d1=</a:t>
            </a:r>
            <a:r>
              <a:rPr lang="en-US" sz="2800" dirty="0" err="1"/>
              <a:t>T|dis</a:t>
            </a:r>
            <a:r>
              <a:rPr lang="en-US" sz="2800" dirty="0"/>
              <a:t>=Y) x P(d2=</a:t>
            </a:r>
            <a:r>
              <a:rPr lang="en-US" sz="2800" dirty="0" err="1"/>
              <a:t>F|dis</a:t>
            </a:r>
            <a:r>
              <a:rPr lang="en-US" sz="2800" dirty="0"/>
              <a:t>=Y) x </a:t>
            </a:r>
          </a:p>
          <a:p>
            <a:pPr marL="0" indent="0">
              <a:buNone/>
            </a:pPr>
            <a:r>
              <a:rPr lang="en-US" sz="2800" dirty="0"/>
              <a:t>P(d3=F | dis=Y) x P(d4=</a:t>
            </a:r>
            <a:r>
              <a:rPr lang="en-US" sz="2800" dirty="0" err="1"/>
              <a:t>T|dis</a:t>
            </a:r>
            <a:r>
              <a:rPr lang="en-US" sz="2800" dirty="0"/>
              <a:t>=Y)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= 0.41 x 0.4 x 0.2 x 0.2 x 0.6 = 0.0039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8FFAD-ECBF-C3A4-85A0-612755CDC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5654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B1FA-4561-0F94-D853-06881DCB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B6E49-6BAE-A555-F369-AE6BD86A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800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P(dis=N |d1=T,d2=F,d3=F,d4=T) </a:t>
            </a:r>
            <a:r>
              <a:rPr lang="en-US" sz="2400" dirty="0">
                <a:solidFill>
                  <a:srgbClr val="C00000"/>
                </a:solidFill>
              </a:rPr>
              <a:t>proportional to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P(dis=N x P(d1=</a:t>
            </a:r>
            <a:r>
              <a:rPr lang="en-US" sz="2400" dirty="0" err="1"/>
              <a:t>T|dis</a:t>
            </a:r>
            <a:r>
              <a:rPr lang="en-US" sz="2400" dirty="0"/>
              <a:t>=N) x P(d2=</a:t>
            </a:r>
            <a:r>
              <a:rPr lang="en-US" sz="2400" dirty="0" err="1"/>
              <a:t>F|dis</a:t>
            </a:r>
            <a:r>
              <a:rPr lang="en-US" sz="2400" dirty="0"/>
              <a:t>=N) x P(d3=F | dis=N) x P(d4=</a:t>
            </a:r>
            <a:r>
              <a:rPr lang="en-US" sz="2400" dirty="0" err="1"/>
              <a:t>T|dis</a:t>
            </a:r>
            <a:r>
              <a:rPr lang="en-US" sz="2400" dirty="0"/>
              <a:t>=N)</a:t>
            </a:r>
          </a:p>
          <a:p>
            <a:pPr marL="0" indent="0">
              <a:buNone/>
            </a:pPr>
            <a:r>
              <a:rPr lang="en-US" sz="2400" dirty="0"/>
              <a:t>    =  0.583 X 0.571  X 0.714 X 0.286 X 0.714    = 0.0486</a:t>
            </a:r>
          </a:p>
          <a:p>
            <a:pPr marL="0" indent="0">
              <a:buNone/>
            </a:pPr>
            <a:r>
              <a:rPr lang="en-US" sz="2400" b="1" dirty="0"/>
              <a:t>We do normalization</a:t>
            </a:r>
            <a:endParaRPr lang="en-US" sz="2400" dirty="0"/>
          </a:p>
          <a:p>
            <a:r>
              <a:rPr lang="en-US" sz="2400" dirty="0"/>
              <a:t>0.0039 +0.0486 = 0.0525</a:t>
            </a:r>
          </a:p>
          <a:p>
            <a:r>
              <a:rPr lang="en-US" sz="2400" dirty="0"/>
              <a:t>P(dis=Y |d1=T,d2=F,d3=F,d4=T) =   0.0039 / 0.0525 = 0.0743</a:t>
            </a:r>
          </a:p>
          <a:p>
            <a:r>
              <a:rPr lang="en-US" sz="2400" dirty="0"/>
              <a:t>P(dis=N |d1=T,d2=F,d3=F,d4=T) = 0.0486 / 0.0525 = 0.926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This means Disease equal to NO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8E816-9692-8C71-9F36-E46D58145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730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0248-94AE-E9A5-3C79-12937E08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E27D4-3AA6-0014-3A3A-28B42D4E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Find probability of Disease given that d1 = T and d2=T</a:t>
            </a:r>
          </a:p>
          <a:p>
            <a:r>
              <a:rPr lang="en-US" sz="2400" dirty="0"/>
              <a:t>P(dis=Y| d1=T, d2=T) </a:t>
            </a:r>
            <a:r>
              <a:rPr lang="en-US" sz="2400" dirty="0">
                <a:solidFill>
                  <a:srgbClr val="0070C0"/>
                </a:solidFill>
              </a:rPr>
              <a:t>Proportional to </a:t>
            </a:r>
            <a:r>
              <a:rPr lang="en-US" sz="2400" dirty="0"/>
              <a:t>P(dis=Y) x P(d1=</a:t>
            </a:r>
            <a:r>
              <a:rPr lang="en-US" sz="2400" dirty="0" err="1"/>
              <a:t>T|dis</a:t>
            </a:r>
            <a:r>
              <a:rPr lang="en-US" sz="2400" dirty="0"/>
              <a:t>=Y) x P(d2=</a:t>
            </a:r>
            <a:r>
              <a:rPr lang="en-US" sz="2400" dirty="0" err="1"/>
              <a:t>T|dis</a:t>
            </a:r>
            <a:r>
              <a:rPr lang="en-US" sz="2400" dirty="0"/>
              <a:t>=Y)</a:t>
            </a:r>
          </a:p>
          <a:p>
            <a:endParaRPr lang="en-US" sz="2400" dirty="0"/>
          </a:p>
          <a:p>
            <a:r>
              <a:rPr lang="en-US" sz="2400" dirty="0"/>
              <a:t>P(dis=N| d1=T, d2=T) </a:t>
            </a:r>
            <a:r>
              <a:rPr lang="en-US" sz="2400" dirty="0">
                <a:solidFill>
                  <a:srgbClr val="0070C0"/>
                </a:solidFill>
              </a:rPr>
              <a:t>Proportional to  </a:t>
            </a:r>
            <a:r>
              <a:rPr lang="en-US" sz="2400" dirty="0"/>
              <a:t>P(dis=N) x P(d1=</a:t>
            </a:r>
            <a:r>
              <a:rPr lang="en-US" sz="2400" dirty="0" err="1"/>
              <a:t>T|dis</a:t>
            </a:r>
            <a:r>
              <a:rPr lang="en-US" sz="2400" dirty="0"/>
              <a:t>=N) x P(d2=</a:t>
            </a:r>
            <a:r>
              <a:rPr lang="en-US" sz="2400" dirty="0" err="1"/>
              <a:t>T|dis</a:t>
            </a:r>
            <a:r>
              <a:rPr lang="en-US" sz="2400" dirty="0"/>
              <a:t>=N)</a:t>
            </a:r>
          </a:p>
          <a:p>
            <a:endParaRPr lang="en-US" sz="2400" dirty="0"/>
          </a:p>
          <a:p>
            <a:r>
              <a:rPr lang="en-US" sz="2400" dirty="0"/>
              <a:t>P(dis=Y| d1=T, d2=T) = 0.41X 0.4 X 0.8 = 0.131</a:t>
            </a:r>
          </a:p>
          <a:p>
            <a:r>
              <a:rPr lang="en-US" sz="2400" dirty="0"/>
              <a:t>P(dis=N| d1=T, d2=T) = 0.583 x 0.571 x 0.285= 0.095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26699-61B2-C04C-C6F6-A6AA47BE0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73668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A59E-468E-13CC-3638-A2070088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comprehensive 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3D8E-74F3-D00D-5D55-3B44C61C3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For normalization </a:t>
            </a:r>
          </a:p>
          <a:p>
            <a:r>
              <a:rPr lang="en-US" sz="2800" dirty="0"/>
              <a:t>0.131 + 0.095 =  0.227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For dis =  Y          0.131/ 0.227 = 0.577</a:t>
            </a:r>
          </a:p>
          <a:p>
            <a:r>
              <a:rPr lang="en-US" sz="2800" dirty="0"/>
              <a:t>For dis = N         0.095/ 0.227 = 0.419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The prediction is that, the patient will have a disease.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697D4-74C7-2DB3-E0CC-96939605B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3F5336-985F-45A9-A9F4-9E2D645B1518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5230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6827</TotalTime>
  <Words>4356</Words>
  <Application>Microsoft Office PowerPoint</Application>
  <PresentationFormat>On-screen Show (4:3)</PresentationFormat>
  <Paragraphs>744</Paragraphs>
  <Slides>61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Aptos</vt:lpstr>
      <vt:lpstr>Arial</vt:lpstr>
      <vt:lpstr>Cambria Math</vt:lpstr>
      <vt:lpstr>Tahoma</vt:lpstr>
      <vt:lpstr>Times New Roman</vt:lpstr>
      <vt:lpstr>Wingdings</vt:lpstr>
      <vt:lpstr>Default Design</vt:lpstr>
      <vt:lpstr>Equation</vt:lpstr>
      <vt:lpstr>A Tutorial on Bayesian Networks</vt:lpstr>
      <vt:lpstr>Introduction</vt:lpstr>
      <vt:lpstr>Introduction</vt:lpstr>
      <vt:lpstr>Introduction</vt:lpstr>
      <vt:lpstr>Introduction</vt:lpstr>
      <vt:lpstr>Bayesian Networks</vt:lpstr>
      <vt:lpstr>Bayesian Networks (An Example)</vt:lpstr>
      <vt:lpstr>Outline</vt:lpstr>
      <vt:lpstr>Probability Primer: Random Variables</vt:lpstr>
      <vt:lpstr>Boolean Random Variables</vt:lpstr>
      <vt:lpstr>Probabilities</vt:lpstr>
      <vt:lpstr>Conditional Probability</vt:lpstr>
      <vt:lpstr>The Joint Probability Distribution</vt:lpstr>
      <vt:lpstr>The Joint Probability Distribution</vt:lpstr>
      <vt:lpstr>The Joint Probability Distribution</vt:lpstr>
      <vt:lpstr>The Problem with the Joint Distribution</vt:lpstr>
      <vt:lpstr>Independence</vt:lpstr>
      <vt:lpstr>Independence</vt:lpstr>
      <vt:lpstr>Conditional Independence</vt:lpstr>
      <vt:lpstr>Outline</vt:lpstr>
      <vt:lpstr>A Bayesian Network</vt:lpstr>
      <vt:lpstr>A Directed Acyclic Graph</vt:lpstr>
      <vt:lpstr>A Set of Tables for Each Node</vt:lpstr>
      <vt:lpstr>A Set of Tables for Each Node</vt:lpstr>
      <vt:lpstr>Conditional Independence</vt:lpstr>
      <vt:lpstr>The Joint Probability Distribution</vt:lpstr>
      <vt:lpstr>Using a Bayesian Network Example</vt:lpstr>
      <vt:lpstr>Using a Bayesian Network Example</vt:lpstr>
      <vt:lpstr>Example 1</vt:lpstr>
      <vt:lpstr>Example 1</vt:lpstr>
      <vt:lpstr>Example 1</vt:lpstr>
      <vt:lpstr>Example 1</vt:lpstr>
      <vt:lpstr>Example 1</vt:lpstr>
      <vt:lpstr>Example 1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2</vt:lpstr>
      <vt:lpstr>Example 3</vt:lpstr>
      <vt:lpstr>Example 3</vt:lpstr>
      <vt:lpstr>Example 3</vt:lpstr>
      <vt:lpstr>Example 3</vt:lpstr>
      <vt:lpstr>Example 4</vt:lpstr>
      <vt:lpstr>Example 4</vt:lpstr>
      <vt:lpstr>Example 4</vt:lpstr>
      <vt:lpstr>Example 4</vt:lpstr>
      <vt:lpstr>Example 4</vt:lpstr>
      <vt:lpstr>Example 4</vt:lpstr>
      <vt:lpstr>Example 4</vt:lpstr>
      <vt:lpstr>A comprehensive  Example</vt:lpstr>
      <vt:lpstr>A comprehensive  Example</vt:lpstr>
      <vt:lpstr>A comprehensive  Example</vt:lpstr>
      <vt:lpstr>A comprehensive  Example</vt:lpstr>
      <vt:lpstr>A comprehensive  Example</vt:lpstr>
      <vt:lpstr>A comprehensive  Example</vt:lpstr>
      <vt:lpstr>A comprehensive  Example</vt:lpstr>
      <vt:lpstr>A comprehensive 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Dr. NABIL M. A. HEWAHI</cp:lastModifiedBy>
  <cp:revision>358</cp:revision>
  <dcterms:created xsi:type="dcterms:W3CDTF">1601-01-01T00:00:00Z</dcterms:created>
  <dcterms:modified xsi:type="dcterms:W3CDTF">2025-11-01T11:03:50Z</dcterms:modified>
</cp:coreProperties>
</file>