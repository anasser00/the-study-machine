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Lst>
  <p:notesMasterIdLst>
    <p:notesMasterId r:id="rId63"/>
  </p:notesMasterIdLst>
  <p:handoutMasterIdLst>
    <p:handoutMasterId r:id="rId64"/>
  </p:handoutMasterIdLst>
  <p:sldIdLst>
    <p:sldId id="269" r:id="rId2"/>
    <p:sldId id="304" r:id="rId3"/>
    <p:sldId id="292" r:id="rId4"/>
    <p:sldId id="293" r:id="rId5"/>
    <p:sldId id="295" r:id="rId6"/>
    <p:sldId id="308" r:id="rId7"/>
    <p:sldId id="361" r:id="rId8"/>
    <p:sldId id="296" r:id="rId9"/>
    <p:sldId id="297" r:id="rId10"/>
    <p:sldId id="309" r:id="rId11"/>
    <p:sldId id="362" r:id="rId12"/>
    <p:sldId id="363" r:id="rId13"/>
    <p:sldId id="333" r:id="rId14"/>
    <p:sldId id="334" r:id="rId15"/>
    <p:sldId id="298" r:id="rId16"/>
    <p:sldId id="344" r:id="rId17"/>
    <p:sldId id="342" r:id="rId18"/>
    <p:sldId id="343" r:id="rId19"/>
    <p:sldId id="330" r:id="rId20"/>
    <p:sldId id="331" r:id="rId21"/>
    <p:sldId id="332" r:id="rId22"/>
    <p:sldId id="325" r:id="rId23"/>
    <p:sldId id="326" r:id="rId24"/>
    <p:sldId id="329" r:id="rId25"/>
    <p:sldId id="328" r:id="rId26"/>
    <p:sldId id="299" r:id="rId27"/>
    <p:sldId id="335" r:id="rId28"/>
    <p:sldId id="336" r:id="rId29"/>
    <p:sldId id="337" r:id="rId30"/>
    <p:sldId id="338" r:id="rId31"/>
    <p:sldId id="339" r:id="rId32"/>
    <p:sldId id="310" r:id="rId33"/>
    <p:sldId id="300" r:id="rId34"/>
    <p:sldId id="316" r:id="rId35"/>
    <p:sldId id="365" r:id="rId36"/>
    <p:sldId id="366" r:id="rId37"/>
    <p:sldId id="318" r:id="rId38"/>
    <p:sldId id="319" r:id="rId39"/>
    <p:sldId id="320" r:id="rId40"/>
    <p:sldId id="321" r:id="rId41"/>
    <p:sldId id="301" r:id="rId42"/>
    <p:sldId id="360" r:id="rId43"/>
    <p:sldId id="345" r:id="rId44"/>
    <p:sldId id="347" r:id="rId45"/>
    <p:sldId id="311" r:id="rId46"/>
    <p:sldId id="346" r:id="rId47"/>
    <p:sldId id="348" r:id="rId48"/>
    <p:sldId id="349" r:id="rId49"/>
    <p:sldId id="350" r:id="rId50"/>
    <p:sldId id="351" r:id="rId51"/>
    <p:sldId id="352" r:id="rId52"/>
    <p:sldId id="353" r:id="rId53"/>
    <p:sldId id="354" r:id="rId54"/>
    <p:sldId id="355" r:id="rId55"/>
    <p:sldId id="356" r:id="rId56"/>
    <p:sldId id="357" r:id="rId57"/>
    <p:sldId id="358" r:id="rId58"/>
    <p:sldId id="369" r:id="rId59"/>
    <p:sldId id="370" r:id="rId60"/>
    <p:sldId id="368" r:id="rId61"/>
    <p:sldId id="359" r:id="rId62"/>
  </p:sldIdLst>
  <p:sldSz cx="9144000" cy="6858000" type="screen4x3"/>
  <p:notesSz cx="7010400" cy="9296400"/>
  <p:defaultTextStyle>
    <a:defPPr>
      <a:defRPr lang="en-US"/>
    </a:defPPr>
    <a:lvl1pPr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1pPr>
    <a:lvl2pPr marL="457200"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2pPr>
    <a:lvl3pPr marL="914400"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3pPr>
    <a:lvl4pPr marL="1371600"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4pPr>
    <a:lvl5pPr marL="1828800"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5pPr>
    <a:lvl6pPr marL="2286000" algn="l" defTabSz="914400" rtl="0" eaLnBrk="1" latinLnBrk="0" hangingPunct="1">
      <a:defRPr sz="2600" kern="1200">
        <a:solidFill>
          <a:schemeClr val="tx1"/>
        </a:solidFill>
        <a:latin typeface="Arial" charset="0"/>
        <a:ea typeface="+mn-ea"/>
        <a:cs typeface="+mn-cs"/>
      </a:defRPr>
    </a:lvl6pPr>
    <a:lvl7pPr marL="2743200" algn="l" defTabSz="914400" rtl="0" eaLnBrk="1" latinLnBrk="0" hangingPunct="1">
      <a:defRPr sz="2600" kern="1200">
        <a:solidFill>
          <a:schemeClr val="tx1"/>
        </a:solidFill>
        <a:latin typeface="Arial" charset="0"/>
        <a:ea typeface="+mn-ea"/>
        <a:cs typeface="+mn-cs"/>
      </a:defRPr>
    </a:lvl7pPr>
    <a:lvl8pPr marL="3200400" algn="l" defTabSz="914400" rtl="0" eaLnBrk="1" latinLnBrk="0" hangingPunct="1">
      <a:defRPr sz="2600" kern="1200">
        <a:solidFill>
          <a:schemeClr val="tx1"/>
        </a:solidFill>
        <a:latin typeface="Arial" charset="0"/>
        <a:ea typeface="+mn-ea"/>
        <a:cs typeface="+mn-cs"/>
      </a:defRPr>
    </a:lvl8pPr>
    <a:lvl9pPr marL="3657600" algn="l" defTabSz="914400" rtl="0" eaLnBrk="1" latinLnBrk="0" hangingPunct="1">
      <a:defRPr sz="26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B94917"/>
    <a:srgbClr val="C4E7F4"/>
    <a:srgbClr val="893611"/>
    <a:srgbClr val="A44114"/>
    <a:srgbClr val="F3B99F"/>
    <a:srgbClr val="000066"/>
    <a:srgbClr val="0000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7155" autoAdjust="0"/>
  </p:normalViewPr>
  <p:slideViewPr>
    <p:cSldViewPr>
      <p:cViewPr varScale="1">
        <p:scale>
          <a:sx n="82" d="100"/>
          <a:sy n="82" d="100"/>
        </p:scale>
        <p:origin x="1502" y="72"/>
      </p:cViewPr>
      <p:guideLst>
        <p:guide orient="horz" pos="2160"/>
        <p:guide pos="2880"/>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186CD2-49B8-49AF-9FD4-3A50757B7C8E}" type="doc">
      <dgm:prSet loTypeId="urn:diagrams.loki3.com/BracketList" loCatId="list" qsTypeId="urn:microsoft.com/office/officeart/2005/8/quickstyle/simple1" qsCatId="simple" csTypeId="urn:microsoft.com/office/officeart/2005/8/colors/accent2_3" csCatId="accent2" phldr="1"/>
      <dgm:spPr/>
      <dgm:t>
        <a:bodyPr/>
        <a:lstStyle/>
        <a:p>
          <a:endParaRPr lang="en-US"/>
        </a:p>
      </dgm:t>
    </dgm:pt>
    <dgm:pt modelId="{86CDC9D3-B8DA-44F3-AA03-2F90EC821B60}">
      <dgm:prSet phldrT="[Text]" custT="1"/>
      <dgm:spPr/>
      <dgm:t>
        <a:bodyPr/>
        <a:lstStyle/>
        <a:p>
          <a:pPr algn="l"/>
          <a:r>
            <a:rPr lang="en-US" sz="2800" b="1" dirty="0">
              <a:solidFill>
                <a:schemeClr val="accent3">
                  <a:lumMod val="50000"/>
                </a:schemeClr>
              </a:solidFill>
            </a:rPr>
            <a:t>Uniformed Search</a:t>
          </a:r>
        </a:p>
      </dgm:t>
    </dgm:pt>
    <dgm:pt modelId="{A51630B5-6CCC-4002-9983-62CD606C5F59}" type="parTrans" cxnId="{E767E9A3-A6DD-49F7-AEBD-F521E08B9538}">
      <dgm:prSet/>
      <dgm:spPr/>
      <dgm:t>
        <a:bodyPr/>
        <a:lstStyle/>
        <a:p>
          <a:endParaRPr lang="en-US"/>
        </a:p>
      </dgm:t>
    </dgm:pt>
    <dgm:pt modelId="{887E9E0E-CC12-4C03-8329-ECA91C165E8C}" type="sibTrans" cxnId="{E767E9A3-A6DD-49F7-AEBD-F521E08B9538}">
      <dgm:prSet/>
      <dgm:spPr/>
      <dgm:t>
        <a:bodyPr/>
        <a:lstStyle/>
        <a:p>
          <a:endParaRPr lang="en-US"/>
        </a:p>
      </dgm:t>
    </dgm:pt>
    <dgm:pt modelId="{DE1E441F-20AB-43FC-AF08-9695358EA8C2}">
      <dgm:prSet phldrT="[Text]" custT="1"/>
      <dgm:spPr/>
      <dgm:t>
        <a:bodyPr/>
        <a:lstStyle/>
        <a:p>
          <a:pPr>
            <a:buNone/>
          </a:pPr>
          <a:r>
            <a:rPr lang="en-US" sz="4400" dirty="0"/>
            <a:t>No knowledge to guide to the goal</a:t>
          </a:r>
        </a:p>
      </dgm:t>
    </dgm:pt>
    <dgm:pt modelId="{A52C5ECB-E6CA-4C2E-BB4F-32F4DDE14369}" type="parTrans" cxnId="{E47E802E-DC18-4697-B183-C7C90586FA54}">
      <dgm:prSet/>
      <dgm:spPr/>
      <dgm:t>
        <a:bodyPr/>
        <a:lstStyle/>
        <a:p>
          <a:endParaRPr lang="en-US"/>
        </a:p>
      </dgm:t>
    </dgm:pt>
    <dgm:pt modelId="{AB715514-0293-42C7-B64D-65266F652136}" type="sibTrans" cxnId="{E47E802E-DC18-4697-B183-C7C90586FA54}">
      <dgm:prSet/>
      <dgm:spPr/>
      <dgm:t>
        <a:bodyPr/>
        <a:lstStyle/>
        <a:p>
          <a:endParaRPr lang="en-US"/>
        </a:p>
      </dgm:t>
    </dgm:pt>
    <dgm:pt modelId="{15048EF2-B9AB-4E96-8F33-01D0D68762FE}">
      <dgm:prSet phldrT="[Text]" custT="1"/>
      <dgm:spPr/>
      <dgm:t>
        <a:bodyPr/>
        <a:lstStyle/>
        <a:p>
          <a:pPr>
            <a:buNone/>
          </a:pPr>
          <a:r>
            <a:rPr lang="en-US" sz="4400" dirty="0"/>
            <a:t>Uses knowledge to guide search</a:t>
          </a:r>
        </a:p>
      </dgm:t>
    </dgm:pt>
    <dgm:pt modelId="{B68271C1-76C3-4912-8211-EB40DC7FBB7D}" type="parTrans" cxnId="{253BA47C-183A-4C2F-839B-7BFE74DBBF8C}">
      <dgm:prSet/>
      <dgm:spPr/>
      <dgm:t>
        <a:bodyPr/>
        <a:lstStyle/>
        <a:p>
          <a:endParaRPr lang="en-US"/>
        </a:p>
      </dgm:t>
    </dgm:pt>
    <dgm:pt modelId="{71B7D600-0440-4671-9B72-4015C9CE8AE4}" type="sibTrans" cxnId="{253BA47C-183A-4C2F-839B-7BFE74DBBF8C}">
      <dgm:prSet/>
      <dgm:spPr/>
      <dgm:t>
        <a:bodyPr/>
        <a:lstStyle/>
        <a:p>
          <a:endParaRPr lang="en-US"/>
        </a:p>
      </dgm:t>
    </dgm:pt>
    <dgm:pt modelId="{403F61B8-4483-40CE-A154-BE82833AA5C8}">
      <dgm:prSet phldrT="[Text]" custT="1"/>
      <dgm:spPr/>
      <dgm:t>
        <a:bodyPr/>
        <a:lstStyle/>
        <a:p>
          <a:pPr algn="l"/>
          <a:r>
            <a:rPr lang="en-US" sz="2800" b="1" dirty="0">
              <a:solidFill>
                <a:schemeClr val="accent3">
                  <a:lumMod val="50000"/>
                </a:schemeClr>
              </a:solidFill>
            </a:rPr>
            <a:t>Informed Search</a:t>
          </a:r>
          <a:endParaRPr lang="en-US" sz="2800" dirty="0"/>
        </a:p>
      </dgm:t>
    </dgm:pt>
    <dgm:pt modelId="{7410E697-978B-41EF-96E7-DB788FFE0243}" type="sibTrans" cxnId="{71EF1FFC-BB49-439B-ADFD-7C08876B1998}">
      <dgm:prSet/>
      <dgm:spPr/>
      <dgm:t>
        <a:bodyPr/>
        <a:lstStyle/>
        <a:p>
          <a:endParaRPr lang="en-US"/>
        </a:p>
      </dgm:t>
    </dgm:pt>
    <dgm:pt modelId="{08321F36-2162-46A8-AF5F-E85BF5B99D5F}" type="parTrans" cxnId="{71EF1FFC-BB49-439B-ADFD-7C08876B1998}">
      <dgm:prSet/>
      <dgm:spPr/>
      <dgm:t>
        <a:bodyPr/>
        <a:lstStyle/>
        <a:p>
          <a:endParaRPr lang="en-US"/>
        </a:p>
      </dgm:t>
    </dgm:pt>
    <dgm:pt modelId="{85C81E85-DA63-4F47-9AEE-143C94D48F03}" type="pres">
      <dgm:prSet presAssocID="{81186CD2-49B8-49AF-9FD4-3A50757B7C8E}" presName="Name0" presStyleCnt="0">
        <dgm:presLayoutVars>
          <dgm:dir/>
          <dgm:animLvl val="lvl"/>
          <dgm:resizeHandles val="exact"/>
        </dgm:presLayoutVars>
      </dgm:prSet>
      <dgm:spPr/>
    </dgm:pt>
    <dgm:pt modelId="{5B5ED4C5-CA7B-4C49-BB2A-2407AC1C9DA0}" type="pres">
      <dgm:prSet presAssocID="{86CDC9D3-B8DA-44F3-AA03-2F90EC821B60}" presName="linNode" presStyleCnt="0"/>
      <dgm:spPr/>
    </dgm:pt>
    <dgm:pt modelId="{EF43C9BB-6DA3-43B3-9443-0287DD7C8C7F}" type="pres">
      <dgm:prSet presAssocID="{86CDC9D3-B8DA-44F3-AA03-2F90EC821B60}" presName="parTx" presStyleLbl="revTx" presStyleIdx="0" presStyleCnt="2" custScaleX="130928">
        <dgm:presLayoutVars>
          <dgm:chMax val="1"/>
          <dgm:bulletEnabled val="1"/>
        </dgm:presLayoutVars>
      </dgm:prSet>
      <dgm:spPr/>
    </dgm:pt>
    <dgm:pt modelId="{ED98A032-A899-409D-86A4-74E0CA82ACFD}" type="pres">
      <dgm:prSet presAssocID="{86CDC9D3-B8DA-44F3-AA03-2F90EC821B60}" presName="bracket" presStyleLbl="parChTrans1D1" presStyleIdx="0" presStyleCnt="2"/>
      <dgm:spPr/>
    </dgm:pt>
    <dgm:pt modelId="{04E020EC-A372-4D44-8AF1-C4D70BE7FB57}" type="pres">
      <dgm:prSet presAssocID="{86CDC9D3-B8DA-44F3-AA03-2F90EC821B60}" presName="spH" presStyleCnt="0"/>
      <dgm:spPr/>
    </dgm:pt>
    <dgm:pt modelId="{577EBF96-DA39-42FE-88BD-29542A1A037E}" type="pres">
      <dgm:prSet presAssocID="{86CDC9D3-B8DA-44F3-AA03-2F90EC821B60}" presName="desTx" presStyleLbl="node1" presStyleIdx="0" presStyleCnt="2">
        <dgm:presLayoutVars>
          <dgm:bulletEnabled val="1"/>
        </dgm:presLayoutVars>
      </dgm:prSet>
      <dgm:spPr/>
    </dgm:pt>
    <dgm:pt modelId="{AA1ADA25-2CEB-4103-A8EF-B0BFD25484B4}" type="pres">
      <dgm:prSet presAssocID="{887E9E0E-CC12-4C03-8329-ECA91C165E8C}" presName="spV" presStyleCnt="0"/>
      <dgm:spPr/>
    </dgm:pt>
    <dgm:pt modelId="{9F049A0E-C9C1-49D6-B727-C12BF3E62F9D}" type="pres">
      <dgm:prSet presAssocID="{403F61B8-4483-40CE-A154-BE82833AA5C8}" presName="linNode" presStyleCnt="0"/>
      <dgm:spPr/>
    </dgm:pt>
    <dgm:pt modelId="{EFD9D639-FE37-4F7F-8389-166D3513EFB3}" type="pres">
      <dgm:prSet presAssocID="{403F61B8-4483-40CE-A154-BE82833AA5C8}" presName="parTx" presStyleLbl="revTx" presStyleIdx="1" presStyleCnt="2" custScaleX="130928">
        <dgm:presLayoutVars>
          <dgm:chMax val="1"/>
          <dgm:bulletEnabled val="1"/>
        </dgm:presLayoutVars>
      </dgm:prSet>
      <dgm:spPr/>
    </dgm:pt>
    <dgm:pt modelId="{F685832D-96D6-41D1-82B8-8F3378107330}" type="pres">
      <dgm:prSet presAssocID="{403F61B8-4483-40CE-A154-BE82833AA5C8}" presName="bracket" presStyleLbl="parChTrans1D1" presStyleIdx="1" presStyleCnt="2"/>
      <dgm:spPr/>
    </dgm:pt>
    <dgm:pt modelId="{BFD4554C-0FB0-4644-8B78-6EC6B0291D23}" type="pres">
      <dgm:prSet presAssocID="{403F61B8-4483-40CE-A154-BE82833AA5C8}" presName="spH" presStyleCnt="0"/>
      <dgm:spPr/>
    </dgm:pt>
    <dgm:pt modelId="{B089C7B4-84A1-4475-99C8-512301D63E3B}" type="pres">
      <dgm:prSet presAssocID="{403F61B8-4483-40CE-A154-BE82833AA5C8}" presName="desTx" presStyleLbl="node1" presStyleIdx="1" presStyleCnt="2">
        <dgm:presLayoutVars>
          <dgm:bulletEnabled val="1"/>
        </dgm:presLayoutVars>
      </dgm:prSet>
      <dgm:spPr/>
    </dgm:pt>
  </dgm:ptLst>
  <dgm:cxnLst>
    <dgm:cxn modelId="{3791EE22-0325-49B6-9557-E50BCE949BC3}" type="presOf" srcId="{86CDC9D3-B8DA-44F3-AA03-2F90EC821B60}" destId="{EF43C9BB-6DA3-43B3-9443-0287DD7C8C7F}" srcOrd="0" destOrd="0" presId="urn:diagrams.loki3.com/BracketList"/>
    <dgm:cxn modelId="{E47E802E-DC18-4697-B183-C7C90586FA54}" srcId="{86CDC9D3-B8DA-44F3-AA03-2F90EC821B60}" destId="{DE1E441F-20AB-43FC-AF08-9695358EA8C2}" srcOrd="0" destOrd="0" parTransId="{A52C5ECB-E6CA-4C2E-BB4F-32F4DDE14369}" sibTransId="{AB715514-0293-42C7-B64D-65266F652136}"/>
    <dgm:cxn modelId="{A6CCC53F-86CB-442D-8CBA-5FC57B3D2D3B}" type="presOf" srcId="{403F61B8-4483-40CE-A154-BE82833AA5C8}" destId="{EFD9D639-FE37-4F7F-8389-166D3513EFB3}" srcOrd="0" destOrd="0" presId="urn:diagrams.loki3.com/BracketList"/>
    <dgm:cxn modelId="{6939A84E-41B5-42D6-9445-09DE5E8A54CA}" type="presOf" srcId="{81186CD2-49B8-49AF-9FD4-3A50757B7C8E}" destId="{85C81E85-DA63-4F47-9AEE-143C94D48F03}" srcOrd="0" destOrd="0" presId="urn:diagrams.loki3.com/BracketList"/>
    <dgm:cxn modelId="{76F5F06F-7841-4B2B-9C9E-6E94A742EBFE}" type="presOf" srcId="{DE1E441F-20AB-43FC-AF08-9695358EA8C2}" destId="{577EBF96-DA39-42FE-88BD-29542A1A037E}" srcOrd="0" destOrd="0" presId="urn:diagrams.loki3.com/BracketList"/>
    <dgm:cxn modelId="{253BA47C-183A-4C2F-839B-7BFE74DBBF8C}" srcId="{403F61B8-4483-40CE-A154-BE82833AA5C8}" destId="{15048EF2-B9AB-4E96-8F33-01D0D68762FE}" srcOrd="0" destOrd="0" parTransId="{B68271C1-76C3-4912-8211-EB40DC7FBB7D}" sibTransId="{71B7D600-0440-4671-9B72-4015C9CE8AE4}"/>
    <dgm:cxn modelId="{E767E9A3-A6DD-49F7-AEBD-F521E08B9538}" srcId="{81186CD2-49B8-49AF-9FD4-3A50757B7C8E}" destId="{86CDC9D3-B8DA-44F3-AA03-2F90EC821B60}" srcOrd="0" destOrd="0" parTransId="{A51630B5-6CCC-4002-9983-62CD606C5F59}" sibTransId="{887E9E0E-CC12-4C03-8329-ECA91C165E8C}"/>
    <dgm:cxn modelId="{6717E6D2-7974-43D2-8E79-FE476917F288}" type="presOf" srcId="{15048EF2-B9AB-4E96-8F33-01D0D68762FE}" destId="{B089C7B4-84A1-4475-99C8-512301D63E3B}" srcOrd="0" destOrd="0" presId="urn:diagrams.loki3.com/BracketList"/>
    <dgm:cxn modelId="{71EF1FFC-BB49-439B-ADFD-7C08876B1998}" srcId="{81186CD2-49B8-49AF-9FD4-3A50757B7C8E}" destId="{403F61B8-4483-40CE-A154-BE82833AA5C8}" srcOrd="1" destOrd="0" parTransId="{08321F36-2162-46A8-AF5F-E85BF5B99D5F}" sibTransId="{7410E697-978B-41EF-96E7-DB788FFE0243}"/>
    <dgm:cxn modelId="{58BBF72F-F56B-4E85-8263-8F6D85125485}" type="presParOf" srcId="{85C81E85-DA63-4F47-9AEE-143C94D48F03}" destId="{5B5ED4C5-CA7B-4C49-BB2A-2407AC1C9DA0}" srcOrd="0" destOrd="0" presId="urn:diagrams.loki3.com/BracketList"/>
    <dgm:cxn modelId="{2C855118-33DE-4F44-8E41-113B18091070}" type="presParOf" srcId="{5B5ED4C5-CA7B-4C49-BB2A-2407AC1C9DA0}" destId="{EF43C9BB-6DA3-43B3-9443-0287DD7C8C7F}" srcOrd="0" destOrd="0" presId="urn:diagrams.loki3.com/BracketList"/>
    <dgm:cxn modelId="{F60F3821-484C-4975-938B-41DB3C2F0752}" type="presParOf" srcId="{5B5ED4C5-CA7B-4C49-BB2A-2407AC1C9DA0}" destId="{ED98A032-A899-409D-86A4-74E0CA82ACFD}" srcOrd="1" destOrd="0" presId="urn:diagrams.loki3.com/BracketList"/>
    <dgm:cxn modelId="{234BE5D7-A8A3-4694-B991-C73034FE1A63}" type="presParOf" srcId="{5B5ED4C5-CA7B-4C49-BB2A-2407AC1C9DA0}" destId="{04E020EC-A372-4D44-8AF1-C4D70BE7FB57}" srcOrd="2" destOrd="0" presId="urn:diagrams.loki3.com/BracketList"/>
    <dgm:cxn modelId="{BF6698B6-E79F-44E0-90CD-F815010DA627}" type="presParOf" srcId="{5B5ED4C5-CA7B-4C49-BB2A-2407AC1C9DA0}" destId="{577EBF96-DA39-42FE-88BD-29542A1A037E}" srcOrd="3" destOrd="0" presId="urn:diagrams.loki3.com/BracketList"/>
    <dgm:cxn modelId="{9FA8A990-D7FA-4A22-A69C-062C6B535071}" type="presParOf" srcId="{85C81E85-DA63-4F47-9AEE-143C94D48F03}" destId="{AA1ADA25-2CEB-4103-A8EF-B0BFD25484B4}" srcOrd="1" destOrd="0" presId="urn:diagrams.loki3.com/BracketList"/>
    <dgm:cxn modelId="{678F3C7D-E658-4504-81A5-752489A068AF}" type="presParOf" srcId="{85C81E85-DA63-4F47-9AEE-143C94D48F03}" destId="{9F049A0E-C9C1-49D6-B727-C12BF3E62F9D}" srcOrd="2" destOrd="0" presId="urn:diagrams.loki3.com/BracketList"/>
    <dgm:cxn modelId="{CD3F0FDD-8905-4425-9662-1E42EAED6BDE}" type="presParOf" srcId="{9F049A0E-C9C1-49D6-B727-C12BF3E62F9D}" destId="{EFD9D639-FE37-4F7F-8389-166D3513EFB3}" srcOrd="0" destOrd="0" presId="urn:diagrams.loki3.com/BracketList"/>
    <dgm:cxn modelId="{2A919227-7D87-4FD1-B6EA-B59DBE246AC8}" type="presParOf" srcId="{9F049A0E-C9C1-49D6-B727-C12BF3E62F9D}" destId="{F685832D-96D6-41D1-82B8-8F3378107330}" srcOrd="1" destOrd="0" presId="urn:diagrams.loki3.com/BracketList"/>
    <dgm:cxn modelId="{A900EBA6-48FF-4B22-88FC-C5DE1271E719}" type="presParOf" srcId="{9F049A0E-C9C1-49D6-B727-C12BF3E62F9D}" destId="{BFD4554C-0FB0-4644-8B78-6EC6B0291D23}" srcOrd="2" destOrd="0" presId="urn:diagrams.loki3.com/BracketList"/>
    <dgm:cxn modelId="{DC05AF83-3C97-42FF-9F24-6C24FE375D6B}" type="presParOf" srcId="{9F049A0E-C9C1-49D6-B727-C12BF3E62F9D}" destId="{B089C7B4-84A1-4475-99C8-512301D63E3B}" srcOrd="3" destOrd="0" presId="urn:diagrams.loki3.com/Bracke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43C9BB-6DA3-43B3-9443-0287DD7C8C7F}">
      <dsp:nvSpPr>
        <dsp:cNvPr id="0" name=""/>
        <dsp:cNvSpPr/>
      </dsp:nvSpPr>
      <dsp:spPr>
        <a:xfrm>
          <a:off x="1970" y="702007"/>
          <a:ext cx="2244516" cy="1289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71120" rIns="199136" bIns="71120" numCol="1" spcCol="1270" anchor="ctr" anchorCtr="0">
          <a:noAutofit/>
        </a:bodyPr>
        <a:lstStyle/>
        <a:p>
          <a:pPr marL="0" lvl="0" indent="0" algn="l" defTabSz="1244600">
            <a:lnSpc>
              <a:spcPct val="90000"/>
            </a:lnSpc>
            <a:spcBef>
              <a:spcPct val="0"/>
            </a:spcBef>
            <a:spcAft>
              <a:spcPct val="35000"/>
            </a:spcAft>
            <a:buNone/>
          </a:pPr>
          <a:r>
            <a:rPr lang="en-US" sz="2800" b="1" kern="1200" dirty="0">
              <a:solidFill>
                <a:schemeClr val="accent3">
                  <a:lumMod val="50000"/>
                </a:schemeClr>
              </a:solidFill>
            </a:rPr>
            <a:t>Uniformed Search</a:t>
          </a:r>
        </a:p>
      </dsp:txBody>
      <dsp:txXfrm>
        <a:off x="1970" y="702007"/>
        <a:ext cx="2244516" cy="1289900"/>
      </dsp:txXfrm>
    </dsp:sp>
    <dsp:sp modelId="{ED98A032-A899-409D-86A4-74E0CA82ACFD}">
      <dsp:nvSpPr>
        <dsp:cNvPr id="0" name=""/>
        <dsp:cNvSpPr/>
      </dsp:nvSpPr>
      <dsp:spPr>
        <a:xfrm>
          <a:off x="2246487" y="309759"/>
          <a:ext cx="342862" cy="2074395"/>
        </a:xfrm>
        <a:prstGeom prst="leftBrace">
          <a:avLst>
            <a:gd name="adj1" fmla="val 35000"/>
            <a:gd name="adj2" fmla="val 50000"/>
          </a:avLst>
        </a:pr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77EBF96-DA39-42FE-88BD-29542A1A037E}">
      <dsp:nvSpPr>
        <dsp:cNvPr id="0" name=""/>
        <dsp:cNvSpPr/>
      </dsp:nvSpPr>
      <dsp:spPr>
        <a:xfrm>
          <a:off x="2726495" y="309759"/>
          <a:ext cx="4662933" cy="2074395"/>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285750" lvl="1" indent="-285750" algn="l" defTabSz="1955800">
            <a:lnSpc>
              <a:spcPct val="90000"/>
            </a:lnSpc>
            <a:spcBef>
              <a:spcPct val="0"/>
            </a:spcBef>
            <a:spcAft>
              <a:spcPct val="15000"/>
            </a:spcAft>
            <a:buNone/>
          </a:pPr>
          <a:r>
            <a:rPr lang="en-US" sz="4400" kern="1200" dirty="0"/>
            <a:t>No knowledge to guide to the goal</a:t>
          </a:r>
        </a:p>
      </dsp:txBody>
      <dsp:txXfrm>
        <a:off x="2726495" y="309759"/>
        <a:ext cx="4662933" cy="2074395"/>
      </dsp:txXfrm>
    </dsp:sp>
    <dsp:sp modelId="{EFD9D639-FE37-4F7F-8389-166D3513EFB3}">
      <dsp:nvSpPr>
        <dsp:cNvPr id="0" name=""/>
        <dsp:cNvSpPr/>
      </dsp:nvSpPr>
      <dsp:spPr>
        <a:xfrm>
          <a:off x="1970" y="2709329"/>
          <a:ext cx="2244516" cy="1287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71120" rIns="199136" bIns="71120" numCol="1" spcCol="1270" anchor="ctr" anchorCtr="0">
          <a:noAutofit/>
        </a:bodyPr>
        <a:lstStyle/>
        <a:p>
          <a:pPr marL="0" lvl="0" indent="0" algn="l" defTabSz="1244600">
            <a:lnSpc>
              <a:spcPct val="90000"/>
            </a:lnSpc>
            <a:spcBef>
              <a:spcPct val="0"/>
            </a:spcBef>
            <a:spcAft>
              <a:spcPct val="35000"/>
            </a:spcAft>
            <a:buNone/>
          </a:pPr>
          <a:r>
            <a:rPr lang="en-US" sz="2800" b="1" kern="1200" dirty="0">
              <a:solidFill>
                <a:schemeClr val="accent3">
                  <a:lumMod val="50000"/>
                </a:schemeClr>
              </a:solidFill>
            </a:rPr>
            <a:t>Informed Search</a:t>
          </a:r>
          <a:endParaRPr lang="en-US" sz="2800" kern="1200" dirty="0"/>
        </a:p>
      </dsp:txBody>
      <dsp:txXfrm>
        <a:off x="1970" y="2709329"/>
        <a:ext cx="2244516" cy="1287000"/>
      </dsp:txXfrm>
    </dsp:sp>
    <dsp:sp modelId="{F685832D-96D6-41D1-82B8-8F3378107330}">
      <dsp:nvSpPr>
        <dsp:cNvPr id="0" name=""/>
        <dsp:cNvSpPr/>
      </dsp:nvSpPr>
      <dsp:spPr>
        <a:xfrm>
          <a:off x="2246487" y="2603754"/>
          <a:ext cx="342862" cy="1498148"/>
        </a:xfrm>
        <a:prstGeom prst="leftBrace">
          <a:avLst>
            <a:gd name="adj1" fmla="val 35000"/>
            <a:gd name="adj2" fmla="val 50000"/>
          </a:avLst>
        </a:pr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089C7B4-84A1-4475-99C8-512301D63E3B}">
      <dsp:nvSpPr>
        <dsp:cNvPr id="0" name=""/>
        <dsp:cNvSpPr/>
      </dsp:nvSpPr>
      <dsp:spPr>
        <a:xfrm>
          <a:off x="2726495" y="2603754"/>
          <a:ext cx="4662933" cy="1498148"/>
        </a:xfrm>
        <a:prstGeom prst="rect">
          <a:avLst/>
        </a:prstGeom>
        <a:solidFill>
          <a:schemeClr val="accent2">
            <a:shade val="80000"/>
            <a:hueOff val="0"/>
            <a:satOff val="-4892"/>
            <a:lumOff val="2543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285750" lvl="1" indent="-285750" algn="l" defTabSz="1955800">
            <a:lnSpc>
              <a:spcPct val="90000"/>
            </a:lnSpc>
            <a:spcBef>
              <a:spcPct val="0"/>
            </a:spcBef>
            <a:spcAft>
              <a:spcPct val="15000"/>
            </a:spcAft>
            <a:buNone/>
          </a:pPr>
          <a:r>
            <a:rPr lang="en-US" sz="4400" kern="1200" dirty="0"/>
            <a:t>Uses knowledge to guide search</a:t>
          </a:r>
        </a:p>
      </dsp:txBody>
      <dsp:txXfrm>
        <a:off x="2726495" y="2603754"/>
        <a:ext cx="4662933" cy="1498148"/>
      </dsp:txXfrm>
    </dsp:sp>
  </dsp:spTree>
</dsp:drawing>
</file>

<file path=ppt/diagrams/layout1.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defTabSz="931863">
              <a:spcBef>
                <a:spcPct val="0"/>
              </a:spcBef>
              <a:buClrTx/>
              <a:buSzTx/>
              <a:buFontTx/>
              <a:buNone/>
              <a:defRPr sz="1200"/>
            </a:lvl1pPr>
          </a:lstStyle>
          <a:p>
            <a:endParaRPr lang="en-US" dirty="0"/>
          </a:p>
        </p:txBody>
      </p:sp>
      <p:sp>
        <p:nvSpPr>
          <p:cNvPr id="34819"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defTabSz="931863">
              <a:spcBef>
                <a:spcPct val="0"/>
              </a:spcBef>
              <a:buClrTx/>
              <a:buSzTx/>
              <a:buFontTx/>
              <a:buNone/>
              <a:defRPr sz="1200"/>
            </a:lvl1pPr>
          </a:lstStyle>
          <a:p>
            <a:endParaRPr lang="en-US" dirty="0"/>
          </a:p>
        </p:txBody>
      </p:sp>
      <p:sp>
        <p:nvSpPr>
          <p:cNvPr id="34820"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defTabSz="931863">
              <a:spcBef>
                <a:spcPct val="0"/>
              </a:spcBef>
              <a:buClrTx/>
              <a:buSzTx/>
              <a:buFontTx/>
              <a:buNone/>
              <a:defRPr sz="1200"/>
            </a:lvl1pPr>
          </a:lstStyle>
          <a:p>
            <a:endParaRPr lang="en-US" dirty="0"/>
          </a:p>
        </p:txBody>
      </p:sp>
      <p:sp>
        <p:nvSpPr>
          <p:cNvPr id="34821"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defTabSz="931863">
              <a:spcBef>
                <a:spcPct val="0"/>
              </a:spcBef>
              <a:buClrTx/>
              <a:buSzTx/>
              <a:buFontTx/>
              <a:buNone/>
              <a:defRPr sz="1200"/>
            </a:lvl1pPr>
          </a:lstStyle>
          <a:p>
            <a:fld id="{F0B6EC5B-DE15-4B62-9DC0-DE1BD893DD16}" type="slidenum">
              <a:rPr lang="en-US"/>
              <a:pPr/>
              <a:t>‹#›</a:t>
            </a:fld>
            <a:endParaRPr lang="en-US" dirty="0"/>
          </a:p>
        </p:txBody>
      </p:sp>
    </p:spTree>
    <p:extLst>
      <p:ext uri="{BB962C8B-B14F-4D97-AF65-F5344CB8AC3E}">
        <p14:creationId xmlns:p14="http://schemas.microsoft.com/office/powerpoint/2010/main" val="18248682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defTabSz="931863">
              <a:spcBef>
                <a:spcPct val="0"/>
              </a:spcBef>
              <a:buClrTx/>
              <a:buSzTx/>
              <a:buFontTx/>
              <a:buNone/>
              <a:defRPr sz="1200"/>
            </a:lvl1pPr>
          </a:lstStyle>
          <a:p>
            <a:endParaRPr lang="en-US" dirty="0"/>
          </a:p>
        </p:txBody>
      </p:sp>
      <p:sp>
        <p:nvSpPr>
          <p:cNvPr id="26627"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defTabSz="931863">
              <a:spcBef>
                <a:spcPct val="0"/>
              </a:spcBef>
              <a:buClrTx/>
              <a:buSzTx/>
              <a:buFontTx/>
              <a:buNone/>
              <a:defRPr sz="1200"/>
            </a:lvl1pPr>
          </a:lstStyle>
          <a:p>
            <a:endParaRPr lang="en-US" dirty="0"/>
          </a:p>
        </p:txBody>
      </p:sp>
      <p:sp>
        <p:nvSpPr>
          <p:cNvPr id="26628"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6629" name="Rectangle 5"/>
          <p:cNvSpPr>
            <a:spLocks noGrp="1" noChangeArrowheads="1"/>
          </p:cNvSpPr>
          <p:nvPr>
            <p:ph type="body" sz="quarter" idx="3"/>
          </p:nvPr>
        </p:nvSpPr>
        <p:spPr bwMode="auto">
          <a:xfrm>
            <a:off x="701675" y="4416425"/>
            <a:ext cx="560705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630"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defTabSz="931863">
              <a:spcBef>
                <a:spcPct val="0"/>
              </a:spcBef>
              <a:buClrTx/>
              <a:buSzTx/>
              <a:buFontTx/>
              <a:buNone/>
              <a:defRPr sz="1200"/>
            </a:lvl1pPr>
          </a:lstStyle>
          <a:p>
            <a:endParaRPr lang="en-US" dirty="0"/>
          </a:p>
        </p:txBody>
      </p:sp>
      <p:sp>
        <p:nvSpPr>
          <p:cNvPr id="26631"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defTabSz="931863">
              <a:spcBef>
                <a:spcPct val="0"/>
              </a:spcBef>
              <a:buClrTx/>
              <a:buSzTx/>
              <a:buFontTx/>
              <a:buNone/>
              <a:defRPr sz="1200"/>
            </a:lvl1pPr>
          </a:lstStyle>
          <a:p>
            <a:fld id="{823FACB9-4E35-4CB3-835A-2EBF55FAEDE3}" type="slidenum">
              <a:rPr lang="en-US"/>
              <a:pPr/>
              <a:t>‹#›</a:t>
            </a:fld>
            <a:endParaRPr lang="en-US" dirty="0"/>
          </a:p>
        </p:txBody>
      </p:sp>
    </p:spTree>
    <p:extLst>
      <p:ext uri="{BB962C8B-B14F-4D97-AF65-F5344CB8AC3E}">
        <p14:creationId xmlns:p14="http://schemas.microsoft.com/office/powerpoint/2010/main" val="97186942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Arial" charset="0"/>
      </a:defRPr>
    </a:lvl1pPr>
    <a:lvl2pPr marL="457200" algn="l" rtl="0" fontAlgn="base">
      <a:spcBef>
        <a:spcPct val="30000"/>
      </a:spcBef>
      <a:spcAft>
        <a:spcPct val="0"/>
      </a:spcAft>
      <a:defRPr sz="1200" kern="1200">
        <a:solidFill>
          <a:schemeClr val="tx1"/>
        </a:solidFill>
        <a:latin typeface="Arial" charset="0"/>
        <a:ea typeface="+mn-ea"/>
        <a:cs typeface="Arial" charset="0"/>
      </a:defRPr>
    </a:lvl2pPr>
    <a:lvl3pPr marL="914400" algn="l" rtl="0" fontAlgn="base">
      <a:spcBef>
        <a:spcPct val="30000"/>
      </a:spcBef>
      <a:spcAft>
        <a:spcPct val="0"/>
      </a:spcAft>
      <a:defRPr sz="1200" kern="1200">
        <a:solidFill>
          <a:schemeClr val="tx1"/>
        </a:solidFill>
        <a:latin typeface="Arial" charset="0"/>
        <a:ea typeface="+mn-ea"/>
        <a:cs typeface="Arial" charset="0"/>
      </a:defRPr>
    </a:lvl3pPr>
    <a:lvl4pPr marL="1371600" algn="l" rtl="0" fontAlgn="base">
      <a:spcBef>
        <a:spcPct val="30000"/>
      </a:spcBef>
      <a:spcAft>
        <a:spcPct val="0"/>
      </a:spcAft>
      <a:defRPr sz="1200" kern="1200">
        <a:solidFill>
          <a:schemeClr val="tx1"/>
        </a:solidFill>
        <a:latin typeface="Arial" charset="0"/>
        <a:ea typeface="+mn-ea"/>
        <a:cs typeface="Arial" charset="0"/>
      </a:defRPr>
    </a:lvl4pPr>
    <a:lvl5pPr marL="1828800" algn="l" rtl="0" fontAlgn="base">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7106" name="Line 2"/>
          <p:cNvSpPr>
            <a:spLocks noChangeShapeType="1"/>
          </p:cNvSpPr>
          <p:nvPr/>
        </p:nvSpPr>
        <p:spPr bwMode="auto">
          <a:xfrm>
            <a:off x="7315200" y="1066800"/>
            <a:ext cx="0" cy="449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grpSp>
        <p:nvGrpSpPr>
          <p:cNvPr id="47112" name="Group 8"/>
          <p:cNvGrpSpPr>
            <a:grpSpLocks/>
          </p:cNvGrpSpPr>
          <p:nvPr/>
        </p:nvGrpSpPr>
        <p:grpSpPr bwMode="auto">
          <a:xfrm>
            <a:off x="7493000" y="2992438"/>
            <a:ext cx="1338263" cy="2189162"/>
            <a:chOff x="4704" y="1885"/>
            <a:chExt cx="843" cy="1379"/>
          </a:xfrm>
        </p:grpSpPr>
        <p:sp>
          <p:nvSpPr>
            <p:cNvPr id="47113"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4"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5"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6"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7"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8"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9"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0"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1"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2"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3"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4"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5"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6"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7"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8"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9"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0"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1"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2"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3"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4"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5"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6"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7"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8"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9"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40"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41"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42"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43"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sp>
        <p:nvSpPr>
          <p:cNvPr id="47144" name="Line 40"/>
          <p:cNvSpPr>
            <a:spLocks noChangeShapeType="1"/>
          </p:cNvSpPr>
          <p:nvPr/>
        </p:nvSpPr>
        <p:spPr bwMode="auto">
          <a:xfrm>
            <a:off x="304800" y="2819400"/>
            <a:ext cx="822960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47107" name="Title Placeholder 1"/>
          <p:cNvSpPr>
            <a:spLocks noGrp="1" noChangeArrowheads="1"/>
          </p:cNvSpPr>
          <p:nvPr>
            <p:ph type="ctrTitle"/>
          </p:nvPr>
        </p:nvSpPr>
        <p:spPr>
          <a:xfrm>
            <a:off x="315913" y="466725"/>
            <a:ext cx="6781800" cy="2133600"/>
          </a:xfrm>
        </p:spPr>
        <p:txBody>
          <a:bodyPr/>
          <a:lstStyle>
            <a:lvl1pPr algn="r">
              <a:defRPr sz="4400"/>
            </a:lvl1pPr>
          </a:lstStyle>
          <a:p>
            <a:pPr lvl="0"/>
            <a:r>
              <a:rPr lang="en-US" altLang="en-US" noProof="0"/>
              <a:t>Click to edit Master title style</a:t>
            </a:r>
          </a:p>
        </p:txBody>
      </p:sp>
      <p:sp>
        <p:nvSpPr>
          <p:cNvPr id="47108" name="Text Placeholder 2"/>
          <p:cNvSpPr>
            <a:spLocks noGrp="1" noChangeArrowheads="1"/>
          </p:cNvSpPr>
          <p:nvPr>
            <p:ph type="subTitle" idx="1"/>
          </p:nvPr>
        </p:nvSpPr>
        <p:spPr>
          <a:xfrm>
            <a:off x="849313" y="3049588"/>
            <a:ext cx="6248400" cy="2362200"/>
          </a:xfrm>
        </p:spPr>
        <p:txBody>
          <a:bodyPr/>
          <a:lstStyle>
            <a:lvl1pPr marL="0" indent="0" algn="r">
              <a:buFontTx/>
              <a:buNone/>
              <a:defRPr sz="2900"/>
            </a:lvl1pPr>
          </a:lstStyle>
          <a:p>
            <a:pPr lvl="0"/>
            <a:r>
              <a:rPr lang="en-US" altLang="en-US" noProof="0"/>
              <a:t>Click to edit Master subtitle style</a:t>
            </a:r>
            <a:endParaRPr lang="en-US" altLang="en-US" noProof="0" dirty="0"/>
          </a:p>
        </p:txBody>
      </p:sp>
      <p:sp>
        <p:nvSpPr>
          <p:cNvPr id="47109" name="Date Placeholder 3"/>
          <p:cNvSpPr>
            <a:spLocks noGrp="1" noChangeArrowheads="1"/>
          </p:cNvSpPr>
          <p:nvPr>
            <p:ph type="dt" sz="half" idx="2"/>
          </p:nvPr>
        </p:nvSpPr>
        <p:spPr/>
        <p:txBody>
          <a:bodyPr/>
          <a:lstStyle>
            <a:lvl1pPr>
              <a:defRPr/>
            </a:lvl1pPr>
          </a:lstStyle>
          <a:p>
            <a:fld id="{6B3D86DF-D88D-4919-AE3E-70ED32C3AA5E}" type="datetime1">
              <a:rPr lang="en-US" altLang="en-US" smtClean="0"/>
              <a:t>10/1/2025</a:t>
            </a:fld>
            <a:endParaRPr lang="en-US" altLang="en-US" dirty="0"/>
          </a:p>
        </p:txBody>
      </p:sp>
      <p:sp>
        <p:nvSpPr>
          <p:cNvPr id="47110" name="Footer Placeholder 4"/>
          <p:cNvSpPr>
            <a:spLocks noGrp="1" noChangeArrowheads="1"/>
          </p:cNvSpPr>
          <p:nvPr>
            <p:ph type="ftr" sz="quarter" idx="3"/>
          </p:nvPr>
        </p:nvSpPr>
        <p:spPr/>
        <p:txBody>
          <a:bodyPr/>
          <a:lstStyle>
            <a:lvl1pPr>
              <a:defRPr/>
            </a:lvl1pPr>
          </a:lstStyle>
          <a:p>
            <a:r>
              <a:rPr lang="en-US" altLang="en-US"/>
              <a:t>Dr. Nabil Mahmood Hewaihi</a:t>
            </a:r>
            <a:endParaRPr lang="en-US" altLang="en-US" dirty="0"/>
          </a:p>
        </p:txBody>
      </p:sp>
      <p:sp>
        <p:nvSpPr>
          <p:cNvPr id="47111" name="Slide Number Placeholder 5"/>
          <p:cNvSpPr>
            <a:spLocks noGrp="1" noChangeArrowheads="1"/>
          </p:cNvSpPr>
          <p:nvPr>
            <p:ph type="sldNum" sz="quarter" idx="4"/>
          </p:nvPr>
        </p:nvSpPr>
        <p:spPr/>
        <p:txBody>
          <a:bodyPr/>
          <a:lstStyle>
            <a:lvl1pPr>
              <a:defRPr/>
            </a:lvl1pPr>
          </a:lstStyle>
          <a:p>
            <a:fld id="{E945280F-DE53-48B1-9FB9-96A39916642A}" type="slidenum">
              <a:rPr lang="en-US" altLang="en-US"/>
              <a:pPr/>
              <a:t>‹#›</a:t>
            </a:fld>
            <a:endParaRPr lang="en-US"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45720" indent="0">
              <a:buFontTx/>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BEE4193C-6532-468B-BFAD-A1A775482FC3}" type="datetime1">
              <a:rPr lang="en-US" altLang="en-US" smtClean="0"/>
              <a:t>10/1/2025</a:t>
            </a:fld>
            <a:endParaRPr lang="en-US" altLang="en-US" dirty="0"/>
          </a:p>
        </p:txBody>
      </p:sp>
      <p:sp>
        <p:nvSpPr>
          <p:cNvPr id="5" name="Footer Placeholder 4"/>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6" name="Slide Number Placeholder 5"/>
          <p:cNvSpPr>
            <a:spLocks noGrp="1"/>
          </p:cNvSpPr>
          <p:nvPr>
            <p:ph type="sldNum" sz="quarter" idx="12"/>
          </p:nvPr>
        </p:nvSpPr>
        <p:spPr/>
        <p:txBody>
          <a:bodyPr/>
          <a:lstStyle>
            <a:lvl1pPr>
              <a:defRPr/>
            </a:lvl1pPr>
          </a:lstStyle>
          <a:p>
            <a:fld id="{71C6F290-D301-4864-9490-340EF11588D9}" type="slidenum">
              <a:rPr lang="en-US" altLang="en-US"/>
              <a:pPr/>
              <a:t>‹#›</a:t>
            </a:fld>
            <a:endParaRPr lang="en-US" altLang="en-US" dirty="0"/>
          </a:p>
        </p:txBody>
      </p:sp>
    </p:spTree>
    <p:extLst>
      <p:ext uri="{BB962C8B-B14F-4D97-AF65-F5344CB8AC3E}">
        <p14:creationId xmlns:p14="http://schemas.microsoft.com/office/powerpoint/2010/main" val="3036072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60A6CD74-F769-49F1-A08E-80A1E1E40EB9}" type="datetime1">
              <a:rPr lang="en-US" altLang="en-US" smtClean="0"/>
              <a:t>10/1/2025</a:t>
            </a:fld>
            <a:endParaRPr lang="en-US" altLang="en-US" dirty="0"/>
          </a:p>
        </p:txBody>
      </p:sp>
      <p:sp>
        <p:nvSpPr>
          <p:cNvPr id="5" name="Footer Placeholder 4"/>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6" name="Slide Number Placeholder 5"/>
          <p:cNvSpPr>
            <a:spLocks noGrp="1"/>
          </p:cNvSpPr>
          <p:nvPr>
            <p:ph type="sldNum" sz="quarter" idx="12"/>
          </p:nvPr>
        </p:nvSpPr>
        <p:spPr/>
        <p:txBody>
          <a:bodyPr/>
          <a:lstStyle>
            <a:lvl1pPr>
              <a:defRPr/>
            </a:lvl1pPr>
          </a:lstStyle>
          <a:p>
            <a:fld id="{D0208CE1-DD55-4A43-A479-EF83A2DC3985}" type="slidenum">
              <a:rPr lang="en-US" altLang="en-US"/>
              <a:pPr/>
              <a:t>‹#›</a:t>
            </a:fld>
            <a:endParaRPr lang="en-US" altLang="en-US" dirty="0"/>
          </a:p>
        </p:txBody>
      </p:sp>
    </p:spTree>
    <p:extLst>
      <p:ext uri="{BB962C8B-B14F-4D97-AF65-F5344CB8AC3E}">
        <p14:creationId xmlns:p14="http://schemas.microsoft.com/office/powerpoint/2010/main" val="16219752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3000" y="1524000"/>
            <a:ext cx="3619500" cy="4411663"/>
          </a:xfrm>
        </p:spPr>
        <p:txBody>
          <a:bodyPr/>
          <a:lstStyle>
            <a:lvl1pPr marL="45720" indent="0">
              <a:buFontTx/>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14900" y="1524000"/>
            <a:ext cx="3619500" cy="4411663"/>
          </a:xfrm>
        </p:spPr>
        <p:txBody>
          <a:bodyPr/>
          <a:lstStyle>
            <a:lvl1pPr marL="45720" indent="0">
              <a:buFontTx/>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fld id="{C312E3F3-961E-4581-A7D9-042A6D53D211}" type="datetime1">
              <a:rPr lang="en-US" altLang="en-US" smtClean="0"/>
              <a:t>10/1/2025</a:t>
            </a:fld>
            <a:endParaRPr lang="en-US" altLang="en-US" dirty="0"/>
          </a:p>
        </p:txBody>
      </p:sp>
      <p:sp>
        <p:nvSpPr>
          <p:cNvPr id="6" name="Footer Placeholder 5"/>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7" name="Slide Number Placeholder 6"/>
          <p:cNvSpPr>
            <a:spLocks noGrp="1"/>
          </p:cNvSpPr>
          <p:nvPr>
            <p:ph type="sldNum" sz="quarter" idx="12"/>
          </p:nvPr>
        </p:nvSpPr>
        <p:spPr/>
        <p:txBody>
          <a:bodyPr/>
          <a:lstStyle>
            <a:lvl1pPr>
              <a:defRPr/>
            </a:lvl1pPr>
          </a:lstStyle>
          <a:p>
            <a:fld id="{0927AF89-6755-46F5-BBCF-E571D7F311A5}" type="slidenum">
              <a:rPr lang="en-US" altLang="en-US"/>
              <a:pPr/>
              <a:t>‹#›</a:t>
            </a:fld>
            <a:endParaRPr lang="en-US" altLang="en-US" dirty="0"/>
          </a:p>
        </p:txBody>
      </p:sp>
    </p:spTree>
    <p:extLst>
      <p:ext uri="{BB962C8B-B14F-4D97-AF65-F5344CB8AC3E}">
        <p14:creationId xmlns:p14="http://schemas.microsoft.com/office/powerpoint/2010/main" val="1037358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marL="45720" indent="0">
              <a:buFontTx/>
              <a:buNone/>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marL="45720" indent="0">
              <a:buFontTx/>
              <a:buNone/>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lvl1pPr>
          </a:lstStyle>
          <a:p>
            <a:fld id="{BBF27A76-D8ED-439D-818C-63427DDEAE9F}" type="datetime1">
              <a:rPr lang="en-US" altLang="en-US" smtClean="0"/>
              <a:t>10/1/2025</a:t>
            </a:fld>
            <a:endParaRPr lang="en-US" altLang="en-US" dirty="0"/>
          </a:p>
        </p:txBody>
      </p:sp>
      <p:sp>
        <p:nvSpPr>
          <p:cNvPr id="8" name="Footer Placeholder 7"/>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9" name="Slide Number Placeholder 8"/>
          <p:cNvSpPr>
            <a:spLocks noGrp="1"/>
          </p:cNvSpPr>
          <p:nvPr>
            <p:ph type="sldNum" sz="quarter" idx="12"/>
          </p:nvPr>
        </p:nvSpPr>
        <p:spPr/>
        <p:txBody>
          <a:bodyPr/>
          <a:lstStyle>
            <a:lvl1pPr>
              <a:defRPr/>
            </a:lvl1pPr>
          </a:lstStyle>
          <a:p>
            <a:fld id="{F76BE3C0-1208-4260-82C3-0EB040027195}" type="slidenum">
              <a:rPr lang="en-US" altLang="en-US"/>
              <a:pPr/>
              <a:t>‹#›</a:t>
            </a:fld>
            <a:endParaRPr lang="en-US" altLang="en-US" dirty="0"/>
          </a:p>
        </p:txBody>
      </p:sp>
    </p:spTree>
    <p:extLst>
      <p:ext uri="{BB962C8B-B14F-4D97-AF65-F5344CB8AC3E}">
        <p14:creationId xmlns:p14="http://schemas.microsoft.com/office/powerpoint/2010/main" val="1393253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fld id="{FF30F976-C6C5-46AC-BF15-042DDB91640B}" type="datetime1">
              <a:rPr lang="en-US" altLang="en-US" smtClean="0"/>
              <a:t>10/1/2025</a:t>
            </a:fld>
            <a:endParaRPr lang="en-US" altLang="en-US" dirty="0"/>
          </a:p>
        </p:txBody>
      </p:sp>
      <p:sp>
        <p:nvSpPr>
          <p:cNvPr id="4" name="Footer Placeholder 3"/>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5" name="Slide Number Placeholder 4"/>
          <p:cNvSpPr>
            <a:spLocks noGrp="1"/>
          </p:cNvSpPr>
          <p:nvPr>
            <p:ph type="sldNum" sz="quarter" idx="12"/>
          </p:nvPr>
        </p:nvSpPr>
        <p:spPr/>
        <p:txBody>
          <a:bodyPr/>
          <a:lstStyle>
            <a:lvl1pPr>
              <a:defRPr/>
            </a:lvl1pPr>
          </a:lstStyle>
          <a:p>
            <a:fld id="{D5F02DF6-5EF1-449D-8E8F-F40E7D2FCBCB}" type="slidenum">
              <a:rPr lang="en-US" altLang="en-US"/>
              <a:pPr/>
              <a:t>‹#›</a:t>
            </a:fld>
            <a:endParaRPr lang="en-US" altLang="en-US" dirty="0"/>
          </a:p>
        </p:txBody>
      </p:sp>
    </p:spTree>
    <p:extLst>
      <p:ext uri="{BB962C8B-B14F-4D97-AF65-F5344CB8AC3E}">
        <p14:creationId xmlns:p14="http://schemas.microsoft.com/office/powerpoint/2010/main" val="867368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4EB39B33-8D7C-41EC-8450-3CBD5581B8E2}" type="datetime1">
              <a:rPr lang="en-US" altLang="en-US" smtClean="0"/>
              <a:t>10/1/2025</a:t>
            </a:fld>
            <a:endParaRPr lang="en-US" altLang="en-US" dirty="0"/>
          </a:p>
        </p:txBody>
      </p:sp>
      <p:sp>
        <p:nvSpPr>
          <p:cNvPr id="3" name="Footer Placeholder 2"/>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4" name="Slide Number Placeholder 3"/>
          <p:cNvSpPr>
            <a:spLocks noGrp="1"/>
          </p:cNvSpPr>
          <p:nvPr>
            <p:ph type="sldNum" sz="quarter" idx="12"/>
          </p:nvPr>
        </p:nvSpPr>
        <p:spPr/>
        <p:txBody>
          <a:bodyPr/>
          <a:lstStyle>
            <a:lvl1pPr>
              <a:defRPr/>
            </a:lvl1pPr>
          </a:lstStyle>
          <a:p>
            <a:fld id="{AC3460AA-1533-4548-8781-A6D0EAE276D6}" type="slidenum">
              <a:rPr lang="en-US" altLang="en-US"/>
              <a:pPr/>
              <a:t>‹#›</a:t>
            </a:fld>
            <a:endParaRPr lang="en-US" altLang="en-US" dirty="0"/>
          </a:p>
        </p:txBody>
      </p:sp>
    </p:spTree>
    <p:extLst>
      <p:ext uri="{BB962C8B-B14F-4D97-AF65-F5344CB8AC3E}">
        <p14:creationId xmlns:p14="http://schemas.microsoft.com/office/powerpoint/2010/main" val="1251094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marL="45720" indent="0">
              <a:buFontTx/>
              <a:buNone/>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24392300-A72E-4F88-ACD3-3EE844BF72BA}" type="datetime1">
              <a:rPr lang="en-US" altLang="en-US" smtClean="0"/>
              <a:t>10/1/2025</a:t>
            </a:fld>
            <a:endParaRPr lang="en-US" altLang="en-US" dirty="0"/>
          </a:p>
        </p:txBody>
      </p:sp>
      <p:sp>
        <p:nvSpPr>
          <p:cNvPr id="6" name="Footer Placeholder 5"/>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7" name="Slide Number Placeholder 6"/>
          <p:cNvSpPr>
            <a:spLocks noGrp="1"/>
          </p:cNvSpPr>
          <p:nvPr>
            <p:ph type="sldNum" sz="quarter" idx="12"/>
          </p:nvPr>
        </p:nvSpPr>
        <p:spPr/>
        <p:txBody>
          <a:bodyPr/>
          <a:lstStyle>
            <a:lvl1pPr>
              <a:defRPr/>
            </a:lvl1pPr>
          </a:lstStyle>
          <a:p>
            <a:fld id="{C6386842-FEC9-453F-B6F7-7C945F3A2D73}" type="slidenum">
              <a:rPr lang="en-US" altLang="en-US"/>
              <a:pPr/>
              <a:t>‹#›</a:t>
            </a:fld>
            <a:endParaRPr lang="en-US" altLang="en-US" dirty="0"/>
          </a:p>
        </p:txBody>
      </p:sp>
    </p:spTree>
    <p:extLst>
      <p:ext uri="{BB962C8B-B14F-4D97-AF65-F5344CB8AC3E}">
        <p14:creationId xmlns:p14="http://schemas.microsoft.com/office/powerpoint/2010/main" val="1530924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B844039-CC01-4C22-8E72-7F3F8D2079C3}" type="datetime1">
              <a:rPr lang="en-US" altLang="en-US" smtClean="0"/>
              <a:t>10/1/2025</a:t>
            </a:fld>
            <a:endParaRPr lang="en-US" altLang="en-US" dirty="0"/>
          </a:p>
        </p:txBody>
      </p:sp>
      <p:sp>
        <p:nvSpPr>
          <p:cNvPr id="6" name="Footer Placeholder 5"/>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7" name="Slide Number Placeholder 6"/>
          <p:cNvSpPr>
            <a:spLocks noGrp="1"/>
          </p:cNvSpPr>
          <p:nvPr>
            <p:ph type="sldNum" sz="quarter" idx="12"/>
          </p:nvPr>
        </p:nvSpPr>
        <p:spPr/>
        <p:txBody>
          <a:bodyPr/>
          <a:lstStyle>
            <a:lvl1pPr>
              <a:defRPr/>
            </a:lvl1pPr>
          </a:lstStyle>
          <a:p>
            <a:fld id="{E96DA581-ADE3-4A40-91CB-711A776CAC29}" type="slidenum">
              <a:rPr lang="en-US" altLang="en-US"/>
              <a:pPr/>
              <a:t>‹#›</a:t>
            </a:fld>
            <a:endParaRPr lang="en-US" altLang="en-US" dirty="0"/>
          </a:p>
        </p:txBody>
      </p:sp>
    </p:spTree>
    <p:extLst>
      <p:ext uri="{BB962C8B-B14F-4D97-AF65-F5344CB8AC3E}">
        <p14:creationId xmlns:p14="http://schemas.microsoft.com/office/powerpoint/2010/main" val="2911566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lvl1pPr marL="45720" indent="0">
              <a:buFontTx/>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A013E083-DA48-4C9A-A43F-A1DBD108CEB1}" type="datetime1">
              <a:rPr lang="en-US" altLang="en-US" smtClean="0"/>
              <a:t>10/1/2025</a:t>
            </a:fld>
            <a:endParaRPr lang="en-US" altLang="en-US" dirty="0"/>
          </a:p>
        </p:txBody>
      </p:sp>
      <p:sp>
        <p:nvSpPr>
          <p:cNvPr id="5" name="Footer Placeholder 4"/>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6" name="Slide Number Placeholder 5"/>
          <p:cNvSpPr>
            <a:spLocks noGrp="1"/>
          </p:cNvSpPr>
          <p:nvPr>
            <p:ph type="sldNum" sz="quarter" idx="12"/>
          </p:nvPr>
        </p:nvSpPr>
        <p:spPr/>
        <p:txBody>
          <a:bodyPr/>
          <a:lstStyle>
            <a:lvl1pPr>
              <a:defRPr/>
            </a:lvl1pPr>
          </a:lstStyle>
          <a:p>
            <a:fld id="{872E90EB-6CA4-453F-8712-C339590DE034}" type="slidenum">
              <a:rPr lang="en-US" altLang="en-US"/>
              <a:pPr/>
              <a:t>‹#›</a:t>
            </a:fld>
            <a:endParaRPr lang="en-US" altLang="en-US" dirty="0"/>
          </a:p>
        </p:txBody>
      </p:sp>
    </p:spTree>
    <p:extLst>
      <p:ext uri="{BB962C8B-B14F-4D97-AF65-F5344CB8AC3E}">
        <p14:creationId xmlns:p14="http://schemas.microsoft.com/office/powerpoint/2010/main" val="4113127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57950" y="228600"/>
            <a:ext cx="2076450" cy="57070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228600"/>
            <a:ext cx="6076950" cy="5707063"/>
          </a:xfrm>
        </p:spPr>
        <p:txBody>
          <a:bodyPr vert="eaVert"/>
          <a:lstStyle>
            <a:lvl1pPr marL="45720" indent="0">
              <a:buFontTx/>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DE0A6D60-888E-4F3F-B3CE-7795256FE141}" type="datetime1">
              <a:rPr lang="en-US" altLang="en-US" smtClean="0"/>
              <a:t>10/1/2025</a:t>
            </a:fld>
            <a:endParaRPr lang="en-US" altLang="en-US" dirty="0"/>
          </a:p>
        </p:txBody>
      </p:sp>
      <p:sp>
        <p:nvSpPr>
          <p:cNvPr id="5" name="Footer Placeholder 4"/>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6" name="Slide Number Placeholder 5"/>
          <p:cNvSpPr>
            <a:spLocks noGrp="1"/>
          </p:cNvSpPr>
          <p:nvPr>
            <p:ph type="sldNum" sz="quarter" idx="12"/>
          </p:nvPr>
        </p:nvSpPr>
        <p:spPr/>
        <p:txBody>
          <a:bodyPr/>
          <a:lstStyle>
            <a:lvl1pPr>
              <a:defRPr/>
            </a:lvl1pPr>
          </a:lstStyle>
          <a:p>
            <a:fld id="{26D251BA-4196-46F7-BF5E-DE37F6712AD1}" type="slidenum">
              <a:rPr lang="en-US" altLang="en-US"/>
              <a:pPr/>
              <a:t>‹#›</a:t>
            </a:fld>
            <a:endParaRPr lang="en-US" altLang="en-US" dirty="0"/>
          </a:p>
        </p:txBody>
      </p:sp>
    </p:spTree>
    <p:extLst>
      <p:ext uri="{BB962C8B-B14F-4D97-AF65-F5344CB8AC3E}">
        <p14:creationId xmlns:p14="http://schemas.microsoft.com/office/powerpoint/2010/main" val="325170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Line 2"/>
          <p:cNvSpPr>
            <a:spLocks noChangeShapeType="1"/>
          </p:cNvSpPr>
          <p:nvPr/>
        </p:nvSpPr>
        <p:spPr bwMode="auto">
          <a:xfrm>
            <a:off x="7962900" y="152400"/>
            <a:ext cx="0" cy="1524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grpSp>
        <p:nvGrpSpPr>
          <p:cNvPr id="46088" name="Group 8"/>
          <p:cNvGrpSpPr>
            <a:grpSpLocks/>
          </p:cNvGrpSpPr>
          <p:nvPr/>
        </p:nvGrpSpPr>
        <p:grpSpPr bwMode="auto">
          <a:xfrm>
            <a:off x="8153400" y="152400"/>
            <a:ext cx="792163" cy="1295400"/>
            <a:chOff x="5136" y="960"/>
            <a:chExt cx="528" cy="864"/>
          </a:xfrm>
        </p:grpSpPr>
        <p:sp>
          <p:nvSpPr>
            <p:cNvPr id="46089"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0"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1"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2"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3"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4"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5"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6"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7"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8"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9"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0"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1"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2"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3"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4"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5"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6"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7"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8"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9"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0"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1"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2"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3"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4"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5"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6"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7"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8"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9"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sp>
        <p:nvSpPr>
          <p:cNvPr id="46083" name="Title Placeholder 1"/>
          <p:cNvSpPr>
            <a:spLocks noGrp="1" noChangeArrowheads="1"/>
          </p:cNvSpPr>
          <p:nvPr>
            <p:ph type="title"/>
          </p:nvPr>
        </p:nvSpPr>
        <p:spPr bwMode="auto">
          <a:xfrm>
            <a:off x="228600" y="228600"/>
            <a:ext cx="76962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46084" name="Text Placeholder 2"/>
          <p:cNvSpPr>
            <a:spLocks noGrp="1" noChangeArrowheads="1"/>
          </p:cNvSpPr>
          <p:nvPr>
            <p:ph type="body" idx="1"/>
          </p:nvPr>
        </p:nvSpPr>
        <p:spPr bwMode="auto">
          <a:xfrm>
            <a:off x="1143000" y="1524000"/>
            <a:ext cx="7391400" cy="441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6085" name="Date Placeholder 3"/>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SzTx/>
              <a:buFontTx/>
              <a:buNone/>
              <a:defRPr sz="1000"/>
            </a:lvl1pPr>
          </a:lstStyle>
          <a:p>
            <a:fld id="{DAA47658-FA98-41C0-A0A1-70085A3B5D80}" type="datetime1">
              <a:rPr lang="en-US" altLang="en-US" smtClean="0"/>
              <a:t>10/1/2025</a:t>
            </a:fld>
            <a:endParaRPr lang="en-US" altLang="en-US" dirty="0"/>
          </a:p>
        </p:txBody>
      </p:sp>
      <p:sp>
        <p:nvSpPr>
          <p:cNvPr id="46086" name="Footer Placeholder 4"/>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spcBef>
                <a:spcPct val="0"/>
              </a:spcBef>
              <a:buClrTx/>
              <a:buSzTx/>
              <a:buFontTx/>
              <a:buNone/>
              <a:defRPr sz="1000"/>
            </a:lvl1pPr>
          </a:lstStyle>
          <a:p>
            <a:r>
              <a:rPr lang="en-US" altLang="en-US"/>
              <a:t>Dr. Nabil Mahmood Hewaihi</a:t>
            </a:r>
            <a:endParaRPr lang="en-US" altLang="en-US" dirty="0"/>
          </a:p>
        </p:txBody>
      </p:sp>
      <p:sp>
        <p:nvSpPr>
          <p:cNvPr id="46087" name="Slide Number Placeholder 5"/>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000"/>
            </a:lvl1pPr>
          </a:lstStyle>
          <a:p>
            <a:fld id="{D7E5119E-5338-4B55-81DC-57EAC9440FD0}" type="slidenum">
              <a:rPr lang="en-US" altLang="en-US"/>
              <a:pPr/>
              <a:t>‹#›</a:t>
            </a:fld>
            <a:endParaRPr lang="en-US" altLang="en-US" dirty="0"/>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hf hdr="0" ftr="0" dt="0"/>
  <p:txStyles>
    <p:titleStyle>
      <a:lvl1pPr algn="l" rtl="0" eaLnBrk="1" fontAlgn="base" hangingPunct="1">
        <a:spcBef>
          <a:spcPct val="0"/>
        </a:spcBef>
        <a:spcAft>
          <a:spcPct val="0"/>
        </a:spcAft>
        <a:defRPr sz="3600" b="1">
          <a:solidFill>
            <a:schemeClr val="tx2"/>
          </a:solidFill>
          <a:latin typeface="+mj-lt"/>
          <a:ea typeface="+mj-ea"/>
          <a:cs typeface="+mj-cs"/>
        </a:defRPr>
      </a:lvl1pPr>
      <a:lvl2pPr algn="l" rtl="0" eaLnBrk="1" fontAlgn="base" hangingPunct="1">
        <a:spcBef>
          <a:spcPct val="0"/>
        </a:spcBef>
        <a:spcAft>
          <a:spcPct val="0"/>
        </a:spcAft>
        <a:defRPr sz="3600" b="1">
          <a:solidFill>
            <a:schemeClr val="tx2"/>
          </a:solidFill>
          <a:latin typeface="Arial" charset="0"/>
        </a:defRPr>
      </a:lvl2pPr>
      <a:lvl3pPr algn="l" rtl="0" eaLnBrk="1" fontAlgn="base" hangingPunct="1">
        <a:spcBef>
          <a:spcPct val="0"/>
        </a:spcBef>
        <a:spcAft>
          <a:spcPct val="0"/>
        </a:spcAft>
        <a:defRPr sz="3600" b="1">
          <a:solidFill>
            <a:schemeClr val="tx2"/>
          </a:solidFill>
          <a:latin typeface="Arial" charset="0"/>
        </a:defRPr>
      </a:lvl3pPr>
      <a:lvl4pPr algn="l" rtl="0" eaLnBrk="1" fontAlgn="base" hangingPunct="1">
        <a:spcBef>
          <a:spcPct val="0"/>
        </a:spcBef>
        <a:spcAft>
          <a:spcPct val="0"/>
        </a:spcAft>
        <a:defRPr sz="3600" b="1">
          <a:solidFill>
            <a:schemeClr val="tx2"/>
          </a:solidFill>
          <a:latin typeface="Arial" charset="0"/>
        </a:defRPr>
      </a:lvl4pPr>
      <a:lvl5pPr algn="l" rtl="0" eaLnBrk="1" fontAlgn="base" hangingPunct="1">
        <a:spcBef>
          <a:spcPct val="0"/>
        </a:spcBef>
        <a:spcAft>
          <a:spcPct val="0"/>
        </a:spcAft>
        <a:defRPr sz="3600" b="1">
          <a:solidFill>
            <a:schemeClr val="tx2"/>
          </a:solidFill>
          <a:latin typeface="Arial" charset="0"/>
        </a:defRPr>
      </a:lvl5pPr>
      <a:lvl6pPr marL="457200" algn="l" rtl="0" eaLnBrk="1" fontAlgn="base" hangingPunct="1">
        <a:spcBef>
          <a:spcPct val="0"/>
        </a:spcBef>
        <a:spcAft>
          <a:spcPct val="0"/>
        </a:spcAft>
        <a:defRPr sz="3600" b="1">
          <a:solidFill>
            <a:schemeClr val="tx2"/>
          </a:solidFill>
          <a:latin typeface="Arial" charset="0"/>
        </a:defRPr>
      </a:lvl6pPr>
      <a:lvl7pPr marL="914400" algn="l" rtl="0" eaLnBrk="1" fontAlgn="base" hangingPunct="1">
        <a:spcBef>
          <a:spcPct val="0"/>
        </a:spcBef>
        <a:spcAft>
          <a:spcPct val="0"/>
        </a:spcAft>
        <a:defRPr sz="3600" b="1">
          <a:solidFill>
            <a:schemeClr val="tx2"/>
          </a:solidFill>
          <a:latin typeface="Arial" charset="0"/>
        </a:defRPr>
      </a:lvl7pPr>
      <a:lvl8pPr marL="1371600" algn="l" rtl="0" eaLnBrk="1" fontAlgn="base" hangingPunct="1">
        <a:spcBef>
          <a:spcPct val="0"/>
        </a:spcBef>
        <a:spcAft>
          <a:spcPct val="0"/>
        </a:spcAft>
        <a:defRPr sz="3600" b="1">
          <a:solidFill>
            <a:schemeClr val="tx2"/>
          </a:solidFill>
          <a:latin typeface="Arial" charset="0"/>
        </a:defRPr>
      </a:lvl8pPr>
      <a:lvl9pPr marL="1828800" algn="l" rtl="0" eaLnBrk="1" fontAlgn="base" hangingPunct="1">
        <a:spcBef>
          <a:spcPct val="0"/>
        </a:spcBef>
        <a:spcAft>
          <a:spcPct val="0"/>
        </a:spcAft>
        <a:defRPr sz="3600" b="1">
          <a:solidFill>
            <a:schemeClr val="tx2"/>
          </a:solidFill>
          <a:latin typeface="Arial" charset="0"/>
        </a:defRPr>
      </a:lvl9pPr>
    </p:titleStyle>
    <p:bodyStyle>
      <a:lvl1pPr marL="45720" indent="0" algn="l" rtl="0" eaLnBrk="1" fontAlgn="base" hangingPunct="1">
        <a:spcBef>
          <a:spcPct val="25000"/>
        </a:spcBef>
        <a:spcAft>
          <a:spcPct val="0"/>
        </a:spcAft>
        <a:buClr>
          <a:schemeClr val="tx2"/>
        </a:buClr>
        <a:buSzPct val="120000"/>
        <a:buFontTx/>
        <a:buNone/>
        <a:defRPr sz="2700">
          <a:solidFill>
            <a:schemeClr val="tx1"/>
          </a:solidFill>
          <a:latin typeface="+mn-lt"/>
          <a:ea typeface="+mn-ea"/>
          <a:cs typeface="+mn-cs"/>
        </a:defRPr>
      </a:lvl1pPr>
      <a:lvl2pPr marL="692150" indent="-347663" algn="l" rtl="0" eaLnBrk="1" fontAlgn="base" hangingPunct="1">
        <a:spcBef>
          <a:spcPct val="0"/>
        </a:spcBef>
        <a:spcAft>
          <a:spcPct val="25000"/>
        </a:spcAft>
        <a:buClr>
          <a:schemeClr val="accent2">
            <a:lumMod val="75000"/>
          </a:schemeClr>
        </a:buClr>
        <a:buSzPct val="55000"/>
        <a:buFont typeface="Wingdings" pitchFamily="2" charset="2"/>
        <a:buChar char="l"/>
        <a:defRPr sz="2400">
          <a:solidFill>
            <a:schemeClr val="tx1"/>
          </a:solidFill>
          <a:latin typeface="+mn-lt"/>
        </a:defRPr>
      </a:lvl2pPr>
      <a:lvl3pPr marL="987425" indent="-293688" algn="l" rtl="0" eaLnBrk="1" fontAlgn="base" hangingPunct="1">
        <a:spcBef>
          <a:spcPct val="0"/>
        </a:spcBef>
        <a:spcAft>
          <a:spcPct val="25000"/>
        </a:spcAft>
        <a:buClr>
          <a:schemeClr val="accent1">
            <a:lumMod val="50000"/>
          </a:schemeClr>
        </a:buClr>
        <a:buSzPct val="50000"/>
        <a:buFont typeface="Wingdings" pitchFamily="2" charset="2"/>
        <a:buChar char="l"/>
        <a:defRPr sz="2200">
          <a:solidFill>
            <a:schemeClr val="tx1"/>
          </a:solidFill>
          <a:latin typeface="+mn-lt"/>
        </a:defRPr>
      </a:lvl3pPr>
      <a:lvl4pPr marL="1281113" indent="-292100" algn="l" rtl="0" eaLnBrk="1" fontAlgn="base" hangingPunct="1">
        <a:spcBef>
          <a:spcPct val="20000"/>
        </a:spcBef>
        <a:spcAft>
          <a:spcPct val="0"/>
        </a:spcAft>
        <a:buClr>
          <a:schemeClr val="tx2">
            <a:lumMod val="75000"/>
          </a:schemeClr>
        </a:buClr>
        <a:buSzPct val="75000"/>
        <a:buFont typeface="Wingdings" pitchFamily="2" charset="2"/>
        <a:buChar char="§"/>
        <a:defRPr sz="2000">
          <a:solidFill>
            <a:schemeClr val="tx1"/>
          </a:solidFill>
          <a:latin typeface="+mn-lt"/>
        </a:defRPr>
      </a:lvl4pPr>
      <a:lvl5pPr marL="1598613" indent="-315913" algn="l" rtl="0" eaLnBrk="1" fontAlgn="base" hangingPunct="1">
        <a:spcBef>
          <a:spcPct val="20000"/>
        </a:spcBef>
        <a:spcAft>
          <a:spcPct val="0"/>
        </a:spcAft>
        <a:buClr>
          <a:schemeClr val="accent3">
            <a:lumMod val="50000"/>
          </a:schemeClr>
        </a:buClr>
        <a:buSzPct val="80000"/>
        <a:buFont typeface="Wingdings" pitchFamily="2" charset="2"/>
        <a:buChar char="§"/>
        <a:defRPr sz="2000">
          <a:solidFill>
            <a:schemeClr val="tx1"/>
          </a:solidFill>
          <a:latin typeface="+mn-lt"/>
        </a:defRPr>
      </a:lvl5pPr>
      <a:lvl6pPr marL="1920240" indent="-315913" algn="l" rtl="0" eaLnBrk="1" fontAlgn="base" hangingPunct="1">
        <a:spcBef>
          <a:spcPct val="20000"/>
        </a:spcBef>
        <a:spcAft>
          <a:spcPct val="0"/>
        </a:spcAft>
        <a:buClr>
          <a:schemeClr val="accent6">
            <a:lumMod val="50000"/>
          </a:schemeClr>
        </a:buClr>
        <a:buSzPct val="80000"/>
        <a:buFont typeface="Wingdings" pitchFamily="2" charset="2"/>
        <a:buChar char="§"/>
        <a:defRPr sz="2000">
          <a:solidFill>
            <a:schemeClr val="tx1"/>
          </a:solidFill>
          <a:latin typeface="+mn-lt"/>
        </a:defRPr>
      </a:lvl6pPr>
      <a:lvl7pPr marL="2240280" indent="-315913" algn="l" rtl="0" eaLnBrk="1" fontAlgn="base" hangingPunct="1">
        <a:spcBef>
          <a:spcPct val="20000"/>
        </a:spcBef>
        <a:spcAft>
          <a:spcPct val="0"/>
        </a:spcAft>
        <a:buClr>
          <a:schemeClr val="accent2">
            <a:lumMod val="50000"/>
          </a:schemeClr>
        </a:buClr>
        <a:buSzPct val="80000"/>
        <a:buFont typeface="Wingdings" pitchFamily="2" charset="2"/>
        <a:buChar char="§"/>
        <a:defRPr sz="2000">
          <a:solidFill>
            <a:schemeClr val="tx1"/>
          </a:solidFill>
          <a:latin typeface="+mn-lt"/>
        </a:defRPr>
      </a:lvl7pPr>
      <a:lvl8pPr marL="2651760" indent="-315913" algn="l" rtl="0" eaLnBrk="1" fontAlgn="base" hangingPunct="1">
        <a:spcBef>
          <a:spcPct val="20000"/>
        </a:spcBef>
        <a:spcAft>
          <a:spcPct val="0"/>
        </a:spcAft>
        <a:buClr>
          <a:schemeClr val="bg2">
            <a:lumMod val="75000"/>
          </a:schemeClr>
        </a:buClr>
        <a:buSzPct val="80000"/>
        <a:buFont typeface="Wingdings" pitchFamily="2" charset="2"/>
        <a:buChar char="§"/>
        <a:defRPr sz="2000">
          <a:solidFill>
            <a:schemeClr val="tx1"/>
          </a:solidFill>
          <a:latin typeface="+mn-lt"/>
        </a:defRPr>
      </a:lvl8pPr>
      <a:lvl9pPr marL="3108960" indent="-315913" algn="l" rtl="0" eaLnBrk="1" fontAlgn="base" hangingPunct="1">
        <a:spcBef>
          <a:spcPct val="20000"/>
        </a:spcBef>
        <a:spcAft>
          <a:spcPct val="0"/>
        </a:spcAft>
        <a:buClr>
          <a:schemeClr val="accent2">
            <a:lumMod val="50000"/>
          </a:schemeClr>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486D98-0B9B-4C4E-A25F-64BA4C5DBB94}"/>
              </a:ext>
            </a:extLst>
          </p:cNvPr>
          <p:cNvSpPr>
            <a:spLocks noGrp="1"/>
          </p:cNvSpPr>
          <p:nvPr>
            <p:ph type="ctrTitle"/>
          </p:nvPr>
        </p:nvSpPr>
        <p:spPr>
          <a:xfrm>
            <a:off x="315913" y="466725"/>
            <a:ext cx="6781800" cy="2133600"/>
          </a:xfrm>
        </p:spPr>
        <p:txBody>
          <a:bodyPr/>
          <a:lstStyle/>
          <a:p>
            <a:pPr algn="ctr"/>
            <a:r>
              <a:rPr lang="en-US" dirty="0"/>
              <a:t>Chapter 3</a:t>
            </a:r>
          </a:p>
        </p:txBody>
      </p:sp>
      <p:sp>
        <p:nvSpPr>
          <p:cNvPr id="5" name="Subtitle 4">
            <a:extLst>
              <a:ext uri="{FF2B5EF4-FFF2-40B4-BE49-F238E27FC236}">
                <a16:creationId xmlns:a16="http://schemas.microsoft.com/office/drawing/2014/main" id="{D655BBED-E65C-4B70-99E3-9318D4F249A0}"/>
              </a:ext>
            </a:extLst>
          </p:cNvPr>
          <p:cNvSpPr>
            <a:spLocks noGrp="1"/>
          </p:cNvSpPr>
          <p:nvPr>
            <p:ph type="subTitle" idx="1"/>
          </p:nvPr>
        </p:nvSpPr>
        <p:spPr>
          <a:xfrm>
            <a:off x="582613" y="3049588"/>
            <a:ext cx="6248400" cy="2362200"/>
          </a:xfrm>
        </p:spPr>
        <p:txBody>
          <a:bodyPr/>
          <a:lstStyle/>
          <a:p>
            <a:pPr algn="ctr"/>
            <a:r>
              <a:rPr lang="en-US" dirty="0"/>
              <a:t>Solving </a:t>
            </a:r>
            <a:r>
              <a:rPr lang="en-US"/>
              <a:t>Problems by </a:t>
            </a:r>
            <a:r>
              <a:rPr lang="en-US" dirty="0"/>
              <a:t>Searching</a:t>
            </a:r>
          </a:p>
        </p:txBody>
      </p:sp>
      <p:sp>
        <p:nvSpPr>
          <p:cNvPr id="2" name="Slide Number Placeholder 1">
            <a:extLst>
              <a:ext uri="{FF2B5EF4-FFF2-40B4-BE49-F238E27FC236}">
                <a16:creationId xmlns:a16="http://schemas.microsoft.com/office/drawing/2014/main" id="{2FD4643F-6823-FFEE-93F8-706A515DF65B}"/>
              </a:ext>
            </a:extLst>
          </p:cNvPr>
          <p:cNvSpPr>
            <a:spLocks noGrp="1"/>
          </p:cNvSpPr>
          <p:nvPr>
            <p:ph type="sldNum" sz="quarter" idx="4"/>
          </p:nvPr>
        </p:nvSpPr>
        <p:spPr/>
        <p:txBody>
          <a:bodyPr/>
          <a:lstStyle/>
          <a:p>
            <a:fld id="{E945280F-DE53-48B1-9FB9-96A39916642A}" type="slidenum">
              <a:rPr lang="en-US" altLang="en-US" smtClean="0"/>
              <a:pPr/>
              <a:t>1</a:t>
            </a:fld>
            <a:endParaRPr lang="en-US" altLang="en-US" dirty="0"/>
          </a:p>
        </p:txBody>
      </p:sp>
    </p:spTree>
    <p:extLst>
      <p:ext uri="{BB962C8B-B14F-4D97-AF65-F5344CB8AC3E}">
        <p14:creationId xmlns:p14="http://schemas.microsoft.com/office/powerpoint/2010/main" val="3429484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76E8F-D6C4-124A-8CB6-E5DC266599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B780D2-0A46-0E29-752A-1622C3E76B32}"/>
              </a:ext>
            </a:extLst>
          </p:cNvPr>
          <p:cNvSpPr>
            <a:spLocks noGrp="1"/>
          </p:cNvSpPr>
          <p:nvPr>
            <p:ph type="title"/>
          </p:nvPr>
        </p:nvSpPr>
        <p:spPr/>
        <p:txBody>
          <a:bodyPr/>
          <a:lstStyle/>
          <a:p>
            <a:r>
              <a:rPr lang="en-US" dirty="0"/>
              <a:t>Search Algorithms Overview</a:t>
            </a:r>
          </a:p>
        </p:txBody>
      </p:sp>
      <p:graphicFrame>
        <p:nvGraphicFramePr>
          <p:cNvPr id="5" name="Content Placeholder 4">
            <a:extLst>
              <a:ext uri="{FF2B5EF4-FFF2-40B4-BE49-F238E27FC236}">
                <a16:creationId xmlns:a16="http://schemas.microsoft.com/office/drawing/2014/main" id="{A34FA596-06E7-D614-4766-FB947FD1432F}"/>
              </a:ext>
            </a:extLst>
          </p:cNvPr>
          <p:cNvGraphicFramePr>
            <a:graphicFrameLocks noGrp="1"/>
          </p:cNvGraphicFramePr>
          <p:nvPr>
            <p:ph idx="1"/>
            <p:extLst>
              <p:ext uri="{D42A27DB-BD31-4B8C-83A1-F6EECF244321}">
                <p14:modId xmlns:p14="http://schemas.microsoft.com/office/powerpoint/2010/main" val="3428547527"/>
              </p:ext>
            </p:extLst>
          </p:nvPr>
        </p:nvGraphicFramePr>
        <p:xfrm>
          <a:off x="533400" y="1790729"/>
          <a:ext cx="7391400" cy="44116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E0A66E5E-28B7-4F24-1122-63B84961D615}"/>
              </a:ext>
            </a:extLst>
          </p:cNvPr>
          <p:cNvSpPr>
            <a:spLocks noGrp="1"/>
          </p:cNvSpPr>
          <p:nvPr>
            <p:ph type="sldNum" sz="quarter" idx="12"/>
          </p:nvPr>
        </p:nvSpPr>
        <p:spPr/>
        <p:txBody>
          <a:bodyPr/>
          <a:lstStyle/>
          <a:p>
            <a:fld id="{71C6F290-D301-4864-9490-340EF11588D9}" type="slidenum">
              <a:rPr lang="en-US" altLang="en-US" smtClean="0"/>
              <a:pPr/>
              <a:t>2</a:t>
            </a:fld>
            <a:endParaRPr lang="en-US" altLang="en-US" dirty="0"/>
          </a:p>
        </p:txBody>
      </p:sp>
    </p:spTree>
    <p:extLst>
      <p:ext uri="{BB962C8B-B14F-4D97-AF65-F5344CB8AC3E}">
        <p14:creationId xmlns:p14="http://schemas.microsoft.com/office/powerpoint/2010/main" val="19027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67FAF-FC78-660D-5DDA-01268156D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D9AF22-7E24-973F-F45E-DF9275861033}"/>
              </a:ext>
            </a:extLst>
          </p:cNvPr>
          <p:cNvSpPr>
            <a:spLocks noGrp="1"/>
          </p:cNvSpPr>
          <p:nvPr>
            <p:ph type="title"/>
          </p:nvPr>
        </p:nvSpPr>
        <p:spPr/>
        <p:txBody>
          <a:bodyPr/>
          <a:lstStyle/>
          <a:p>
            <a:r>
              <a:rPr lang="en-US" dirty="0"/>
              <a:t>Uninformed vs. Informed Search</a:t>
            </a:r>
          </a:p>
        </p:txBody>
      </p:sp>
      <p:graphicFrame>
        <p:nvGraphicFramePr>
          <p:cNvPr id="5" name="Content Placeholder 4">
            <a:extLst>
              <a:ext uri="{FF2B5EF4-FFF2-40B4-BE49-F238E27FC236}">
                <a16:creationId xmlns:a16="http://schemas.microsoft.com/office/drawing/2014/main" id="{34995E93-9ED7-0EA6-1507-0246E5954D8A}"/>
              </a:ext>
            </a:extLst>
          </p:cNvPr>
          <p:cNvGraphicFramePr>
            <a:graphicFrameLocks noGrp="1"/>
          </p:cNvGraphicFramePr>
          <p:nvPr>
            <p:ph idx="1"/>
            <p:extLst>
              <p:ext uri="{D42A27DB-BD31-4B8C-83A1-F6EECF244321}">
                <p14:modId xmlns:p14="http://schemas.microsoft.com/office/powerpoint/2010/main" val="1622895771"/>
              </p:ext>
            </p:extLst>
          </p:nvPr>
        </p:nvGraphicFramePr>
        <p:xfrm>
          <a:off x="609600" y="2286000"/>
          <a:ext cx="7391400" cy="3779520"/>
        </p:xfrm>
        <a:graphic>
          <a:graphicData uri="http://schemas.openxmlformats.org/drawingml/2006/table">
            <a:tbl>
              <a:tblPr>
                <a:tableStyleId>{5DA37D80-6434-44D0-A028-1B22A696006F}</a:tableStyleId>
              </a:tblPr>
              <a:tblGrid>
                <a:gridCol w="3695700">
                  <a:extLst>
                    <a:ext uri="{9D8B030D-6E8A-4147-A177-3AD203B41FA5}">
                      <a16:colId xmlns:a16="http://schemas.microsoft.com/office/drawing/2014/main" val="906174014"/>
                    </a:ext>
                  </a:extLst>
                </a:gridCol>
                <a:gridCol w="3695700">
                  <a:extLst>
                    <a:ext uri="{9D8B030D-6E8A-4147-A177-3AD203B41FA5}">
                      <a16:colId xmlns:a16="http://schemas.microsoft.com/office/drawing/2014/main" val="1035066863"/>
                    </a:ext>
                  </a:extLst>
                </a:gridCol>
              </a:tblGrid>
              <a:tr h="762000">
                <a:tc>
                  <a:txBody>
                    <a:bodyPr/>
                    <a:lstStyle/>
                    <a:p>
                      <a:pPr algn="ctr"/>
                      <a:r>
                        <a:rPr lang="en-US" sz="2000" b="1" dirty="0">
                          <a:solidFill>
                            <a:schemeClr val="accent2">
                              <a:lumMod val="75000"/>
                            </a:schemeClr>
                          </a:solidFill>
                        </a:rPr>
                        <a:t>Uninformed (Blind) Search</a:t>
                      </a:r>
                    </a:p>
                  </a:txBody>
                  <a:tcPr anchor="ctr"/>
                </a:tc>
                <a:tc>
                  <a:txBody>
                    <a:bodyPr/>
                    <a:lstStyle/>
                    <a:p>
                      <a:pPr algn="ctr"/>
                      <a:r>
                        <a:rPr lang="en-US" sz="2000" b="1" dirty="0">
                          <a:solidFill>
                            <a:schemeClr val="accent2">
                              <a:lumMod val="75000"/>
                            </a:schemeClr>
                          </a:solidFill>
                        </a:rPr>
                        <a:t>Informed (Heuristic) Search</a:t>
                      </a:r>
                    </a:p>
                  </a:txBody>
                  <a:tcPr anchor="ctr"/>
                </a:tc>
                <a:extLst>
                  <a:ext uri="{0D108BD9-81ED-4DB2-BD59-A6C34878D82A}">
                    <a16:rowId xmlns:a16="http://schemas.microsoft.com/office/drawing/2014/main" val="751254459"/>
                  </a:ext>
                </a:extLst>
              </a:tr>
              <a:tr h="1005840">
                <a:tc>
                  <a:txBody>
                    <a:bodyPr/>
                    <a:lstStyle/>
                    <a:p>
                      <a:pPr algn="ctr"/>
                      <a:r>
                        <a:rPr lang="en-US"/>
                        <a:t>No extra information</a:t>
                      </a:r>
                    </a:p>
                  </a:txBody>
                  <a:tcPr anchor="ctr"/>
                </a:tc>
                <a:tc>
                  <a:txBody>
                    <a:bodyPr/>
                    <a:lstStyle/>
                    <a:p>
                      <a:pPr algn="ctr"/>
                      <a:r>
                        <a:rPr lang="en-US"/>
                        <a:t>Uses goal distance estimate</a:t>
                      </a:r>
                    </a:p>
                  </a:txBody>
                  <a:tcPr anchor="ctr"/>
                </a:tc>
                <a:extLst>
                  <a:ext uri="{0D108BD9-81ED-4DB2-BD59-A6C34878D82A}">
                    <a16:rowId xmlns:a16="http://schemas.microsoft.com/office/drawing/2014/main" val="4014913608"/>
                  </a:ext>
                </a:extLst>
              </a:tr>
              <a:tr h="1005840">
                <a:tc>
                  <a:txBody>
                    <a:bodyPr/>
                    <a:lstStyle/>
                    <a:p>
                      <a:pPr algn="ctr"/>
                      <a:r>
                        <a:rPr lang="en-US" dirty="0"/>
                        <a:t>Explore blindly</a:t>
                      </a:r>
                    </a:p>
                  </a:txBody>
                  <a:tcPr anchor="ctr"/>
                </a:tc>
                <a:tc>
                  <a:txBody>
                    <a:bodyPr/>
                    <a:lstStyle/>
                    <a:p>
                      <a:pPr algn="ctr"/>
                      <a:r>
                        <a:rPr lang="en-US" dirty="0"/>
                        <a:t>Smarter and faster search</a:t>
                      </a:r>
                    </a:p>
                  </a:txBody>
                  <a:tcPr anchor="ctr"/>
                </a:tc>
                <a:extLst>
                  <a:ext uri="{0D108BD9-81ED-4DB2-BD59-A6C34878D82A}">
                    <a16:rowId xmlns:a16="http://schemas.microsoft.com/office/drawing/2014/main" val="3254653895"/>
                  </a:ext>
                </a:extLst>
              </a:tr>
              <a:tr h="1005840">
                <a:tc>
                  <a:txBody>
                    <a:bodyPr/>
                    <a:lstStyle/>
                    <a:p>
                      <a:pPr algn="ctr"/>
                      <a:r>
                        <a:rPr lang="en-US" b="1" dirty="0">
                          <a:solidFill>
                            <a:srgbClr val="B94917"/>
                          </a:solidFill>
                        </a:rPr>
                        <a:t>Example : </a:t>
                      </a:r>
                      <a:r>
                        <a:rPr lang="en-US" dirty="0"/>
                        <a:t>BFS, DFS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B94917"/>
                          </a:solidFill>
                        </a:rPr>
                        <a:t>Example : </a:t>
                      </a:r>
                      <a:r>
                        <a:rPr lang="en-US" dirty="0"/>
                        <a:t>Greedy BFS, A*</a:t>
                      </a:r>
                    </a:p>
                  </a:txBody>
                  <a:tcPr anchor="ctr"/>
                </a:tc>
                <a:extLst>
                  <a:ext uri="{0D108BD9-81ED-4DB2-BD59-A6C34878D82A}">
                    <a16:rowId xmlns:a16="http://schemas.microsoft.com/office/drawing/2014/main" val="528373781"/>
                  </a:ext>
                </a:extLst>
              </a:tr>
            </a:tbl>
          </a:graphicData>
        </a:graphic>
      </p:graphicFrame>
      <p:sp>
        <p:nvSpPr>
          <p:cNvPr id="4" name="Slide Number Placeholder 3">
            <a:extLst>
              <a:ext uri="{FF2B5EF4-FFF2-40B4-BE49-F238E27FC236}">
                <a16:creationId xmlns:a16="http://schemas.microsoft.com/office/drawing/2014/main" id="{3428DA9D-D56F-DBFF-B9F0-3F9302D2264D}"/>
              </a:ext>
            </a:extLst>
          </p:cNvPr>
          <p:cNvSpPr>
            <a:spLocks noGrp="1"/>
          </p:cNvSpPr>
          <p:nvPr>
            <p:ph type="sldNum" sz="quarter" idx="12"/>
          </p:nvPr>
        </p:nvSpPr>
        <p:spPr/>
        <p:txBody>
          <a:bodyPr/>
          <a:lstStyle/>
          <a:p>
            <a:fld id="{71C6F290-D301-4864-9490-340EF11588D9}" type="slidenum">
              <a:rPr lang="en-US" altLang="en-US" smtClean="0"/>
              <a:pPr/>
              <a:t>3</a:t>
            </a:fld>
            <a:endParaRPr lang="en-US" altLang="en-US" dirty="0"/>
          </a:p>
        </p:txBody>
      </p:sp>
    </p:spTree>
    <p:extLst>
      <p:ext uri="{BB962C8B-B14F-4D97-AF65-F5344CB8AC3E}">
        <p14:creationId xmlns:p14="http://schemas.microsoft.com/office/powerpoint/2010/main" val="4056048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DD623-1AF9-3B28-9E70-D5A54A4130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9B6CB8-F692-1977-1DA6-66F186709966}"/>
              </a:ext>
            </a:extLst>
          </p:cNvPr>
          <p:cNvSpPr>
            <a:spLocks noGrp="1"/>
          </p:cNvSpPr>
          <p:nvPr>
            <p:ph type="title"/>
          </p:nvPr>
        </p:nvSpPr>
        <p:spPr/>
        <p:txBody>
          <a:bodyPr/>
          <a:lstStyle/>
          <a:p>
            <a:r>
              <a:rPr lang="en-US" dirty="0"/>
              <a:t>Uninformed Search Algorithms</a:t>
            </a:r>
          </a:p>
        </p:txBody>
      </p:sp>
      <p:sp>
        <p:nvSpPr>
          <p:cNvPr id="3" name="Content Placeholder 2">
            <a:extLst>
              <a:ext uri="{FF2B5EF4-FFF2-40B4-BE49-F238E27FC236}">
                <a16:creationId xmlns:a16="http://schemas.microsoft.com/office/drawing/2014/main" id="{6A8D28B9-A159-6643-8E13-6361EE0BA00A}"/>
              </a:ext>
            </a:extLst>
          </p:cNvPr>
          <p:cNvSpPr>
            <a:spLocks noGrp="1"/>
          </p:cNvSpPr>
          <p:nvPr>
            <p:ph idx="1"/>
          </p:nvPr>
        </p:nvSpPr>
        <p:spPr>
          <a:xfrm>
            <a:off x="609600" y="1836737"/>
            <a:ext cx="7391400" cy="4868863"/>
          </a:xfrm>
        </p:spPr>
        <p:txBody>
          <a:bodyPr>
            <a:normAutofit/>
          </a:bodyPr>
          <a:lstStyle/>
          <a:p>
            <a:pPr algn="justLow">
              <a:lnSpc>
                <a:spcPct val="150000"/>
              </a:lnSpc>
            </a:pPr>
            <a:r>
              <a:rPr lang="en-US" sz="3200" b="1" dirty="0">
                <a:solidFill>
                  <a:srgbClr val="00B050"/>
                </a:solidFill>
              </a:rPr>
              <a:t>Breadth-First Search (BFS)</a:t>
            </a:r>
          </a:p>
          <a:p>
            <a:pPr algn="justLow">
              <a:lnSpc>
                <a:spcPct val="150000"/>
              </a:lnSpc>
            </a:pPr>
            <a:endParaRPr lang="en-US" sz="1000" b="1" dirty="0">
              <a:solidFill>
                <a:srgbClr val="00B050"/>
              </a:solidFill>
            </a:endParaRPr>
          </a:p>
          <a:p>
            <a:pPr>
              <a:lnSpc>
                <a:spcPct val="150000"/>
              </a:lnSpc>
            </a:pPr>
            <a:r>
              <a:rPr lang="en-US" b="1" dirty="0">
                <a:solidFill>
                  <a:schemeClr val="accent2">
                    <a:lumMod val="75000"/>
                  </a:schemeClr>
                </a:solidFill>
              </a:rPr>
              <a:t>Definition: </a:t>
            </a:r>
            <a:r>
              <a:rPr lang="en-US" dirty="0"/>
              <a:t>Explores all nodes at the current depth level before moving deeper to the next level.</a:t>
            </a:r>
          </a:p>
          <a:p>
            <a:pPr>
              <a:lnSpc>
                <a:spcPct val="150000"/>
              </a:lnSpc>
            </a:pPr>
            <a:endParaRPr lang="en-US" sz="1000" dirty="0"/>
          </a:p>
          <a:p>
            <a:pPr>
              <a:lnSpc>
                <a:spcPct val="150000"/>
              </a:lnSpc>
            </a:pPr>
            <a:r>
              <a:rPr lang="en-US" b="1" dirty="0">
                <a:solidFill>
                  <a:schemeClr val="accent1">
                    <a:lumMod val="75000"/>
                  </a:schemeClr>
                </a:solidFill>
              </a:rPr>
              <a:t>Key Idea: </a:t>
            </a:r>
            <a:r>
              <a:rPr lang="en-US" dirty="0"/>
              <a:t>Find the shallowest (closest) solution first.</a:t>
            </a:r>
          </a:p>
          <a:p>
            <a:pPr algn="justLow">
              <a:lnSpc>
                <a:spcPct val="150000"/>
              </a:lnSpc>
            </a:pPr>
            <a:endParaRPr lang="en-US" sz="3200" b="1" dirty="0">
              <a:solidFill>
                <a:srgbClr val="00B050"/>
              </a:solidFill>
            </a:endParaRPr>
          </a:p>
        </p:txBody>
      </p:sp>
      <p:sp>
        <p:nvSpPr>
          <p:cNvPr id="4" name="Slide Number Placeholder 3">
            <a:extLst>
              <a:ext uri="{FF2B5EF4-FFF2-40B4-BE49-F238E27FC236}">
                <a16:creationId xmlns:a16="http://schemas.microsoft.com/office/drawing/2014/main" id="{44F1301D-317A-1939-1020-166C8E6A61E8}"/>
              </a:ext>
            </a:extLst>
          </p:cNvPr>
          <p:cNvSpPr>
            <a:spLocks noGrp="1"/>
          </p:cNvSpPr>
          <p:nvPr>
            <p:ph type="sldNum" sz="quarter" idx="12"/>
          </p:nvPr>
        </p:nvSpPr>
        <p:spPr/>
        <p:txBody>
          <a:bodyPr/>
          <a:lstStyle/>
          <a:p>
            <a:fld id="{71C6F290-D301-4864-9490-340EF11588D9}" type="slidenum">
              <a:rPr lang="en-US" altLang="en-US" smtClean="0"/>
              <a:pPr/>
              <a:t>4</a:t>
            </a:fld>
            <a:endParaRPr lang="en-US" altLang="en-US" dirty="0"/>
          </a:p>
        </p:txBody>
      </p:sp>
    </p:spTree>
    <p:extLst>
      <p:ext uri="{BB962C8B-B14F-4D97-AF65-F5344CB8AC3E}">
        <p14:creationId xmlns:p14="http://schemas.microsoft.com/office/powerpoint/2010/main" val="738792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A4A13-23CA-BD81-165E-41C129E716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BEA4E4-2FE1-E169-5962-6402D99CDAEF}"/>
              </a:ext>
            </a:extLst>
          </p:cNvPr>
          <p:cNvSpPr>
            <a:spLocks noGrp="1"/>
          </p:cNvSpPr>
          <p:nvPr>
            <p:ph type="title"/>
          </p:nvPr>
        </p:nvSpPr>
        <p:spPr/>
        <p:txBody>
          <a:bodyPr/>
          <a:lstStyle/>
          <a:p>
            <a:r>
              <a:rPr lang="en-US" dirty="0"/>
              <a:t>Uninformed Search Algorithms</a:t>
            </a:r>
          </a:p>
        </p:txBody>
      </p:sp>
      <p:sp>
        <p:nvSpPr>
          <p:cNvPr id="3" name="Content Placeholder 2">
            <a:extLst>
              <a:ext uri="{FF2B5EF4-FFF2-40B4-BE49-F238E27FC236}">
                <a16:creationId xmlns:a16="http://schemas.microsoft.com/office/drawing/2014/main" id="{8C95B47B-1D06-BA11-265A-4248E33A4388}"/>
              </a:ext>
            </a:extLst>
          </p:cNvPr>
          <p:cNvSpPr>
            <a:spLocks noGrp="1"/>
          </p:cNvSpPr>
          <p:nvPr>
            <p:ph idx="1"/>
          </p:nvPr>
        </p:nvSpPr>
        <p:spPr>
          <a:xfrm>
            <a:off x="609600" y="1836737"/>
            <a:ext cx="7391400" cy="4868863"/>
          </a:xfrm>
        </p:spPr>
        <p:txBody>
          <a:bodyPr>
            <a:normAutofit fontScale="92500" lnSpcReduction="20000"/>
          </a:bodyPr>
          <a:lstStyle/>
          <a:p>
            <a:pPr algn="justLow">
              <a:lnSpc>
                <a:spcPct val="150000"/>
              </a:lnSpc>
            </a:pPr>
            <a:r>
              <a:rPr lang="en-US" sz="3200" b="1" dirty="0">
                <a:solidFill>
                  <a:srgbClr val="00B050"/>
                </a:solidFill>
              </a:rPr>
              <a:t>Breadth-First Search (BFS)</a:t>
            </a:r>
          </a:p>
          <a:p>
            <a:pPr algn="justLow">
              <a:lnSpc>
                <a:spcPct val="150000"/>
              </a:lnSpc>
            </a:pPr>
            <a:endParaRPr lang="en-US" sz="1100" b="1" dirty="0">
              <a:solidFill>
                <a:srgbClr val="00B050"/>
              </a:solidFill>
            </a:endParaRPr>
          </a:p>
          <a:p>
            <a:r>
              <a:rPr lang="en-US" b="1" dirty="0">
                <a:solidFill>
                  <a:schemeClr val="accent1">
                    <a:lumMod val="75000"/>
                  </a:schemeClr>
                </a:solidFill>
              </a:rPr>
              <a:t>Pros: </a:t>
            </a:r>
            <a:r>
              <a:rPr lang="en-US" b="1" dirty="0"/>
              <a:t>Complete </a:t>
            </a:r>
            <a:r>
              <a:rPr lang="en-US" b="1" dirty="0">
                <a:solidFill>
                  <a:srgbClr val="0070C0"/>
                </a:solidFill>
              </a:rPr>
              <a:t>(</a:t>
            </a:r>
            <a:r>
              <a:rPr lang="en-US" dirty="0">
                <a:solidFill>
                  <a:srgbClr val="FF0000"/>
                </a:solidFill>
              </a:rPr>
              <a:t>Guaranteed to find a solution if one exists. Won't get stuck in infinite paths)</a:t>
            </a:r>
            <a:endParaRPr lang="en-US" dirty="0"/>
          </a:p>
          <a:p>
            <a:pPr>
              <a:lnSpc>
                <a:spcPct val="150000"/>
              </a:lnSpc>
            </a:pPr>
            <a:r>
              <a:rPr lang="en-US" dirty="0"/>
              <a:t>Optimal (if step costs equal. </a:t>
            </a:r>
            <a:r>
              <a:rPr lang="en-US" dirty="0">
                <a:solidFill>
                  <a:srgbClr val="FF0000"/>
                </a:solidFill>
              </a:rPr>
              <a:t>Guarantees shortest path when all step costs are equal</a:t>
            </a:r>
            <a:r>
              <a:rPr lang="en-US" dirty="0"/>
              <a:t>)</a:t>
            </a:r>
          </a:p>
          <a:p>
            <a:pPr>
              <a:lnSpc>
                <a:spcPct val="150000"/>
              </a:lnSpc>
            </a:pPr>
            <a:r>
              <a:rPr lang="en-US" b="1" dirty="0">
                <a:solidFill>
                  <a:schemeClr val="accent1">
                    <a:lumMod val="75000"/>
                  </a:schemeClr>
                </a:solidFill>
              </a:rPr>
              <a:t>Cons: </a:t>
            </a:r>
            <a:r>
              <a:rPr lang="en-US" dirty="0"/>
              <a:t>Very high memory usage.</a:t>
            </a:r>
          </a:p>
          <a:p>
            <a:pPr>
              <a:lnSpc>
                <a:spcPct val="150000"/>
              </a:lnSpc>
            </a:pPr>
            <a:endParaRPr lang="en-US" sz="1600" dirty="0"/>
          </a:p>
          <a:p>
            <a:pPr>
              <a:lnSpc>
                <a:spcPct val="150000"/>
              </a:lnSpc>
            </a:pPr>
            <a:r>
              <a:rPr lang="en-US" sz="2400" b="1" dirty="0">
                <a:solidFill>
                  <a:srgbClr val="B94917"/>
                </a:solidFill>
              </a:rPr>
              <a:t>Example : </a:t>
            </a:r>
            <a:r>
              <a:rPr lang="en-US" sz="2400" dirty="0"/>
              <a:t>Searching for a friend on the 1st, then 2nd, then 3rd floor of a building.</a:t>
            </a:r>
          </a:p>
          <a:p>
            <a:pPr algn="justLow">
              <a:lnSpc>
                <a:spcPct val="150000"/>
              </a:lnSpc>
            </a:pPr>
            <a:endParaRPr lang="en-US" sz="3200" b="1" dirty="0">
              <a:solidFill>
                <a:srgbClr val="00B050"/>
              </a:solidFill>
            </a:endParaRPr>
          </a:p>
        </p:txBody>
      </p:sp>
      <p:sp>
        <p:nvSpPr>
          <p:cNvPr id="4" name="Slide Number Placeholder 3">
            <a:extLst>
              <a:ext uri="{FF2B5EF4-FFF2-40B4-BE49-F238E27FC236}">
                <a16:creationId xmlns:a16="http://schemas.microsoft.com/office/drawing/2014/main" id="{5889EB70-A907-9659-DE37-83FE279F9FA4}"/>
              </a:ext>
            </a:extLst>
          </p:cNvPr>
          <p:cNvSpPr>
            <a:spLocks noGrp="1"/>
          </p:cNvSpPr>
          <p:nvPr>
            <p:ph type="sldNum" sz="quarter" idx="12"/>
          </p:nvPr>
        </p:nvSpPr>
        <p:spPr/>
        <p:txBody>
          <a:bodyPr/>
          <a:lstStyle/>
          <a:p>
            <a:fld id="{71C6F290-D301-4864-9490-340EF11588D9}" type="slidenum">
              <a:rPr lang="en-US" altLang="en-US" smtClean="0"/>
              <a:pPr/>
              <a:t>5</a:t>
            </a:fld>
            <a:endParaRPr lang="en-US" altLang="en-US" dirty="0"/>
          </a:p>
        </p:txBody>
      </p:sp>
    </p:spTree>
    <p:extLst>
      <p:ext uri="{BB962C8B-B14F-4D97-AF65-F5344CB8AC3E}">
        <p14:creationId xmlns:p14="http://schemas.microsoft.com/office/powerpoint/2010/main" val="184552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8B278-0008-B8E0-CF70-8C4352D404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FABEF1-4CE2-9C1C-0A98-08B6BAB3ED15}"/>
              </a:ext>
            </a:extLst>
          </p:cNvPr>
          <p:cNvSpPr>
            <a:spLocks noGrp="1"/>
          </p:cNvSpPr>
          <p:nvPr>
            <p:ph type="title"/>
          </p:nvPr>
        </p:nvSpPr>
        <p:spPr>
          <a:xfrm>
            <a:off x="228600" y="228600"/>
            <a:ext cx="7696200" cy="838200"/>
          </a:xfrm>
        </p:spPr>
        <p:txBody>
          <a:bodyPr/>
          <a:lstStyle/>
          <a:p>
            <a:pPr algn="justLow">
              <a:lnSpc>
                <a:spcPct val="150000"/>
              </a:lnSpc>
            </a:pPr>
            <a:r>
              <a:rPr lang="en-US" sz="3600" b="1" dirty="0">
                <a:solidFill>
                  <a:srgbClr val="00B050"/>
                </a:solidFill>
              </a:rPr>
              <a:t>Breadth-First Search (BFS)</a:t>
            </a:r>
          </a:p>
        </p:txBody>
      </p:sp>
      <p:sp>
        <p:nvSpPr>
          <p:cNvPr id="4" name="Slide Number Placeholder 3">
            <a:extLst>
              <a:ext uri="{FF2B5EF4-FFF2-40B4-BE49-F238E27FC236}">
                <a16:creationId xmlns:a16="http://schemas.microsoft.com/office/drawing/2014/main" id="{05CAE24F-F3A7-9DE0-71D0-F27FC9DAD300}"/>
              </a:ext>
            </a:extLst>
          </p:cNvPr>
          <p:cNvSpPr>
            <a:spLocks noGrp="1"/>
          </p:cNvSpPr>
          <p:nvPr>
            <p:ph type="sldNum" sz="quarter" idx="12"/>
          </p:nvPr>
        </p:nvSpPr>
        <p:spPr/>
        <p:txBody>
          <a:bodyPr/>
          <a:lstStyle/>
          <a:p>
            <a:fld id="{71C6F290-D301-4864-9490-340EF11588D9}" type="slidenum">
              <a:rPr lang="en-US" altLang="en-US" smtClean="0"/>
              <a:pPr/>
              <a:t>6</a:t>
            </a:fld>
            <a:endParaRPr lang="en-US" altLang="en-US" dirty="0"/>
          </a:p>
        </p:txBody>
      </p:sp>
      <p:pic>
        <p:nvPicPr>
          <p:cNvPr id="6" name="Picture 5">
            <a:extLst>
              <a:ext uri="{FF2B5EF4-FFF2-40B4-BE49-F238E27FC236}">
                <a16:creationId xmlns:a16="http://schemas.microsoft.com/office/drawing/2014/main" id="{A3DC4CCD-A3A6-CFCD-DC16-A5EB9DF94D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475" y="1559801"/>
            <a:ext cx="4200525" cy="5069599"/>
          </a:xfrm>
          <a:prstGeom prst="rect">
            <a:avLst/>
          </a:prstGeom>
        </p:spPr>
      </p:pic>
      <p:sp>
        <p:nvSpPr>
          <p:cNvPr id="3" name="TextBox 2">
            <a:extLst>
              <a:ext uri="{FF2B5EF4-FFF2-40B4-BE49-F238E27FC236}">
                <a16:creationId xmlns:a16="http://schemas.microsoft.com/office/drawing/2014/main" id="{BEFDAB7F-86F1-9E71-2AAF-B99136863270}"/>
              </a:ext>
            </a:extLst>
          </p:cNvPr>
          <p:cNvSpPr txBox="1"/>
          <p:nvPr/>
        </p:nvSpPr>
        <p:spPr>
          <a:xfrm>
            <a:off x="4572000" y="1828800"/>
            <a:ext cx="4343400" cy="4585871"/>
          </a:xfrm>
          <a:prstGeom prst="rect">
            <a:avLst/>
          </a:prstGeom>
          <a:noFill/>
        </p:spPr>
        <p:txBody>
          <a:bodyPr wrap="square" rtlCol="0">
            <a:spAutoFit/>
          </a:bodyPr>
          <a:lstStyle/>
          <a:p>
            <a:pPr marL="457200" indent="-457200">
              <a:buAutoNum type="arabicPeriod"/>
            </a:pPr>
            <a:r>
              <a:rPr lang="en-US" sz="2000" dirty="0"/>
              <a:t>Start with the root node. </a:t>
            </a:r>
          </a:p>
          <a:p>
            <a:pPr>
              <a:buNone/>
            </a:pPr>
            <a:endParaRPr lang="en-US" sz="2000" dirty="0"/>
          </a:p>
          <a:p>
            <a:pPr marL="457200" indent="-457200">
              <a:buAutoNum type="arabicPeriod" startAt="2"/>
            </a:pPr>
            <a:r>
              <a:rPr lang="en-US" sz="2000" dirty="0"/>
              <a:t>Check if it's the goal.</a:t>
            </a:r>
          </a:p>
          <a:p>
            <a:pPr>
              <a:buNone/>
            </a:pPr>
            <a:endParaRPr lang="en-US" sz="2000" dirty="0"/>
          </a:p>
          <a:p>
            <a:pPr>
              <a:buNone/>
            </a:pPr>
            <a:r>
              <a:rPr lang="en-US" sz="2000" dirty="0"/>
              <a:t> 3. If not, add all its children to the queue.</a:t>
            </a:r>
          </a:p>
          <a:p>
            <a:pPr>
              <a:buNone/>
            </a:pPr>
            <a:endParaRPr lang="en-US" sz="2000" dirty="0"/>
          </a:p>
          <a:p>
            <a:pPr>
              <a:buNone/>
            </a:pPr>
            <a:r>
              <a:rPr lang="en-US" sz="2000" dirty="0"/>
              <a:t>4. Then dequeue the next node (from left to right), check it, and expand it by adding its children.</a:t>
            </a:r>
          </a:p>
          <a:p>
            <a:pPr>
              <a:buNone/>
            </a:pPr>
            <a:r>
              <a:rPr lang="en-US" sz="2000" dirty="0"/>
              <a:t> </a:t>
            </a:r>
          </a:p>
          <a:p>
            <a:r>
              <a:rPr lang="en-US" sz="2000" dirty="0"/>
              <a:t> 5. Repeat this process level by level.</a:t>
            </a:r>
          </a:p>
        </p:txBody>
      </p:sp>
    </p:spTree>
    <p:extLst>
      <p:ext uri="{BB962C8B-B14F-4D97-AF65-F5344CB8AC3E}">
        <p14:creationId xmlns:p14="http://schemas.microsoft.com/office/powerpoint/2010/main" val="1577350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8758D-3948-203B-4B23-54BC65F3185E}"/>
              </a:ext>
            </a:extLst>
          </p:cNvPr>
          <p:cNvSpPr>
            <a:spLocks noGrp="1"/>
          </p:cNvSpPr>
          <p:nvPr>
            <p:ph type="title"/>
          </p:nvPr>
        </p:nvSpPr>
        <p:spPr>
          <a:xfrm>
            <a:off x="228600" y="228600"/>
            <a:ext cx="7696200" cy="719288"/>
          </a:xfrm>
        </p:spPr>
        <p:txBody>
          <a:bodyPr/>
          <a:lstStyle/>
          <a:p>
            <a:r>
              <a:rPr lang="en-US" dirty="0">
                <a:solidFill>
                  <a:srgbClr val="00B050"/>
                </a:solidFill>
              </a:rPr>
              <a:t>Breadth-First Search (BFS)</a:t>
            </a:r>
            <a:endParaRPr lang="en-US" dirty="0"/>
          </a:p>
        </p:txBody>
      </p:sp>
      <p:sp>
        <p:nvSpPr>
          <p:cNvPr id="3" name="Content Placeholder 2">
            <a:extLst>
              <a:ext uri="{FF2B5EF4-FFF2-40B4-BE49-F238E27FC236}">
                <a16:creationId xmlns:a16="http://schemas.microsoft.com/office/drawing/2014/main" id="{327AC864-2DEA-5D1F-4D21-F1334A11DD37}"/>
              </a:ext>
            </a:extLst>
          </p:cNvPr>
          <p:cNvSpPr>
            <a:spLocks noGrp="1"/>
          </p:cNvSpPr>
          <p:nvPr>
            <p:ph idx="1"/>
          </p:nvPr>
        </p:nvSpPr>
        <p:spPr>
          <a:xfrm>
            <a:off x="381000" y="1223168"/>
            <a:ext cx="8229600" cy="4720432"/>
          </a:xfrm>
        </p:spPr>
        <p:txBody>
          <a:bodyPr>
            <a:normAutofit/>
          </a:bodyPr>
          <a:lstStyle/>
          <a:p>
            <a:r>
              <a:rPr lang="en-US" dirty="0"/>
              <a:t>Queue : S</a:t>
            </a:r>
          </a:p>
          <a:p>
            <a:r>
              <a:rPr lang="en-US" dirty="0"/>
              <a:t>Queue: A  B  C</a:t>
            </a:r>
          </a:p>
          <a:p>
            <a:r>
              <a:rPr lang="en-US" dirty="0"/>
              <a:t>Queue: B  C  D</a:t>
            </a:r>
          </a:p>
          <a:p>
            <a:r>
              <a:rPr lang="en-US" dirty="0"/>
              <a:t>Queue: C  D  E</a:t>
            </a:r>
          </a:p>
          <a:p>
            <a:r>
              <a:rPr lang="en-US" dirty="0"/>
              <a:t>Queue: D  E  F</a:t>
            </a:r>
          </a:p>
          <a:p>
            <a:r>
              <a:rPr lang="en-US" dirty="0"/>
              <a:t>Queue: E  F  G</a:t>
            </a:r>
          </a:p>
          <a:p>
            <a:r>
              <a:rPr lang="en-US" dirty="0"/>
              <a:t>Queue: F  G</a:t>
            </a:r>
          </a:p>
          <a:p>
            <a:r>
              <a:rPr lang="en-US" dirty="0"/>
              <a:t>Queue: G</a:t>
            </a:r>
          </a:p>
          <a:p>
            <a:r>
              <a:rPr lang="en-US" dirty="0"/>
              <a:t>Queue:</a:t>
            </a:r>
          </a:p>
        </p:txBody>
      </p:sp>
      <p:sp>
        <p:nvSpPr>
          <p:cNvPr id="4" name="Slide Number Placeholder 3">
            <a:extLst>
              <a:ext uri="{FF2B5EF4-FFF2-40B4-BE49-F238E27FC236}">
                <a16:creationId xmlns:a16="http://schemas.microsoft.com/office/drawing/2014/main" id="{A0A92925-5366-F309-EBB1-12F1D425CB7E}"/>
              </a:ext>
            </a:extLst>
          </p:cNvPr>
          <p:cNvSpPr>
            <a:spLocks noGrp="1"/>
          </p:cNvSpPr>
          <p:nvPr>
            <p:ph type="sldNum" sz="quarter" idx="12"/>
          </p:nvPr>
        </p:nvSpPr>
        <p:spPr/>
        <p:txBody>
          <a:bodyPr/>
          <a:lstStyle/>
          <a:p>
            <a:fld id="{71C6F290-D301-4864-9490-340EF11588D9}" type="slidenum">
              <a:rPr lang="en-US" altLang="en-US" smtClean="0"/>
              <a:pPr/>
              <a:t>7</a:t>
            </a:fld>
            <a:endParaRPr lang="en-US" altLang="en-US" dirty="0"/>
          </a:p>
        </p:txBody>
      </p:sp>
      <p:pic>
        <p:nvPicPr>
          <p:cNvPr id="5" name="Picture 4">
            <a:extLst>
              <a:ext uri="{FF2B5EF4-FFF2-40B4-BE49-F238E27FC236}">
                <a16:creationId xmlns:a16="http://schemas.microsoft.com/office/drawing/2014/main" id="{0E0A25BE-1AFE-E199-B10D-8015487F67B0}"/>
              </a:ext>
            </a:extLst>
          </p:cNvPr>
          <p:cNvPicPr>
            <a:picLocks noChangeAspect="1"/>
          </p:cNvPicPr>
          <p:nvPr/>
        </p:nvPicPr>
        <p:blipFill>
          <a:blip r:embed="rId2"/>
          <a:stretch>
            <a:fillRect/>
          </a:stretch>
        </p:blipFill>
        <p:spPr>
          <a:xfrm>
            <a:off x="5105400" y="2366195"/>
            <a:ext cx="3429000" cy="2993356"/>
          </a:xfrm>
          <a:prstGeom prst="rect">
            <a:avLst/>
          </a:prstGeom>
        </p:spPr>
      </p:pic>
    </p:spTree>
    <p:extLst>
      <p:ext uri="{BB962C8B-B14F-4D97-AF65-F5344CB8AC3E}">
        <p14:creationId xmlns:p14="http://schemas.microsoft.com/office/powerpoint/2010/main" val="3407155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A5E33-1924-33D9-7A76-6BADE61720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C2E458-4273-5250-60FF-A488AC53C95A}"/>
              </a:ext>
            </a:extLst>
          </p:cNvPr>
          <p:cNvSpPr>
            <a:spLocks noGrp="1"/>
          </p:cNvSpPr>
          <p:nvPr>
            <p:ph type="title"/>
          </p:nvPr>
        </p:nvSpPr>
        <p:spPr>
          <a:xfrm>
            <a:off x="228600" y="228600"/>
            <a:ext cx="7696200" cy="838200"/>
          </a:xfrm>
        </p:spPr>
        <p:txBody>
          <a:bodyPr/>
          <a:lstStyle/>
          <a:p>
            <a:r>
              <a:rPr lang="en-US" dirty="0"/>
              <a:t>Uninformed Search Algorithms</a:t>
            </a:r>
          </a:p>
        </p:txBody>
      </p:sp>
      <p:sp>
        <p:nvSpPr>
          <p:cNvPr id="3" name="Content Placeholder 2">
            <a:extLst>
              <a:ext uri="{FF2B5EF4-FFF2-40B4-BE49-F238E27FC236}">
                <a16:creationId xmlns:a16="http://schemas.microsoft.com/office/drawing/2014/main" id="{772AC21C-DF39-9A4C-30C2-E3B5BD863DB3}"/>
              </a:ext>
            </a:extLst>
          </p:cNvPr>
          <p:cNvSpPr>
            <a:spLocks noGrp="1"/>
          </p:cNvSpPr>
          <p:nvPr>
            <p:ph idx="1"/>
          </p:nvPr>
        </p:nvSpPr>
        <p:spPr>
          <a:xfrm>
            <a:off x="533400" y="1193621"/>
            <a:ext cx="7848600" cy="4868863"/>
          </a:xfrm>
        </p:spPr>
        <p:txBody>
          <a:bodyPr>
            <a:normAutofit/>
          </a:bodyPr>
          <a:lstStyle/>
          <a:p>
            <a:pPr algn="justLow">
              <a:lnSpc>
                <a:spcPct val="150000"/>
              </a:lnSpc>
            </a:pPr>
            <a:r>
              <a:rPr lang="en-US" sz="3200" b="1" dirty="0">
                <a:solidFill>
                  <a:srgbClr val="00B050"/>
                </a:solidFill>
              </a:rPr>
              <a:t>Depth-First Search (DFS)</a:t>
            </a:r>
          </a:p>
          <a:p>
            <a:pPr algn="justLow">
              <a:lnSpc>
                <a:spcPct val="150000"/>
              </a:lnSpc>
            </a:pPr>
            <a:endParaRPr lang="en-US" sz="1000" b="1" dirty="0">
              <a:solidFill>
                <a:srgbClr val="00B050"/>
              </a:solidFill>
            </a:endParaRPr>
          </a:p>
          <a:p>
            <a:pPr>
              <a:lnSpc>
                <a:spcPct val="150000"/>
              </a:lnSpc>
            </a:pPr>
            <a:r>
              <a:rPr lang="en-US" b="1" dirty="0">
                <a:solidFill>
                  <a:schemeClr val="accent2">
                    <a:lumMod val="75000"/>
                  </a:schemeClr>
                </a:solidFill>
              </a:rPr>
              <a:t>Definition: </a:t>
            </a:r>
            <a:r>
              <a:rPr lang="en-US" dirty="0"/>
              <a:t>Explores as deep as possible along a branch before backtracking to explore other branches.</a:t>
            </a:r>
          </a:p>
          <a:p>
            <a:pPr>
              <a:lnSpc>
                <a:spcPct val="150000"/>
              </a:lnSpc>
            </a:pPr>
            <a:endParaRPr lang="en-US" sz="1000" dirty="0"/>
          </a:p>
          <a:p>
            <a:pPr>
              <a:lnSpc>
                <a:spcPct val="150000"/>
              </a:lnSpc>
            </a:pPr>
            <a:r>
              <a:rPr lang="en-US" b="1" dirty="0">
                <a:solidFill>
                  <a:schemeClr val="accent1">
                    <a:lumMod val="75000"/>
                  </a:schemeClr>
                </a:solidFill>
              </a:rPr>
              <a:t>Key Idea: </a:t>
            </a:r>
            <a:r>
              <a:rPr lang="en-US" dirty="0"/>
              <a:t>Dive deep into one branch, only backtrack if stuck.</a:t>
            </a:r>
            <a:endParaRPr lang="en-US" sz="3200" b="1" dirty="0">
              <a:solidFill>
                <a:srgbClr val="00B050"/>
              </a:solidFill>
            </a:endParaRPr>
          </a:p>
        </p:txBody>
      </p:sp>
      <p:sp>
        <p:nvSpPr>
          <p:cNvPr id="4" name="Slide Number Placeholder 3">
            <a:extLst>
              <a:ext uri="{FF2B5EF4-FFF2-40B4-BE49-F238E27FC236}">
                <a16:creationId xmlns:a16="http://schemas.microsoft.com/office/drawing/2014/main" id="{330E9184-A91F-398C-4043-61493B57B5F9}"/>
              </a:ext>
            </a:extLst>
          </p:cNvPr>
          <p:cNvSpPr>
            <a:spLocks noGrp="1"/>
          </p:cNvSpPr>
          <p:nvPr>
            <p:ph type="sldNum" sz="quarter" idx="12"/>
          </p:nvPr>
        </p:nvSpPr>
        <p:spPr/>
        <p:txBody>
          <a:bodyPr/>
          <a:lstStyle/>
          <a:p>
            <a:fld id="{71C6F290-D301-4864-9490-340EF11588D9}" type="slidenum">
              <a:rPr lang="en-US" altLang="en-US" smtClean="0"/>
              <a:pPr/>
              <a:t>8</a:t>
            </a:fld>
            <a:endParaRPr lang="en-US" altLang="en-US" dirty="0"/>
          </a:p>
        </p:txBody>
      </p:sp>
    </p:spTree>
    <p:extLst>
      <p:ext uri="{BB962C8B-B14F-4D97-AF65-F5344CB8AC3E}">
        <p14:creationId xmlns:p14="http://schemas.microsoft.com/office/powerpoint/2010/main" val="4080894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746DF-AE9D-3C63-6886-DED3B349D2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7162CC-FC61-8CB2-7C44-DF7BE5EAB122}"/>
              </a:ext>
            </a:extLst>
          </p:cNvPr>
          <p:cNvSpPr>
            <a:spLocks noGrp="1"/>
          </p:cNvSpPr>
          <p:nvPr>
            <p:ph type="title"/>
          </p:nvPr>
        </p:nvSpPr>
        <p:spPr>
          <a:xfrm>
            <a:off x="228600" y="228600"/>
            <a:ext cx="7696200" cy="838200"/>
          </a:xfrm>
        </p:spPr>
        <p:txBody>
          <a:bodyPr/>
          <a:lstStyle/>
          <a:p>
            <a:r>
              <a:rPr lang="en-US" dirty="0"/>
              <a:t>Uninformed Search Algorithms</a:t>
            </a:r>
          </a:p>
        </p:txBody>
      </p:sp>
      <p:sp>
        <p:nvSpPr>
          <p:cNvPr id="3" name="Content Placeholder 2">
            <a:extLst>
              <a:ext uri="{FF2B5EF4-FFF2-40B4-BE49-F238E27FC236}">
                <a16:creationId xmlns:a16="http://schemas.microsoft.com/office/drawing/2014/main" id="{E790EF8F-763C-4143-5B73-262F7634A31D}"/>
              </a:ext>
            </a:extLst>
          </p:cNvPr>
          <p:cNvSpPr>
            <a:spLocks noGrp="1"/>
          </p:cNvSpPr>
          <p:nvPr>
            <p:ph idx="1"/>
          </p:nvPr>
        </p:nvSpPr>
        <p:spPr>
          <a:xfrm>
            <a:off x="609600" y="1251160"/>
            <a:ext cx="8153400" cy="5073440"/>
          </a:xfrm>
        </p:spPr>
        <p:txBody>
          <a:bodyPr>
            <a:normAutofit lnSpcReduction="10000"/>
          </a:bodyPr>
          <a:lstStyle/>
          <a:p>
            <a:pPr algn="justLow">
              <a:lnSpc>
                <a:spcPct val="150000"/>
              </a:lnSpc>
            </a:pPr>
            <a:r>
              <a:rPr lang="en-US" sz="3200" b="1" dirty="0">
                <a:solidFill>
                  <a:srgbClr val="00B050"/>
                </a:solidFill>
              </a:rPr>
              <a:t>Depth-First Search (DFS)</a:t>
            </a:r>
          </a:p>
          <a:p>
            <a:pPr algn="justLow">
              <a:lnSpc>
                <a:spcPct val="150000"/>
              </a:lnSpc>
            </a:pPr>
            <a:endParaRPr lang="en-US" sz="1100" b="1" dirty="0">
              <a:solidFill>
                <a:srgbClr val="00B050"/>
              </a:solidFill>
            </a:endParaRPr>
          </a:p>
          <a:p>
            <a:pPr>
              <a:lnSpc>
                <a:spcPct val="150000"/>
              </a:lnSpc>
            </a:pPr>
            <a:r>
              <a:rPr lang="en-US" b="1" dirty="0">
                <a:solidFill>
                  <a:schemeClr val="accent1">
                    <a:lumMod val="75000"/>
                  </a:schemeClr>
                </a:solidFill>
              </a:rPr>
              <a:t>Pros: </a:t>
            </a:r>
            <a:r>
              <a:rPr lang="en-US" dirty="0"/>
              <a:t>Very low memory use.</a:t>
            </a:r>
          </a:p>
          <a:p>
            <a:pPr>
              <a:lnSpc>
                <a:spcPct val="150000"/>
              </a:lnSpc>
            </a:pPr>
            <a:r>
              <a:rPr lang="en-US" b="1" dirty="0">
                <a:solidFill>
                  <a:schemeClr val="accent1">
                    <a:lumMod val="75000"/>
                  </a:schemeClr>
                </a:solidFill>
              </a:rPr>
              <a:t>Cons: </a:t>
            </a:r>
            <a:r>
              <a:rPr lang="en-US" dirty="0"/>
              <a:t>Can get stuck in infinite paths (not complete), may not find the best solution </a:t>
            </a:r>
            <a:r>
              <a:rPr lang="en-US" dirty="0">
                <a:solidFill>
                  <a:srgbClr val="0070C0"/>
                </a:solidFill>
              </a:rPr>
              <a:t>(if the best in higher level-deep).</a:t>
            </a:r>
          </a:p>
          <a:p>
            <a:pPr>
              <a:lnSpc>
                <a:spcPct val="150000"/>
              </a:lnSpc>
            </a:pPr>
            <a:endParaRPr lang="en-US" sz="1000" dirty="0"/>
          </a:p>
          <a:p>
            <a:pPr>
              <a:lnSpc>
                <a:spcPct val="150000"/>
              </a:lnSpc>
            </a:pPr>
            <a:r>
              <a:rPr lang="en-US" sz="2400" b="1" dirty="0">
                <a:solidFill>
                  <a:srgbClr val="B94917"/>
                </a:solidFill>
              </a:rPr>
              <a:t>Example : </a:t>
            </a:r>
            <a:r>
              <a:rPr lang="en-US" sz="2400" dirty="0"/>
              <a:t>Exploring a maze by always turning left first until you hit a dead end, </a:t>
            </a:r>
            <a:r>
              <a:rPr lang="en-US" sz="2400" dirty="0">
                <a:solidFill>
                  <a:srgbClr val="0070C0"/>
                </a:solidFill>
              </a:rPr>
              <a:t>then backtrack.</a:t>
            </a:r>
            <a:endParaRPr lang="en-US" sz="3200" b="1" dirty="0">
              <a:solidFill>
                <a:srgbClr val="0070C0"/>
              </a:solidFill>
            </a:endParaRPr>
          </a:p>
        </p:txBody>
      </p:sp>
      <p:sp>
        <p:nvSpPr>
          <p:cNvPr id="4" name="Slide Number Placeholder 3">
            <a:extLst>
              <a:ext uri="{FF2B5EF4-FFF2-40B4-BE49-F238E27FC236}">
                <a16:creationId xmlns:a16="http://schemas.microsoft.com/office/drawing/2014/main" id="{5183EB88-9AC5-940E-60D7-F5CAEAC46360}"/>
              </a:ext>
            </a:extLst>
          </p:cNvPr>
          <p:cNvSpPr>
            <a:spLocks noGrp="1"/>
          </p:cNvSpPr>
          <p:nvPr>
            <p:ph type="sldNum" sz="quarter" idx="12"/>
          </p:nvPr>
        </p:nvSpPr>
        <p:spPr/>
        <p:txBody>
          <a:bodyPr/>
          <a:lstStyle/>
          <a:p>
            <a:fld id="{71C6F290-D301-4864-9490-340EF11588D9}" type="slidenum">
              <a:rPr lang="en-US" altLang="en-US" smtClean="0"/>
              <a:pPr/>
              <a:t>9</a:t>
            </a:fld>
            <a:endParaRPr lang="en-US" altLang="en-US" dirty="0"/>
          </a:p>
        </p:txBody>
      </p:sp>
    </p:spTree>
    <p:extLst>
      <p:ext uri="{BB962C8B-B14F-4D97-AF65-F5344CB8AC3E}">
        <p14:creationId xmlns:p14="http://schemas.microsoft.com/office/powerpoint/2010/main" val="3335513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C4FE9-97FC-5EC6-8539-8EFD8B861C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57B9DB-C90B-9EC3-827F-E687110758F9}"/>
              </a:ext>
            </a:extLst>
          </p:cNvPr>
          <p:cNvSpPr>
            <a:spLocks noGrp="1"/>
          </p:cNvSpPr>
          <p:nvPr>
            <p:ph type="title"/>
          </p:nvPr>
        </p:nvSpPr>
        <p:spPr>
          <a:xfrm>
            <a:off x="228600" y="228600"/>
            <a:ext cx="7696200" cy="838200"/>
          </a:xfrm>
        </p:spPr>
        <p:txBody>
          <a:bodyPr/>
          <a:lstStyle/>
          <a:p>
            <a:pPr algn="justLow">
              <a:lnSpc>
                <a:spcPct val="150000"/>
              </a:lnSpc>
            </a:pPr>
            <a:r>
              <a:rPr lang="en-US" sz="3600" b="1" dirty="0">
                <a:solidFill>
                  <a:srgbClr val="00B050"/>
                </a:solidFill>
              </a:rPr>
              <a:t>Depth-First Search (DFS)</a:t>
            </a:r>
          </a:p>
        </p:txBody>
      </p:sp>
      <p:sp>
        <p:nvSpPr>
          <p:cNvPr id="4" name="Slide Number Placeholder 3">
            <a:extLst>
              <a:ext uri="{FF2B5EF4-FFF2-40B4-BE49-F238E27FC236}">
                <a16:creationId xmlns:a16="http://schemas.microsoft.com/office/drawing/2014/main" id="{76F0E2EF-13E4-80EE-97FB-6A7C6739C643}"/>
              </a:ext>
            </a:extLst>
          </p:cNvPr>
          <p:cNvSpPr>
            <a:spLocks noGrp="1"/>
          </p:cNvSpPr>
          <p:nvPr>
            <p:ph type="sldNum" sz="quarter" idx="12"/>
          </p:nvPr>
        </p:nvSpPr>
        <p:spPr/>
        <p:txBody>
          <a:bodyPr/>
          <a:lstStyle/>
          <a:p>
            <a:fld id="{71C6F290-D301-4864-9490-340EF11588D9}" type="slidenum">
              <a:rPr lang="en-US" altLang="en-US" smtClean="0"/>
              <a:pPr/>
              <a:t>10</a:t>
            </a:fld>
            <a:endParaRPr lang="en-US" altLang="en-US" dirty="0"/>
          </a:p>
        </p:txBody>
      </p:sp>
      <p:pic>
        <p:nvPicPr>
          <p:cNvPr id="5" name="Picture 4">
            <a:extLst>
              <a:ext uri="{FF2B5EF4-FFF2-40B4-BE49-F238E27FC236}">
                <a16:creationId xmlns:a16="http://schemas.microsoft.com/office/drawing/2014/main" id="{6FD1D5C2-70C9-5F33-1C85-5BFECE5AD5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1" y="1411224"/>
            <a:ext cx="3962400" cy="5065776"/>
          </a:xfrm>
          <a:prstGeom prst="rect">
            <a:avLst/>
          </a:prstGeom>
        </p:spPr>
      </p:pic>
      <p:sp>
        <p:nvSpPr>
          <p:cNvPr id="3" name="TextBox 2">
            <a:extLst>
              <a:ext uri="{FF2B5EF4-FFF2-40B4-BE49-F238E27FC236}">
                <a16:creationId xmlns:a16="http://schemas.microsoft.com/office/drawing/2014/main" id="{59D79C9C-9261-4B38-2A95-0493CDFDEE3E}"/>
              </a:ext>
            </a:extLst>
          </p:cNvPr>
          <p:cNvSpPr txBox="1"/>
          <p:nvPr/>
        </p:nvSpPr>
        <p:spPr>
          <a:xfrm>
            <a:off x="4191000" y="1492121"/>
            <a:ext cx="4724400" cy="5355312"/>
          </a:xfrm>
          <a:prstGeom prst="rect">
            <a:avLst/>
          </a:prstGeom>
          <a:noFill/>
        </p:spPr>
        <p:txBody>
          <a:bodyPr wrap="square" rtlCol="0">
            <a:spAutoFit/>
          </a:bodyPr>
          <a:lstStyle/>
          <a:p>
            <a:pPr>
              <a:buNone/>
            </a:pPr>
            <a:r>
              <a:rPr lang="en-US" sz="1800" dirty="0"/>
              <a:t>1. Start from the root (or initial) node.</a:t>
            </a:r>
          </a:p>
          <a:p>
            <a:pPr>
              <a:buNone/>
            </a:pPr>
            <a:endParaRPr lang="en-US" sz="1800" dirty="0"/>
          </a:p>
          <a:p>
            <a:pPr>
              <a:buNone/>
            </a:pPr>
            <a:r>
              <a:rPr lang="en-US" sz="1800" dirty="0"/>
              <a:t>2. Check if the current node is the goal:   - If yes → Return success.</a:t>
            </a:r>
          </a:p>
          <a:p>
            <a:pPr>
              <a:buNone/>
            </a:pPr>
            <a:endParaRPr lang="en-US" sz="1800" dirty="0"/>
          </a:p>
          <a:p>
            <a:pPr>
              <a:buNone/>
            </a:pPr>
            <a:r>
              <a:rPr lang="en-US" sz="1800" dirty="0"/>
              <a:t>3. If not:   - Mark the current node as visited.   - Pick one unvisited child of the current node and move to it (go deeper).</a:t>
            </a:r>
          </a:p>
          <a:p>
            <a:pPr>
              <a:buNone/>
            </a:pPr>
            <a:endParaRPr lang="en-US" sz="1800" dirty="0"/>
          </a:p>
          <a:p>
            <a:pPr>
              <a:buNone/>
            </a:pPr>
            <a:r>
              <a:rPr lang="en-US" sz="1800" dirty="0"/>
              <a:t>4. Repeat steps 2–3 for the new node.</a:t>
            </a:r>
          </a:p>
          <a:p>
            <a:pPr>
              <a:buNone/>
            </a:pPr>
            <a:endParaRPr lang="en-US" sz="1800" dirty="0"/>
          </a:p>
          <a:p>
            <a:pPr>
              <a:buNone/>
            </a:pPr>
            <a:r>
              <a:rPr lang="en-US" sz="1800" dirty="0"/>
              <a:t>5. If a node has no unvisited children, backtrack to its parent.</a:t>
            </a:r>
          </a:p>
          <a:p>
            <a:pPr>
              <a:buNone/>
            </a:pPr>
            <a:endParaRPr lang="en-US" sz="1800" dirty="0"/>
          </a:p>
          <a:p>
            <a:pPr>
              <a:buNone/>
            </a:pPr>
            <a:r>
              <a:rPr lang="en-US" sz="1800" dirty="0"/>
              <a:t>6. Continue this process until:   - The goal is found → success.   - Or all paths are explored and no goal is found → failure.</a:t>
            </a:r>
          </a:p>
        </p:txBody>
      </p:sp>
    </p:spTree>
    <p:extLst>
      <p:ext uri="{BB962C8B-B14F-4D97-AF65-F5344CB8AC3E}">
        <p14:creationId xmlns:p14="http://schemas.microsoft.com/office/powerpoint/2010/main" val="2473467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17EC4-AA89-3B76-4E49-0FF376419AFE}"/>
              </a:ext>
            </a:extLst>
          </p:cNvPr>
          <p:cNvSpPr>
            <a:spLocks noGrp="1"/>
          </p:cNvSpPr>
          <p:nvPr>
            <p:ph type="title"/>
          </p:nvPr>
        </p:nvSpPr>
        <p:spPr>
          <a:xfrm>
            <a:off x="228600" y="228600"/>
            <a:ext cx="7696200" cy="693737"/>
          </a:xfrm>
        </p:spPr>
        <p:txBody>
          <a:bodyPr/>
          <a:lstStyle/>
          <a:p>
            <a:r>
              <a:rPr lang="en-US" dirty="0">
                <a:solidFill>
                  <a:srgbClr val="00B050"/>
                </a:solidFill>
              </a:rPr>
              <a:t>Depth-First Search (DFS)</a:t>
            </a:r>
            <a:endParaRPr lang="en-US" dirty="0"/>
          </a:p>
        </p:txBody>
      </p:sp>
      <p:sp>
        <p:nvSpPr>
          <p:cNvPr id="4" name="Slide Number Placeholder 3">
            <a:extLst>
              <a:ext uri="{FF2B5EF4-FFF2-40B4-BE49-F238E27FC236}">
                <a16:creationId xmlns:a16="http://schemas.microsoft.com/office/drawing/2014/main" id="{5C9F6A4A-1296-7729-2F6A-2C113475A8D5}"/>
              </a:ext>
            </a:extLst>
          </p:cNvPr>
          <p:cNvSpPr>
            <a:spLocks noGrp="1"/>
          </p:cNvSpPr>
          <p:nvPr>
            <p:ph type="sldNum" sz="quarter" idx="12"/>
          </p:nvPr>
        </p:nvSpPr>
        <p:spPr/>
        <p:txBody>
          <a:bodyPr/>
          <a:lstStyle/>
          <a:p>
            <a:fld id="{71C6F290-D301-4864-9490-340EF11588D9}" type="slidenum">
              <a:rPr lang="en-US" altLang="en-US" smtClean="0"/>
              <a:pPr/>
              <a:t>11</a:t>
            </a:fld>
            <a:endParaRPr lang="en-US" altLang="en-US" dirty="0"/>
          </a:p>
        </p:txBody>
      </p:sp>
      <p:pic>
        <p:nvPicPr>
          <p:cNvPr id="5" name="Picture 4">
            <a:extLst>
              <a:ext uri="{FF2B5EF4-FFF2-40B4-BE49-F238E27FC236}">
                <a16:creationId xmlns:a16="http://schemas.microsoft.com/office/drawing/2014/main" id="{9483FEB3-1D01-EF44-F9DF-7FA130B7168A}"/>
              </a:ext>
            </a:extLst>
          </p:cNvPr>
          <p:cNvPicPr>
            <a:picLocks noChangeAspect="1"/>
          </p:cNvPicPr>
          <p:nvPr/>
        </p:nvPicPr>
        <p:blipFill>
          <a:blip r:embed="rId2"/>
          <a:stretch>
            <a:fillRect/>
          </a:stretch>
        </p:blipFill>
        <p:spPr>
          <a:xfrm>
            <a:off x="-6220" y="1828800"/>
            <a:ext cx="2819572" cy="3676107"/>
          </a:xfrm>
          <a:prstGeom prst="rect">
            <a:avLst/>
          </a:prstGeom>
        </p:spPr>
      </p:pic>
      <p:sp>
        <p:nvSpPr>
          <p:cNvPr id="8" name="TextBox 7">
            <a:extLst>
              <a:ext uri="{FF2B5EF4-FFF2-40B4-BE49-F238E27FC236}">
                <a16:creationId xmlns:a16="http://schemas.microsoft.com/office/drawing/2014/main" id="{233577EF-B95B-B694-974F-5743D4C596D7}"/>
              </a:ext>
            </a:extLst>
          </p:cNvPr>
          <p:cNvSpPr txBox="1"/>
          <p:nvPr/>
        </p:nvSpPr>
        <p:spPr>
          <a:xfrm>
            <a:off x="2971800" y="981475"/>
            <a:ext cx="5562600" cy="5293757"/>
          </a:xfrm>
          <a:prstGeom prst="rect">
            <a:avLst/>
          </a:prstGeom>
          <a:noFill/>
        </p:spPr>
        <p:txBody>
          <a:bodyPr wrap="square" rtlCol="0">
            <a:spAutoFit/>
          </a:bodyPr>
          <a:lstStyle/>
          <a:p>
            <a:pPr>
              <a:buNone/>
            </a:pPr>
            <a:r>
              <a:rPr lang="en-US" dirty="0"/>
              <a:t>Unvisited: S,A,B,C,D,E,F,G</a:t>
            </a:r>
          </a:p>
          <a:p>
            <a:pPr>
              <a:buNone/>
            </a:pPr>
            <a:r>
              <a:rPr lang="en-US" dirty="0"/>
              <a:t>Start from S</a:t>
            </a:r>
          </a:p>
          <a:p>
            <a:pPr>
              <a:buNone/>
            </a:pPr>
            <a:r>
              <a:rPr lang="en-US" dirty="0">
                <a:solidFill>
                  <a:srgbClr val="FF0000"/>
                </a:solidFill>
              </a:rPr>
              <a:t>S is visited</a:t>
            </a:r>
          </a:p>
          <a:p>
            <a:pPr>
              <a:buNone/>
            </a:pPr>
            <a:r>
              <a:rPr lang="en-US" dirty="0"/>
              <a:t>A is unvisited</a:t>
            </a:r>
          </a:p>
          <a:p>
            <a:pPr>
              <a:buNone/>
            </a:pPr>
            <a:r>
              <a:rPr lang="en-US" dirty="0">
                <a:solidFill>
                  <a:srgbClr val="FF0000"/>
                </a:solidFill>
              </a:rPr>
              <a:t>A is visited</a:t>
            </a:r>
          </a:p>
          <a:p>
            <a:pPr>
              <a:buNone/>
            </a:pPr>
            <a:r>
              <a:rPr lang="en-US" dirty="0"/>
              <a:t>D is unvisited</a:t>
            </a:r>
          </a:p>
          <a:p>
            <a:pPr>
              <a:buNone/>
            </a:pPr>
            <a:r>
              <a:rPr lang="en-US" dirty="0">
                <a:solidFill>
                  <a:srgbClr val="FF0000"/>
                </a:solidFill>
              </a:rPr>
              <a:t>D is visited </a:t>
            </a:r>
          </a:p>
          <a:p>
            <a:pPr>
              <a:buNone/>
            </a:pPr>
            <a:r>
              <a:rPr lang="en-US" dirty="0"/>
              <a:t>G is unvisited</a:t>
            </a:r>
          </a:p>
          <a:p>
            <a:pPr>
              <a:buNone/>
            </a:pPr>
            <a:r>
              <a:rPr lang="en-US" dirty="0">
                <a:solidFill>
                  <a:srgbClr val="FF0000"/>
                </a:solidFill>
              </a:rPr>
              <a:t>G is visited</a:t>
            </a:r>
          </a:p>
          <a:p>
            <a:pPr>
              <a:buNone/>
            </a:pPr>
            <a:r>
              <a:rPr lang="en-US" dirty="0"/>
              <a:t>E is Unvisited</a:t>
            </a:r>
          </a:p>
          <a:p>
            <a:pPr>
              <a:buNone/>
            </a:pPr>
            <a:r>
              <a:rPr lang="en-US" dirty="0">
                <a:solidFill>
                  <a:srgbClr val="FF0000"/>
                </a:solidFill>
              </a:rPr>
              <a:t>E is visited</a:t>
            </a:r>
          </a:p>
        </p:txBody>
      </p:sp>
      <p:sp>
        <p:nvSpPr>
          <p:cNvPr id="6" name="TextBox 5">
            <a:extLst>
              <a:ext uri="{FF2B5EF4-FFF2-40B4-BE49-F238E27FC236}">
                <a16:creationId xmlns:a16="http://schemas.microsoft.com/office/drawing/2014/main" id="{40617F60-27BE-3BA8-726F-A362CE59E328}"/>
              </a:ext>
            </a:extLst>
          </p:cNvPr>
          <p:cNvSpPr txBox="1"/>
          <p:nvPr/>
        </p:nvSpPr>
        <p:spPr>
          <a:xfrm>
            <a:off x="5562600" y="1524000"/>
            <a:ext cx="2971800" cy="6235553"/>
          </a:xfrm>
          <a:prstGeom prst="rect">
            <a:avLst/>
          </a:prstGeom>
          <a:noFill/>
        </p:spPr>
        <p:txBody>
          <a:bodyPr wrap="square" rtlCol="0">
            <a:spAutoFit/>
          </a:bodyPr>
          <a:lstStyle/>
          <a:p>
            <a:r>
              <a:rPr lang="en-US" dirty="0"/>
              <a:t> </a:t>
            </a:r>
            <a:r>
              <a:rPr lang="en-US" sz="1800" dirty="0"/>
              <a:t>B is Unvisited</a:t>
            </a:r>
          </a:p>
          <a:p>
            <a:r>
              <a:rPr lang="en-US" sz="1800" dirty="0"/>
              <a:t> </a:t>
            </a:r>
            <a:r>
              <a:rPr lang="en-US" sz="1800" dirty="0">
                <a:solidFill>
                  <a:srgbClr val="FF0000"/>
                </a:solidFill>
              </a:rPr>
              <a:t>B is visited</a:t>
            </a:r>
          </a:p>
          <a:p>
            <a:r>
              <a:rPr lang="en-US" sz="1800" dirty="0"/>
              <a:t>Backtrack  S (already visited)</a:t>
            </a:r>
          </a:p>
          <a:p>
            <a:r>
              <a:rPr lang="en-US" sz="1800" dirty="0"/>
              <a:t>Backtrack  B</a:t>
            </a:r>
          </a:p>
          <a:p>
            <a:pPr>
              <a:buNone/>
            </a:pPr>
            <a:r>
              <a:rPr lang="en-US" sz="1800" dirty="0"/>
              <a:t>  (already visited)</a:t>
            </a:r>
          </a:p>
          <a:p>
            <a:r>
              <a:rPr lang="en-US" sz="1800" dirty="0"/>
              <a:t>Backtrack E</a:t>
            </a:r>
          </a:p>
          <a:p>
            <a:pPr>
              <a:buNone/>
            </a:pPr>
            <a:r>
              <a:rPr lang="en-US" sz="1800" dirty="0"/>
              <a:t>(already visited)</a:t>
            </a:r>
          </a:p>
          <a:p>
            <a:pPr>
              <a:buNone/>
            </a:pPr>
            <a:r>
              <a:rPr lang="en-US" sz="1800" dirty="0"/>
              <a:t>Backtrack G</a:t>
            </a:r>
          </a:p>
          <a:p>
            <a:pPr>
              <a:buNone/>
            </a:pPr>
            <a:r>
              <a:rPr lang="en-US" sz="1800" dirty="0"/>
              <a:t>(already visited)</a:t>
            </a:r>
          </a:p>
          <a:p>
            <a:pPr>
              <a:buNone/>
            </a:pPr>
            <a:r>
              <a:rPr lang="en-US" sz="1800" dirty="0"/>
              <a:t>Backtrack F</a:t>
            </a:r>
          </a:p>
          <a:p>
            <a:pPr>
              <a:buNone/>
            </a:pPr>
            <a:r>
              <a:rPr lang="en-US" sz="1800" dirty="0"/>
              <a:t>Unvisited F</a:t>
            </a:r>
          </a:p>
          <a:p>
            <a:pPr>
              <a:buNone/>
            </a:pPr>
            <a:r>
              <a:rPr lang="en-US" sz="1800" dirty="0">
                <a:solidFill>
                  <a:srgbClr val="FF0000"/>
                </a:solidFill>
              </a:rPr>
              <a:t>Visited F</a:t>
            </a:r>
          </a:p>
          <a:p>
            <a:pPr>
              <a:buNone/>
            </a:pPr>
            <a:r>
              <a:rPr lang="en-US" sz="1800" dirty="0"/>
              <a:t>Unvisited C</a:t>
            </a:r>
          </a:p>
          <a:p>
            <a:pPr>
              <a:buNone/>
            </a:pPr>
            <a:r>
              <a:rPr lang="en-US" sz="1800" dirty="0">
                <a:solidFill>
                  <a:srgbClr val="FF0000"/>
                </a:solidFill>
              </a:rPr>
              <a:t>Visited C</a:t>
            </a:r>
          </a:p>
          <a:p>
            <a:pPr>
              <a:buNone/>
            </a:pPr>
            <a:endParaRPr lang="en-US" sz="1800" dirty="0"/>
          </a:p>
          <a:p>
            <a:pPr>
              <a:buNone/>
            </a:pPr>
            <a:endParaRPr lang="en-US" sz="1800" dirty="0"/>
          </a:p>
          <a:p>
            <a:endParaRPr lang="en-US" dirty="0"/>
          </a:p>
        </p:txBody>
      </p:sp>
      <p:sp>
        <p:nvSpPr>
          <p:cNvPr id="7" name="TextBox 6">
            <a:extLst>
              <a:ext uri="{FF2B5EF4-FFF2-40B4-BE49-F238E27FC236}">
                <a16:creationId xmlns:a16="http://schemas.microsoft.com/office/drawing/2014/main" id="{D0B3D56D-191C-EA47-357F-71A30C0EA91F}"/>
              </a:ext>
            </a:extLst>
          </p:cNvPr>
          <p:cNvSpPr txBox="1"/>
          <p:nvPr/>
        </p:nvSpPr>
        <p:spPr>
          <a:xfrm>
            <a:off x="0" y="6209121"/>
            <a:ext cx="6172200" cy="972574"/>
          </a:xfrm>
          <a:prstGeom prst="rect">
            <a:avLst/>
          </a:prstGeom>
          <a:noFill/>
        </p:spPr>
        <p:txBody>
          <a:bodyPr wrap="square" rtlCol="0">
            <a:spAutoFit/>
          </a:bodyPr>
          <a:lstStyle/>
          <a:p>
            <a:pPr>
              <a:buNone/>
            </a:pPr>
            <a:r>
              <a:rPr lang="pt-BR" b="1" dirty="0"/>
              <a:t>S → A → D → G → E → B → F → C</a:t>
            </a:r>
          </a:p>
          <a:p>
            <a:pPr>
              <a:buNone/>
            </a:pPr>
            <a:endParaRPr lang="en-US" dirty="0"/>
          </a:p>
        </p:txBody>
      </p:sp>
    </p:spTree>
    <p:extLst>
      <p:ext uri="{BB962C8B-B14F-4D97-AF65-F5344CB8AC3E}">
        <p14:creationId xmlns:p14="http://schemas.microsoft.com/office/powerpoint/2010/main" val="2549051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B26A1-D027-7D39-64DE-1C55A6A26206}"/>
              </a:ext>
            </a:extLst>
          </p:cNvPr>
          <p:cNvSpPr>
            <a:spLocks noGrp="1"/>
          </p:cNvSpPr>
          <p:nvPr>
            <p:ph type="title"/>
          </p:nvPr>
        </p:nvSpPr>
        <p:spPr>
          <a:xfrm>
            <a:off x="4665" y="-6220"/>
            <a:ext cx="7696200" cy="920620"/>
          </a:xfrm>
        </p:spPr>
        <p:txBody>
          <a:bodyPr/>
          <a:lstStyle/>
          <a:p>
            <a:r>
              <a:rPr lang="en-US" dirty="0">
                <a:solidFill>
                  <a:srgbClr val="00B050"/>
                </a:solidFill>
              </a:rPr>
              <a:t>Depth-First Search (DFS)</a:t>
            </a:r>
            <a:endParaRPr lang="en-US" dirty="0"/>
          </a:p>
        </p:txBody>
      </p:sp>
      <p:pic>
        <p:nvPicPr>
          <p:cNvPr id="6" name="Content Placeholder 5">
            <a:extLst>
              <a:ext uri="{FF2B5EF4-FFF2-40B4-BE49-F238E27FC236}">
                <a16:creationId xmlns:a16="http://schemas.microsoft.com/office/drawing/2014/main" id="{D97054E6-D148-5DD6-6235-16B2EFF4FC51}"/>
              </a:ext>
            </a:extLst>
          </p:cNvPr>
          <p:cNvPicPr>
            <a:picLocks noGrp="1" noChangeAspect="1"/>
          </p:cNvPicPr>
          <p:nvPr>
            <p:ph idx="1"/>
          </p:nvPr>
        </p:nvPicPr>
        <p:blipFill>
          <a:blip r:embed="rId2"/>
          <a:stretch>
            <a:fillRect/>
          </a:stretch>
        </p:blipFill>
        <p:spPr bwMode="auto">
          <a:xfrm>
            <a:off x="457200" y="1295400"/>
            <a:ext cx="70866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a:extLst>
              <a:ext uri="{FF2B5EF4-FFF2-40B4-BE49-F238E27FC236}">
                <a16:creationId xmlns:a16="http://schemas.microsoft.com/office/drawing/2014/main" id="{C0816F32-CF9B-9515-C621-6327F1860D4D}"/>
              </a:ext>
            </a:extLst>
          </p:cNvPr>
          <p:cNvSpPr>
            <a:spLocks noGrp="1"/>
          </p:cNvSpPr>
          <p:nvPr>
            <p:ph type="sldNum" sz="quarter" idx="12"/>
          </p:nvPr>
        </p:nvSpPr>
        <p:spPr/>
        <p:txBody>
          <a:bodyPr/>
          <a:lstStyle/>
          <a:p>
            <a:fld id="{71C6F290-D301-4864-9490-340EF11588D9}" type="slidenum">
              <a:rPr lang="en-US" altLang="en-US" smtClean="0"/>
              <a:pPr/>
              <a:t>12</a:t>
            </a:fld>
            <a:endParaRPr lang="en-US" altLang="en-US" dirty="0"/>
          </a:p>
        </p:txBody>
      </p:sp>
    </p:spTree>
    <p:extLst>
      <p:ext uri="{BB962C8B-B14F-4D97-AF65-F5344CB8AC3E}">
        <p14:creationId xmlns:p14="http://schemas.microsoft.com/office/powerpoint/2010/main" val="836330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C6644-26CD-02EB-1997-6B16EAC1117F}"/>
              </a:ext>
            </a:extLst>
          </p:cNvPr>
          <p:cNvSpPr>
            <a:spLocks noGrp="1"/>
          </p:cNvSpPr>
          <p:nvPr>
            <p:ph type="title"/>
          </p:nvPr>
        </p:nvSpPr>
        <p:spPr>
          <a:xfrm>
            <a:off x="228600" y="228600"/>
            <a:ext cx="7696200" cy="609600"/>
          </a:xfrm>
        </p:spPr>
        <p:txBody>
          <a:bodyPr/>
          <a:lstStyle/>
          <a:p>
            <a:r>
              <a:rPr lang="en-US" dirty="0"/>
              <a:t>Notes</a:t>
            </a:r>
          </a:p>
        </p:txBody>
      </p:sp>
      <p:sp>
        <p:nvSpPr>
          <p:cNvPr id="3" name="Content Placeholder 2">
            <a:extLst>
              <a:ext uri="{FF2B5EF4-FFF2-40B4-BE49-F238E27FC236}">
                <a16:creationId xmlns:a16="http://schemas.microsoft.com/office/drawing/2014/main" id="{A4EE0052-E66A-7B18-BB40-CE190ECD3D85}"/>
              </a:ext>
            </a:extLst>
          </p:cNvPr>
          <p:cNvSpPr>
            <a:spLocks noGrp="1"/>
          </p:cNvSpPr>
          <p:nvPr>
            <p:ph idx="1"/>
          </p:nvPr>
        </p:nvSpPr>
        <p:spPr>
          <a:xfrm>
            <a:off x="214604" y="990600"/>
            <a:ext cx="8395996" cy="5486400"/>
          </a:xfrm>
        </p:spPr>
        <p:txBody>
          <a:bodyPr/>
          <a:lstStyle/>
          <a:p>
            <a:pPr algn="just"/>
            <a:r>
              <a:rPr lang="en-US" sz="2400" b="1" dirty="0"/>
              <a:t>Example:</a:t>
            </a:r>
            <a:r>
              <a:rPr lang="en-US" sz="2400" dirty="0"/>
              <a:t> The traveling salesman problem is too complex to be solved via exhaustive search for large values of N. The </a:t>
            </a:r>
            <a:r>
              <a:rPr lang="en-US" sz="2400" b="1" i="1" dirty="0"/>
              <a:t>nearest neighbor heuristic</a:t>
            </a:r>
            <a:r>
              <a:rPr lang="en-US" sz="2400" dirty="0"/>
              <a:t> work well most of the time, but with some arrangements of cities it does not find the shortest path. Consider the following two graphs. In the first, nearest neighbor will find the shortest path. In the second it does not: </a:t>
            </a:r>
          </a:p>
          <a:p>
            <a:endParaRPr lang="en-US" dirty="0"/>
          </a:p>
        </p:txBody>
      </p:sp>
      <p:sp>
        <p:nvSpPr>
          <p:cNvPr id="4" name="Slide Number Placeholder 3">
            <a:extLst>
              <a:ext uri="{FF2B5EF4-FFF2-40B4-BE49-F238E27FC236}">
                <a16:creationId xmlns:a16="http://schemas.microsoft.com/office/drawing/2014/main" id="{3607DED2-053B-58A7-4E9C-D99BAFAE07C3}"/>
              </a:ext>
            </a:extLst>
          </p:cNvPr>
          <p:cNvSpPr>
            <a:spLocks noGrp="1"/>
          </p:cNvSpPr>
          <p:nvPr>
            <p:ph type="sldNum" sz="quarter" idx="12"/>
          </p:nvPr>
        </p:nvSpPr>
        <p:spPr/>
        <p:txBody>
          <a:bodyPr/>
          <a:lstStyle/>
          <a:p>
            <a:fld id="{71C6F290-D301-4864-9490-340EF11588D9}" type="slidenum">
              <a:rPr lang="en-US" altLang="en-US" smtClean="0"/>
              <a:pPr/>
              <a:t>13</a:t>
            </a:fld>
            <a:endParaRPr lang="en-US" altLang="en-US" dirty="0"/>
          </a:p>
        </p:txBody>
      </p:sp>
      <p:pic>
        <p:nvPicPr>
          <p:cNvPr id="5" name="Picture 4">
            <a:extLst>
              <a:ext uri="{FF2B5EF4-FFF2-40B4-BE49-F238E27FC236}">
                <a16:creationId xmlns:a16="http://schemas.microsoft.com/office/drawing/2014/main" id="{94C177C5-6BDF-832B-68BC-3E64139127D7}"/>
              </a:ext>
            </a:extLst>
          </p:cNvPr>
          <p:cNvPicPr>
            <a:picLocks noChangeAspect="1"/>
          </p:cNvPicPr>
          <p:nvPr/>
        </p:nvPicPr>
        <p:blipFill>
          <a:blip r:embed="rId2"/>
          <a:stretch>
            <a:fillRect/>
          </a:stretch>
        </p:blipFill>
        <p:spPr>
          <a:xfrm>
            <a:off x="533400" y="3659155"/>
            <a:ext cx="7924799" cy="3200400"/>
          </a:xfrm>
          <a:prstGeom prst="rect">
            <a:avLst/>
          </a:prstGeom>
        </p:spPr>
      </p:pic>
      <p:sp>
        <p:nvSpPr>
          <p:cNvPr id="14" name="TextBox 13">
            <a:extLst>
              <a:ext uri="{FF2B5EF4-FFF2-40B4-BE49-F238E27FC236}">
                <a16:creationId xmlns:a16="http://schemas.microsoft.com/office/drawing/2014/main" id="{FC73B3A5-7AF6-23A6-4212-B1E326895020}"/>
              </a:ext>
            </a:extLst>
          </p:cNvPr>
          <p:cNvSpPr txBox="1"/>
          <p:nvPr/>
        </p:nvSpPr>
        <p:spPr>
          <a:xfrm>
            <a:off x="304800" y="6019800"/>
            <a:ext cx="3657600" cy="492443"/>
          </a:xfrm>
          <a:prstGeom prst="rect">
            <a:avLst/>
          </a:prstGeom>
          <a:noFill/>
        </p:spPr>
        <p:txBody>
          <a:bodyPr wrap="square" rtlCol="0">
            <a:spAutoFit/>
          </a:bodyPr>
          <a:lstStyle/>
          <a:p>
            <a:r>
              <a:rPr lang="en-US" dirty="0"/>
              <a:t>A  E  D  B  C  A  375</a:t>
            </a:r>
          </a:p>
        </p:txBody>
      </p:sp>
    </p:spTree>
    <p:extLst>
      <p:ext uri="{BB962C8B-B14F-4D97-AF65-F5344CB8AC3E}">
        <p14:creationId xmlns:p14="http://schemas.microsoft.com/office/powerpoint/2010/main" val="89349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720ED-984F-322E-0EDC-58FC28C2984D}"/>
              </a:ext>
            </a:extLst>
          </p:cNvPr>
          <p:cNvSpPr>
            <a:spLocks noGrp="1"/>
          </p:cNvSpPr>
          <p:nvPr>
            <p:ph type="title"/>
          </p:nvPr>
        </p:nvSpPr>
        <p:spPr>
          <a:xfrm>
            <a:off x="228600" y="228600"/>
            <a:ext cx="7696200" cy="685800"/>
          </a:xfrm>
        </p:spPr>
        <p:txBody>
          <a:bodyPr/>
          <a:lstStyle/>
          <a:p>
            <a:r>
              <a:rPr lang="en-US" dirty="0"/>
              <a:t>Notes</a:t>
            </a:r>
          </a:p>
        </p:txBody>
      </p:sp>
      <p:sp>
        <p:nvSpPr>
          <p:cNvPr id="3" name="Content Placeholder 2">
            <a:extLst>
              <a:ext uri="{FF2B5EF4-FFF2-40B4-BE49-F238E27FC236}">
                <a16:creationId xmlns:a16="http://schemas.microsoft.com/office/drawing/2014/main" id="{A18508C2-2D37-4BC9-184D-4DE3929B35E6}"/>
              </a:ext>
            </a:extLst>
          </p:cNvPr>
          <p:cNvSpPr>
            <a:spLocks noGrp="1"/>
          </p:cNvSpPr>
          <p:nvPr>
            <p:ph idx="1"/>
          </p:nvPr>
        </p:nvSpPr>
        <p:spPr>
          <a:xfrm>
            <a:off x="228600" y="1066800"/>
            <a:ext cx="7848600" cy="5562600"/>
          </a:xfrm>
        </p:spPr>
        <p:txBody>
          <a:bodyPr/>
          <a:lstStyle/>
          <a:p>
            <a:endParaRPr lang="en-US" dirty="0"/>
          </a:p>
        </p:txBody>
      </p:sp>
      <p:sp>
        <p:nvSpPr>
          <p:cNvPr id="4" name="Slide Number Placeholder 3">
            <a:extLst>
              <a:ext uri="{FF2B5EF4-FFF2-40B4-BE49-F238E27FC236}">
                <a16:creationId xmlns:a16="http://schemas.microsoft.com/office/drawing/2014/main" id="{6C2C1D24-3487-8285-5BFB-7F33B7CED31D}"/>
              </a:ext>
            </a:extLst>
          </p:cNvPr>
          <p:cNvSpPr>
            <a:spLocks noGrp="1"/>
          </p:cNvSpPr>
          <p:nvPr>
            <p:ph type="sldNum" sz="quarter" idx="12"/>
          </p:nvPr>
        </p:nvSpPr>
        <p:spPr/>
        <p:txBody>
          <a:bodyPr/>
          <a:lstStyle/>
          <a:p>
            <a:fld id="{71C6F290-D301-4864-9490-340EF11588D9}" type="slidenum">
              <a:rPr lang="en-US" altLang="en-US" smtClean="0"/>
              <a:pPr/>
              <a:t>14</a:t>
            </a:fld>
            <a:endParaRPr lang="en-US" altLang="en-US" dirty="0"/>
          </a:p>
        </p:txBody>
      </p:sp>
      <p:pic>
        <p:nvPicPr>
          <p:cNvPr id="5" name="Picture 4">
            <a:extLst>
              <a:ext uri="{FF2B5EF4-FFF2-40B4-BE49-F238E27FC236}">
                <a16:creationId xmlns:a16="http://schemas.microsoft.com/office/drawing/2014/main" id="{7E3A4418-CA0E-2CC4-1F89-E3D0C39CDFAD}"/>
              </a:ext>
            </a:extLst>
          </p:cNvPr>
          <p:cNvPicPr>
            <a:picLocks noChangeAspect="1"/>
          </p:cNvPicPr>
          <p:nvPr/>
        </p:nvPicPr>
        <p:blipFill>
          <a:blip r:embed="rId2"/>
          <a:stretch>
            <a:fillRect/>
          </a:stretch>
        </p:blipFill>
        <p:spPr>
          <a:xfrm>
            <a:off x="381000" y="1219201"/>
            <a:ext cx="7391400" cy="3571704"/>
          </a:xfrm>
          <a:prstGeom prst="rect">
            <a:avLst/>
          </a:prstGeom>
        </p:spPr>
      </p:pic>
      <p:sp>
        <p:nvSpPr>
          <p:cNvPr id="7" name="TextBox 6">
            <a:extLst>
              <a:ext uri="{FF2B5EF4-FFF2-40B4-BE49-F238E27FC236}">
                <a16:creationId xmlns:a16="http://schemas.microsoft.com/office/drawing/2014/main" id="{6BFA4755-05FC-0F5F-0B24-02AC8BE69E4A}"/>
              </a:ext>
            </a:extLst>
          </p:cNvPr>
          <p:cNvSpPr txBox="1"/>
          <p:nvPr/>
        </p:nvSpPr>
        <p:spPr>
          <a:xfrm>
            <a:off x="609600" y="5125377"/>
            <a:ext cx="7086600" cy="369332"/>
          </a:xfrm>
          <a:prstGeom prst="rect">
            <a:avLst/>
          </a:prstGeom>
          <a:noFill/>
        </p:spPr>
        <p:txBody>
          <a:bodyPr wrap="square">
            <a:spAutoFit/>
          </a:bodyPr>
          <a:lstStyle/>
          <a:p>
            <a:pPr marL="0" marR="0" algn="justLow" rtl="0">
              <a:buNone/>
            </a:pPr>
            <a:r>
              <a:rPr lang="en-US" sz="1800" dirty="0">
                <a:solidFill>
                  <a:srgbClr val="FF0000"/>
                </a:solidFill>
                <a:effectLst/>
                <a:latin typeface="Times New Roman" panose="02020603050405020304" pitchFamily="18" charset="0"/>
                <a:ea typeface="Times New Roman" panose="02020603050405020304" pitchFamily="18" charset="0"/>
              </a:rPr>
              <a:t>Check  A E  B  C  D  A   =  450  (The obtained one is not best path)</a:t>
            </a:r>
            <a:endParaRPr lang="en-US"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92301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0DD70-29AF-9ADD-C632-E9ABFFB4E3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8049E7-CE9F-F23F-703A-510A1F32D7E0}"/>
              </a:ext>
            </a:extLst>
          </p:cNvPr>
          <p:cNvSpPr>
            <a:spLocks noGrp="1"/>
          </p:cNvSpPr>
          <p:nvPr>
            <p:ph type="title"/>
          </p:nvPr>
        </p:nvSpPr>
        <p:spPr/>
        <p:txBody>
          <a:bodyPr/>
          <a:lstStyle/>
          <a:p>
            <a:r>
              <a:rPr lang="en-US" dirty="0"/>
              <a:t>Informed (Heuristic) Search Algorithms</a:t>
            </a:r>
          </a:p>
        </p:txBody>
      </p:sp>
      <p:sp>
        <p:nvSpPr>
          <p:cNvPr id="3" name="Content Placeholder 2">
            <a:extLst>
              <a:ext uri="{FF2B5EF4-FFF2-40B4-BE49-F238E27FC236}">
                <a16:creationId xmlns:a16="http://schemas.microsoft.com/office/drawing/2014/main" id="{B5186EA7-38F7-B307-84E2-374B019F086E}"/>
              </a:ext>
            </a:extLst>
          </p:cNvPr>
          <p:cNvSpPr>
            <a:spLocks noGrp="1"/>
          </p:cNvSpPr>
          <p:nvPr>
            <p:ph idx="1"/>
          </p:nvPr>
        </p:nvSpPr>
        <p:spPr>
          <a:xfrm>
            <a:off x="609600" y="1836737"/>
            <a:ext cx="7391400" cy="4868863"/>
          </a:xfrm>
        </p:spPr>
        <p:txBody>
          <a:bodyPr>
            <a:normAutofit/>
          </a:bodyPr>
          <a:lstStyle/>
          <a:p>
            <a:pPr algn="justLow">
              <a:lnSpc>
                <a:spcPct val="150000"/>
              </a:lnSpc>
            </a:pPr>
            <a:r>
              <a:rPr lang="en-US" sz="3200" b="1" dirty="0">
                <a:solidFill>
                  <a:srgbClr val="00B050"/>
                </a:solidFill>
              </a:rPr>
              <a:t>Greedy Best-First Search</a:t>
            </a:r>
            <a:endParaRPr lang="en-US" sz="1000" b="1" dirty="0">
              <a:solidFill>
                <a:srgbClr val="00B050"/>
              </a:solidFill>
            </a:endParaRPr>
          </a:p>
          <a:p>
            <a:pPr>
              <a:lnSpc>
                <a:spcPct val="150000"/>
              </a:lnSpc>
            </a:pPr>
            <a:r>
              <a:rPr lang="en-US" b="1" dirty="0">
                <a:solidFill>
                  <a:schemeClr val="accent2">
                    <a:lumMod val="75000"/>
                  </a:schemeClr>
                </a:solidFill>
              </a:rPr>
              <a:t>Definition: </a:t>
            </a:r>
            <a:r>
              <a:rPr lang="en-US" dirty="0"/>
              <a:t>Expands the node that appears closest to the goal, based only on the heuristic estimate (h(n)). </a:t>
            </a:r>
          </a:p>
          <a:p>
            <a:pPr>
              <a:lnSpc>
                <a:spcPct val="150000"/>
              </a:lnSpc>
            </a:pPr>
            <a:endParaRPr lang="en-US" sz="1000" dirty="0"/>
          </a:p>
          <a:p>
            <a:pPr>
              <a:lnSpc>
                <a:spcPct val="150000"/>
              </a:lnSpc>
            </a:pPr>
            <a:r>
              <a:rPr lang="en-US" b="1" dirty="0">
                <a:solidFill>
                  <a:schemeClr val="accent1">
                    <a:lumMod val="75000"/>
                  </a:schemeClr>
                </a:solidFill>
              </a:rPr>
              <a:t>Key Idea: </a:t>
            </a:r>
            <a:r>
              <a:rPr lang="en-US" dirty="0"/>
              <a:t>Always pick the node that looks most promising.</a:t>
            </a:r>
            <a:endParaRPr lang="en-US" sz="3200" b="1" dirty="0">
              <a:solidFill>
                <a:srgbClr val="00B050"/>
              </a:solidFill>
            </a:endParaRPr>
          </a:p>
        </p:txBody>
      </p:sp>
      <p:sp>
        <p:nvSpPr>
          <p:cNvPr id="4" name="Slide Number Placeholder 3">
            <a:extLst>
              <a:ext uri="{FF2B5EF4-FFF2-40B4-BE49-F238E27FC236}">
                <a16:creationId xmlns:a16="http://schemas.microsoft.com/office/drawing/2014/main" id="{12695D8C-18D6-424E-4B7C-A21742386D46}"/>
              </a:ext>
            </a:extLst>
          </p:cNvPr>
          <p:cNvSpPr>
            <a:spLocks noGrp="1"/>
          </p:cNvSpPr>
          <p:nvPr>
            <p:ph type="sldNum" sz="quarter" idx="12"/>
          </p:nvPr>
        </p:nvSpPr>
        <p:spPr/>
        <p:txBody>
          <a:bodyPr/>
          <a:lstStyle/>
          <a:p>
            <a:fld id="{71C6F290-D301-4864-9490-340EF11588D9}" type="slidenum">
              <a:rPr lang="en-US" altLang="en-US" smtClean="0"/>
              <a:pPr/>
              <a:t>15</a:t>
            </a:fld>
            <a:endParaRPr lang="en-US" altLang="en-US" dirty="0"/>
          </a:p>
        </p:txBody>
      </p:sp>
    </p:spTree>
    <p:extLst>
      <p:ext uri="{BB962C8B-B14F-4D97-AF65-F5344CB8AC3E}">
        <p14:creationId xmlns:p14="http://schemas.microsoft.com/office/powerpoint/2010/main" val="1890812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86030-1145-E17A-5F43-E6977F1ABC62}"/>
              </a:ext>
            </a:extLst>
          </p:cNvPr>
          <p:cNvSpPr>
            <a:spLocks noGrp="1"/>
          </p:cNvSpPr>
          <p:nvPr>
            <p:ph type="title"/>
          </p:nvPr>
        </p:nvSpPr>
        <p:spPr>
          <a:xfrm>
            <a:off x="228600" y="228600"/>
            <a:ext cx="7696200" cy="457200"/>
          </a:xfrm>
        </p:spPr>
        <p:txBody>
          <a:bodyPr/>
          <a:lstStyle/>
          <a:p>
            <a:r>
              <a:rPr lang="en-US" dirty="0"/>
              <a:t>Best First Search Algorithm</a:t>
            </a:r>
          </a:p>
        </p:txBody>
      </p:sp>
      <p:sp>
        <p:nvSpPr>
          <p:cNvPr id="3" name="Slide Number Placeholder 2">
            <a:extLst>
              <a:ext uri="{FF2B5EF4-FFF2-40B4-BE49-F238E27FC236}">
                <a16:creationId xmlns:a16="http://schemas.microsoft.com/office/drawing/2014/main" id="{05E965FB-548A-B652-F252-179BA5247E72}"/>
              </a:ext>
            </a:extLst>
          </p:cNvPr>
          <p:cNvSpPr>
            <a:spLocks noGrp="1"/>
          </p:cNvSpPr>
          <p:nvPr>
            <p:ph type="sldNum" sz="quarter" idx="12"/>
          </p:nvPr>
        </p:nvSpPr>
        <p:spPr/>
        <p:txBody>
          <a:bodyPr/>
          <a:lstStyle/>
          <a:p>
            <a:fld id="{D5F02DF6-5EF1-449D-8E8F-F40E7D2FCBCB}" type="slidenum">
              <a:rPr lang="en-US" altLang="en-US" smtClean="0"/>
              <a:pPr/>
              <a:t>16</a:t>
            </a:fld>
            <a:endParaRPr lang="en-US" altLang="en-US" dirty="0"/>
          </a:p>
        </p:txBody>
      </p:sp>
      <p:pic>
        <p:nvPicPr>
          <p:cNvPr id="4" name="Picture 3">
            <a:extLst>
              <a:ext uri="{FF2B5EF4-FFF2-40B4-BE49-F238E27FC236}">
                <a16:creationId xmlns:a16="http://schemas.microsoft.com/office/drawing/2014/main" id="{76586063-89A1-BD56-6EE5-150EEDF52963}"/>
              </a:ext>
            </a:extLst>
          </p:cNvPr>
          <p:cNvPicPr>
            <a:picLocks noChangeAspect="1"/>
          </p:cNvPicPr>
          <p:nvPr/>
        </p:nvPicPr>
        <p:blipFill>
          <a:blip r:embed="rId2"/>
          <a:stretch>
            <a:fillRect/>
          </a:stretch>
        </p:blipFill>
        <p:spPr>
          <a:xfrm>
            <a:off x="228600" y="762001"/>
            <a:ext cx="8001000" cy="5943599"/>
          </a:xfrm>
          <a:prstGeom prst="rect">
            <a:avLst/>
          </a:prstGeom>
        </p:spPr>
      </p:pic>
    </p:spTree>
    <p:extLst>
      <p:ext uri="{BB962C8B-B14F-4D97-AF65-F5344CB8AC3E}">
        <p14:creationId xmlns:p14="http://schemas.microsoft.com/office/powerpoint/2010/main" val="3486782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F8B6D-70C6-F2EB-43B0-77E570EE86EB}"/>
              </a:ext>
            </a:extLst>
          </p:cNvPr>
          <p:cNvSpPr>
            <a:spLocks noGrp="1"/>
          </p:cNvSpPr>
          <p:nvPr>
            <p:ph type="title"/>
          </p:nvPr>
        </p:nvSpPr>
        <p:spPr>
          <a:xfrm>
            <a:off x="228600" y="228600"/>
            <a:ext cx="7696200" cy="609600"/>
          </a:xfrm>
        </p:spPr>
        <p:txBody>
          <a:bodyPr/>
          <a:lstStyle/>
          <a:p>
            <a:r>
              <a:rPr lang="en-US" dirty="0"/>
              <a:t>Best First Search Algorithm</a:t>
            </a:r>
          </a:p>
        </p:txBody>
      </p:sp>
      <p:sp>
        <p:nvSpPr>
          <p:cNvPr id="3" name="Slide Number Placeholder 2">
            <a:extLst>
              <a:ext uri="{FF2B5EF4-FFF2-40B4-BE49-F238E27FC236}">
                <a16:creationId xmlns:a16="http://schemas.microsoft.com/office/drawing/2014/main" id="{F7CFB910-484F-79CB-12FC-77DB1F955ADF}"/>
              </a:ext>
            </a:extLst>
          </p:cNvPr>
          <p:cNvSpPr>
            <a:spLocks noGrp="1"/>
          </p:cNvSpPr>
          <p:nvPr>
            <p:ph type="sldNum" sz="quarter" idx="12"/>
          </p:nvPr>
        </p:nvSpPr>
        <p:spPr/>
        <p:txBody>
          <a:bodyPr/>
          <a:lstStyle/>
          <a:p>
            <a:fld id="{D5F02DF6-5EF1-449D-8E8F-F40E7D2FCBCB}" type="slidenum">
              <a:rPr lang="en-US" altLang="en-US" smtClean="0"/>
              <a:pPr/>
              <a:t>17</a:t>
            </a:fld>
            <a:endParaRPr lang="en-US" altLang="en-US" dirty="0"/>
          </a:p>
        </p:txBody>
      </p:sp>
      <p:pic>
        <p:nvPicPr>
          <p:cNvPr id="4" name="Picture 3">
            <a:extLst>
              <a:ext uri="{FF2B5EF4-FFF2-40B4-BE49-F238E27FC236}">
                <a16:creationId xmlns:a16="http://schemas.microsoft.com/office/drawing/2014/main" id="{9576861E-B2D2-D21B-B9F2-C63E774DBBB4}"/>
              </a:ext>
            </a:extLst>
          </p:cNvPr>
          <p:cNvPicPr>
            <a:picLocks noChangeAspect="1"/>
          </p:cNvPicPr>
          <p:nvPr/>
        </p:nvPicPr>
        <p:blipFill>
          <a:blip r:embed="rId2"/>
          <a:stretch>
            <a:fillRect/>
          </a:stretch>
        </p:blipFill>
        <p:spPr>
          <a:xfrm>
            <a:off x="381000" y="1830542"/>
            <a:ext cx="7543800" cy="4885944"/>
          </a:xfrm>
          <a:prstGeom prst="rect">
            <a:avLst/>
          </a:prstGeom>
        </p:spPr>
      </p:pic>
    </p:spTree>
    <p:extLst>
      <p:ext uri="{BB962C8B-B14F-4D97-AF65-F5344CB8AC3E}">
        <p14:creationId xmlns:p14="http://schemas.microsoft.com/office/powerpoint/2010/main" val="34723780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45AEA-2874-1CDE-F53D-79652571C9EA}"/>
              </a:ext>
            </a:extLst>
          </p:cNvPr>
          <p:cNvSpPr>
            <a:spLocks noGrp="1"/>
          </p:cNvSpPr>
          <p:nvPr>
            <p:ph type="title"/>
          </p:nvPr>
        </p:nvSpPr>
        <p:spPr>
          <a:xfrm>
            <a:off x="228600" y="228600"/>
            <a:ext cx="7696200" cy="533400"/>
          </a:xfrm>
        </p:spPr>
        <p:txBody>
          <a:bodyPr/>
          <a:lstStyle/>
          <a:p>
            <a:r>
              <a:rPr lang="en-US" dirty="0"/>
              <a:t>BFS Example</a:t>
            </a:r>
          </a:p>
        </p:txBody>
      </p:sp>
      <p:sp>
        <p:nvSpPr>
          <p:cNvPr id="3" name="Slide Number Placeholder 2">
            <a:extLst>
              <a:ext uri="{FF2B5EF4-FFF2-40B4-BE49-F238E27FC236}">
                <a16:creationId xmlns:a16="http://schemas.microsoft.com/office/drawing/2014/main" id="{DA75AB2A-1800-6834-831B-403F28CE1CD6}"/>
              </a:ext>
            </a:extLst>
          </p:cNvPr>
          <p:cNvSpPr>
            <a:spLocks noGrp="1"/>
          </p:cNvSpPr>
          <p:nvPr>
            <p:ph type="sldNum" sz="quarter" idx="12"/>
          </p:nvPr>
        </p:nvSpPr>
        <p:spPr/>
        <p:txBody>
          <a:bodyPr/>
          <a:lstStyle/>
          <a:p>
            <a:fld id="{D5F02DF6-5EF1-449D-8E8F-F40E7D2FCBCB}" type="slidenum">
              <a:rPr lang="en-US" altLang="en-US" smtClean="0"/>
              <a:pPr/>
              <a:t>18</a:t>
            </a:fld>
            <a:endParaRPr lang="en-US" altLang="en-US" dirty="0"/>
          </a:p>
        </p:txBody>
      </p:sp>
      <p:pic>
        <p:nvPicPr>
          <p:cNvPr id="5" name="Picture 4" descr="A diagram of a number of numbers&#10;&#10;AI-generated content may be incorrect.">
            <a:extLst>
              <a:ext uri="{FF2B5EF4-FFF2-40B4-BE49-F238E27FC236}">
                <a16:creationId xmlns:a16="http://schemas.microsoft.com/office/drawing/2014/main" id="{6E337B98-B06E-5541-FB9B-FD1AE49259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524000"/>
            <a:ext cx="7315199" cy="4800600"/>
          </a:xfrm>
          <a:prstGeom prst="rect">
            <a:avLst/>
          </a:prstGeom>
        </p:spPr>
      </p:pic>
    </p:spTree>
    <p:extLst>
      <p:ext uri="{BB962C8B-B14F-4D97-AF65-F5344CB8AC3E}">
        <p14:creationId xmlns:p14="http://schemas.microsoft.com/office/powerpoint/2010/main" val="2122202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EBE76-DDA5-1CDD-4948-D5A32AFE24B0}"/>
              </a:ext>
            </a:extLst>
          </p:cNvPr>
          <p:cNvSpPr>
            <a:spLocks noGrp="1"/>
          </p:cNvSpPr>
          <p:nvPr>
            <p:ph type="title"/>
          </p:nvPr>
        </p:nvSpPr>
        <p:spPr>
          <a:xfrm>
            <a:off x="228600" y="228600"/>
            <a:ext cx="7696200" cy="762000"/>
          </a:xfrm>
        </p:spPr>
        <p:txBody>
          <a:bodyPr/>
          <a:lstStyle/>
          <a:p>
            <a:r>
              <a:rPr lang="en-US" dirty="0"/>
              <a:t>BFS: Priority Q usage</a:t>
            </a:r>
          </a:p>
        </p:txBody>
      </p:sp>
      <p:sp>
        <p:nvSpPr>
          <p:cNvPr id="3" name="Slide Number Placeholder 2">
            <a:extLst>
              <a:ext uri="{FF2B5EF4-FFF2-40B4-BE49-F238E27FC236}">
                <a16:creationId xmlns:a16="http://schemas.microsoft.com/office/drawing/2014/main" id="{71ABB3EE-0797-95D8-3DF4-24283B9A81FD}"/>
              </a:ext>
            </a:extLst>
          </p:cNvPr>
          <p:cNvSpPr>
            <a:spLocks noGrp="1"/>
          </p:cNvSpPr>
          <p:nvPr>
            <p:ph type="sldNum" sz="quarter" idx="12"/>
          </p:nvPr>
        </p:nvSpPr>
        <p:spPr/>
        <p:txBody>
          <a:bodyPr/>
          <a:lstStyle/>
          <a:p>
            <a:fld id="{D5F02DF6-5EF1-449D-8E8F-F40E7D2FCBCB}" type="slidenum">
              <a:rPr lang="en-US" altLang="en-US" smtClean="0"/>
              <a:pPr/>
              <a:t>19</a:t>
            </a:fld>
            <a:endParaRPr lang="en-US" altLang="en-US" dirty="0"/>
          </a:p>
        </p:txBody>
      </p:sp>
      <p:sp>
        <p:nvSpPr>
          <p:cNvPr id="4" name="TextBox 3">
            <a:extLst>
              <a:ext uri="{FF2B5EF4-FFF2-40B4-BE49-F238E27FC236}">
                <a16:creationId xmlns:a16="http://schemas.microsoft.com/office/drawing/2014/main" id="{B050E49B-9FFF-692F-7321-92000BE82044}"/>
              </a:ext>
            </a:extLst>
          </p:cNvPr>
          <p:cNvSpPr txBox="1"/>
          <p:nvPr/>
        </p:nvSpPr>
        <p:spPr>
          <a:xfrm>
            <a:off x="304800" y="1143000"/>
            <a:ext cx="8763000" cy="3668697"/>
          </a:xfrm>
          <a:prstGeom prst="rect">
            <a:avLst/>
          </a:prstGeom>
          <a:noFill/>
        </p:spPr>
        <p:txBody>
          <a:bodyPr wrap="square" rtlCol="0">
            <a:spAutoFit/>
          </a:bodyPr>
          <a:lstStyle/>
          <a:p>
            <a:r>
              <a:rPr lang="en-US" dirty="0">
                <a:solidFill>
                  <a:srgbClr val="FF0000"/>
                </a:solidFill>
              </a:rPr>
              <a:t>Concept:</a:t>
            </a:r>
          </a:p>
          <a:p>
            <a:r>
              <a:rPr lang="en-US" sz="2000" dirty="0"/>
              <a:t>A priority queue always removes the item with the </a:t>
            </a:r>
            <a:r>
              <a:rPr lang="en-US" sz="2000" dirty="0">
                <a:solidFill>
                  <a:srgbClr val="C00000"/>
                </a:solidFill>
              </a:rPr>
              <a:t>lowest priority value first.</a:t>
            </a:r>
            <a:endParaRPr lang="en-US" dirty="0">
              <a:solidFill>
                <a:srgbClr val="C00000"/>
              </a:solidFill>
            </a:endParaRPr>
          </a:p>
          <a:p>
            <a:r>
              <a:rPr lang="en-US" sz="2000" dirty="0">
                <a:solidFill>
                  <a:srgbClr val="C00000"/>
                </a:solidFill>
              </a:rPr>
              <a:t>In </a:t>
            </a:r>
            <a:r>
              <a:rPr lang="en-US" sz="2000" dirty="0" err="1">
                <a:solidFill>
                  <a:srgbClr val="C00000"/>
                </a:solidFill>
              </a:rPr>
              <a:t>heapq</a:t>
            </a:r>
            <a:r>
              <a:rPr lang="en-US" sz="2000" dirty="0">
                <a:solidFill>
                  <a:srgbClr val="C00000"/>
                </a:solidFill>
              </a:rPr>
              <a:t>, smaller numbers = higher priority.</a:t>
            </a:r>
          </a:p>
          <a:p>
            <a:endParaRPr lang="en-US" dirty="0"/>
          </a:p>
          <a:p>
            <a:r>
              <a:rPr lang="en-US" dirty="0">
                <a:solidFill>
                  <a:srgbClr val="FF0000"/>
                </a:solidFill>
              </a:rPr>
              <a:t>Example:</a:t>
            </a:r>
          </a:p>
          <a:p>
            <a:r>
              <a:rPr lang="en-US" sz="2000" dirty="0"/>
              <a:t>Let's say we want to add these items to a priority queue:</a:t>
            </a:r>
          </a:p>
          <a:p>
            <a:r>
              <a:rPr lang="en-US" sz="2000" dirty="0"/>
              <a:t>- ("task1", priority 3)</a:t>
            </a:r>
          </a:p>
          <a:p>
            <a:r>
              <a:rPr lang="en-US" sz="2000" dirty="0"/>
              <a:t>- ("task2", priority 1)</a:t>
            </a:r>
          </a:p>
          <a:p>
            <a:r>
              <a:rPr lang="en-US" sz="2000" dirty="0"/>
              <a:t>- ("task3", priority 2)</a:t>
            </a:r>
          </a:p>
        </p:txBody>
      </p:sp>
    </p:spTree>
    <p:extLst>
      <p:ext uri="{BB962C8B-B14F-4D97-AF65-F5344CB8AC3E}">
        <p14:creationId xmlns:p14="http://schemas.microsoft.com/office/powerpoint/2010/main" val="3283164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81742-62AE-269F-615C-95255E36A9BE}"/>
              </a:ext>
            </a:extLst>
          </p:cNvPr>
          <p:cNvSpPr>
            <a:spLocks noGrp="1"/>
          </p:cNvSpPr>
          <p:nvPr>
            <p:ph type="title"/>
          </p:nvPr>
        </p:nvSpPr>
        <p:spPr>
          <a:xfrm>
            <a:off x="228600" y="228600"/>
            <a:ext cx="7696200" cy="838200"/>
          </a:xfrm>
        </p:spPr>
        <p:txBody>
          <a:bodyPr/>
          <a:lstStyle/>
          <a:p>
            <a:r>
              <a:rPr lang="en-US" dirty="0"/>
              <a:t>BFS: Priority Q usage</a:t>
            </a:r>
          </a:p>
        </p:txBody>
      </p:sp>
      <p:sp>
        <p:nvSpPr>
          <p:cNvPr id="3" name="Slide Number Placeholder 2">
            <a:extLst>
              <a:ext uri="{FF2B5EF4-FFF2-40B4-BE49-F238E27FC236}">
                <a16:creationId xmlns:a16="http://schemas.microsoft.com/office/drawing/2014/main" id="{57F26A56-A209-766E-876F-7DEA7D8F1452}"/>
              </a:ext>
            </a:extLst>
          </p:cNvPr>
          <p:cNvSpPr>
            <a:spLocks noGrp="1"/>
          </p:cNvSpPr>
          <p:nvPr>
            <p:ph type="sldNum" sz="quarter" idx="12"/>
          </p:nvPr>
        </p:nvSpPr>
        <p:spPr/>
        <p:txBody>
          <a:bodyPr/>
          <a:lstStyle/>
          <a:p>
            <a:fld id="{D5F02DF6-5EF1-449D-8E8F-F40E7D2FCBCB}" type="slidenum">
              <a:rPr lang="en-US" altLang="en-US" smtClean="0"/>
              <a:pPr/>
              <a:t>20</a:t>
            </a:fld>
            <a:endParaRPr lang="en-US" altLang="en-US" dirty="0"/>
          </a:p>
        </p:txBody>
      </p:sp>
      <p:sp>
        <p:nvSpPr>
          <p:cNvPr id="4" name="TextBox 3">
            <a:extLst>
              <a:ext uri="{FF2B5EF4-FFF2-40B4-BE49-F238E27FC236}">
                <a16:creationId xmlns:a16="http://schemas.microsoft.com/office/drawing/2014/main" id="{FFCEA5E1-9E70-AA60-6FB0-DBF5696A03FC}"/>
              </a:ext>
            </a:extLst>
          </p:cNvPr>
          <p:cNvSpPr txBox="1"/>
          <p:nvPr/>
        </p:nvSpPr>
        <p:spPr>
          <a:xfrm>
            <a:off x="609600" y="1382286"/>
            <a:ext cx="8534400" cy="4093428"/>
          </a:xfrm>
          <a:prstGeom prst="rect">
            <a:avLst/>
          </a:prstGeom>
          <a:noFill/>
        </p:spPr>
        <p:txBody>
          <a:bodyPr wrap="square" rtlCol="0">
            <a:spAutoFit/>
          </a:bodyPr>
          <a:lstStyle/>
          <a:p>
            <a:pPr>
              <a:buNone/>
            </a:pPr>
            <a:r>
              <a:rPr lang="en-US" sz="2000" dirty="0"/>
              <a:t>import </a:t>
            </a:r>
            <a:r>
              <a:rPr lang="en-US" sz="2000" dirty="0" err="1"/>
              <a:t>heapq</a:t>
            </a:r>
            <a:endParaRPr lang="en-US" sz="2000" dirty="0"/>
          </a:p>
          <a:p>
            <a:pPr>
              <a:buNone/>
            </a:pPr>
            <a:r>
              <a:rPr lang="en-US" sz="2000" dirty="0"/>
              <a:t>#Create an empty priority queue</a:t>
            </a:r>
          </a:p>
          <a:p>
            <a:pPr>
              <a:buNone/>
            </a:pPr>
            <a:r>
              <a:rPr lang="en-US" sz="2000" dirty="0" err="1"/>
              <a:t>pq</a:t>
            </a:r>
            <a:r>
              <a:rPr lang="en-US" sz="2000" dirty="0"/>
              <a:t> = []</a:t>
            </a:r>
          </a:p>
          <a:p>
            <a:pPr>
              <a:buNone/>
            </a:pPr>
            <a:r>
              <a:rPr lang="en-US" sz="2000" dirty="0"/>
              <a:t>#Push tasks with priorities</a:t>
            </a:r>
          </a:p>
          <a:p>
            <a:pPr>
              <a:buNone/>
            </a:pPr>
            <a:r>
              <a:rPr lang="en-US" sz="2000" dirty="0" err="1">
                <a:solidFill>
                  <a:srgbClr val="0070C0"/>
                </a:solidFill>
              </a:rPr>
              <a:t>heapq.heappush</a:t>
            </a:r>
            <a:r>
              <a:rPr lang="en-US" sz="2000" dirty="0">
                <a:solidFill>
                  <a:srgbClr val="0070C0"/>
                </a:solidFill>
              </a:rPr>
              <a:t>(</a:t>
            </a:r>
            <a:r>
              <a:rPr lang="en-US" sz="2000" dirty="0" err="1">
                <a:solidFill>
                  <a:srgbClr val="0070C0"/>
                </a:solidFill>
              </a:rPr>
              <a:t>pq</a:t>
            </a:r>
            <a:r>
              <a:rPr lang="en-US" sz="2000" dirty="0">
                <a:solidFill>
                  <a:srgbClr val="0070C0"/>
                </a:solidFill>
              </a:rPr>
              <a:t>, (3, "task1</a:t>
            </a:r>
            <a:r>
              <a:rPr lang="en-US" sz="1800" dirty="0">
                <a:solidFill>
                  <a:srgbClr val="0070C0"/>
                </a:solidFill>
              </a:rPr>
              <a:t>"))  # 3 PRIORITY, TASK1  DATA, </a:t>
            </a:r>
            <a:r>
              <a:rPr lang="en-US" sz="1800" dirty="0" err="1">
                <a:solidFill>
                  <a:srgbClr val="0070C0"/>
                </a:solidFill>
              </a:rPr>
              <a:t>pq</a:t>
            </a:r>
            <a:r>
              <a:rPr lang="en-US" sz="1800" dirty="0">
                <a:solidFill>
                  <a:srgbClr val="0070C0"/>
                </a:solidFill>
              </a:rPr>
              <a:t> the queue</a:t>
            </a:r>
            <a:endParaRPr lang="en-US" sz="2000" dirty="0">
              <a:solidFill>
                <a:srgbClr val="0070C0"/>
              </a:solidFill>
            </a:endParaRPr>
          </a:p>
          <a:p>
            <a:pPr>
              <a:buNone/>
            </a:pPr>
            <a:r>
              <a:rPr lang="en-US" sz="2000" dirty="0" err="1"/>
              <a:t>heapq.heappush</a:t>
            </a:r>
            <a:r>
              <a:rPr lang="en-US" sz="2000" dirty="0"/>
              <a:t>(</a:t>
            </a:r>
            <a:r>
              <a:rPr lang="en-US" sz="2000" dirty="0" err="1"/>
              <a:t>pq</a:t>
            </a:r>
            <a:r>
              <a:rPr lang="en-US" sz="2000" dirty="0"/>
              <a:t>, (1, "task2"))</a:t>
            </a:r>
          </a:p>
          <a:p>
            <a:pPr>
              <a:buNone/>
            </a:pPr>
            <a:r>
              <a:rPr lang="en-US" sz="2000" dirty="0" err="1"/>
              <a:t>heapq.heappush</a:t>
            </a:r>
            <a:r>
              <a:rPr lang="en-US" sz="2000" dirty="0"/>
              <a:t>(</a:t>
            </a:r>
            <a:r>
              <a:rPr lang="en-US" sz="2000" dirty="0" err="1"/>
              <a:t>pq</a:t>
            </a:r>
            <a:r>
              <a:rPr lang="en-US" sz="2000" dirty="0"/>
              <a:t>, (2, "task3"))</a:t>
            </a:r>
          </a:p>
          <a:p>
            <a:pPr>
              <a:buNone/>
            </a:pPr>
            <a:r>
              <a:rPr lang="en-US" sz="2000" dirty="0"/>
              <a:t>#Now remove items one by one (will be sorted by priority)</a:t>
            </a:r>
          </a:p>
          <a:p>
            <a:pPr>
              <a:buNone/>
            </a:pPr>
            <a:r>
              <a:rPr lang="en-US" sz="2000" dirty="0"/>
              <a:t>while </a:t>
            </a:r>
            <a:r>
              <a:rPr lang="en-US" sz="2000" dirty="0" err="1"/>
              <a:t>pq</a:t>
            </a:r>
            <a:r>
              <a:rPr lang="en-US" sz="2000" dirty="0"/>
              <a:t>:    </a:t>
            </a:r>
          </a:p>
          <a:p>
            <a:pPr>
              <a:buNone/>
            </a:pPr>
            <a:r>
              <a:rPr lang="en-US" sz="2000" dirty="0">
                <a:solidFill>
                  <a:srgbClr val="00B050"/>
                </a:solidFill>
              </a:rPr>
              <a:t>  </a:t>
            </a:r>
            <a:r>
              <a:rPr lang="en-US" sz="2000" dirty="0">
                <a:solidFill>
                  <a:srgbClr val="FF6600"/>
                </a:solidFill>
              </a:rPr>
              <a:t>priority, task </a:t>
            </a:r>
            <a:r>
              <a:rPr lang="en-US" sz="2000" dirty="0">
                <a:solidFill>
                  <a:srgbClr val="00B050"/>
                </a:solidFill>
              </a:rPr>
              <a:t>= </a:t>
            </a:r>
            <a:r>
              <a:rPr lang="en-US" sz="2000" dirty="0" err="1">
                <a:solidFill>
                  <a:srgbClr val="00B050"/>
                </a:solidFill>
              </a:rPr>
              <a:t>heapq.heappop</a:t>
            </a:r>
            <a:r>
              <a:rPr lang="en-US" sz="2000" dirty="0">
                <a:solidFill>
                  <a:srgbClr val="00B050"/>
                </a:solidFill>
              </a:rPr>
              <a:t>(</a:t>
            </a:r>
            <a:r>
              <a:rPr lang="en-US" sz="2000" dirty="0" err="1">
                <a:solidFill>
                  <a:srgbClr val="00B050"/>
                </a:solidFill>
              </a:rPr>
              <a:t>pq</a:t>
            </a:r>
            <a:r>
              <a:rPr lang="en-US" sz="2000" dirty="0">
                <a:solidFill>
                  <a:srgbClr val="00B050"/>
                </a:solidFill>
              </a:rPr>
              <a:t>)   </a:t>
            </a:r>
          </a:p>
          <a:p>
            <a:pPr>
              <a:buNone/>
            </a:pPr>
            <a:r>
              <a:rPr lang="en-US" sz="2000" dirty="0"/>
              <a:t>  print(f"{task} with priority {priority}")</a:t>
            </a:r>
          </a:p>
        </p:txBody>
      </p:sp>
    </p:spTree>
    <p:extLst>
      <p:ext uri="{BB962C8B-B14F-4D97-AF65-F5344CB8AC3E}">
        <p14:creationId xmlns:p14="http://schemas.microsoft.com/office/powerpoint/2010/main" val="41546036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87643-4205-E1A8-DEE8-F67FFDB5BCB2}"/>
              </a:ext>
            </a:extLst>
          </p:cNvPr>
          <p:cNvSpPr>
            <a:spLocks noGrp="1"/>
          </p:cNvSpPr>
          <p:nvPr>
            <p:ph type="title"/>
          </p:nvPr>
        </p:nvSpPr>
        <p:spPr>
          <a:xfrm>
            <a:off x="228600" y="228600"/>
            <a:ext cx="7696200" cy="685800"/>
          </a:xfrm>
        </p:spPr>
        <p:txBody>
          <a:bodyPr/>
          <a:lstStyle/>
          <a:p>
            <a:r>
              <a:rPr lang="en-US" dirty="0"/>
              <a:t>BFS: Priority Q usage</a:t>
            </a:r>
          </a:p>
        </p:txBody>
      </p:sp>
      <p:sp>
        <p:nvSpPr>
          <p:cNvPr id="3" name="Slide Number Placeholder 2">
            <a:extLst>
              <a:ext uri="{FF2B5EF4-FFF2-40B4-BE49-F238E27FC236}">
                <a16:creationId xmlns:a16="http://schemas.microsoft.com/office/drawing/2014/main" id="{32E91999-C80B-393E-490A-368FBAE97C59}"/>
              </a:ext>
            </a:extLst>
          </p:cNvPr>
          <p:cNvSpPr>
            <a:spLocks noGrp="1"/>
          </p:cNvSpPr>
          <p:nvPr>
            <p:ph type="sldNum" sz="quarter" idx="12"/>
          </p:nvPr>
        </p:nvSpPr>
        <p:spPr/>
        <p:txBody>
          <a:bodyPr/>
          <a:lstStyle/>
          <a:p>
            <a:fld id="{D5F02DF6-5EF1-449D-8E8F-F40E7D2FCBCB}" type="slidenum">
              <a:rPr lang="en-US" altLang="en-US" smtClean="0"/>
              <a:pPr/>
              <a:t>21</a:t>
            </a:fld>
            <a:endParaRPr lang="en-US" altLang="en-US" dirty="0"/>
          </a:p>
        </p:txBody>
      </p:sp>
      <p:sp>
        <p:nvSpPr>
          <p:cNvPr id="4" name="TextBox 3">
            <a:extLst>
              <a:ext uri="{FF2B5EF4-FFF2-40B4-BE49-F238E27FC236}">
                <a16:creationId xmlns:a16="http://schemas.microsoft.com/office/drawing/2014/main" id="{87406AA2-C6B0-76DF-3F97-4A7EAC8D9DAF}"/>
              </a:ext>
            </a:extLst>
          </p:cNvPr>
          <p:cNvSpPr txBox="1"/>
          <p:nvPr/>
        </p:nvSpPr>
        <p:spPr>
          <a:xfrm>
            <a:off x="228600" y="1219200"/>
            <a:ext cx="8001000" cy="1932837"/>
          </a:xfrm>
          <a:prstGeom prst="rect">
            <a:avLst/>
          </a:prstGeom>
          <a:noFill/>
        </p:spPr>
        <p:txBody>
          <a:bodyPr wrap="square" rtlCol="0">
            <a:spAutoFit/>
          </a:bodyPr>
          <a:lstStyle/>
          <a:p>
            <a:r>
              <a:rPr lang="en-US" dirty="0">
                <a:solidFill>
                  <a:srgbClr val="FF0000"/>
                </a:solidFill>
              </a:rPr>
              <a:t>Output:</a:t>
            </a:r>
          </a:p>
          <a:p>
            <a:pPr>
              <a:buNone/>
            </a:pPr>
            <a:r>
              <a:rPr lang="en-US" dirty="0"/>
              <a:t>task2 with priority 1</a:t>
            </a:r>
          </a:p>
          <a:p>
            <a:pPr>
              <a:buNone/>
            </a:pPr>
            <a:r>
              <a:rPr lang="en-US" dirty="0"/>
              <a:t>task3 with priority 2</a:t>
            </a:r>
          </a:p>
          <a:p>
            <a:pPr>
              <a:buNone/>
            </a:pPr>
            <a:r>
              <a:rPr lang="en-US" dirty="0"/>
              <a:t>task1 with priority 3</a:t>
            </a:r>
          </a:p>
        </p:txBody>
      </p:sp>
    </p:spTree>
    <p:extLst>
      <p:ext uri="{BB962C8B-B14F-4D97-AF65-F5344CB8AC3E}">
        <p14:creationId xmlns:p14="http://schemas.microsoft.com/office/powerpoint/2010/main" val="191056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E464F-2A7F-488F-B81C-723A51414777}"/>
              </a:ext>
            </a:extLst>
          </p:cNvPr>
          <p:cNvSpPr>
            <a:spLocks noGrp="1"/>
          </p:cNvSpPr>
          <p:nvPr>
            <p:ph type="title"/>
          </p:nvPr>
        </p:nvSpPr>
        <p:spPr>
          <a:xfrm>
            <a:off x="228600" y="228600"/>
            <a:ext cx="7696200" cy="685800"/>
          </a:xfrm>
        </p:spPr>
        <p:txBody>
          <a:bodyPr/>
          <a:lstStyle/>
          <a:p>
            <a:r>
              <a:rPr lang="en-US" dirty="0"/>
              <a:t>BFS Example</a:t>
            </a:r>
          </a:p>
        </p:txBody>
      </p:sp>
      <p:sp>
        <p:nvSpPr>
          <p:cNvPr id="3" name="Slide Number Placeholder 2">
            <a:extLst>
              <a:ext uri="{FF2B5EF4-FFF2-40B4-BE49-F238E27FC236}">
                <a16:creationId xmlns:a16="http://schemas.microsoft.com/office/drawing/2014/main" id="{52F1A1C4-6CD7-13F2-00E9-78480ADDBC8E}"/>
              </a:ext>
            </a:extLst>
          </p:cNvPr>
          <p:cNvSpPr>
            <a:spLocks noGrp="1"/>
          </p:cNvSpPr>
          <p:nvPr>
            <p:ph type="sldNum" sz="quarter" idx="12"/>
          </p:nvPr>
        </p:nvSpPr>
        <p:spPr/>
        <p:txBody>
          <a:bodyPr/>
          <a:lstStyle/>
          <a:p>
            <a:fld id="{D5F02DF6-5EF1-449D-8E8F-F40E7D2FCBCB}" type="slidenum">
              <a:rPr lang="en-US" altLang="en-US" smtClean="0"/>
              <a:pPr/>
              <a:t>22</a:t>
            </a:fld>
            <a:endParaRPr lang="en-US" altLang="en-US" dirty="0"/>
          </a:p>
        </p:txBody>
      </p:sp>
      <p:sp>
        <p:nvSpPr>
          <p:cNvPr id="4" name="TextBox 3">
            <a:extLst>
              <a:ext uri="{FF2B5EF4-FFF2-40B4-BE49-F238E27FC236}">
                <a16:creationId xmlns:a16="http://schemas.microsoft.com/office/drawing/2014/main" id="{2FCA8773-237C-1FF4-E849-35C446831FEB}"/>
              </a:ext>
            </a:extLst>
          </p:cNvPr>
          <p:cNvSpPr txBox="1"/>
          <p:nvPr/>
        </p:nvSpPr>
        <p:spPr>
          <a:xfrm>
            <a:off x="228600" y="1269994"/>
            <a:ext cx="8724900" cy="1372683"/>
          </a:xfrm>
          <a:prstGeom prst="rect">
            <a:avLst/>
          </a:prstGeom>
          <a:noFill/>
        </p:spPr>
        <p:txBody>
          <a:bodyPr wrap="square" rtlCol="0">
            <a:spAutoFit/>
          </a:bodyPr>
          <a:lstStyle/>
          <a:p>
            <a:pPr>
              <a:buNone/>
            </a:pPr>
            <a:r>
              <a:rPr lang="en-US" dirty="0"/>
              <a:t>   </a:t>
            </a:r>
          </a:p>
          <a:p>
            <a:pPr>
              <a:buNone/>
            </a:pPr>
            <a:r>
              <a:rPr lang="en-US" dirty="0"/>
              <a:t>Heuristic values (h):- A: 5  - B: 4  - C: 3  - D: 2  - E: 6  - G: 0 (goal)</a:t>
            </a:r>
          </a:p>
        </p:txBody>
      </p:sp>
      <p:sp>
        <p:nvSpPr>
          <p:cNvPr id="5" name="TextBox 4">
            <a:extLst>
              <a:ext uri="{FF2B5EF4-FFF2-40B4-BE49-F238E27FC236}">
                <a16:creationId xmlns:a16="http://schemas.microsoft.com/office/drawing/2014/main" id="{57AEE593-BA3A-86DE-64CD-56EC32F6BBBF}"/>
              </a:ext>
            </a:extLst>
          </p:cNvPr>
          <p:cNvSpPr txBox="1"/>
          <p:nvPr/>
        </p:nvSpPr>
        <p:spPr>
          <a:xfrm>
            <a:off x="342900" y="3073406"/>
            <a:ext cx="8610600" cy="492443"/>
          </a:xfrm>
          <a:prstGeom prst="rect">
            <a:avLst/>
          </a:prstGeom>
          <a:noFill/>
        </p:spPr>
        <p:txBody>
          <a:bodyPr wrap="square" rtlCol="0">
            <a:spAutoFit/>
          </a:bodyPr>
          <a:lstStyle/>
          <a:p>
            <a:pPr>
              <a:buNone/>
            </a:pPr>
            <a:r>
              <a:rPr lang="en-US" dirty="0">
                <a:ln w="0"/>
                <a:effectLst>
                  <a:outerShdw blurRad="38100" dist="19050" dir="2700000" algn="tl" rotWithShape="0">
                    <a:schemeClr val="dk1">
                      <a:alpha val="40000"/>
                    </a:schemeClr>
                  </a:outerShdw>
                </a:effectLst>
              </a:rPr>
              <a:t>                                    A:5</a:t>
            </a:r>
          </a:p>
        </p:txBody>
      </p:sp>
      <p:cxnSp>
        <p:nvCxnSpPr>
          <p:cNvPr id="7" name="Straight Connector 6">
            <a:extLst>
              <a:ext uri="{FF2B5EF4-FFF2-40B4-BE49-F238E27FC236}">
                <a16:creationId xmlns:a16="http://schemas.microsoft.com/office/drawing/2014/main" id="{83629A7C-AADA-B250-847D-D3B1064E5311}"/>
              </a:ext>
            </a:extLst>
          </p:cNvPr>
          <p:cNvCxnSpPr/>
          <p:nvPr/>
        </p:nvCxnSpPr>
        <p:spPr bwMode="auto">
          <a:xfrm flipH="1">
            <a:off x="3276600" y="3505200"/>
            <a:ext cx="609600" cy="685800"/>
          </a:xfrm>
          <a:prstGeom prst="line">
            <a:avLst/>
          </a:prstGeom>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FA122813-10FB-2C12-A47C-891A68DF2274}"/>
              </a:ext>
            </a:extLst>
          </p:cNvPr>
          <p:cNvCxnSpPr/>
          <p:nvPr/>
        </p:nvCxnSpPr>
        <p:spPr bwMode="auto">
          <a:xfrm>
            <a:off x="3886200" y="3429000"/>
            <a:ext cx="762000" cy="762000"/>
          </a:xfrm>
          <a:prstGeom prst="line">
            <a:avLst/>
          </a:prstGeom>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9373F4D-E4E0-4D7A-DA1B-9B000E79847D}"/>
              </a:ext>
            </a:extLst>
          </p:cNvPr>
          <p:cNvCxnSpPr/>
          <p:nvPr/>
        </p:nvCxnSpPr>
        <p:spPr bwMode="auto">
          <a:xfrm>
            <a:off x="3886200" y="3505200"/>
            <a:ext cx="0" cy="685800"/>
          </a:xfrm>
          <a:prstGeom prst="line">
            <a:avLst/>
          </a:prstGeom>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13E385E5-16F8-8E24-B108-E046F95AD088}"/>
              </a:ext>
            </a:extLst>
          </p:cNvPr>
          <p:cNvCxnSpPr>
            <a:cxnSpLocks/>
          </p:cNvCxnSpPr>
          <p:nvPr/>
        </p:nvCxnSpPr>
        <p:spPr bwMode="auto">
          <a:xfrm flipH="1">
            <a:off x="2819400" y="4495800"/>
            <a:ext cx="381000" cy="914400"/>
          </a:xfrm>
          <a:prstGeom prst="line">
            <a:avLst/>
          </a:prstGeom>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B714A13D-3986-F5E4-6280-2EDF6E855CD4}"/>
              </a:ext>
            </a:extLst>
          </p:cNvPr>
          <p:cNvCxnSpPr/>
          <p:nvPr/>
        </p:nvCxnSpPr>
        <p:spPr bwMode="auto">
          <a:xfrm>
            <a:off x="4686300" y="4572000"/>
            <a:ext cx="342900" cy="838200"/>
          </a:xfrm>
          <a:prstGeom prst="line">
            <a:avLst/>
          </a:prstGeom>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F48BCF81-ACCA-8315-09DE-D02904F6BDF5}"/>
              </a:ext>
            </a:extLst>
          </p:cNvPr>
          <p:cNvSpPr txBox="1"/>
          <p:nvPr/>
        </p:nvSpPr>
        <p:spPr>
          <a:xfrm>
            <a:off x="1219200" y="4065037"/>
            <a:ext cx="5562600" cy="492443"/>
          </a:xfrm>
          <a:prstGeom prst="rect">
            <a:avLst/>
          </a:prstGeom>
          <a:noFill/>
        </p:spPr>
        <p:txBody>
          <a:bodyPr wrap="square" rtlCol="0">
            <a:spAutoFit/>
          </a:bodyPr>
          <a:lstStyle/>
          <a:p>
            <a:pPr>
              <a:buNone/>
            </a:pPr>
            <a:r>
              <a:rPr lang="en-US" dirty="0"/>
              <a:t>                B:4    C:3     D:2</a:t>
            </a:r>
          </a:p>
        </p:txBody>
      </p:sp>
      <p:sp>
        <p:nvSpPr>
          <p:cNvPr id="19" name="TextBox 18">
            <a:extLst>
              <a:ext uri="{FF2B5EF4-FFF2-40B4-BE49-F238E27FC236}">
                <a16:creationId xmlns:a16="http://schemas.microsoft.com/office/drawing/2014/main" id="{EBD32F95-7B04-E99E-F62C-0C36E15CEBBF}"/>
              </a:ext>
            </a:extLst>
          </p:cNvPr>
          <p:cNvSpPr txBox="1"/>
          <p:nvPr/>
        </p:nvSpPr>
        <p:spPr>
          <a:xfrm>
            <a:off x="2095500" y="5478633"/>
            <a:ext cx="3581400" cy="492443"/>
          </a:xfrm>
          <a:prstGeom prst="rect">
            <a:avLst/>
          </a:prstGeom>
          <a:noFill/>
        </p:spPr>
        <p:txBody>
          <a:bodyPr wrap="square" rtlCol="0">
            <a:spAutoFit/>
          </a:bodyPr>
          <a:lstStyle/>
          <a:p>
            <a:pPr>
              <a:buNone/>
            </a:pPr>
            <a:r>
              <a:rPr lang="en-US" dirty="0"/>
              <a:t>     E:6                    G:0</a:t>
            </a:r>
          </a:p>
        </p:txBody>
      </p:sp>
    </p:spTree>
    <p:extLst>
      <p:ext uri="{BB962C8B-B14F-4D97-AF65-F5344CB8AC3E}">
        <p14:creationId xmlns:p14="http://schemas.microsoft.com/office/powerpoint/2010/main" val="28133293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A8CA8-9AE4-A0BA-C407-09F83E7A4698}"/>
              </a:ext>
            </a:extLst>
          </p:cNvPr>
          <p:cNvSpPr>
            <a:spLocks noGrp="1"/>
          </p:cNvSpPr>
          <p:nvPr>
            <p:ph type="title"/>
          </p:nvPr>
        </p:nvSpPr>
        <p:spPr>
          <a:xfrm>
            <a:off x="152400" y="0"/>
            <a:ext cx="7696200" cy="533400"/>
          </a:xfrm>
        </p:spPr>
        <p:txBody>
          <a:bodyPr/>
          <a:lstStyle/>
          <a:p>
            <a:r>
              <a:rPr lang="en-US" dirty="0"/>
              <a:t>BFS algorithm</a:t>
            </a:r>
          </a:p>
        </p:txBody>
      </p:sp>
      <p:sp>
        <p:nvSpPr>
          <p:cNvPr id="3" name="Slide Number Placeholder 2">
            <a:extLst>
              <a:ext uri="{FF2B5EF4-FFF2-40B4-BE49-F238E27FC236}">
                <a16:creationId xmlns:a16="http://schemas.microsoft.com/office/drawing/2014/main" id="{1B0173FB-D1E2-0B7B-9BB9-F7B17F524161}"/>
              </a:ext>
            </a:extLst>
          </p:cNvPr>
          <p:cNvSpPr>
            <a:spLocks noGrp="1"/>
          </p:cNvSpPr>
          <p:nvPr>
            <p:ph type="sldNum" sz="quarter" idx="12"/>
          </p:nvPr>
        </p:nvSpPr>
        <p:spPr/>
        <p:txBody>
          <a:bodyPr/>
          <a:lstStyle/>
          <a:p>
            <a:fld id="{D5F02DF6-5EF1-449D-8E8F-F40E7D2FCBCB}" type="slidenum">
              <a:rPr lang="en-US" altLang="en-US" smtClean="0"/>
              <a:pPr/>
              <a:t>23</a:t>
            </a:fld>
            <a:endParaRPr lang="en-US" altLang="en-US" dirty="0"/>
          </a:p>
        </p:txBody>
      </p:sp>
      <p:sp>
        <p:nvSpPr>
          <p:cNvPr id="4" name="TextBox 3">
            <a:extLst>
              <a:ext uri="{FF2B5EF4-FFF2-40B4-BE49-F238E27FC236}">
                <a16:creationId xmlns:a16="http://schemas.microsoft.com/office/drawing/2014/main" id="{DF904E1C-58F6-9A42-70F4-103D8AEF204D}"/>
              </a:ext>
            </a:extLst>
          </p:cNvPr>
          <p:cNvSpPr txBox="1"/>
          <p:nvPr/>
        </p:nvSpPr>
        <p:spPr>
          <a:xfrm>
            <a:off x="0" y="609600"/>
            <a:ext cx="8839200" cy="7725192"/>
          </a:xfrm>
          <a:prstGeom prst="rect">
            <a:avLst/>
          </a:prstGeom>
          <a:noFill/>
        </p:spPr>
        <p:txBody>
          <a:bodyPr wrap="square" rtlCol="0">
            <a:spAutoFit/>
          </a:bodyPr>
          <a:lstStyle/>
          <a:p>
            <a:r>
              <a:rPr lang="en-US" sz="1600" dirty="0"/>
              <a:t>import </a:t>
            </a:r>
            <a:r>
              <a:rPr lang="en-US" sz="1600" dirty="0" err="1"/>
              <a:t>heapq</a:t>
            </a:r>
            <a:endParaRPr lang="en-US" sz="1600" dirty="0"/>
          </a:p>
          <a:p>
            <a:br>
              <a:rPr lang="en-US" sz="1600" dirty="0"/>
            </a:br>
            <a:r>
              <a:rPr lang="en-US" sz="1600" dirty="0"/>
              <a:t>#Define the graph as an adjacency list</a:t>
            </a:r>
          </a:p>
          <a:p>
            <a:r>
              <a:rPr lang="en-US" sz="1600" dirty="0"/>
              <a:t>graph = {</a:t>
            </a:r>
          </a:p>
          <a:p>
            <a:r>
              <a:rPr lang="en-US" sz="1600" dirty="0"/>
              <a:t>    'A': ['B', 'C', 'D'],</a:t>
            </a:r>
          </a:p>
          <a:p>
            <a:r>
              <a:rPr lang="en-US" sz="1600" dirty="0"/>
              <a:t>    'B': ['E'],</a:t>
            </a:r>
          </a:p>
          <a:p>
            <a:r>
              <a:rPr lang="en-US" sz="1600" dirty="0"/>
              <a:t>    'C': [],</a:t>
            </a:r>
          </a:p>
          <a:p>
            <a:r>
              <a:rPr lang="en-US" sz="1600" dirty="0"/>
              <a:t>    'D': ['G'],</a:t>
            </a:r>
          </a:p>
          <a:p>
            <a:r>
              <a:rPr lang="en-US" sz="1600" dirty="0"/>
              <a:t>    'E': [],</a:t>
            </a:r>
          </a:p>
          <a:p>
            <a:r>
              <a:rPr lang="en-US" sz="1600" dirty="0"/>
              <a:t>    'G': []</a:t>
            </a:r>
          </a:p>
          <a:p>
            <a:r>
              <a:rPr lang="en-US" sz="1600" dirty="0"/>
              <a:t>}</a:t>
            </a:r>
          </a:p>
          <a:p>
            <a:br>
              <a:rPr lang="en-US" sz="1600" dirty="0"/>
            </a:br>
            <a:r>
              <a:rPr lang="en-US" sz="1600" dirty="0"/>
              <a:t>#Heuristic values for each node</a:t>
            </a:r>
          </a:p>
          <a:p>
            <a:r>
              <a:rPr lang="en-US" sz="1600" dirty="0"/>
              <a:t>heuristic = {</a:t>
            </a:r>
          </a:p>
          <a:p>
            <a:r>
              <a:rPr lang="en-US" sz="1600" dirty="0"/>
              <a:t>    'A': 5,</a:t>
            </a:r>
          </a:p>
          <a:p>
            <a:r>
              <a:rPr lang="en-US" sz="1600" dirty="0"/>
              <a:t>    'B': 4,</a:t>
            </a:r>
          </a:p>
          <a:p>
            <a:r>
              <a:rPr lang="en-US" sz="1600" dirty="0"/>
              <a:t>    'C': 3,</a:t>
            </a:r>
          </a:p>
          <a:p>
            <a:r>
              <a:rPr lang="en-US" sz="1600" dirty="0"/>
              <a:t>    'D': 2,</a:t>
            </a:r>
          </a:p>
          <a:p>
            <a:r>
              <a:rPr lang="en-US" sz="1600" dirty="0"/>
              <a:t>    'E': 6,</a:t>
            </a:r>
          </a:p>
          <a:p>
            <a:r>
              <a:rPr lang="en-US" sz="1600" dirty="0"/>
              <a:t>    'G': 0</a:t>
            </a:r>
          </a:p>
          <a:p>
            <a:r>
              <a:rPr lang="en-US" sz="1600" dirty="0"/>
              <a:t>}</a:t>
            </a:r>
          </a:p>
          <a:p>
            <a:br>
              <a:rPr lang="en-US" sz="1600" dirty="0"/>
            </a:br>
            <a:br>
              <a:rPr lang="en-US" dirty="0"/>
            </a:br>
            <a:endParaRPr lang="en-US" dirty="0"/>
          </a:p>
          <a:p>
            <a:endParaRPr lang="en-US" dirty="0"/>
          </a:p>
        </p:txBody>
      </p:sp>
    </p:spTree>
    <p:extLst>
      <p:ext uri="{BB962C8B-B14F-4D97-AF65-F5344CB8AC3E}">
        <p14:creationId xmlns:p14="http://schemas.microsoft.com/office/powerpoint/2010/main" val="543829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D974E-5AC9-B5D9-500C-7EC1EC643EA7}"/>
              </a:ext>
            </a:extLst>
          </p:cNvPr>
          <p:cNvSpPr>
            <a:spLocks noGrp="1"/>
          </p:cNvSpPr>
          <p:nvPr>
            <p:ph type="title"/>
          </p:nvPr>
        </p:nvSpPr>
        <p:spPr>
          <a:xfrm>
            <a:off x="228600" y="228600"/>
            <a:ext cx="7696200" cy="457200"/>
          </a:xfrm>
        </p:spPr>
        <p:txBody>
          <a:bodyPr/>
          <a:lstStyle/>
          <a:p>
            <a:r>
              <a:rPr lang="en-US" dirty="0"/>
              <a:t>BFS algorithm</a:t>
            </a:r>
          </a:p>
        </p:txBody>
      </p:sp>
      <p:sp>
        <p:nvSpPr>
          <p:cNvPr id="3" name="Slide Number Placeholder 2">
            <a:extLst>
              <a:ext uri="{FF2B5EF4-FFF2-40B4-BE49-F238E27FC236}">
                <a16:creationId xmlns:a16="http://schemas.microsoft.com/office/drawing/2014/main" id="{D2E4DEE2-70F8-E9E0-EB5E-183B87C03A29}"/>
              </a:ext>
            </a:extLst>
          </p:cNvPr>
          <p:cNvSpPr>
            <a:spLocks noGrp="1"/>
          </p:cNvSpPr>
          <p:nvPr>
            <p:ph type="sldNum" sz="quarter" idx="12"/>
          </p:nvPr>
        </p:nvSpPr>
        <p:spPr/>
        <p:txBody>
          <a:bodyPr/>
          <a:lstStyle/>
          <a:p>
            <a:fld id="{D5F02DF6-5EF1-449D-8E8F-F40E7D2FCBCB}" type="slidenum">
              <a:rPr lang="en-US" altLang="en-US" smtClean="0"/>
              <a:pPr/>
              <a:t>24</a:t>
            </a:fld>
            <a:endParaRPr lang="en-US" altLang="en-US" dirty="0"/>
          </a:p>
        </p:txBody>
      </p:sp>
      <p:sp>
        <p:nvSpPr>
          <p:cNvPr id="4" name="TextBox 3">
            <a:extLst>
              <a:ext uri="{FF2B5EF4-FFF2-40B4-BE49-F238E27FC236}">
                <a16:creationId xmlns:a16="http://schemas.microsoft.com/office/drawing/2014/main" id="{4ECDA39B-3C39-0A74-6D82-5AE6357F0CD5}"/>
              </a:ext>
            </a:extLst>
          </p:cNvPr>
          <p:cNvSpPr txBox="1"/>
          <p:nvPr/>
        </p:nvSpPr>
        <p:spPr>
          <a:xfrm>
            <a:off x="228600" y="886289"/>
            <a:ext cx="8839200" cy="6038576"/>
          </a:xfrm>
          <a:prstGeom prst="rect">
            <a:avLst/>
          </a:prstGeom>
          <a:noFill/>
        </p:spPr>
        <p:txBody>
          <a:bodyPr wrap="square" rtlCol="0">
            <a:spAutoFit/>
          </a:bodyPr>
          <a:lstStyle/>
          <a:p>
            <a:r>
              <a:rPr lang="en-US" sz="1600" dirty="0"/>
              <a:t>def </a:t>
            </a:r>
            <a:r>
              <a:rPr lang="en-US" sz="1600" dirty="0" err="1"/>
              <a:t>best_first_search</a:t>
            </a:r>
            <a:r>
              <a:rPr lang="en-US" sz="1600" dirty="0"/>
              <a:t>(start, goal):</a:t>
            </a:r>
          </a:p>
          <a:p>
            <a:r>
              <a:rPr lang="en-US" sz="1600" dirty="0"/>
              <a:t>    visited = set()   </a:t>
            </a:r>
            <a:r>
              <a:rPr lang="en-US" sz="1600" dirty="0">
                <a:solidFill>
                  <a:srgbClr val="00B050"/>
                </a:solidFill>
              </a:rPr>
              <a:t># visited set</a:t>
            </a:r>
          </a:p>
          <a:p>
            <a:r>
              <a:rPr lang="en-US" sz="1600" dirty="0"/>
              <a:t>    </a:t>
            </a:r>
            <a:r>
              <a:rPr lang="en-US" sz="1600" dirty="0" err="1"/>
              <a:t>priority_queue</a:t>
            </a:r>
            <a:r>
              <a:rPr lang="en-US" sz="1600" dirty="0"/>
              <a:t> = []</a:t>
            </a:r>
          </a:p>
          <a:p>
            <a:r>
              <a:rPr lang="en-US" sz="1600" dirty="0"/>
              <a:t>    </a:t>
            </a:r>
            <a:r>
              <a:rPr lang="en-US" sz="1600" dirty="0" err="1"/>
              <a:t>heapq.heappush</a:t>
            </a:r>
            <a:r>
              <a:rPr lang="en-US" sz="1600" dirty="0"/>
              <a:t>(</a:t>
            </a:r>
            <a:r>
              <a:rPr lang="en-US" sz="1600" dirty="0" err="1"/>
              <a:t>priority_queue</a:t>
            </a:r>
            <a:r>
              <a:rPr lang="en-US" sz="1600" dirty="0"/>
              <a:t>, (heuristic[start], start)) </a:t>
            </a:r>
            <a:r>
              <a:rPr lang="en-US" sz="1600" dirty="0">
                <a:solidFill>
                  <a:srgbClr val="FF6600"/>
                </a:solidFill>
              </a:rPr>
              <a:t># heuristic of A (5) , A  ..(5,A)</a:t>
            </a:r>
            <a:br>
              <a:rPr lang="en-US" sz="1600" dirty="0"/>
            </a:br>
            <a:r>
              <a:rPr lang="en-US" sz="1600" dirty="0"/>
              <a:t>    while </a:t>
            </a:r>
            <a:r>
              <a:rPr lang="en-US" sz="1600" dirty="0" err="1"/>
              <a:t>priority_queue</a:t>
            </a:r>
            <a:r>
              <a:rPr lang="en-US" sz="1600" dirty="0"/>
              <a:t>:</a:t>
            </a:r>
          </a:p>
          <a:p>
            <a:r>
              <a:rPr lang="en-US" sz="1600" dirty="0"/>
              <a:t>        </a:t>
            </a:r>
            <a:r>
              <a:rPr lang="en-US" sz="1600" dirty="0">
                <a:solidFill>
                  <a:srgbClr val="FF6600"/>
                </a:solidFill>
              </a:rPr>
              <a:t># h will receive the priority of the node, and node will receive the name of the node</a:t>
            </a:r>
          </a:p>
          <a:p>
            <a:r>
              <a:rPr lang="en-US" sz="1600" dirty="0"/>
              <a:t>        h, node = </a:t>
            </a:r>
            <a:r>
              <a:rPr lang="en-US" sz="1600" dirty="0" err="1"/>
              <a:t>heapq.heappop</a:t>
            </a:r>
            <a:r>
              <a:rPr lang="en-US" sz="1600" dirty="0"/>
              <a:t>(</a:t>
            </a:r>
            <a:r>
              <a:rPr lang="en-US" sz="1600" dirty="0" err="1"/>
              <a:t>priority_queue</a:t>
            </a:r>
            <a:r>
              <a:rPr lang="en-US" sz="1600" dirty="0"/>
              <a:t>)   </a:t>
            </a:r>
            <a:r>
              <a:rPr lang="en-US" sz="1500" dirty="0">
                <a:solidFill>
                  <a:srgbClr val="FF6600"/>
                </a:solidFill>
              </a:rPr>
              <a:t># h is 5 and  node is A</a:t>
            </a:r>
            <a:r>
              <a:rPr lang="en-US" sz="1500" dirty="0">
                <a:solidFill>
                  <a:srgbClr val="0070C0"/>
                </a:solidFill>
              </a:rPr>
              <a:t>, next h is 2 and node is D</a:t>
            </a:r>
          </a:p>
          <a:p>
            <a:r>
              <a:rPr lang="en-US" sz="1600" dirty="0"/>
              <a:t>        if node in visited:                                          </a:t>
            </a:r>
            <a:r>
              <a:rPr lang="en-US" sz="1600" b="1" dirty="0">
                <a:solidFill>
                  <a:srgbClr val="7030A0"/>
                </a:solidFill>
              </a:rPr>
              <a:t># next h is 0 and node G</a:t>
            </a:r>
          </a:p>
          <a:p>
            <a:r>
              <a:rPr lang="en-US" sz="1600" dirty="0"/>
              <a:t>            continue</a:t>
            </a:r>
          </a:p>
          <a:p>
            <a:r>
              <a:rPr lang="en-US" sz="1600" dirty="0"/>
              <a:t>        print(</a:t>
            </a:r>
            <a:r>
              <a:rPr lang="en-US" sz="1600" dirty="0" err="1"/>
              <a:t>f"Visited</a:t>
            </a:r>
            <a:r>
              <a:rPr lang="en-US" sz="1600" dirty="0"/>
              <a:t>: {node}")</a:t>
            </a:r>
          </a:p>
          <a:p>
            <a:r>
              <a:rPr lang="en-US" sz="1600" dirty="0"/>
              <a:t>        </a:t>
            </a:r>
            <a:r>
              <a:rPr lang="en-US" sz="1600" dirty="0" err="1"/>
              <a:t>visited.add</a:t>
            </a:r>
            <a:r>
              <a:rPr lang="en-US" sz="1600" dirty="0"/>
              <a:t>(node)     </a:t>
            </a:r>
            <a:r>
              <a:rPr lang="en-US" sz="1600" dirty="0">
                <a:solidFill>
                  <a:srgbClr val="FF6600"/>
                </a:solidFill>
              </a:rPr>
              <a:t># visited  A,  </a:t>
            </a:r>
            <a:r>
              <a:rPr lang="en-US" sz="1600" dirty="0">
                <a:solidFill>
                  <a:srgbClr val="0070C0"/>
                </a:solidFill>
              </a:rPr>
              <a:t>D visited  </a:t>
            </a:r>
            <a:r>
              <a:rPr lang="en-US" sz="1600" b="1" dirty="0">
                <a:solidFill>
                  <a:srgbClr val="7030A0"/>
                </a:solidFill>
              </a:rPr>
              <a:t>G visited  </a:t>
            </a:r>
          </a:p>
          <a:p>
            <a:r>
              <a:rPr lang="en-US" sz="1600" dirty="0"/>
              <a:t>        if node == goal:  </a:t>
            </a:r>
            <a:r>
              <a:rPr lang="en-US" sz="1600" dirty="0">
                <a:solidFill>
                  <a:srgbClr val="FF6600"/>
                </a:solidFill>
              </a:rPr>
              <a:t> # no,  </a:t>
            </a:r>
            <a:r>
              <a:rPr lang="en-US" sz="1600" dirty="0">
                <a:solidFill>
                  <a:srgbClr val="0070C0"/>
                </a:solidFill>
              </a:rPr>
              <a:t>no   </a:t>
            </a:r>
            <a:r>
              <a:rPr lang="en-US" sz="1600" b="1" dirty="0">
                <a:solidFill>
                  <a:srgbClr val="7030A0"/>
                </a:solidFill>
              </a:rPr>
              <a:t>yes</a:t>
            </a:r>
          </a:p>
          <a:p>
            <a:r>
              <a:rPr lang="en-US" sz="1600" dirty="0"/>
              <a:t>            print("Goal reached!")</a:t>
            </a:r>
          </a:p>
          <a:p>
            <a:r>
              <a:rPr lang="en-US" sz="1600" dirty="0"/>
              <a:t>            return</a:t>
            </a:r>
          </a:p>
          <a:p>
            <a:r>
              <a:rPr lang="en-US" sz="1600" dirty="0"/>
              <a:t>        for neighbor in graph[node]:  </a:t>
            </a:r>
            <a:r>
              <a:rPr lang="en-US" sz="1600" dirty="0">
                <a:solidFill>
                  <a:srgbClr val="FF6600"/>
                </a:solidFill>
              </a:rPr>
              <a:t># graph [A]    neighbor B,C,D, </a:t>
            </a:r>
            <a:r>
              <a:rPr lang="en-US" sz="1600" dirty="0">
                <a:solidFill>
                  <a:srgbClr val="0070C0"/>
                </a:solidFill>
              </a:rPr>
              <a:t>neighbor G </a:t>
            </a:r>
          </a:p>
          <a:p>
            <a:r>
              <a:rPr lang="en-US" sz="1600" dirty="0"/>
              <a:t>            if neighbor not in visited:  </a:t>
            </a:r>
            <a:r>
              <a:rPr lang="en-US" sz="1600" dirty="0">
                <a:solidFill>
                  <a:srgbClr val="FF6600"/>
                </a:solidFill>
              </a:rPr>
              <a:t># B   </a:t>
            </a:r>
            <a:r>
              <a:rPr lang="en-US" sz="1600" b="1" dirty="0">
                <a:solidFill>
                  <a:srgbClr val="0070C0"/>
                </a:solidFill>
              </a:rPr>
              <a:t>G</a:t>
            </a:r>
          </a:p>
          <a:p>
            <a:r>
              <a:rPr lang="en-US" sz="1600" dirty="0"/>
              <a:t>                </a:t>
            </a:r>
            <a:r>
              <a:rPr lang="en-US" sz="1600" dirty="0" err="1"/>
              <a:t>heapq.heappush</a:t>
            </a:r>
            <a:r>
              <a:rPr lang="en-US" sz="1600" dirty="0"/>
              <a:t>(</a:t>
            </a:r>
            <a:r>
              <a:rPr lang="en-US" sz="1600" dirty="0" err="1"/>
              <a:t>priority_queue</a:t>
            </a:r>
            <a:r>
              <a:rPr lang="en-US" sz="1600" dirty="0"/>
              <a:t>, (heuristic[neighbor], neighbor)) </a:t>
            </a:r>
            <a:r>
              <a:rPr lang="en-US" sz="1200" b="1" dirty="0">
                <a:solidFill>
                  <a:srgbClr val="FF6600"/>
                </a:solidFill>
              </a:rPr>
              <a:t>#pushed( B:4,C:3,D:2)</a:t>
            </a:r>
            <a:br>
              <a:rPr lang="en-US" sz="1600" b="1" dirty="0">
                <a:solidFill>
                  <a:srgbClr val="FF6600"/>
                </a:solidFill>
              </a:rPr>
            </a:br>
            <a:r>
              <a:rPr lang="en-US" sz="1600" dirty="0"/>
              <a:t>#Run the algorithm                            </a:t>
            </a:r>
            <a:r>
              <a:rPr lang="en-US" sz="1600" dirty="0">
                <a:solidFill>
                  <a:srgbClr val="0070C0"/>
                </a:solidFill>
              </a:rPr>
              <a:t>#</a:t>
            </a:r>
            <a:r>
              <a:rPr lang="en-US" sz="1600" b="1" dirty="0">
                <a:solidFill>
                  <a:srgbClr val="0070C0"/>
                </a:solidFill>
              </a:rPr>
              <a:t>pushed (G:0) the queue is (G:0, B:4,C:3)</a:t>
            </a:r>
          </a:p>
          <a:p>
            <a:r>
              <a:rPr lang="en-US" sz="1600" b="1" dirty="0" err="1"/>
              <a:t>best_first_search</a:t>
            </a:r>
            <a:r>
              <a:rPr lang="en-US" sz="1600" b="1" dirty="0"/>
              <a:t>('A', 'G')</a:t>
            </a:r>
          </a:p>
          <a:p>
            <a:endParaRPr lang="en-US" dirty="0"/>
          </a:p>
        </p:txBody>
      </p:sp>
    </p:spTree>
    <p:extLst>
      <p:ext uri="{BB962C8B-B14F-4D97-AF65-F5344CB8AC3E}">
        <p14:creationId xmlns:p14="http://schemas.microsoft.com/office/powerpoint/2010/main" val="15660846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8DFA3-D7B6-09C4-7F54-E6C38F1AD051}"/>
              </a:ext>
            </a:extLst>
          </p:cNvPr>
          <p:cNvSpPr>
            <a:spLocks noGrp="1"/>
          </p:cNvSpPr>
          <p:nvPr>
            <p:ph type="title"/>
          </p:nvPr>
        </p:nvSpPr>
        <p:spPr>
          <a:xfrm>
            <a:off x="228600" y="228600"/>
            <a:ext cx="7696200" cy="762000"/>
          </a:xfrm>
        </p:spPr>
        <p:txBody>
          <a:bodyPr/>
          <a:lstStyle/>
          <a:p>
            <a:r>
              <a:rPr lang="en-US" dirty="0"/>
              <a:t>BFS algorithm</a:t>
            </a:r>
          </a:p>
        </p:txBody>
      </p:sp>
      <p:sp>
        <p:nvSpPr>
          <p:cNvPr id="3" name="Slide Number Placeholder 2">
            <a:extLst>
              <a:ext uri="{FF2B5EF4-FFF2-40B4-BE49-F238E27FC236}">
                <a16:creationId xmlns:a16="http://schemas.microsoft.com/office/drawing/2014/main" id="{289C33D8-4F4C-2490-0CF9-5562299D7854}"/>
              </a:ext>
            </a:extLst>
          </p:cNvPr>
          <p:cNvSpPr>
            <a:spLocks noGrp="1"/>
          </p:cNvSpPr>
          <p:nvPr>
            <p:ph type="sldNum" sz="quarter" idx="12"/>
          </p:nvPr>
        </p:nvSpPr>
        <p:spPr/>
        <p:txBody>
          <a:bodyPr/>
          <a:lstStyle/>
          <a:p>
            <a:fld id="{D5F02DF6-5EF1-449D-8E8F-F40E7D2FCBCB}" type="slidenum">
              <a:rPr lang="en-US" altLang="en-US" smtClean="0"/>
              <a:pPr/>
              <a:t>25</a:t>
            </a:fld>
            <a:endParaRPr lang="en-US" altLang="en-US" dirty="0"/>
          </a:p>
        </p:txBody>
      </p:sp>
      <p:sp>
        <p:nvSpPr>
          <p:cNvPr id="5" name="TextBox 4">
            <a:extLst>
              <a:ext uri="{FF2B5EF4-FFF2-40B4-BE49-F238E27FC236}">
                <a16:creationId xmlns:a16="http://schemas.microsoft.com/office/drawing/2014/main" id="{D80065B2-114E-B874-2AE1-6178A8B6483D}"/>
              </a:ext>
            </a:extLst>
          </p:cNvPr>
          <p:cNvSpPr txBox="1"/>
          <p:nvPr/>
        </p:nvSpPr>
        <p:spPr>
          <a:xfrm>
            <a:off x="381000" y="1496163"/>
            <a:ext cx="6477000" cy="1932837"/>
          </a:xfrm>
          <a:prstGeom prst="rect">
            <a:avLst/>
          </a:prstGeom>
          <a:noFill/>
        </p:spPr>
        <p:txBody>
          <a:bodyPr wrap="square">
            <a:spAutoFit/>
          </a:bodyPr>
          <a:lstStyle/>
          <a:p>
            <a:pPr>
              <a:buNone/>
            </a:pPr>
            <a:r>
              <a:rPr lang="en-US" b="0" i="0" dirty="0">
                <a:solidFill>
                  <a:srgbClr val="1F1F1F"/>
                </a:solidFill>
                <a:effectLst/>
                <a:latin typeface="Courier New" panose="02070309020205020404" pitchFamily="49" charset="0"/>
              </a:rPr>
              <a:t>Visited: A </a:t>
            </a:r>
          </a:p>
          <a:p>
            <a:pPr>
              <a:buNone/>
            </a:pPr>
            <a:r>
              <a:rPr lang="en-US" b="0" i="0" dirty="0">
                <a:solidFill>
                  <a:srgbClr val="1F1F1F"/>
                </a:solidFill>
                <a:effectLst/>
                <a:latin typeface="Courier New" panose="02070309020205020404" pitchFamily="49" charset="0"/>
              </a:rPr>
              <a:t>Visited: D </a:t>
            </a:r>
          </a:p>
          <a:p>
            <a:pPr>
              <a:buNone/>
            </a:pPr>
            <a:r>
              <a:rPr lang="en-US" b="0" i="0" dirty="0">
                <a:solidFill>
                  <a:srgbClr val="1F1F1F"/>
                </a:solidFill>
                <a:effectLst/>
                <a:latin typeface="Courier New" panose="02070309020205020404" pitchFamily="49" charset="0"/>
              </a:rPr>
              <a:t>Visited: G </a:t>
            </a:r>
          </a:p>
          <a:p>
            <a:pPr>
              <a:buNone/>
            </a:pPr>
            <a:r>
              <a:rPr lang="en-US" b="0" i="0" dirty="0">
                <a:solidFill>
                  <a:srgbClr val="1F1F1F"/>
                </a:solidFill>
                <a:effectLst/>
                <a:latin typeface="Courier New" panose="02070309020205020404" pitchFamily="49" charset="0"/>
              </a:rPr>
              <a:t>Goal reached!</a:t>
            </a:r>
            <a:endParaRPr lang="en-US" dirty="0"/>
          </a:p>
        </p:txBody>
      </p:sp>
    </p:spTree>
    <p:extLst>
      <p:ext uri="{BB962C8B-B14F-4D97-AF65-F5344CB8AC3E}">
        <p14:creationId xmlns:p14="http://schemas.microsoft.com/office/powerpoint/2010/main" val="16617530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7F236-51B8-3D41-E15F-8F71B050B3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DB338B-E14F-30DF-DB99-1D54F4400C31}"/>
              </a:ext>
            </a:extLst>
          </p:cNvPr>
          <p:cNvSpPr>
            <a:spLocks noGrp="1"/>
          </p:cNvSpPr>
          <p:nvPr>
            <p:ph type="title"/>
          </p:nvPr>
        </p:nvSpPr>
        <p:spPr/>
        <p:txBody>
          <a:bodyPr/>
          <a:lstStyle/>
          <a:p>
            <a:r>
              <a:rPr lang="en-US" dirty="0"/>
              <a:t>Informed (Heuristic) Search Algorithms</a:t>
            </a:r>
          </a:p>
        </p:txBody>
      </p:sp>
      <p:sp>
        <p:nvSpPr>
          <p:cNvPr id="3" name="Content Placeholder 2">
            <a:extLst>
              <a:ext uri="{FF2B5EF4-FFF2-40B4-BE49-F238E27FC236}">
                <a16:creationId xmlns:a16="http://schemas.microsoft.com/office/drawing/2014/main" id="{77147962-4BC3-C75C-3A49-553AEC68E438}"/>
              </a:ext>
            </a:extLst>
          </p:cNvPr>
          <p:cNvSpPr>
            <a:spLocks noGrp="1"/>
          </p:cNvSpPr>
          <p:nvPr>
            <p:ph idx="1"/>
          </p:nvPr>
        </p:nvSpPr>
        <p:spPr>
          <a:xfrm>
            <a:off x="609600" y="1836737"/>
            <a:ext cx="7391400" cy="4868863"/>
          </a:xfrm>
        </p:spPr>
        <p:txBody>
          <a:bodyPr>
            <a:normAutofit/>
          </a:bodyPr>
          <a:lstStyle/>
          <a:p>
            <a:pPr algn="justLow">
              <a:lnSpc>
                <a:spcPct val="150000"/>
              </a:lnSpc>
            </a:pPr>
            <a:r>
              <a:rPr lang="en-US" sz="3200" b="1" dirty="0">
                <a:solidFill>
                  <a:srgbClr val="00B050"/>
                </a:solidFill>
              </a:rPr>
              <a:t>Greedy Best-First Search</a:t>
            </a:r>
          </a:p>
          <a:p>
            <a:pPr algn="justLow">
              <a:lnSpc>
                <a:spcPct val="150000"/>
              </a:lnSpc>
            </a:pPr>
            <a:endParaRPr lang="en-US" sz="1000" b="1" dirty="0">
              <a:solidFill>
                <a:srgbClr val="00B050"/>
              </a:solidFill>
            </a:endParaRPr>
          </a:p>
          <a:p>
            <a:pPr>
              <a:lnSpc>
                <a:spcPct val="150000"/>
              </a:lnSpc>
            </a:pPr>
            <a:r>
              <a:rPr lang="en-US" b="1" dirty="0">
                <a:solidFill>
                  <a:schemeClr val="accent1">
                    <a:lumMod val="75000"/>
                  </a:schemeClr>
                </a:solidFill>
              </a:rPr>
              <a:t>Pros: </a:t>
            </a:r>
            <a:r>
              <a:rPr lang="en-US" dirty="0"/>
              <a:t>Fast and uses little memory.</a:t>
            </a:r>
          </a:p>
          <a:p>
            <a:pPr>
              <a:lnSpc>
                <a:spcPct val="150000"/>
              </a:lnSpc>
            </a:pPr>
            <a:r>
              <a:rPr lang="en-US" b="1" dirty="0">
                <a:solidFill>
                  <a:schemeClr val="accent1">
                    <a:lumMod val="75000"/>
                  </a:schemeClr>
                </a:solidFill>
              </a:rPr>
              <a:t>Cons: </a:t>
            </a:r>
            <a:r>
              <a:rPr lang="en-US" dirty="0"/>
              <a:t>Not guaranteed to find the best path (not optimal).</a:t>
            </a:r>
          </a:p>
          <a:p>
            <a:pPr>
              <a:lnSpc>
                <a:spcPct val="150000"/>
              </a:lnSpc>
            </a:pPr>
            <a:endParaRPr lang="en-US" sz="1000" dirty="0"/>
          </a:p>
        </p:txBody>
      </p:sp>
      <p:sp>
        <p:nvSpPr>
          <p:cNvPr id="4" name="Slide Number Placeholder 3">
            <a:extLst>
              <a:ext uri="{FF2B5EF4-FFF2-40B4-BE49-F238E27FC236}">
                <a16:creationId xmlns:a16="http://schemas.microsoft.com/office/drawing/2014/main" id="{8262EB70-1B40-614B-8A49-7CDABD58B6B7}"/>
              </a:ext>
            </a:extLst>
          </p:cNvPr>
          <p:cNvSpPr>
            <a:spLocks noGrp="1"/>
          </p:cNvSpPr>
          <p:nvPr>
            <p:ph type="sldNum" sz="quarter" idx="12"/>
          </p:nvPr>
        </p:nvSpPr>
        <p:spPr/>
        <p:txBody>
          <a:bodyPr/>
          <a:lstStyle/>
          <a:p>
            <a:fld id="{71C6F290-D301-4864-9490-340EF11588D9}" type="slidenum">
              <a:rPr lang="en-US" altLang="en-US" smtClean="0"/>
              <a:pPr/>
              <a:t>26</a:t>
            </a:fld>
            <a:endParaRPr lang="en-US" altLang="en-US" dirty="0"/>
          </a:p>
        </p:txBody>
      </p:sp>
    </p:spTree>
    <p:extLst>
      <p:ext uri="{BB962C8B-B14F-4D97-AF65-F5344CB8AC3E}">
        <p14:creationId xmlns:p14="http://schemas.microsoft.com/office/powerpoint/2010/main" val="34885624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B8092-73AE-AE71-696B-22696D7C1008}"/>
              </a:ext>
            </a:extLst>
          </p:cNvPr>
          <p:cNvSpPr>
            <a:spLocks noGrp="1"/>
          </p:cNvSpPr>
          <p:nvPr>
            <p:ph type="title"/>
          </p:nvPr>
        </p:nvSpPr>
        <p:spPr/>
        <p:txBody>
          <a:bodyPr/>
          <a:lstStyle/>
          <a:p>
            <a:r>
              <a:rPr lang="en-US" dirty="0"/>
              <a:t>Informed (Heuristic) Search Algorithms</a:t>
            </a:r>
          </a:p>
        </p:txBody>
      </p:sp>
      <p:pic>
        <p:nvPicPr>
          <p:cNvPr id="5" name="Content Placeholder 4">
            <a:extLst>
              <a:ext uri="{FF2B5EF4-FFF2-40B4-BE49-F238E27FC236}">
                <a16:creationId xmlns:a16="http://schemas.microsoft.com/office/drawing/2014/main" id="{3F159191-F4D4-139C-6AD5-2A0DFC96A1E5}"/>
              </a:ext>
            </a:extLst>
          </p:cNvPr>
          <p:cNvPicPr>
            <a:picLocks noGrp="1" noChangeAspect="1"/>
          </p:cNvPicPr>
          <p:nvPr>
            <p:ph idx="1"/>
          </p:nvPr>
        </p:nvPicPr>
        <p:blipFill>
          <a:blip r:embed="rId2"/>
          <a:stretch>
            <a:fillRect/>
          </a:stretch>
        </p:blipFill>
        <p:spPr>
          <a:xfrm>
            <a:off x="1219200" y="1981200"/>
            <a:ext cx="6553199" cy="4191000"/>
          </a:xfrm>
          <a:prstGeom prst="rect">
            <a:avLst/>
          </a:prstGeom>
        </p:spPr>
      </p:pic>
      <p:sp>
        <p:nvSpPr>
          <p:cNvPr id="4" name="Slide Number Placeholder 3">
            <a:extLst>
              <a:ext uri="{FF2B5EF4-FFF2-40B4-BE49-F238E27FC236}">
                <a16:creationId xmlns:a16="http://schemas.microsoft.com/office/drawing/2014/main" id="{AB0CBF3D-CFD4-A903-AE50-56A80D198EA0}"/>
              </a:ext>
            </a:extLst>
          </p:cNvPr>
          <p:cNvSpPr>
            <a:spLocks noGrp="1"/>
          </p:cNvSpPr>
          <p:nvPr>
            <p:ph type="sldNum" sz="quarter" idx="12"/>
          </p:nvPr>
        </p:nvSpPr>
        <p:spPr/>
        <p:txBody>
          <a:bodyPr/>
          <a:lstStyle/>
          <a:p>
            <a:fld id="{71C6F290-D301-4864-9490-340EF11588D9}" type="slidenum">
              <a:rPr lang="en-US" altLang="en-US" smtClean="0"/>
              <a:pPr/>
              <a:t>27</a:t>
            </a:fld>
            <a:endParaRPr lang="en-US" altLang="en-US" dirty="0"/>
          </a:p>
        </p:txBody>
      </p:sp>
    </p:spTree>
    <p:extLst>
      <p:ext uri="{BB962C8B-B14F-4D97-AF65-F5344CB8AC3E}">
        <p14:creationId xmlns:p14="http://schemas.microsoft.com/office/powerpoint/2010/main" val="7845539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2CDF8-4A6B-8B2D-0CB2-2090905237A1}"/>
              </a:ext>
            </a:extLst>
          </p:cNvPr>
          <p:cNvSpPr>
            <a:spLocks noGrp="1"/>
          </p:cNvSpPr>
          <p:nvPr>
            <p:ph type="title"/>
          </p:nvPr>
        </p:nvSpPr>
        <p:spPr/>
        <p:txBody>
          <a:bodyPr/>
          <a:lstStyle/>
          <a:p>
            <a:r>
              <a:rPr lang="en-US" dirty="0"/>
              <a:t>Informed (Heuristic) Search Algorithms</a:t>
            </a:r>
          </a:p>
        </p:txBody>
      </p:sp>
      <p:sp>
        <p:nvSpPr>
          <p:cNvPr id="3" name="Content Placeholder 2">
            <a:extLst>
              <a:ext uri="{FF2B5EF4-FFF2-40B4-BE49-F238E27FC236}">
                <a16:creationId xmlns:a16="http://schemas.microsoft.com/office/drawing/2014/main" id="{DEFBBBAF-823E-E68E-F717-BD8D18005248}"/>
              </a:ext>
            </a:extLst>
          </p:cNvPr>
          <p:cNvSpPr>
            <a:spLocks noGrp="1"/>
          </p:cNvSpPr>
          <p:nvPr>
            <p:ph idx="1"/>
          </p:nvPr>
        </p:nvSpPr>
        <p:spPr>
          <a:xfrm>
            <a:off x="228600" y="1524000"/>
            <a:ext cx="8458200" cy="5181600"/>
          </a:xfrm>
        </p:spPr>
        <p:txBody>
          <a:bodyPr/>
          <a:lstStyle/>
          <a:p>
            <a:r>
              <a:rPr lang="en-US" dirty="0"/>
              <a:t>•	</a:t>
            </a:r>
            <a:r>
              <a:rPr lang="en-US" sz="2000" dirty="0"/>
              <a:t>Heuristic 1 (H1) : Count the out-of-place tiles, as compared to the goal.  (small numbers are better)</a:t>
            </a:r>
          </a:p>
          <a:p>
            <a:r>
              <a:rPr lang="en-US" sz="2000" dirty="0"/>
              <a:t>•	Heuristic 2 (H2): Sum the distances by which each tile is out of place.  (small numbers are better)</a:t>
            </a:r>
          </a:p>
          <a:p>
            <a:r>
              <a:rPr lang="en-US" sz="2000" dirty="0"/>
              <a:t>•	Heuristic 3 (H3): Multiply the number of required tile reversals by 2 </a:t>
            </a:r>
          </a:p>
          <a:p>
            <a:endParaRPr lang="en-US" dirty="0"/>
          </a:p>
        </p:txBody>
      </p:sp>
      <p:sp>
        <p:nvSpPr>
          <p:cNvPr id="4" name="Slide Number Placeholder 3">
            <a:extLst>
              <a:ext uri="{FF2B5EF4-FFF2-40B4-BE49-F238E27FC236}">
                <a16:creationId xmlns:a16="http://schemas.microsoft.com/office/drawing/2014/main" id="{6EAD59A7-6DA3-CCA7-D4FF-690CE2C713DB}"/>
              </a:ext>
            </a:extLst>
          </p:cNvPr>
          <p:cNvSpPr>
            <a:spLocks noGrp="1"/>
          </p:cNvSpPr>
          <p:nvPr>
            <p:ph type="sldNum" sz="quarter" idx="12"/>
          </p:nvPr>
        </p:nvSpPr>
        <p:spPr/>
        <p:txBody>
          <a:bodyPr/>
          <a:lstStyle/>
          <a:p>
            <a:fld id="{71C6F290-D301-4864-9490-340EF11588D9}" type="slidenum">
              <a:rPr lang="en-US" altLang="en-US" smtClean="0"/>
              <a:pPr/>
              <a:t>28</a:t>
            </a:fld>
            <a:endParaRPr lang="en-US" altLang="en-US" dirty="0"/>
          </a:p>
        </p:txBody>
      </p:sp>
      <p:pic>
        <p:nvPicPr>
          <p:cNvPr id="6" name="Picture 5">
            <a:extLst>
              <a:ext uri="{FF2B5EF4-FFF2-40B4-BE49-F238E27FC236}">
                <a16:creationId xmlns:a16="http://schemas.microsoft.com/office/drawing/2014/main" id="{57F5DB4F-6DF6-F0CD-2575-D2726460F260}"/>
              </a:ext>
            </a:extLst>
          </p:cNvPr>
          <p:cNvPicPr>
            <a:picLocks noChangeAspect="1"/>
          </p:cNvPicPr>
          <p:nvPr/>
        </p:nvPicPr>
        <p:blipFill>
          <a:blip r:embed="rId2"/>
          <a:stretch>
            <a:fillRect/>
          </a:stretch>
        </p:blipFill>
        <p:spPr>
          <a:xfrm>
            <a:off x="419100" y="3657600"/>
            <a:ext cx="8305800" cy="2743200"/>
          </a:xfrm>
          <a:prstGeom prst="rect">
            <a:avLst/>
          </a:prstGeom>
        </p:spPr>
      </p:pic>
    </p:spTree>
    <p:extLst>
      <p:ext uri="{BB962C8B-B14F-4D97-AF65-F5344CB8AC3E}">
        <p14:creationId xmlns:p14="http://schemas.microsoft.com/office/powerpoint/2010/main" val="34282320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B33B1-3286-471C-61F5-938FBE4D2DCC}"/>
              </a:ext>
            </a:extLst>
          </p:cNvPr>
          <p:cNvSpPr>
            <a:spLocks noGrp="1"/>
          </p:cNvSpPr>
          <p:nvPr>
            <p:ph type="title"/>
          </p:nvPr>
        </p:nvSpPr>
        <p:spPr>
          <a:xfrm>
            <a:off x="239486" y="0"/>
            <a:ext cx="7696200" cy="1066800"/>
          </a:xfrm>
        </p:spPr>
        <p:txBody>
          <a:bodyPr/>
          <a:lstStyle/>
          <a:p>
            <a:r>
              <a:rPr lang="en-US" dirty="0"/>
              <a:t>Informed (Heuristic) Search Algorithms</a:t>
            </a:r>
          </a:p>
        </p:txBody>
      </p:sp>
      <p:sp>
        <p:nvSpPr>
          <p:cNvPr id="3" name="Content Placeholder 2">
            <a:extLst>
              <a:ext uri="{FF2B5EF4-FFF2-40B4-BE49-F238E27FC236}">
                <a16:creationId xmlns:a16="http://schemas.microsoft.com/office/drawing/2014/main" id="{E921ED67-E882-574B-E048-515C4A68B4A2}"/>
              </a:ext>
            </a:extLst>
          </p:cNvPr>
          <p:cNvSpPr>
            <a:spLocks noGrp="1"/>
          </p:cNvSpPr>
          <p:nvPr>
            <p:ph idx="1"/>
          </p:nvPr>
        </p:nvSpPr>
        <p:spPr>
          <a:xfrm>
            <a:off x="203718" y="1066800"/>
            <a:ext cx="8700796" cy="5638800"/>
          </a:xfrm>
        </p:spPr>
        <p:txBody>
          <a:bodyPr>
            <a:normAutofit/>
          </a:bodyPr>
          <a:lstStyle/>
          <a:p>
            <a:endParaRPr lang="en-US" sz="2400" dirty="0">
              <a:solidFill>
                <a:srgbClr val="FF0000"/>
              </a:solidFill>
            </a:endParaRPr>
          </a:p>
          <a:p>
            <a:r>
              <a:rPr lang="en-US" sz="2400" dirty="0">
                <a:solidFill>
                  <a:srgbClr val="FF0000"/>
                </a:solidFill>
              </a:rPr>
              <a:t>Key Point: </a:t>
            </a:r>
            <a:r>
              <a:rPr lang="en-US" sz="2400" dirty="0"/>
              <a:t>Developing good heuristics is a difficult, empirical (trial and error) process. The final measure of a heuristic's value is its actual performance on the search problem. </a:t>
            </a:r>
          </a:p>
          <a:p>
            <a:endParaRPr lang="en-US" sz="2400" dirty="0">
              <a:solidFill>
                <a:srgbClr val="FF0000"/>
              </a:solidFill>
            </a:endParaRPr>
          </a:p>
          <a:p>
            <a:r>
              <a:rPr lang="en-US" sz="2400" dirty="0">
                <a:solidFill>
                  <a:srgbClr val="FF0000"/>
                </a:solidFill>
              </a:rPr>
              <a:t>Weaknesses </a:t>
            </a:r>
          </a:p>
          <a:p>
            <a:pPr algn="just"/>
            <a:r>
              <a:rPr lang="en-US" sz="2400" dirty="0"/>
              <a:t>•	H1 (out-of-place) doesn't account for the distance that tiles have to move to get in place. </a:t>
            </a:r>
          </a:p>
          <a:p>
            <a:pPr algn="just"/>
            <a:r>
              <a:rPr lang="en-US" sz="2400" dirty="0"/>
              <a:t>•	H2  (Sum of distances) doesn't account for tile-reversals. It takes several moves to reverse two adjacent tiles. </a:t>
            </a:r>
          </a:p>
          <a:p>
            <a:pPr algn="just"/>
            <a:r>
              <a:rPr lang="en-US" sz="2400" dirty="0"/>
              <a:t>•	H3 often fails to distinguish between vastly different states. </a:t>
            </a:r>
          </a:p>
          <a:p>
            <a:endParaRPr lang="en-US" dirty="0"/>
          </a:p>
        </p:txBody>
      </p:sp>
      <p:sp>
        <p:nvSpPr>
          <p:cNvPr id="4" name="Slide Number Placeholder 3">
            <a:extLst>
              <a:ext uri="{FF2B5EF4-FFF2-40B4-BE49-F238E27FC236}">
                <a16:creationId xmlns:a16="http://schemas.microsoft.com/office/drawing/2014/main" id="{C25BF5E7-25BF-CAD0-02F5-A1BE39FF31EC}"/>
              </a:ext>
            </a:extLst>
          </p:cNvPr>
          <p:cNvSpPr>
            <a:spLocks noGrp="1"/>
          </p:cNvSpPr>
          <p:nvPr>
            <p:ph type="sldNum" sz="quarter" idx="12"/>
          </p:nvPr>
        </p:nvSpPr>
        <p:spPr/>
        <p:txBody>
          <a:bodyPr/>
          <a:lstStyle/>
          <a:p>
            <a:fld id="{71C6F290-D301-4864-9490-340EF11588D9}" type="slidenum">
              <a:rPr lang="en-US" altLang="en-US" smtClean="0"/>
              <a:pPr/>
              <a:t>29</a:t>
            </a:fld>
            <a:endParaRPr lang="en-US" altLang="en-US" dirty="0"/>
          </a:p>
        </p:txBody>
      </p:sp>
    </p:spTree>
    <p:extLst>
      <p:ext uri="{BB962C8B-B14F-4D97-AF65-F5344CB8AC3E}">
        <p14:creationId xmlns:p14="http://schemas.microsoft.com/office/powerpoint/2010/main" val="29029924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EB416-E800-DB3F-542F-6227473EF96B}"/>
              </a:ext>
            </a:extLst>
          </p:cNvPr>
          <p:cNvSpPr>
            <a:spLocks noGrp="1"/>
          </p:cNvSpPr>
          <p:nvPr>
            <p:ph type="title"/>
          </p:nvPr>
        </p:nvSpPr>
        <p:spPr>
          <a:xfrm>
            <a:off x="300135" y="-6220"/>
            <a:ext cx="7696200" cy="1066800"/>
          </a:xfrm>
        </p:spPr>
        <p:txBody>
          <a:bodyPr/>
          <a:lstStyle/>
          <a:p>
            <a:r>
              <a:rPr lang="en-US" dirty="0"/>
              <a:t>Informed (Heuristic) Search Algorithms</a:t>
            </a:r>
          </a:p>
        </p:txBody>
      </p:sp>
      <p:pic>
        <p:nvPicPr>
          <p:cNvPr id="6" name="Content Placeholder 5" descr="A screenshot of a puzzle&#10;&#10;AI-generated content may be incorrect.">
            <a:extLst>
              <a:ext uri="{FF2B5EF4-FFF2-40B4-BE49-F238E27FC236}">
                <a16:creationId xmlns:a16="http://schemas.microsoft.com/office/drawing/2014/main" id="{66E42591-FA01-75A2-81B7-9E7D127DA23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914400"/>
            <a:ext cx="7391400" cy="4572000"/>
          </a:xfrm>
        </p:spPr>
      </p:pic>
      <p:sp>
        <p:nvSpPr>
          <p:cNvPr id="4" name="Slide Number Placeholder 3">
            <a:extLst>
              <a:ext uri="{FF2B5EF4-FFF2-40B4-BE49-F238E27FC236}">
                <a16:creationId xmlns:a16="http://schemas.microsoft.com/office/drawing/2014/main" id="{B2F804D5-1FBA-127F-00B7-F75B1633121A}"/>
              </a:ext>
            </a:extLst>
          </p:cNvPr>
          <p:cNvSpPr>
            <a:spLocks noGrp="1"/>
          </p:cNvSpPr>
          <p:nvPr>
            <p:ph type="sldNum" sz="quarter" idx="12"/>
          </p:nvPr>
        </p:nvSpPr>
        <p:spPr/>
        <p:txBody>
          <a:bodyPr/>
          <a:lstStyle/>
          <a:p>
            <a:fld id="{71C6F290-D301-4864-9490-340EF11588D9}" type="slidenum">
              <a:rPr lang="en-US" altLang="en-US" smtClean="0"/>
              <a:pPr/>
              <a:t>30</a:t>
            </a:fld>
            <a:endParaRPr lang="en-US" altLang="en-US" dirty="0"/>
          </a:p>
        </p:txBody>
      </p:sp>
      <p:pic>
        <p:nvPicPr>
          <p:cNvPr id="8" name="Picture 7">
            <a:extLst>
              <a:ext uri="{FF2B5EF4-FFF2-40B4-BE49-F238E27FC236}">
                <a16:creationId xmlns:a16="http://schemas.microsoft.com/office/drawing/2014/main" id="{8B5E951E-65B8-EAC6-232C-C78E100A2172}"/>
              </a:ext>
            </a:extLst>
          </p:cNvPr>
          <p:cNvPicPr>
            <a:picLocks noChangeAspect="1"/>
          </p:cNvPicPr>
          <p:nvPr/>
        </p:nvPicPr>
        <p:blipFill>
          <a:blip r:embed="rId3"/>
          <a:stretch>
            <a:fillRect/>
          </a:stretch>
        </p:blipFill>
        <p:spPr>
          <a:xfrm>
            <a:off x="304800" y="5660136"/>
            <a:ext cx="8534400" cy="969264"/>
          </a:xfrm>
          <a:prstGeom prst="rect">
            <a:avLst/>
          </a:prstGeom>
        </p:spPr>
      </p:pic>
    </p:spTree>
    <p:extLst>
      <p:ext uri="{BB962C8B-B14F-4D97-AF65-F5344CB8AC3E}">
        <p14:creationId xmlns:p14="http://schemas.microsoft.com/office/powerpoint/2010/main" val="13112282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576B6-B4C7-DCFE-FD9F-A39B10327253}"/>
              </a:ext>
            </a:extLst>
          </p:cNvPr>
          <p:cNvSpPr>
            <a:spLocks noGrp="1"/>
          </p:cNvSpPr>
          <p:nvPr>
            <p:ph type="title"/>
          </p:nvPr>
        </p:nvSpPr>
        <p:spPr>
          <a:xfrm>
            <a:off x="228600" y="228600"/>
            <a:ext cx="7696200" cy="762000"/>
          </a:xfrm>
        </p:spPr>
        <p:txBody>
          <a:bodyPr/>
          <a:lstStyle/>
          <a:p>
            <a:r>
              <a:rPr lang="en-US" dirty="0"/>
              <a:t>Admissible Heuristic Function</a:t>
            </a:r>
          </a:p>
        </p:txBody>
      </p:sp>
      <p:sp>
        <p:nvSpPr>
          <p:cNvPr id="3" name="Content Placeholder 2">
            <a:extLst>
              <a:ext uri="{FF2B5EF4-FFF2-40B4-BE49-F238E27FC236}">
                <a16:creationId xmlns:a16="http://schemas.microsoft.com/office/drawing/2014/main" id="{93F05A55-8C77-41A8-FB3C-3F2302C3013D}"/>
              </a:ext>
            </a:extLst>
          </p:cNvPr>
          <p:cNvSpPr>
            <a:spLocks noGrp="1"/>
          </p:cNvSpPr>
          <p:nvPr>
            <p:ph idx="1"/>
          </p:nvPr>
        </p:nvSpPr>
        <p:spPr>
          <a:xfrm>
            <a:off x="228600" y="1066800"/>
            <a:ext cx="8534400" cy="4868863"/>
          </a:xfrm>
        </p:spPr>
        <p:txBody>
          <a:bodyPr/>
          <a:lstStyle/>
          <a:p>
            <a:endParaRPr lang="en-US" dirty="0"/>
          </a:p>
          <a:p>
            <a:r>
              <a:rPr lang="en-US" dirty="0"/>
              <a:t>A heuristic function is said to be </a:t>
            </a:r>
            <a:r>
              <a:rPr lang="en-US" dirty="0">
                <a:solidFill>
                  <a:srgbClr val="FF0000"/>
                </a:solidFill>
              </a:rPr>
              <a:t>admissible if it never overestimates</a:t>
            </a:r>
            <a:r>
              <a:rPr lang="en-US" dirty="0"/>
              <a:t> the cost of reaching the goal, i.e. the cost it estimates to reach the goal is not higher than the lowest possible cost from the current point in the path (gives the perfect answer).</a:t>
            </a:r>
          </a:p>
        </p:txBody>
      </p:sp>
      <p:sp>
        <p:nvSpPr>
          <p:cNvPr id="4" name="Slide Number Placeholder 3">
            <a:extLst>
              <a:ext uri="{FF2B5EF4-FFF2-40B4-BE49-F238E27FC236}">
                <a16:creationId xmlns:a16="http://schemas.microsoft.com/office/drawing/2014/main" id="{568FA775-4B3E-3BE4-2B1E-CAEC50EE1100}"/>
              </a:ext>
            </a:extLst>
          </p:cNvPr>
          <p:cNvSpPr>
            <a:spLocks noGrp="1"/>
          </p:cNvSpPr>
          <p:nvPr>
            <p:ph type="sldNum" sz="quarter" idx="12"/>
          </p:nvPr>
        </p:nvSpPr>
        <p:spPr/>
        <p:txBody>
          <a:bodyPr/>
          <a:lstStyle/>
          <a:p>
            <a:fld id="{71C6F290-D301-4864-9490-340EF11588D9}" type="slidenum">
              <a:rPr lang="en-US" altLang="en-US" smtClean="0"/>
              <a:pPr/>
              <a:t>31</a:t>
            </a:fld>
            <a:endParaRPr lang="en-US" altLang="en-US" dirty="0"/>
          </a:p>
        </p:txBody>
      </p:sp>
    </p:spTree>
    <p:extLst>
      <p:ext uri="{BB962C8B-B14F-4D97-AF65-F5344CB8AC3E}">
        <p14:creationId xmlns:p14="http://schemas.microsoft.com/office/powerpoint/2010/main" val="32680450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85A5C-B9A0-D4E2-6DDC-B6672FDEA5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5F28D4-F475-6386-4B99-A8EA06CB7FD8}"/>
              </a:ext>
            </a:extLst>
          </p:cNvPr>
          <p:cNvSpPr>
            <a:spLocks noGrp="1"/>
          </p:cNvSpPr>
          <p:nvPr>
            <p:ph type="title"/>
          </p:nvPr>
        </p:nvSpPr>
        <p:spPr/>
        <p:txBody>
          <a:bodyPr/>
          <a:lstStyle/>
          <a:p>
            <a:pPr algn="justLow">
              <a:lnSpc>
                <a:spcPct val="150000"/>
              </a:lnSpc>
            </a:pPr>
            <a:r>
              <a:rPr lang="en-US" sz="3600" b="1" dirty="0">
                <a:solidFill>
                  <a:srgbClr val="00B050"/>
                </a:solidFill>
              </a:rPr>
              <a:t>Greedy Best-First Search</a:t>
            </a:r>
          </a:p>
        </p:txBody>
      </p:sp>
      <p:sp>
        <p:nvSpPr>
          <p:cNvPr id="4" name="Slide Number Placeholder 3">
            <a:extLst>
              <a:ext uri="{FF2B5EF4-FFF2-40B4-BE49-F238E27FC236}">
                <a16:creationId xmlns:a16="http://schemas.microsoft.com/office/drawing/2014/main" id="{654567B2-F4E1-8FB4-753B-73647CA4BF21}"/>
              </a:ext>
            </a:extLst>
          </p:cNvPr>
          <p:cNvSpPr>
            <a:spLocks noGrp="1"/>
          </p:cNvSpPr>
          <p:nvPr>
            <p:ph type="sldNum" sz="quarter" idx="12"/>
          </p:nvPr>
        </p:nvSpPr>
        <p:spPr/>
        <p:txBody>
          <a:bodyPr/>
          <a:lstStyle/>
          <a:p>
            <a:fld id="{71C6F290-D301-4864-9490-340EF11588D9}" type="slidenum">
              <a:rPr lang="en-US" altLang="en-US" smtClean="0"/>
              <a:pPr/>
              <a:t>32</a:t>
            </a:fld>
            <a:endParaRPr lang="en-US" altLang="en-US" dirty="0"/>
          </a:p>
        </p:txBody>
      </p:sp>
      <p:pic>
        <p:nvPicPr>
          <p:cNvPr id="6" name="Picture 5">
            <a:extLst>
              <a:ext uri="{FF2B5EF4-FFF2-40B4-BE49-F238E27FC236}">
                <a16:creationId xmlns:a16="http://schemas.microsoft.com/office/drawing/2014/main" id="{5EB30BA7-993E-3ED4-32DD-9D17212F64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981200"/>
            <a:ext cx="7772400" cy="3886200"/>
          </a:xfrm>
          <a:prstGeom prst="rect">
            <a:avLst/>
          </a:prstGeom>
        </p:spPr>
      </p:pic>
    </p:spTree>
    <p:extLst>
      <p:ext uri="{BB962C8B-B14F-4D97-AF65-F5344CB8AC3E}">
        <p14:creationId xmlns:p14="http://schemas.microsoft.com/office/powerpoint/2010/main" val="1902276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6DEE3-34CA-7456-E1C0-ACEB50F549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BB905F-94AA-DB8A-ADE5-1CFBB5659CAE}"/>
              </a:ext>
            </a:extLst>
          </p:cNvPr>
          <p:cNvSpPr>
            <a:spLocks noGrp="1"/>
          </p:cNvSpPr>
          <p:nvPr>
            <p:ph type="title"/>
          </p:nvPr>
        </p:nvSpPr>
        <p:spPr/>
        <p:txBody>
          <a:bodyPr/>
          <a:lstStyle/>
          <a:p>
            <a:r>
              <a:rPr lang="en-US" dirty="0"/>
              <a:t>Informed (Heuristic) Search Algorithms</a:t>
            </a:r>
          </a:p>
        </p:txBody>
      </p:sp>
      <p:sp>
        <p:nvSpPr>
          <p:cNvPr id="3" name="Content Placeholder 2">
            <a:extLst>
              <a:ext uri="{FF2B5EF4-FFF2-40B4-BE49-F238E27FC236}">
                <a16:creationId xmlns:a16="http://schemas.microsoft.com/office/drawing/2014/main" id="{049AF730-6FC5-7AF7-4927-4E8653997C7C}"/>
              </a:ext>
            </a:extLst>
          </p:cNvPr>
          <p:cNvSpPr>
            <a:spLocks noGrp="1"/>
          </p:cNvSpPr>
          <p:nvPr>
            <p:ph idx="1"/>
          </p:nvPr>
        </p:nvSpPr>
        <p:spPr>
          <a:xfrm>
            <a:off x="609600" y="1836737"/>
            <a:ext cx="7391400" cy="4868863"/>
          </a:xfrm>
        </p:spPr>
        <p:txBody>
          <a:bodyPr>
            <a:normAutofit fontScale="92500"/>
          </a:bodyPr>
          <a:lstStyle/>
          <a:p>
            <a:pPr algn="justLow">
              <a:lnSpc>
                <a:spcPct val="150000"/>
              </a:lnSpc>
            </a:pPr>
            <a:r>
              <a:rPr lang="en-US" sz="3200" b="1" dirty="0">
                <a:solidFill>
                  <a:srgbClr val="00B050"/>
                </a:solidFill>
              </a:rPr>
              <a:t>A* Search</a:t>
            </a:r>
          </a:p>
          <a:p>
            <a:pPr algn="justLow">
              <a:lnSpc>
                <a:spcPct val="150000"/>
              </a:lnSpc>
            </a:pPr>
            <a:endParaRPr lang="en-US" sz="1000" b="1" dirty="0">
              <a:solidFill>
                <a:srgbClr val="00B050"/>
              </a:solidFill>
            </a:endParaRPr>
          </a:p>
          <a:p>
            <a:pPr algn="justLow">
              <a:lnSpc>
                <a:spcPct val="150000"/>
              </a:lnSpc>
            </a:pPr>
            <a:r>
              <a:rPr lang="en-US" b="1" dirty="0">
                <a:solidFill>
                  <a:schemeClr val="accent2">
                    <a:lumMod val="75000"/>
                  </a:schemeClr>
                </a:solidFill>
              </a:rPr>
              <a:t>Definition: </a:t>
            </a:r>
            <a:r>
              <a:rPr lang="en-US" dirty="0"/>
              <a:t>Expands the node with the lowest total estimated cost: actual cost so far (g(n)) + estimated cost to goal (h(n)). </a:t>
            </a:r>
          </a:p>
          <a:p>
            <a:pPr>
              <a:lnSpc>
                <a:spcPct val="150000"/>
              </a:lnSpc>
            </a:pPr>
            <a:endParaRPr lang="en-US" sz="1000" dirty="0"/>
          </a:p>
          <a:p>
            <a:pPr>
              <a:lnSpc>
                <a:spcPct val="150000"/>
              </a:lnSpc>
            </a:pPr>
            <a:r>
              <a:rPr lang="en-US" b="1" dirty="0">
                <a:solidFill>
                  <a:schemeClr val="accent1">
                    <a:lumMod val="75000"/>
                  </a:schemeClr>
                </a:solidFill>
              </a:rPr>
              <a:t>Key Idea: </a:t>
            </a:r>
            <a:r>
              <a:rPr lang="en-US" dirty="0"/>
              <a:t>Balance between exploring cheapest known paths and promising unknown paths.</a:t>
            </a:r>
            <a:endParaRPr lang="en-US" sz="3200" b="1" dirty="0">
              <a:solidFill>
                <a:srgbClr val="00B050"/>
              </a:solidFill>
            </a:endParaRPr>
          </a:p>
        </p:txBody>
      </p:sp>
      <p:sp>
        <p:nvSpPr>
          <p:cNvPr id="4" name="Slide Number Placeholder 3">
            <a:extLst>
              <a:ext uri="{FF2B5EF4-FFF2-40B4-BE49-F238E27FC236}">
                <a16:creationId xmlns:a16="http://schemas.microsoft.com/office/drawing/2014/main" id="{C7498352-D3DF-EB85-7A32-DE12FA6213AA}"/>
              </a:ext>
            </a:extLst>
          </p:cNvPr>
          <p:cNvSpPr>
            <a:spLocks noGrp="1"/>
          </p:cNvSpPr>
          <p:nvPr>
            <p:ph type="sldNum" sz="quarter" idx="12"/>
          </p:nvPr>
        </p:nvSpPr>
        <p:spPr/>
        <p:txBody>
          <a:bodyPr/>
          <a:lstStyle/>
          <a:p>
            <a:fld id="{71C6F290-D301-4864-9490-340EF11588D9}" type="slidenum">
              <a:rPr lang="en-US" altLang="en-US" smtClean="0"/>
              <a:pPr/>
              <a:t>33</a:t>
            </a:fld>
            <a:endParaRPr lang="en-US" altLang="en-US" dirty="0"/>
          </a:p>
        </p:txBody>
      </p:sp>
    </p:spTree>
    <p:extLst>
      <p:ext uri="{BB962C8B-B14F-4D97-AF65-F5344CB8AC3E}">
        <p14:creationId xmlns:p14="http://schemas.microsoft.com/office/powerpoint/2010/main" val="34288258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F153ECA-4B88-9C54-166E-40A0B03ADE3C}"/>
              </a:ext>
            </a:extLst>
          </p:cNvPr>
          <p:cNvSpPr>
            <a:spLocks noGrp="1"/>
          </p:cNvSpPr>
          <p:nvPr>
            <p:ph type="title"/>
          </p:nvPr>
        </p:nvSpPr>
        <p:spPr>
          <a:xfrm>
            <a:off x="228600" y="228600"/>
            <a:ext cx="7696200" cy="381000"/>
          </a:xfrm>
        </p:spPr>
        <p:txBody>
          <a:bodyPr/>
          <a:lstStyle/>
          <a:p>
            <a:r>
              <a:rPr lang="en-US" dirty="0"/>
              <a:t>A* algorithm</a:t>
            </a:r>
          </a:p>
        </p:txBody>
      </p:sp>
      <p:sp>
        <p:nvSpPr>
          <p:cNvPr id="4" name="Slide Number Placeholder 3">
            <a:extLst>
              <a:ext uri="{FF2B5EF4-FFF2-40B4-BE49-F238E27FC236}">
                <a16:creationId xmlns:a16="http://schemas.microsoft.com/office/drawing/2014/main" id="{37B50D53-ABCE-2B1E-98B1-57885ACAC9DA}"/>
              </a:ext>
            </a:extLst>
          </p:cNvPr>
          <p:cNvSpPr>
            <a:spLocks noGrp="1"/>
          </p:cNvSpPr>
          <p:nvPr>
            <p:ph type="sldNum" sz="quarter" idx="12"/>
          </p:nvPr>
        </p:nvSpPr>
        <p:spPr/>
        <p:txBody>
          <a:bodyPr/>
          <a:lstStyle/>
          <a:p>
            <a:fld id="{71C6F290-D301-4864-9490-340EF11588D9}" type="slidenum">
              <a:rPr lang="en-US" altLang="en-US" smtClean="0"/>
              <a:pPr/>
              <a:t>34</a:t>
            </a:fld>
            <a:endParaRPr lang="en-US" altLang="en-US" dirty="0"/>
          </a:p>
        </p:txBody>
      </p:sp>
      <p:sp>
        <p:nvSpPr>
          <p:cNvPr id="6" name="TextBox 5">
            <a:extLst>
              <a:ext uri="{FF2B5EF4-FFF2-40B4-BE49-F238E27FC236}">
                <a16:creationId xmlns:a16="http://schemas.microsoft.com/office/drawing/2014/main" id="{C57D5DA7-4636-F623-6DC4-D4B5549BA912}"/>
              </a:ext>
            </a:extLst>
          </p:cNvPr>
          <p:cNvSpPr txBox="1"/>
          <p:nvPr/>
        </p:nvSpPr>
        <p:spPr>
          <a:xfrm>
            <a:off x="266700" y="914400"/>
            <a:ext cx="8610600" cy="4462760"/>
          </a:xfrm>
          <a:prstGeom prst="rect">
            <a:avLst/>
          </a:prstGeom>
          <a:noFill/>
        </p:spPr>
        <p:txBody>
          <a:bodyPr wrap="square" rtlCol="0">
            <a:spAutoFit/>
          </a:bodyPr>
          <a:lstStyle/>
          <a:p>
            <a:r>
              <a:rPr lang="en-US" sz="2000" dirty="0"/>
              <a:t>procedure </a:t>
            </a:r>
            <a:r>
              <a:rPr lang="en-US" sz="2000" dirty="0" err="1"/>
              <a:t>A_star_search</a:t>
            </a:r>
            <a:r>
              <a:rPr lang="en-US" sz="2000" dirty="0"/>
              <a:t> {</a:t>
            </a:r>
          </a:p>
          <a:p>
            <a:r>
              <a:rPr lang="en-US" sz="2000" dirty="0"/>
              <a:t>    open := [Start];           % Initialize</a:t>
            </a:r>
          </a:p>
          <a:p>
            <a:r>
              <a:rPr lang="en-US" sz="2000" dirty="0"/>
              <a:t>    closed := [];</a:t>
            </a:r>
          </a:p>
          <a:p>
            <a:r>
              <a:rPr lang="en-US" sz="2000" dirty="0"/>
              <a:t>    assign g(Start) := 0;</a:t>
            </a:r>
          </a:p>
          <a:p>
            <a:r>
              <a:rPr lang="en-US" sz="2000" dirty="0"/>
              <a:t>    assign f(Start) := g(Start) + heuristic(Start);</a:t>
            </a:r>
          </a:p>
          <a:p>
            <a:endParaRPr lang="en-US" sz="2000" dirty="0"/>
          </a:p>
          <a:p>
            <a:r>
              <a:rPr lang="en-US" sz="2000" dirty="0"/>
              <a:t>    while open != [] do {      % While states remain</a:t>
            </a:r>
          </a:p>
          <a:p>
            <a:r>
              <a:rPr lang="en-US" sz="2000" dirty="0"/>
              <a:t>        remove the leftmost state from open, call it X;</a:t>
            </a:r>
          </a:p>
          <a:p>
            <a:r>
              <a:rPr lang="en-US" sz="2000" dirty="0"/>
              <a:t>        if X = goal then return path from Start to X;</a:t>
            </a:r>
          </a:p>
          <a:p>
            <a:r>
              <a:rPr lang="en-US" sz="2000" dirty="0"/>
              <a:t>        else {</a:t>
            </a:r>
          </a:p>
          <a:p>
            <a:r>
              <a:rPr lang="en-US" sz="2000" dirty="0"/>
              <a:t>            generate children of X;</a:t>
            </a:r>
          </a:p>
          <a:p>
            <a:r>
              <a:rPr lang="en-US" sz="2000" dirty="0"/>
              <a:t>            </a:t>
            </a:r>
          </a:p>
        </p:txBody>
      </p:sp>
    </p:spTree>
    <p:extLst>
      <p:ext uri="{BB962C8B-B14F-4D97-AF65-F5344CB8AC3E}">
        <p14:creationId xmlns:p14="http://schemas.microsoft.com/office/powerpoint/2010/main" val="34657900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D422F01-837A-EEB6-8C27-E93E41367562}"/>
              </a:ext>
            </a:extLst>
          </p:cNvPr>
          <p:cNvSpPr>
            <a:spLocks noGrp="1"/>
          </p:cNvSpPr>
          <p:nvPr>
            <p:ph type="sldNum" sz="quarter" idx="12"/>
          </p:nvPr>
        </p:nvSpPr>
        <p:spPr/>
        <p:txBody>
          <a:bodyPr/>
          <a:lstStyle/>
          <a:p>
            <a:fld id="{AC3460AA-1533-4548-8781-A6D0EAE276D6}" type="slidenum">
              <a:rPr lang="en-US" altLang="en-US" smtClean="0"/>
              <a:pPr/>
              <a:t>35</a:t>
            </a:fld>
            <a:endParaRPr lang="en-US" altLang="en-US" dirty="0"/>
          </a:p>
        </p:txBody>
      </p:sp>
      <p:sp>
        <p:nvSpPr>
          <p:cNvPr id="5" name="TextBox 4">
            <a:extLst>
              <a:ext uri="{FF2B5EF4-FFF2-40B4-BE49-F238E27FC236}">
                <a16:creationId xmlns:a16="http://schemas.microsoft.com/office/drawing/2014/main" id="{FFAD05DC-8120-C0C8-821C-3FF394C2976A}"/>
              </a:ext>
            </a:extLst>
          </p:cNvPr>
          <p:cNvSpPr txBox="1"/>
          <p:nvPr/>
        </p:nvSpPr>
        <p:spPr>
          <a:xfrm>
            <a:off x="228600" y="0"/>
            <a:ext cx="8763000" cy="6512552"/>
          </a:xfrm>
          <a:prstGeom prst="rect">
            <a:avLst/>
          </a:prstGeom>
          <a:noFill/>
        </p:spPr>
        <p:txBody>
          <a:bodyPr wrap="square" rtlCol="0">
            <a:spAutoFit/>
          </a:bodyPr>
          <a:lstStyle/>
          <a:p>
            <a:r>
              <a:rPr lang="en-US" sz="1400" dirty="0"/>
              <a:t>for each child of X do {</a:t>
            </a:r>
          </a:p>
          <a:p>
            <a:r>
              <a:rPr lang="en-US" sz="1400" dirty="0"/>
              <a:t>                case {</a:t>
            </a:r>
          </a:p>
          <a:p>
            <a:r>
              <a:rPr lang="en-US" sz="1400" dirty="0"/>
              <a:t>                    </a:t>
            </a:r>
            <a:r>
              <a:rPr lang="en-US" sz="1400" dirty="0">
                <a:solidFill>
                  <a:srgbClr val="FF0000"/>
                </a:solidFill>
              </a:rPr>
              <a:t>the child is not on open or closed: {</a:t>
            </a:r>
          </a:p>
          <a:p>
            <a:r>
              <a:rPr lang="en-US" sz="1400" dirty="0">
                <a:solidFill>
                  <a:srgbClr val="FF0000"/>
                </a:solidFill>
              </a:rPr>
              <a:t>                        assign g(child) := g(X) + cost(X, child);</a:t>
            </a:r>
          </a:p>
          <a:p>
            <a:r>
              <a:rPr lang="en-US" sz="1400" dirty="0">
                <a:solidFill>
                  <a:srgbClr val="FF0000"/>
                </a:solidFill>
              </a:rPr>
              <a:t>                        assign f(child) := g(child) + heuristic(child);</a:t>
            </a:r>
          </a:p>
          <a:p>
            <a:r>
              <a:rPr lang="en-US" sz="1400" dirty="0">
                <a:solidFill>
                  <a:srgbClr val="FF0000"/>
                </a:solidFill>
              </a:rPr>
              <a:t>                        add the child to open;</a:t>
            </a:r>
          </a:p>
          <a:p>
            <a:r>
              <a:rPr lang="en-US" sz="1400" dirty="0"/>
              <a:t>                    }</a:t>
            </a:r>
          </a:p>
          <a:p>
            <a:r>
              <a:rPr lang="en-US" sz="1400" dirty="0">
                <a:solidFill>
                  <a:srgbClr val="FF0000"/>
                </a:solidFill>
              </a:rPr>
              <a:t>                    the child is already on open: {</a:t>
            </a:r>
          </a:p>
          <a:p>
            <a:r>
              <a:rPr lang="en-US" sz="1400" dirty="0">
                <a:solidFill>
                  <a:srgbClr val="FF0000"/>
                </a:solidFill>
              </a:rPr>
              <a:t>                        if this child was reached by a shorter path {</a:t>
            </a:r>
          </a:p>
          <a:p>
            <a:r>
              <a:rPr lang="en-US" sz="1400" dirty="0">
                <a:solidFill>
                  <a:srgbClr val="FF0000"/>
                </a:solidFill>
              </a:rPr>
              <a:t>                            assign g(child) := g(X) + cost(X, child);</a:t>
            </a:r>
          </a:p>
          <a:p>
            <a:r>
              <a:rPr lang="en-US" sz="1400" dirty="0">
                <a:solidFill>
                  <a:srgbClr val="FF0000"/>
                </a:solidFill>
              </a:rPr>
              <a:t>                            assign f(child) := g(child) + heuristic(child);</a:t>
            </a:r>
          </a:p>
          <a:p>
            <a:r>
              <a:rPr lang="en-US" sz="1400" dirty="0">
                <a:solidFill>
                  <a:srgbClr val="FF0000"/>
                </a:solidFill>
              </a:rPr>
              <a:t>                            reorder child on open by f value;</a:t>
            </a:r>
          </a:p>
          <a:p>
            <a:r>
              <a:rPr lang="en-US" sz="1400" dirty="0"/>
              <a:t>                        }</a:t>
            </a:r>
          </a:p>
          <a:p>
            <a:r>
              <a:rPr lang="en-US" sz="1400" dirty="0"/>
              <a:t>                    }</a:t>
            </a:r>
          </a:p>
          <a:p>
            <a:r>
              <a:rPr lang="en-US" sz="1400" dirty="0"/>
              <a:t>                    </a:t>
            </a:r>
            <a:r>
              <a:rPr lang="en-US" sz="1400" dirty="0">
                <a:solidFill>
                  <a:srgbClr val="FF0000"/>
                </a:solidFill>
              </a:rPr>
              <a:t>the child is already on closed: {</a:t>
            </a:r>
          </a:p>
          <a:p>
            <a:r>
              <a:rPr lang="en-US" sz="1400" dirty="0">
                <a:solidFill>
                  <a:srgbClr val="FF0000"/>
                </a:solidFill>
              </a:rPr>
              <a:t>                        if this child was reached by a shorter path {</a:t>
            </a:r>
          </a:p>
          <a:p>
            <a:r>
              <a:rPr lang="en-US" sz="1400" dirty="0">
                <a:solidFill>
                  <a:srgbClr val="FF0000"/>
                </a:solidFill>
              </a:rPr>
              <a:t>                            remove the state from closed;</a:t>
            </a:r>
          </a:p>
          <a:p>
            <a:r>
              <a:rPr lang="en-US" sz="1400" dirty="0">
                <a:solidFill>
                  <a:srgbClr val="FF0000"/>
                </a:solidFill>
              </a:rPr>
              <a:t>                            assign g(child) := g(X) + cost(X, child);</a:t>
            </a:r>
          </a:p>
          <a:p>
            <a:r>
              <a:rPr lang="en-US" sz="1400" dirty="0">
                <a:solidFill>
                  <a:srgbClr val="FF0000"/>
                </a:solidFill>
              </a:rPr>
              <a:t>                            assign f(child) := g(child) + heuristic(child);</a:t>
            </a:r>
          </a:p>
          <a:p>
            <a:r>
              <a:rPr lang="en-US" sz="1400" dirty="0">
                <a:solidFill>
                  <a:srgbClr val="FF0000"/>
                </a:solidFill>
              </a:rPr>
              <a:t>                            add this child to open;</a:t>
            </a:r>
          </a:p>
          <a:p>
            <a:r>
              <a:rPr lang="en-US" sz="1400" dirty="0"/>
              <a:t>                        }</a:t>
            </a:r>
          </a:p>
          <a:p>
            <a:r>
              <a:rPr lang="en-US" sz="1400" dirty="0"/>
              <a:t>                    }</a:t>
            </a:r>
          </a:p>
          <a:p>
            <a:r>
              <a:rPr lang="en-US" sz="1400" dirty="0"/>
              <a:t>                }</a:t>
            </a:r>
          </a:p>
          <a:p>
            <a:r>
              <a:rPr lang="en-US" sz="1400" dirty="0"/>
              <a:t>            }, % cases</a:t>
            </a:r>
          </a:p>
          <a:p>
            <a:r>
              <a:rPr lang="en-US" sz="1400" dirty="0"/>
              <a:t>            </a:t>
            </a:r>
            <a:endParaRPr lang="en-US" dirty="0"/>
          </a:p>
        </p:txBody>
      </p:sp>
    </p:spTree>
    <p:extLst>
      <p:ext uri="{BB962C8B-B14F-4D97-AF65-F5344CB8AC3E}">
        <p14:creationId xmlns:p14="http://schemas.microsoft.com/office/powerpoint/2010/main" val="27264624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D0BE8C-FDBA-AB5A-219E-3F9B93E6B937}"/>
              </a:ext>
            </a:extLst>
          </p:cNvPr>
          <p:cNvSpPr>
            <a:spLocks noGrp="1"/>
          </p:cNvSpPr>
          <p:nvPr>
            <p:ph type="sldNum" sz="quarter" idx="12"/>
          </p:nvPr>
        </p:nvSpPr>
        <p:spPr/>
        <p:txBody>
          <a:bodyPr/>
          <a:lstStyle/>
          <a:p>
            <a:fld id="{AC3460AA-1533-4548-8781-A6D0EAE276D6}" type="slidenum">
              <a:rPr lang="en-US" altLang="en-US" smtClean="0"/>
              <a:pPr/>
              <a:t>36</a:t>
            </a:fld>
            <a:endParaRPr lang="en-US" altLang="en-US" dirty="0"/>
          </a:p>
        </p:txBody>
      </p:sp>
      <p:sp>
        <p:nvSpPr>
          <p:cNvPr id="3" name="TextBox 2">
            <a:extLst>
              <a:ext uri="{FF2B5EF4-FFF2-40B4-BE49-F238E27FC236}">
                <a16:creationId xmlns:a16="http://schemas.microsoft.com/office/drawing/2014/main" id="{571C71D4-F701-198D-0D54-0EB5F8355BA4}"/>
              </a:ext>
            </a:extLst>
          </p:cNvPr>
          <p:cNvSpPr txBox="1"/>
          <p:nvPr/>
        </p:nvSpPr>
        <p:spPr>
          <a:xfrm>
            <a:off x="457200" y="533400"/>
            <a:ext cx="8458200" cy="2296013"/>
          </a:xfrm>
          <a:prstGeom prst="rect">
            <a:avLst/>
          </a:prstGeom>
          <a:noFill/>
        </p:spPr>
        <p:txBody>
          <a:bodyPr wrap="square" rtlCol="0">
            <a:spAutoFit/>
          </a:bodyPr>
          <a:lstStyle/>
          <a:p>
            <a:r>
              <a:rPr lang="en-US" sz="1600" dirty="0"/>
              <a:t>put X on closed;</a:t>
            </a:r>
          </a:p>
          <a:p>
            <a:r>
              <a:rPr lang="en-US" sz="1600" dirty="0"/>
              <a:t>            re-order states on open by f value (lowest first);</a:t>
            </a:r>
          </a:p>
          <a:p>
            <a:r>
              <a:rPr lang="en-US" sz="1600" dirty="0"/>
              <a:t>        } % else</a:t>
            </a:r>
          </a:p>
          <a:p>
            <a:r>
              <a:rPr lang="en-US" sz="1600" dirty="0"/>
              <a:t>    } % while</a:t>
            </a:r>
          </a:p>
          <a:p>
            <a:r>
              <a:rPr lang="en-US" sz="1600" dirty="0"/>
              <a:t>    return failure % open is empty</a:t>
            </a:r>
          </a:p>
          <a:p>
            <a:r>
              <a:rPr lang="en-US" sz="1600" dirty="0"/>
              <a:t>} % </a:t>
            </a:r>
            <a:r>
              <a:rPr lang="en-US" sz="1600" dirty="0" err="1"/>
              <a:t>A_star</a:t>
            </a:r>
            <a:endParaRPr lang="en-US" sz="1600" dirty="0"/>
          </a:p>
          <a:p>
            <a:endParaRPr lang="en-US" dirty="0"/>
          </a:p>
        </p:txBody>
      </p:sp>
    </p:spTree>
    <p:extLst>
      <p:ext uri="{BB962C8B-B14F-4D97-AF65-F5344CB8AC3E}">
        <p14:creationId xmlns:p14="http://schemas.microsoft.com/office/powerpoint/2010/main" val="15239160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793DF-BDC6-F359-BA42-06FBA5A4B332}"/>
              </a:ext>
            </a:extLst>
          </p:cNvPr>
          <p:cNvSpPr>
            <a:spLocks noGrp="1"/>
          </p:cNvSpPr>
          <p:nvPr>
            <p:ph type="title"/>
          </p:nvPr>
        </p:nvSpPr>
        <p:spPr>
          <a:xfrm>
            <a:off x="228600" y="228600"/>
            <a:ext cx="7696200" cy="685800"/>
          </a:xfrm>
        </p:spPr>
        <p:txBody>
          <a:bodyPr/>
          <a:lstStyle/>
          <a:p>
            <a:r>
              <a:rPr lang="en-US" dirty="0"/>
              <a:t>A* Example</a:t>
            </a:r>
          </a:p>
        </p:txBody>
      </p:sp>
      <p:sp>
        <p:nvSpPr>
          <p:cNvPr id="3" name="Slide Number Placeholder 2">
            <a:extLst>
              <a:ext uri="{FF2B5EF4-FFF2-40B4-BE49-F238E27FC236}">
                <a16:creationId xmlns:a16="http://schemas.microsoft.com/office/drawing/2014/main" id="{A6D9DDED-BECF-B081-6976-8755767C2F51}"/>
              </a:ext>
            </a:extLst>
          </p:cNvPr>
          <p:cNvSpPr>
            <a:spLocks noGrp="1"/>
          </p:cNvSpPr>
          <p:nvPr>
            <p:ph type="sldNum" sz="quarter" idx="12"/>
          </p:nvPr>
        </p:nvSpPr>
        <p:spPr/>
        <p:txBody>
          <a:bodyPr/>
          <a:lstStyle/>
          <a:p>
            <a:fld id="{D5F02DF6-5EF1-449D-8E8F-F40E7D2FCBCB}" type="slidenum">
              <a:rPr lang="en-US" altLang="en-US" smtClean="0"/>
              <a:pPr/>
              <a:t>37</a:t>
            </a:fld>
            <a:endParaRPr lang="en-US" altLang="en-US" dirty="0"/>
          </a:p>
        </p:txBody>
      </p:sp>
      <p:sp>
        <p:nvSpPr>
          <p:cNvPr id="5" name="TextBox 4">
            <a:extLst>
              <a:ext uri="{FF2B5EF4-FFF2-40B4-BE49-F238E27FC236}">
                <a16:creationId xmlns:a16="http://schemas.microsoft.com/office/drawing/2014/main" id="{28DDCF28-2BF6-D94F-4614-1C0BC483FD52}"/>
              </a:ext>
            </a:extLst>
          </p:cNvPr>
          <p:cNvSpPr txBox="1"/>
          <p:nvPr/>
        </p:nvSpPr>
        <p:spPr>
          <a:xfrm>
            <a:off x="228600" y="982177"/>
            <a:ext cx="8458200" cy="5693866"/>
          </a:xfrm>
          <a:prstGeom prst="rect">
            <a:avLst/>
          </a:prstGeom>
          <a:noFill/>
        </p:spPr>
        <p:txBody>
          <a:bodyPr wrap="square">
            <a:spAutoFit/>
          </a:bodyPr>
          <a:lstStyle/>
          <a:p>
            <a:r>
              <a:rPr lang="en-US" dirty="0"/>
              <a:t>Example Graph: We want to go from Start (S) to Goal (G).</a:t>
            </a:r>
          </a:p>
          <a:p>
            <a:r>
              <a:rPr lang="en-US" dirty="0"/>
              <a:t>Nodes: S, A, B, C, D, G</a:t>
            </a:r>
          </a:p>
          <a:p>
            <a:r>
              <a:rPr lang="en-US" dirty="0"/>
              <a:t>Edges &amp; </a:t>
            </a:r>
            <a:r>
              <a:rPr lang="en-US" dirty="0" err="1"/>
              <a:t>Costs:S</a:t>
            </a:r>
            <a:r>
              <a:rPr lang="en-US" dirty="0"/>
              <a:t> - A (1)</a:t>
            </a:r>
          </a:p>
          <a:p>
            <a:r>
              <a:rPr lang="en-US" dirty="0"/>
              <a:t>S - B (4)</a:t>
            </a:r>
          </a:p>
          <a:p>
            <a:r>
              <a:rPr lang="en-US" dirty="0"/>
              <a:t>A - C (2)</a:t>
            </a:r>
          </a:p>
          <a:p>
            <a:r>
              <a:rPr lang="en-US" dirty="0"/>
              <a:t>B - D (5)</a:t>
            </a:r>
          </a:p>
          <a:p>
            <a:r>
              <a:rPr lang="en-US" dirty="0"/>
              <a:t>C - G (3)</a:t>
            </a:r>
          </a:p>
          <a:p>
            <a:r>
              <a:rPr lang="en-US" dirty="0"/>
              <a:t>D - G (1)</a:t>
            </a:r>
          </a:p>
          <a:p>
            <a:r>
              <a:rPr lang="en-US" dirty="0"/>
              <a:t>Heuristic h(n) (estimated cost to G):</a:t>
            </a:r>
          </a:p>
          <a:p>
            <a:r>
              <a:rPr lang="en-US" dirty="0"/>
              <a:t>S = 7, A = 6, B = 5, C = 2, D = 1, G = 0</a:t>
            </a:r>
          </a:p>
          <a:p>
            <a:r>
              <a:rPr lang="en-US" dirty="0"/>
              <a:t>f(n) = g(n) + h(n)</a:t>
            </a:r>
          </a:p>
        </p:txBody>
      </p:sp>
      <p:sp>
        <p:nvSpPr>
          <p:cNvPr id="7" name="Oval 6">
            <a:extLst>
              <a:ext uri="{FF2B5EF4-FFF2-40B4-BE49-F238E27FC236}">
                <a16:creationId xmlns:a16="http://schemas.microsoft.com/office/drawing/2014/main" id="{068E6ED1-57E8-59AD-E0DF-2B962E4D0D63}"/>
              </a:ext>
            </a:extLst>
          </p:cNvPr>
          <p:cNvSpPr/>
          <p:nvPr/>
        </p:nvSpPr>
        <p:spPr bwMode="auto">
          <a:xfrm>
            <a:off x="5486400" y="1828800"/>
            <a:ext cx="457200" cy="4572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692150" marR="0" indent="-347663" algn="l" defTabSz="914400" rtl="0" eaLnBrk="1" fontAlgn="base" latinLnBrk="0" hangingPunct="1">
              <a:lnSpc>
                <a:spcPct val="100000"/>
              </a:lnSpc>
              <a:spcBef>
                <a:spcPct val="20000"/>
              </a:spcBef>
              <a:spcAft>
                <a:spcPct val="0"/>
              </a:spcAft>
              <a:buClr>
                <a:schemeClr val="accent2"/>
              </a:buClr>
              <a:buSzPct val="70000"/>
              <a:buFont typeface="Wingdings" pitchFamily="2" charset="2"/>
              <a:buChar char="l"/>
              <a:tabLst/>
            </a:pPr>
            <a:endParaRPr kumimoji="0" lang="en-US" sz="2600" b="0" i="0" u="none" strike="noStrike" cap="none" normalizeH="0" baseline="0">
              <a:ln>
                <a:noFill/>
              </a:ln>
              <a:solidFill>
                <a:schemeClr val="tx1"/>
              </a:solidFill>
              <a:effectLst/>
              <a:latin typeface="Arial" charset="0"/>
            </a:endParaRPr>
          </a:p>
        </p:txBody>
      </p:sp>
      <p:pic>
        <p:nvPicPr>
          <p:cNvPr id="9" name="Picture 8">
            <a:extLst>
              <a:ext uri="{FF2B5EF4-FFF2-40B4-BE49-F238E27FC236}">
                <a16:creationId xmlns:a16="http://schemas.microsoft.com/office/drawing/2014/main" id="{FFE14046-CC22-5EAE-E7E9-F3285E278EF5}"/>
              </a:ext>
            </a:extLst>
          </p:cNvPr>
          <p:cNvPicPr>
            <a:picLocks noChangeAspect="1"/>
          </p:cNvPicPr>
          <p:nvPr/>
        </p:nvPicPr>
        <p:blipFill>
          <a:blip r:embed="rId2"/>
          <a:stretch>
            <a:fillRect/>
          </a:stretch>
        </p:blipFill>
        <p:spPr>
          <a:xfrm>
            <a:off x="5653716" y="1647059"/>
            <a:ext cx="3264794" cy="3936460"/>
          </a:xfrm>
          <a:prstGeom prst="rect">
            <a:avLst/>
          </a:prstGeom>
        </p:spPr>
      </p:pic>
    </p:spTree>
    <p:extLst>
      <p:ext uri="{BB962C8B-B14F-4D97-AF65-F5344CB8AC3E}">
        <p14:creationId xmlns:p14="http://schemas.microsoft.com/office/powerpoint/2010/main" val="40290518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F1896-2197-EFFB-3889-433BF972AD20}"/>
              </a:ext>
            </a:extLst>
          </p:cNvPr>
          <p:cNvSpPr>
            <a:spLocks noGrp="1"/>
          </p:cNvSpPr>
          <p:nvPr>
            <p:ph type="title"/>
          </p:nvPr>
        </p:nvSpPr>
        <p:spPr>
          <a:xfrm>
            <a:off x="228600" y="228600"/>
            <a:ext cx="7696200" cy="533400"/>
          </a:xfrm>
        </p:spPr>
        <p:txBody>
          <a:bodyPr/>
          <a:lstStyle/>
          <a:p>
            <a:r>
              <a:rPr lang="en-US" dirty="0"/>
              <a:t>A* Example</a:t>
            </a:r>
          </a:p>
        </p:txBody>
      </p:sp>
      <p:sp>
        <p:nvSpPr>
          <p:cNvPr id="3" name="Slide Number Placeholder 2">
            <a:extLst>
              <a:ext uri="{FF2B5EF4-FFF2-40B4-BE49-F238E27FC236}">
                <a16:creationId xmlns:a16="http://schemas.microsoft.com/office/drawing/2014/main" id="{007E8F85-8812-59D3-BA15-74B94CC27A7E}"/>
              </a:ext>
            </a:extLst>
          </p:cNvPr>
          <p:cNvSpPr>
            <a:spLocks noGrp="1"/>
          </p:cNvSpPr>
          <p:nvPr>
            <p:ph type="sldNum" sz="quarter" idx="12"/>
          </p:nvPr>
        </p:nvSpPr>
        <p:spPr/>
        <p:txBody>
          <a:bodyPr/>
          <a:lstStyle/>
          <a:p>
            <a:fld id="{D5F02DF6-5EF1-449D-8E8F-F40E7D2FCBCB}" type="slidenum">
              <a:rPr lang="en-US" altLang="en-US" smtClean="0"/>
              <a:pPr/>
              <a:t>38</a:t>
            </a:fld>
            <a:endParaRPr lang="en-US" altLang="en-US" dirty="0"/>
          </a:p>
        </p:txBody>
      </p:sp>
      <p:sp>
        <p:nvSpPr>
          <p:cNvPr id="4" name="TextBox 3">
            <a:extLst>
              <a:ext uri="{FF2B5EF4-FFF2-40B4-BE49-F238E27FC236}">
                <a16:creationId xmlns:a16="http://schemas.microsoft.com/office/drawing/2014/main" id="{9AF6A9EF-2DDB-9D4A-BB2F-32353A8FB97D}"/>
              </a:ext>
            </a:extLst>
          </p:cNvPr>
          <p:cNvSpPr txBox="1"/>
          <p:nvPr/>
        </p:nvSpPr>
        <p:spPr>
          <a:xfrm>
            <a:off x="76200" y="913317"/>
            <a:ext cx="8305800" cy="5773888"/>
          </a:xfrm>
          <a:prstGeom prst="rect">
            <a:avLst/>
          </a:prstGeom>
          <a:noFill/>
        </p:spPr>
        <p:txBody>
          <a:bodyPr wrap="square" rtlCol="0">
            <a:spAutoFit/>
          </a:bodyPr>
          <a:lstStyle/>
          <a:p>
            <a:r>
              <a:rPr lang="en-US" dirty="0">
                <a:solidFill>
                  <a:srgbClr val="FF0000"/>
                </a:solidFill>
              </a:rPr>
              <a:t>Step 0:  </a:t>
            </a:r>
            <a:r>
              <a:rPr lang="en-US" dirty="0"/>
              <a:t>- Start at S  </a:t>
            </a:r>
          </a:p>
          <a:p>
            <a:r>
              <a:rPr lang="en-US" dirty="0"/>
              <a:t>- g(S) = 0, h(S) = 7 → f(S) = 7 </a:t>
            </a:r>
          </a:p>
          <a:p>
            <a:r>
              <a:rPr lang="en-US" dirty="0"/>
              <a:t> - Open: [S(0+7=7)]  - Closed: []</a:t>
            </a:r>
          </a:p>
          <a:p>
            <a:endParaRPr lang="en-US" dirty="0"/>
          </a:p>
          <a:p>
            <a:r>
              <a:rPr lang="en-US" dirty="0">
                <a:solidFill>
                  <a:srgbClr val="FF0000"/>
                </a:solidFill>
              </a:rPr>
              <a:t>Step 1:  </a:t>
            </a:r>
          </a:p>
          <a:p>
            <a:r>
              <a:rPr lang="en-US" dirty="0"/>
              <a:t>- Pop S from Open → move to Closed </a:t>
            </a:r>
          </a:p>
          <a:p>
            <a:r>
              <a:rPr lang="en-US" dirty="0"/>
              <a:t> - Neighbors: A(g=1), B(g=4)</a:t>
            </a:r>
          </a:p>
          <a:p>
            <a:r>
              <a:rPr lang="en-US" dirty="0"/>
              <a:t>- f(A) = 1 + 6 = 7  </a:t>
            </a:r>
          </a:p>
          <a:p>
            <a:r>
              <a:rPr lang="en-US" dirty="0"/>
              <a:t>- f(B) = 4 + 5 = 9  `</a:t>
            </a:r>
          </a:p>
          <a:p>
            <a:r>
              <a:rPr lang="en-US" dirty="0"/>
              <a:t>- Open: [A(7), B(9)] </a:t>
            </a:r>
          </a:p>
          <a:p>
            <a:r>
              <a:rPr lang="en-US" dirty="0"/>
              <a:t> - Closed: [S]</a:t>
            </a:r>
          </a:p>
          <a:p>
            <a:endParaRPr lang="en-US" dirty="0"/>
          </a:p>
        </p:txBody>
      </p:sp>
      <p:pic>
        <p:nvPicPr>
          <p:cNvPr id="6" name="Picture 5">
            <a:extLst>
              <a:ext uri="{FF2B5EF4-FFF2-40B4-BE49-F238E27FC236}">
                <a16:creationId xmlns:a16="http://schemas.microsoft.com/office/drawing/2014/main" id="{8AD2568A-B879-DB89-6C02-D7FD09895E04}"/>
              </a:ext>
            </a:extLst>
          </p:cNvPr>
          <p:cNvPicPr>
            <a:picLocks noChangeAspect="1"/>
          </p:cNvPicPr>
          <p:nvPr/>
        </p:nvPicPr>
        <p:blipFill>
          <a:blip r:embed="rId2"/>
          <a:stretch>
            <a:fillRect/>
          </a:stretch>
        </p:blipFill>
        <p:spPr>
          <a:xfrm>
            <a:off x="5907198" y="1752600"/>
            <a:ext cx="3264794" cy="3936460"/>
          </a:xfrm>
          <a:prstGeom prst="rect">
            <a:avLst/>
          </a:prstGeom>
        </p:spPr>
      </p:pic>
    </p:spTree>
    <p:extLst>
      <p:ext uri="{BB962C8B-B14F-4D97-AF65-F5344CB8AC3E}">
        <p14:creationId xmlns:p14="http://schemas.microsoft.com/office/powerpoint/2010/main" val="10611925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247CFB-484B-C2C9-B11E-28BFDACE75FA}"/>
              </a:ext>
            </a:extLst>
          </p:cNvPr>
          <p:cNvSpPr>
            <a:spLocks noGrp="1"/>
          </p:cNvSpPr>
          <p:nvPr>
            <p:ph type="title"/>
          </p:nvPr>
        </p:nvSpPr>
        <p:spPr>
          <a:xfrm>
            <a:off x="228600" y="228600"/>
            <a:ext cx="7696200" cy="609600"/>
          </a:xfrm>
        </p:spPr>
        <p:txBody>
          <a:bodyPr/>
          <a:lstStyle/>
          <a:p>
            <a:r>
              <a:rPr lang="en-US" dirty="0"/>
              <a:t>A* Example</a:t>
            </a:r>
          </a:p>
        </p:txBody>
      </p:sp>
      <p:sp>
        <p:nvSpPr>
          <p:cNvPr id="3" name="Slide Number Placeholder 2">
            <a:extLst>
              <a:ext uri="{FF2B5EF4-FFF2-40B4-BE49-F238E27FC236}">
                <a16:creationId xmlns:a16="http://schemas.microsoft.com/office/drawing/2014/main" id="{7E71DBFE-8BFE-815B-218E-4D33AD8A0930}"/>
              </a:ext>
            </a:extLst>
          </p:cNvPr>
          <p:cNvSpPr>
            <a:spLocks noGrp="1"/>
          </p:cNvSpPr>
          <p:nvPr>
            <p:ph type="sldNum" sz="quarter" idx="12"/>
          </p:nvPr>
        </p:nvSpPr>
        <p:spPr/>
        <p:txBody>
          <a:bodyPr/>
          <a:lstStyle/>
          <a:p>
            <a:fld id="{D5F02DF6-5EF1-449D-8E8F-F40E7D2FCBCB}" type="slidenum">
              <a:rPr lang="en-US" altLang="en-US" smtClean="0"/>
              <a:pPr/>
              <a:t>39</a:t>
            </a:fld>
            <a:endParaRPr lang="en-US" altLang="en-US" dirty="0"/>
          </a:p>
        </p:txBody>
      </p:sp>
      <p:sp>
        <p:nvSpPr>
          <p:cNvPr id="5" name="TextBox 4">
            <a:extLst>
              <a:ext uri="{FF2B5EF4-FFF2-40B4-BE49-F238E27FC236}">
                <a16:creationId xmlns:a16="http://schemas.microsoft.com/office/drawing/2014/main" id="{9951106C-9175-D2C0-B563-960E8373A6EE}"/>
              </a:ext>
            </a:extLst>
          </p:cNvPr>
          <p:cNvSpPr txBox="1"/>
          <p:nvPr/>
        </p:nvSpPr>
        <p:spPr>
          <a:xfrm>
            <a:off x="200608" y="955488"/>
            <a:ext cx="8610600" cy="5521512"/>
          </a:xfrm>
          <a:prstGeom prst="rect">
            <a:avLst/>
          </a:prstGeom>
          <a:noFill/>
        </p:spPr>
        <p:txBody>
          <a:bodyPr wrap="square" rtlCol="0">
            <a:spAutoFit/>
          </a:bodyPr>
          <a:lstStyle/>
          <a:p>
            <a:r>
              <a:rPr lang="en-US" sz="2400" dirty="0">
                <a:solidFill>
                  <a:srgbClr val="FF0000"/>
                </a:solidFill>
              </a:rPr>
              <a:t>Step 2: </a:t>
            </a:r>
          </a:p>
          <a:p>
            <a:r>
              <a:rPr lang="en-US" sz="2400" dirty="0"/>
              <a:t> - Pop A (lowest f=7)  </a:t>
            </a:r>
          </a:p>
          <a:p>
            <a:r>
              <a:rPr lang="en-US" sz="2400" dirty="0"/>
              <a:t>- Neighbors: C(g=1+2=3)</a:t>
            </a:r>
          </a:p>
          <a:p>
            <a:r>
              <a:rPr lang="en-US" sz="2400" dirty="0"/>
              <a:t>- f(C) = 3 + 2 = 5 </a:t>
            </a:r>
          </a:p>
          <a:p>
            <a:r>
              <a:rPr lang="en-US" sz="2400" dirty="0"/>
              <a:t> - Open: [C(5), B(9)] </a:t>
            </a:r>
          </a:p>
          <a:p>
            <a:r>
              <a:rPr lang="en-US" sz="2400" dirty="0"/>
              <a:t> - Closed: [S, A]</a:t>
            </a:r>
          </a:p>
          <a:p>
            <a:r>
              <a:rPr lang="en-US" sz="2400" dirty="0">
                <a:solidFill>
                  <a:srgbClr val="FF0000"/>
                </a:solidFill>
              </a:rPr>
              <a:t>Step 3:  </a:t>
            </a:r>
          </a:p>
          <a:p>
            <a:r>
              <a:rPr lang="en-US" sz="2400" dirty="0"/>
              <a:t>- Pop C (lowest f=5)  </a:t>
            </a:r>
          </a:p>
          <a:p>
            <a:r>
              <a:rPr lang="en-US" sz="2400" dirty="0"/>
              <a:t>- Neighbors: G(g=3+3=6)</a:t>
            </a:r>
          </a:p>
          <a:p>
            <a:r>
              <a:rPr lang="en-US" sz="2400" dirty="0"/>
              <a:t>- f(G) = 6 + 0 = 6  </a:t>
            </a:r>
          </a:p>
          <a:p>
            <a:r>
              <a:rPr lang="en-US" sz="2400" dirty="0"/>
              <a:t>- Open: [G(6), B(9)] </a:t>
            </a:r>
          </a:p>
          <a:p>
            <a:r>
              <a:rPr lang="en-US" sz="2400" dirty="0"/>
              <a:t> - Closed: [S, A, C]</a:t>
            </a:r>
            <a:endParaRPr lang="en-US" dirty="0"/>
          </a:p>
        </p:txBody>
      </p:sp>
      <p:pic>
        <p:nvPicPr>
          <p:cNvPr id="2" name="Picture 1">
            <a:extLst>
              <a:ext uri="{FF2B5EF4-FFF2-40B4-BE49-F238E27FC236}">
                <a16:creationId xmlns:a16="http://schemas.microsoft.com/office/drawing/2014/main" id="{9E00D414-F651-7A42-677E-98DD4AC5F48E}"/>
              </a:ext>
            </a:extLst>
          </p:cNvPr>
          <p:cNvPicPr>
            <a:picLocks noChangeAspect="1"/>
          </p:cNvPicPr>
          <p:nvPr/>
        </p:nvPicPr>
        <p:blipFill>
          <a:blip r:embed="rId2"/>
          <a:stretch>
            <a:fillRect/>
          </a:stretch>
        </p:blipFill>
        <p:spPr>
          <a:xfrm>
            <a:off x="5422006" y="1616608"/>
            <a:ext cx="3264794" cy="3936460"/>
          </a:xfrm>
          <a:prstGeom prst="rect">
            <a:avLst/>
          </a:prstGeom>
        </p:spPr>
      </p:pic>
    </p:spTree>
    <p:extLst>
      <p:ext uri="{BB962C8B-B14F-4D97-AF65-F5344CB8AC3E}">
        <p14:creationId xmlns:p14="http://schemas.microsoft.com/office/powerpoint/2010/main" val="5905432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9F768-3E65-0956-A537-8169E0A842A7}"/>
              </a:ext>
            </a:extLst>
          </p:cNvPr>
          <p:cNvSpPr>
            <a:spLocks noGrp="1"/>
          </p:cNvSpPr>
          <p:nvPr>
            <p:ph type="title"/>
          </p:nvPr>
        </p:nvSpPr>
        <p:spPr>
          <a:xfrm>
            <a:off x="228600" y="228600"/>
            <a:ext cx="7696200" cy="533400"/>
          </a:xfrm>
        </p:spPr>
        <p:txBody>
          <a:bodyPr/>
          <a:lstStyle/>
          <a:p>
            <a:r>
              <a:rPr lang="en-US" dirty="0"/>
              <a:t>A* algorithm</a:t>
            </a:r>
          </a:p>
        </p:txBody>
      </p:sp>
      <p:sp>
        <p:nvSpPr>
          <p:cNvPr id="3" name="Slide Number Placeholder 2">
            <a:extLst>
              <a:ext uri="{FF2B5EF4-FFF2-40B4-BE49-F238E27FC236}">
                <a16:creationId xmlns:a16="http://schemas.microsoft.com/office/drawing/2014/main" id="{CE2B7B88-54E4-D3C7-6228-BA0527A8850A}"/>
              </a:ext>
            </a:extLst>
          </p:cNvPr>
          <p:cNvSpPr>
            <a:spLocks noGrp="1"/>
          </p:cNvSpPr>
          <p:nvPr>
            <p:ph type="sldNum" sz="quarter" idx="12"/>
          </p:nvPr>
        </p:nvSpPr>
        <p:spPr/>
        <p:txBody>
          <a:bodyPr/>
          <a:lstStyle/>
          <a:p>
            <a:fld id="{D5F02DF6-5EF1-449D-8E8F-F40E7D2FCBCB}" type="slidenum">
              <a:rPr lang="en-US" altLang="en-US" smtClean="0"/>
              <a:pPr/>
              <a:t>40</a:t>
            </a:fld>
            <a:endParaRPr lang="en-US" altLang="en-US" dirty="0"/>
          </a:p>
        </p:txBody>
      </p:sp>
      <p:sp>
        <p:nvSpPr>
          <p:cNvPr id="4" name="TextBox 3">
            <a:extLst>
              <a:ext uri="{FF2B5EF4-FFF2-40B4-BE49-F238E27FC236}">
                <a16:creationId xmlns:a16="http://schemas.microsoft.com/office/drawing/2014/main" id="{E5327BD3-76A0-ED1A-FEE7-5C06A004D4D2}"/>
              </a:ext>
            </a:extLst>
          </p:cNvPr>
          <p:cNvSpPr txBox="1"/>
          <p:nvPr/>
        </p:nvSpPr>
        <p:spPr>
          <a:xfrm>
            <a:off x="228600" y="1219200"/>
            <a:ext cx="8686800" cy="2246769"/>
          </a:xfrm>
          <a:prstGeom prst="rect">
            <a:avLst/>
          </a:prstGeom>
          <a:noFill/>
        </p:spPr>
        <p:txBody>
          <a:bodyPr wrap="square" rtlCol="0">
            <a:spAutoFit/>
          </a:bodyPr>
          <a:lstStyle/>
          <a:p>
            <a:r>
              <a:rPr lang="en-US" sz="2000" dirty="0">
                <a:solidFill>
                  <a:srgbClr val="FF0000"/>
                </a:solidFill>
              </a:rPr>
              <a:t>Step 4:  </a:t>
            </a:r>
          </a:p>
          <a:p>
            <a:r>
              <a:rPr lang="en-US" sz="2000" dirty="0"/>
              <a:t>- Pop G → Goal Reached! </a:t>
            </a:r>
          </a:p>
          <a:p>
            <a:r>
              <a:rPr lang="en-US" sz="2000" dirty="0"/>
              <a:t> - Total cost = 6, </a:t>
            </a:r>
          </a:p>
          <a:p>
            <a:r>
              <a:rPr lang="en-US" sz="2000" dirty="0"/>
              <a:t>Path: S → A → C → G  </a:t>
            </a:r>
          </a:p>
          <a:p>
            <a:r>
              <a:rPr lang="en-US" sz="2000" dirty="0"/>
              <a:t>- Open: [B(9)] </a:t>
            </a:r>
          </a:p>
          <a:p>
            <a:r>
              <a:rPr lang="en-US" sz="2000" dirty="0"/>
              <a:t> - Closed: [S, A, C, G]</a:t>
            </a:r>
            <a:endParaRPr lang="en-US" dirty="0"/>
          </a:p>
        </p:txBody>
      </p:sp>
      <p:pic>
        <p:nvPicPr>
          <p:cNvPr id="5" name="Picture 4">
            <a:extLst>
              <a:ext uri="{FF2B5EF4-FFF2-40B4-BE49-F238E27FC236}">
                <a16:creationId xmlns:a16="http://schemas.microsoft.com/office/drawing/2014/main" id="{45540237-748B-A6A9-5E42-9F4992871E5D}"/>
              </a:ext>
            </a:extLst>
          </p:cNvPr>
          <p:cNvPicPr>
            <a:picLocks noChangeAspect="1"/>
          </p:cNvPicPr>
          <p:nvPr/>
        </p:nvPicPr>
        <p:blipFill>
          <a:blip r:embed="rId2"/>
          <a:stretch>
            <a:fillRect/>
          </a:stretch>
        </p:blipFill>
        <p:spPr>
          <a:xfrm>
            <a:off x="4267200" y="990600"/>
            <a:ext cx="3264794" cy="3936460"/>
          </a:xfrm>
          <a:prstGeom prst="rect">
            <a:avLst/>
          </a:prstGeom>
        </p:spPr>
      </p:pic>
    </p:spTree>
    <p:extLst>
      <p:ext uri="{BB962C8B-B14F-4D97-AF65-F5344CB8AC3E}">
        <p14:creationId xmlns:p14="http://schemas.microsoft.com/office/powerpoint/2010/main" val="27136544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478C6-48A5-2BEA-584B-C1C72F7D97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E26803-061D-EE4E-1487-58EB61F0742D}"/>
              </a:ext>
            </a:extLst>
          </p:cNvPr>
          <p:cNvSpPr>
            <a:spLocks noGrp="1"/>
          </p:cNvSpPr>
          <p:nvPr>
            <p:ph type="title"/>
          </p:nvPr>
        </p:nvSpPr>
        <p:spPr/>
        <p:txBody>
          <a:bodyPr/>
          <a:lstStyle/>
          <a:p>
            <a:r>
              <a:rPr lang="en-US" dirty="0"/>
              <a:t>Informed (Heuristic) Search Algorithms</a:t>
            </a:r>
          </a:p>
        </p:txBody>
      </p:sp>
      <p:sp>
        <p:nvSpPr>
          <p:cNvPr id="3" name="Content Placeholder 2">
            <a:extLst>
              <a:ext uri="{FF2B5EF4-FFF2-40B4-BE49-F238E27FC236}">
                <a16:creationId xmlns:a16="http://schemas.microsoft.com/office/drawing/2014/main" id="{85E8AE76-7CF7-0817-0BC5-9E8433D59526}"/>
              </a:ext>
            </a:extLst>
          </p:cNvPr>
          <p:cNvSpPr>
            <a:spLocks noGrp="1"/>
          </p:cNvSpPr>
          <p:nvPr>
            <p:ph idx="1"/>
          </p:nvPr>
        </p:nvSpPr>
        <p:spPr>
          <a:xfrm>
            <a:off x="609600" y="1836737"/>
            <a:ext cx="7391400" cy="4868863"/>
          </a:xfrm>
        </p:spPr>
        <p:txBody>
          <a:bodyPr>
            <a:normAutofit/>
          </a:bodyPr>
          <a:lstStyle/>
          <a:p>
            <a:pPr algn="justLow">
              <a:lnSpc>
                <a:spcPct val="150000"/>
              </a:lnSpc>
            </a:pPr>
            <a:r>
              <a:rPr lang="en-US" sz="3200" b="1" dirty="0">
                <a:solidFill>
                  <a:srgbClr val="00B050"/>
                </a:solidFill>
              </a:rPr>
              <a:t>A* Search</a:t>
            </a:r>
          </a:p>
          <a:p>
            <a:pPr algn="justLow">
              <a:lnSpc>
                <a:spcPct val="150000"/>
              </a:lnSpc>
            </a:pPr>
            <a:endParaRPr lang="en-US" sz="1000" b="1" dirty="0">
              <a:solidFill>
                <a:srgbClr val="00B050"/>
              </a:solidFill>
            </a:endParaRPr>
          </a:p>
          <a:p>
            <a:pPr>
              <a:lnSpc>
                <a:spcPct val="150000"/>
              </a:lnSpc>
            </a:pPr>
            <a:r>
              <a:rPr lang="en-US" b="1" dirty="0">
                <a:solidFill>
                  <a:schemeClr val="accent1">
                    <a:lumMod val="75000"/>
                  </a:schemeClr>
                </a:solidFill>
              </a:rPr>
              <a:t>Pros: </a:t>
            </a:r>
            <a:r>
              <a:rPr lang="en-US" dirty="0"/>
              <a:t>Complete, Optimal (if heuristic is admissible)</a:t>
            </a:r>
          </a:p>
          <a:p>
            <a:pPr>
              <a:lnSpc>
                <a:spcPct val="150000"/>
              </a:lnSpc>
            </a:pPr>
            <a:r>
              <a:rPr lang="en-US" b="1" dirty="0">
                <a:solidFill>
                  <a:schemeClr val="accent1">
                    <a:lumMod val="75000"/>
                  </a:schemeClr>
                </a:solidFill>
              </a:rPr>
              <a:t>Cons: </a:t>
            </a:r>
            <a:r>
              <a:rPr lang="en-US" dirty="0"/>
              <a:t>High memory usage.</a:t>
            </a:r>
          </a:p>
          <a:p>
            <a:pPr>
              <a:lnSpc>
                <a:spcPct val="150000"/>
              </a:lnSpc>
            </a:pPr>
            <a:endParaRPr lang="en-US" sz="1000" dirty="0"/>
          </a:p>
          <a:p>
            <a:pPr>
              <a:lnSpc>
                <a:spcPct val="150000"/>
              </a:lnSpc>
            </a:pPr>
            <a:r>
              <a:rPr lang="en-US" sz="2400" b="1" dirty="0">
                <a:solidFill>
                  <a:srgbClr val="B94917"/>
                </a:solidFill>
              </a:rPr>
              <a:t>Example : </a:t>
            </a:r>
            <a:r>
              <a:rPr lang="en-US" sz="2400" dirty="0"/>
              <a:t>Choosing a path based on how much you have already walked + how far you think is left.</a:t>
            </a:r>
            <a:endParaRPr lang="en-US" sz="3200" b="1" dirty="0">
              <a:solidFill>
                <a:srgbClr val="00B050"/>
              </a:solidFill>
            </a:endParaRPr>
          </a:p>
        </p:txBody>
      </p:sp>
      <p:sp>
        <p:nvSpPr>
          <p:cNvPr id="4" name="Slide Number Placeholder 3">
            <a:extLst>
              <a:ext uri="{FF2B5EF4-FFF2-40B4-BE49-F238E27FC236}">
                <a16:creationId xmlns:a16="http://schemas.microsoft.com/office/drawing/2014/main" id="{B81705B8-94C8-5ECE-93D6-D6FE1A3631B5}"/>
              </a:ext>
            </a:extLst>
          </p:cNvPr>
          <p:cNvSpPr>
            <a:spLocks noGrp="1"/>
          </p:cNvSpPr>
          <p:nvPr>
            <p:ph type="sldNum" sz="quarter" idx="12"/>
          </p:nvPr>
        </p:nvSpPr>
        <p:spPr/>
        <p:txBody>
          <a:bodyPr/>
          <a:lstStyle/>
          <a:p>
            <a:fld id="{71C6F290-D301-4864-9490-340EF11588D9}" type="slidenum">
              <a:rPr lang="en-US" altLang="en-US" smtClean="0"/>
              <a:pPr/>
              <a:t>41</a:t>
            </a:fld>
            <a:endParaRPr lang="en-US" altLang="en-US" dirty="0"/>
          </a:p>
        </p:txBody>
      </p:sp>
    </p:spTree>
    <p:extLst>
      <p:ext uri="{BB962C8B-B14F-4D97-AF65-F5344CB8AC3E}">
        <p14:creationId xmlns:p14="http://schemas.microsoft.com/office/powerpoint/2010/main" val="23759422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81B2E-9FE1-D02B-2FB6-C8519CA5B5E9}"/>
              </a:ext>
            </a:extLst>
          </p:cNvPr>
          <p:cNvSpPr>
            <a:spLocks noGrp="1"/>
          </p:cNvSpPr>
          <p:nvPr>
            <p:ph type="title"/>
          </p:nvPr>
        </p:nvSpPr>
        <p:spPr>
          <a:xfrm>
            <a:off x="228600" y="228600"/>
            <a:ext cx="7696200" cy="457200"/>
          </a:xfrm>
        </p:spPr>
        <p:txBody>
          <a:bodyPr/>
          <a:lstStyle/>
          <a:p>
            <a:endParaRPr lang="en-US" dirty="0"/>
          </a:p>
        </p:txBody>
      </p:sp>
      <p:pic>
        <p:nvPicPr>
          <p:cNvPr id="5" name="Content Placeholder 4">
            <a:extLst>
              <a:ext uri="{FF2B5EF4-FFF2-40B4-BE49-F238E27FC236}">
                <a16:creationId xmlns:a16="http://schemas.microsoft.com/office/drawing/2014/main" id="{D8D9603F-2026-3838-D680-927B352E4C3D}"/>
              </a:ext>
            </a:extLst>
          </p:cNvPr>
          <p:cNvPicPr>
            <a:picLocks noGrp="1" noChangeAspect="1"/>
          </p:cNvPicPr>
          <p:nvPr>
            <p:ph idx="1"/>
          </p:nvPr>
        </p:nvPicPr>
        <p:blipFill>
          <a:blip r:embed="rId2"/>
          <a:stretch>
            <a:fillRect/>
          </a:stretch>
        </p:blipFill>
        <p:spPr>
          <a:xfrm>
            <a:off x="609600" y="990600"/>
            <a:ext cx="7162799" cy="5638800"/>
          </a:xfrm>
          <a:prstGeom prst="rect">
            <a:avLst/>
          </a:prstGeom>
        </p:spPr>
      </p:pic>
      <p:sp>
        <p:nvSpPr>
          <p:cNvPr id="4" name="Slide Number Placeholder 3">
            <a:extLst>
              <a:ext uri="{FF2B5EF4-FFF2-40B4-BE49-F238E27FC236}">
                <a16:creationId xmlns:a16="http://schemas.microsoft.com/office/drawing/2014/main" id="{E87251C9-F033-BBBA-F719-D6ABBF7FA03D}"/>
              </a:ext>
            </a:extLst>
          </p:cNvPr>
          <p:cNvSpPr>
            <a:spLocks noGrp="1"/>
          </p:cNvSpPr>
          <p:nvPr>
            <p:ph type="sldNum" sz="quarter" idx="12"/>
          </p:nvPr>
        </p:nvSpPr>
        <p:spPr/>
        <p:txBody>
          <a:bodyPr/>
          <a:lstStyle/>
          <a:p>
            <a:fld id="{71C6F290-D301-4864-9490-340EF11588D9}" type="slidenum">
              <a:rPr lang="en-US" altLang="en-US" smtClean="0"/>
              <a:pPr/>
              <a:t>42</a:t>
            </a:fld>
            <a:endParaRPr lang="en-US" altLang="en-US" dirty="0"/>
          </a:p>
        </p:txBody>
      </p:sp>
    </p:spTree>
    <p:extLst>
      <p:ext uri="{BB962C8B-B14F-4D97-AF65-F5344CB8AC3E}">
        <p14:creationId xmlns:p14="http://schemas.microsoft.com/office/powerpoint/2010/main" val="13345113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5436D-7F38-29F4-DE4A-AD9FB239751B}"/>
              </a:ext>
            </a:extLst>
          </p:cNvPr>
          <p:cNvSpPr>
            <a:spLocks noGrp="1"/>
          </p:cNvSpPr>
          <p:nvPr>
            <p:ph type="title"/>
          </p:nvPr>
        </p:nvSpPr>
        <p:spPr>
          <a:xfrm>
            <a:off x="228600" y="228600"/>
            <a:ext cx="8001000" cy="685800"/>
          </a:xfrm>
        </p:spPr>
        <p:txBody>
          <a:bodyPr/>
          <a:lstStyle/>
          <a:p>
            <a:r>
              <a:rPr lang="en-US" dirty="0"/>
              <a:t>A* Example</a:t>
            </a:r>
          </a:p>
        </p:txBody>
      </p:sp>
      <p:pic>
        <p:nvPicPr>
          <p:cNvPr id="6" name="Content Placeholder 5" descr="A crossword puzzle with black and white text&#10;&#10;AI-generated content may be incorrect.">
            <a:extLst>
              <a:ext uri="{FF2B5EF4-FFF2-40B4-BE49-F238E27FC236}">
                <a16:creationId xmlns:a16="http://schemas.microsoft.com/office/drawing/2014/main" id="{7B81DD97-8CAD-5BE0-FC78-0442A6F2D38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066800"/>
            <a:ext cx="7086600" cy="4347947"/>
          </a:xfrm>
        </p:spPr>
      </p:pic>
      <p:sp>
        <p:nvSpPr>
          <p:cNvPr id="4" name="Slide Number Placeholder 3">
            <a:extLst>
              <a:ext uri="{FF2B5EF4-FFF2-40B4-BE49-F238E27FC236}">
                <a16:creationId xmlns:a16="http://schemas.microsoft.com/office/drawing/2014/main" id="{7864EF91-2FC3-E8A6-524A-044D33352114}"/>
              </a:ext>
            </a:extLst>
          </p:cNvPr>
          <p:cNvSpPr>
            <a:spLocks noGrp="1"/>
          </p:cNvSpPr>
          <p:nvPr>
            <p:ph type="sldNum" sz="quarter" idx="12"/>
          </p:nvPr>
        </p:nvSpPr>
        <p:spPr/>
        <p:txBody>
          <a:bodyPr/>
          <a:lstStyle/>
          <a:p>
            <a:fld id="{71C6F290-D301-4864-9490-340EF11588D9}" type="slidenum">
              <a:rPr lang="en-US" altLang="en-US" smtClean="0"/>
              <a:pPr/>
              <a:t>43</a:t>
            </a:fld>
            <a:endParaRPr lang="en-US" altLang="en-US" dirty="0"/>
          </a:p>
        </p:txBody>
      </p:sp>
    </p:spTree>
    <p:extLst>
      <p:ext uri="{BB962C8B-B14F-4D97-AF65-F5344CB8AC3E}">
        <p14:creationId xmlns:p14="http://schemas.microsoft.com/office/powerpoint/2010/main" val="20130709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2FD37-EC5F-FB93-C94D-7BE5F59C4203}"/>
              </a:ext>
            </a:extLst>
          </p:cNvPr>
          <p:cNvSpPr>
            <a:spLocks noGrp="1"/>
          </p:cNvSpPr>
          <p:nvPr>
            <p:ph type="title"/>
          </p:nvPr>
        </p:nvSpPr>
        <p:spPr/>
        <p:txBody>
          <a:bodyPr/>
          <a:lstStyle/>
          <a:p>
            <a:r>
              <a:rPr lang="en-US" dirty="0"/>
              <a:t>A* Example</a:t>
            </a:r>
          </a:p>
        </p:txBody>
      </p:sp>
      <p:pic>
        <p:nvPicPr>
          <p:cNvPr id="5" name="Content Placeholder 4">
            <a:extLst>
              <a:ext uri="{FF2B5EF4-FFF2-40B4-BE49-F238E27FC236}">
                <a16:creationId xmlns:a16="http://schemas.microsoft.com/office/drawing/2014/main" id="{53C27249-D033-ECA9-0E1D-183657FE4056}"/>
              </a:ext>
            </a:extLst>
          </p:cNvPr>
          <p:cNvPicPr>
            <a:picLocks noGrp="1" noChangeAspect="1"/>
          </p:cNvPicPr>
          <p:nvPr>
            <p:ph idx="1"/>
          </p:nvPr>
        </p:nvPicPr>
        <p:blipFill>
          <a:blip r:embed="rId2"/>
          <a:stretch>
            <a:fillRect/>
          </a:stretch>
        </p:blipFill>
        <p:spPr>
          <a:xfrm>
            <a:off x="381000" y="1752600"/>
            <a:ext cx="7543800" cy="4876800"/>
          </a:xfrm>
          <a:prstGeom prst="rect">
            <a:avLst/>
          </a:prstGeom>
        </p:spPr>
      </p:pic>
      <p:sp>
        <p:nvSpPr>
          <p:cNvPr id="4" name="Slide Number Placeholder 3">
            <a:extLst>
              <a:ext uri="{FF2B5EF4-FFF2-40B4-BE49-F238E27FC236}">
                <a16:creationId xmlns:a16="http://schemas.microsoft.com/office/drawing/2014/main" id="{C8834990-17FE-0ACC-7B15-4FCACCD82E04}"/>
              </a:ext>
            </a:extLst>
          </p:cNvPr>
          <p:cNvSpPr>
            <a:spLocks noGrp="1"/>
          </p:cNvSpPr>
          <p:nvPr>
            <p:ph type="sldNum" sz="quarter" idx="12"/>
          </p:nvPr>
        </p:nvSpPr>
        <p:spPr/>
        <p:txBody>
          <a:bodyPr/>
          <a:lstStyle/>
          <a:p>
            <a:fld id="{71C6F290-D301-4864-9490-340EF11588D9}" type="slidenum">
              <a:rPr lang="en-US" altLang="en-US" smtClean="0"/>
              <a:pPr/>
              <a:t>44</a:t>
            </a:fld>
            <a:endParaRPr lang="en-US" altLang="en-US" dirty="0"/>
          </a:p>
        </p:txBody>
      </p:sp>
    </p:spTree>
    <p:extLst>
      <p:ext uri="{BB962C8B-B14F-4D97-AF65-F5344CB8AC3E}">
        <p14:creationId xmlns:p14="http://schemas.microsoft.com/office/powerpoint/2010/main" val="20681526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1DC3D-44FE-99C3-0FE8-F27D7B6299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08DD64-C33F-FE21-E9B0-A1E99E4486D7}"/>
              </a:ext>
            </a:extLst>
          </p:cNvPr>
          <p:cNvSpPr>
            <a:spLocks noGrp="1"/>
          </p:cNvSpPr>
          <p:nvPr>
            <p:ph type="title"/>
          </p:nvPr>
        </p:nvSpPr>
        <p:spPr/>
        <p:txBody>
          <a:bodyPr/>
          <a:lstStyle/>
          <a:p>
            <a:pPr algn="justLow">
              <a:lnSpc>
                <a:spcPct val="150000"/>
              </a:lnSpc>
            </a:pPr>
            <a:r>
              <a:rPr lang="en-US" sz="3600" b="1" dirty="0">
                <a:solidFill>
                  <a:srgbClr val="00B050"/>
                </a:solidFill>
              </a:rPr>
              <a:t>A* Search Exercise  </a:t>
            </a:r>
          </a:p>
        </p:txBody>
      </p:sp>
      <p:sp>
        <p:nvSpPr>
          <p:cNvPr id="4" name="Slide Number Placeholder 3">
            <a:extLst>
              <a:ext uri="{FF2B5EF4-FFF2-40B4-BE49-F238E27FC236}">
                <a16:creationId xmlns:a16="http://schemas.microsoft.com/office/drawing/2014/main" id="{0424432C-1261-AA3F-B819-B60456271A21}"/>
              </a:ext>
            </a:extLst>
          </p:cNvPr>
          <p:cNvSpPr>
            <a:spLocks noGrp="1"/>
          </p:cNvSpPr>
          <p:nvPr>
            <p:ph type="sldNum" sz="quarter" idx="12"/>
          </p:nvPr>
        </p:nvSpPr>
        <p:spPr/>
        <p:txBody>
          <a:bodyPr/>
          <a:lstStyle/>
          <a:p>
            <a:fld id="{71C6F290-D301-4864-9490-340EF11588D9}" type="slidenum">
              <a:rPr lang="en-US" altLang="en-US" smtClean="0"/>
              <a:pPr/>
              <a:t>45</a:t>
            </a:fld>
            <a:endParaRPr lang="en-US" altLang="en-US" dirty="0"/>
          </a:p>
        </p:txBody>
      </p:sp>
      <p:pic>
        <p:nvPicPr>
          <p:cNvPr id="5" name="Picture 4">
            <a:extLst>
              <a:ext uri="{FF2B5EF4-FFF2-40B4-BE49-F238E27FC236}">
                <a16:creationId xmlns:a16="http://schemas.microsoft.com/office/drawing/2014/main" id="{E820E402-C3C9-45C0-4954-E138386DDE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1493" y="1828800"/>
            <a:ext cx="5801014" cy="4277245"/>
          </a:xfrm>
          <a:prstGeom prst="rect">
            <a:avLst/>
          </a:prstGeom>
        </p:spPr>
      </p:pic>
    </p:spTree>
    <p:extLst>
      <p:ext uri="{BB962C8B-B14F-4D97-AF65-F5344CB8AC3E}">
        <p14:creationId xmlns:p14="http://schemas.microsoft.com/office/powerpoint/2010/main" val="22757796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59CDB-7CE3-DD05-FB8E-84E4A73C244F}"/>
              </a:ext>
            </a:extLst>
          </p:cNvPr>
          <p:cNvSpPr>
            <a:spLocks noGrp="1"/>
          </p:cNvSpPr>
          <p:nvPr>
            <p:ph type="title"/>
          </p:nvPr>
        </p:nvSpPr>
        <p:spPr>
          <a:xfrm>
            <a:off x="228600" y="228600"/>
            <a:ext cx="7696200" cy="693737"/>
          </a:xfrm>
        </p:spPr>
        <p:txBody>
          <a:bodyPr/>
          <a:lstStyle/>
          <a:p>
            <a:r>
              <a:rPr lang="en-US" dirty="0"/>
              <a:t>BFS versus A* in terms of App.</a:t>
            </a:r>
          </a:p>
        </p:txBody>
      </p:sp>
      <p:sp>
        <p:nvSpPr>
          <p:cNvPr id="3" name="Content Placeholder 2">
            <a:extLst>
              <a:ext uri="{FF2B5EF4-FFF2-40B4-BE49-F238E27FC236}">
                <a16:creationId xmlns:a16="http://schemas.microsoft.com/office/drawing/2014/main" id="{90A8FA87-36F0-D005-6697-3C3D270E8E3D}"/>
              </a:ext>
            </a:extLst>
          </p:cNvPr>
          <p:cNvSpPr>
            <a:spLocks noGrp="1"/>
          </p:cNvSpPr>
          <p:nvPr>
            <p:ph idx="1"/>
          </p:nvPr>
        </p:nvSpPr>
        <p:spPr>
          <a:xfrm>
            <a:off x="228600" y="1143000"/>
            <a:ext cx="8763000" cy="4792663"/>
          </a:xfrm>
        </p:spPr>
        <p:txBody>
          <a:bodyPr>
            <a:normAutofit fontScale="92500" lnSpcReduction="10000"/>
          </a:bodyPr>
          <a:lstStyle/>
          <a:p>
            <a:pPr algn="just"/>
            <a:r>
              <a:rPr lang="en-US" i="1" dirty="0">
                <a:latin typeface="Times New Roman" panose="02020603050405020304" pitchFamily="18" charset="0"/>
                <a:cs typeface="Times New Roman" panose="02020603050405020304" pitchFamily="18" charset="0"/>
              </a:rPr>
              <a:t>Best First Search: (When you do not care about finding the optimum solution path, but cares more on finding a solution quickly. </a:t>
            </a:r>
            <a:r>
              <a:rPr lang="en-US" i="1" dirty="0">
                <a:solidFill>
                  <a:srgbClr val="0070C0"/>
                </a:solidFill>
                <a:latin typeface="Times New Roman" panose="02020603050405020304" pitchFamily="18" charset="0"/>
                <a:cs typeface="Times New Roman" panose="02020603050405020304" pitchFamily="18" charset="0"/>
              </a:rPr>
              <a:t>Can be used in AI game that needs real time decisions)</a:t>
            </a:r>
            <a:endParaRPr lang="en-US" dirty="0">
              <a:solidFill>
                <a:srgbClr val="0070C0"/>
              </a:solidFill>
              <a:latin typeface="Times New Roman" panose="02020603050405020304" pitchFamily="18" charset="0"/>
              <a:cs typeface="Times New Roman" panose="02020603050405020304" pitchFamily="18" charset="0"/>
            </a:endParaRPr>
          </a:p>
          <a:p>
            <a:pPr algn="just"/>
            <a:r>
              <a:rPr lang="en-US" i="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just"/>
            <a:r>
              <a:rPr lang="en-US" i="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just"/>
            <a:r>
              <a:rPr lang="en-US" i="1" dirty="0">
                <a:latin typeface="Times New Roman" panose="02020603050405020304" pitchFamily="18" charset="0"/>
                <a:cs typeface="Times New Roman" panose="02020603050405020304" pitchFamily="18" charset="0"/>
              </a:rPr>
              <a:t>A*:  (It Balances between exploring quickly and finding the optimal  path, guaranteeing the lowest-cost solution when the heuristic is well-designed.)</a:t>
            </a:r>
            <a:endParaRPr lang="en-US" dirty="0">
              <a:latin typeface="Times New Roman" panose="02020603050405020304" pitchFamily="18" charset="0"/>
              <a:cs typeface="Times New Roman" panose="02020603050405020304" pitchFamily="18" charset="0"/>
            </a:endParaRPr>
          </a:p>
          <a:p>
            <a:pPr algn="just"/>
            <a:r>
              <a:rPr lang="en-US" b="1" i="1" dirty="0">
                <a:latin typeface="Times New Roman" panose="02020603050405020304" pitchFamily="18" charset="0"/>
                <a:cs typeface="Times New Roman" panose="02020603050405020304" pitchFamily="18" charset="0"/>
              </a:rPr>
              <a:t> </a:t>
            </a:r>
          </a:p>
          <a:p>
            <a:pPr algn="just"/>
            <a:r>
              <a:rPr lang="en-US" b="1" i="1" dirty="0">
                <a:solidFill>
                  <a:srgbClr val="FF0000"/>
                </a:solidFill>
                <a:latin typeface="Times New Roman" panose="02020603050405020304" pitchFamily="18" charset="0"/>
                <a:cs typeface="Times New Roman" panose="02020603050405020304" pitchFamily="18" charset="0"/>
              </a:rPr>
              <a:t>Note: In general, if you need efficiency and optimality, go with A*. If you need speed and don't care about the cost, best-first search can be more suitable.</a:t>
            </a:r>
            <a:endParaRPr lang="en-US" dirty="0">
              <a:solidFill>
                <a:srgbClr val="FF0000"/>
              </a:solidFill>
              <a:latin typeface="Times New Roman" panose="02020603050405020304" pitchFamily="18" charset="0"/>
              <a:cs typeface="Times New Roman" panose="02020603050405020304" pitchFamily="18" charset="0"/>
            </a:endParaRPr>
          </a:p>
          <a:p>
            <a:endParaRPr lang="en-US" dirty="0"/>
          </a:p>
          <a:p>
            <a:endParaRPr lang="en-US" dirty="0"/>
          </a:p>
        </p:txBody>
      </p:sp>
      <p:sp>
        <p:nvSpPr>
          <p:cNvPr id="4" name="Slide Number Placeholder 3">
            <a:extLst>
              <a:ext uri="{FF2B5EF4-FFF2-40B4-BE49-F238E27FC236}">
                <a16:creationId xmlns:a16="http://schemas.microsoft.com/office/drawing/2014/main" id="{2D4A5D6F-CFB0-BE08-4E81-E6AE288E3606}"/>
              </a:ext>
            </a:extLst>
          </p:cNvPr>
          <p:cNvSpPr>
            <a:spLocks noGrp="1"/>
          </p:cNvSpPr>
          <p:nvPr>
            <p:ph type="sldNum" sz="quarter" idx="12"/>
          </p:nvPr>
        </p:nvSpPr>
        <p:spPr/>
        <p:txBody>
          <a:bodyPr/>
          <a:lstStyle/>
          <a:p>
            <a:fld id="{71C6F290-D301-4864-9490-340EF11588D9}" type="slidenum">
              <a:rPr lang="en-US" altLang="en-US" smtClean="0"/>
              <a:pPr/>
              <a:t>46</a:t>
            </a:fld>
            <a:endParaRPr lang="en-US" altLang="en-US" dirty="0"/>
          </a:p>
        </p:txBody>
      </p:sp>
    </p:spTree>
    <p:extLst>
      <p:ext uri="{BB962C8B-B14F-4D97-AF65-F5344CB8AC3E}">
        <p14:creationId xmlns:p14="http://schemas.microsoft.com/office/powerpoint/2010/main" val="20660311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28097-C07B-BFFA-FF39-2E2B543B5703}"/>
              </a:ext>
            </a:extLst>
          </p:cNvPr>
          <p:cNvSpPr>
            <a:spLocks noGrp="1"/>
          </p:cNvSpPr>
          <p:nvPr>
            <p:ph type="title"/>
          </p:nvPr>
        </p:nvSpPr>
        <p:spPr>
          <a:xfrm>
            <a:off x="304800" y="129073"/>
            <a:ext cx="7696200" cy="632927"/>
          </a:xfrm>
        </p:spPr>
        <p:txBody>
          <a:bodyPr/>
          <a:lstStyle/>
          <a:p>
            <a:br>
              <a:rPr lang="en-US" dirty="0"/>
            </a:br>
            <a:br>
              <a:rPr lang="en-US" dirty="0"/>
            </a:br>
            <a:br>
              <a:rPr lang="en-US" dirty="0"/>
            </a:br>
            <a:r>
              <a:rPr lang="en-US" dirty="0">
                <a:latin typeface="Times New Roman" panose="02020603050405020304" pitchFamily="18" charset="0"/>
                <a:cs typeface="Times New Roman" panose="02020603050405020304" pitchFamily="18" charset="0"/>
              </a:rPr>
              <a:t>Problems that might appear with A*</a:t>
            </a:r>
          </a:p>
        </p:txBody>
      </p:sp>
      <p:sp>
        <p:nvSpPr>
          <p:cNvPr id="3" name="Content Placeholder 2">
            <a:extLst>
              <a:ext uri="{FF2B5EF4-FFF2-40B4-BE49-F238E27FC236}">
                <a16:creationId xmlns:a16="http://schemas.microsoft.com/office/drawing/2014/main" id="{80576165-48CD-79D1-D626-137C5EACB292}"/>
              </a:ext>
            </a:extLst>
          </p:cNvPr>
          <p:cNvSpPr>
            <a:spLocks noGrp="1"/>
          </p:cNvSpPr>
          <p:nvPr>
            <p:ph idx="1"/>
          </p:nvPr>
        </p:nvSpPr>
        <p:spPr>
          <a:xfrm>
            <a:off x="228600" y="1208314"/>
            <a:ext cx="8458200" cy="5344886"/>
          </a:xfrm>
        </p:spPr>
        <p:txBody>
          <a:bodyPr>
            <a:normAutofit/>
          </a:bodyPr>
          <a:lstStyle/>
          <a:p>
            <a:pPr marL="344487" lvl="1" indent="0">
              <a:buNone/>
            </a:pPr>
            <a:r>
              <a:rPr lang="en-US" sz="3200" dirty="0">
                <a:latin typeface="Times New Roman" panose="02020603050405020304" pitchFamily="18" charset="0"/>
                <a:cs typeface="Times New Roman" panose="02020603050405020304" pitchFamily="18" charset="0"/>
              </a:rPr>
              <a:t>h' underestimates h </a:t>
            </a:r>
            <a:r>
              <a:rPr lang="en-US" sz="2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You're underestimating “when it's (the heuristic) lower </a:t>
            </a:r>
            <a:r>
              <a:rPr lang="en-US" sz="1800" b="1" dirty="0">
                <a:latin typeface="Times New Roman" panose="02020603050405020304" pitchFamily="18" charset="0"/>
                <a:cs typeface="Times New Roman" panose="02020603050405020304" pitchFamily="18" charset="0"/>
              </a:rPr>
              <a:t>than the actual final path cost”</a:t>
            </a:r>
            <a:endParaRPr lang="en-US" sz="18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endParaRPr lang="en-US" sz="14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going deep in certain direction, then go back to the  right  direction. It finds the optimum solution.</a:t>
            </a:r>
            <a:endParaRPr lang="en-US" sz="14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endParaRPr lang="en-US" sz="1400"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f(n)=h(n)+g(n)   f(n) </a:t>
            </a:r>
            <a:r>
              <a:rPr lang="en-US" sz="2000" b="1" dirty="0">
                <a:latin typeface="Times New Roman" panose="02020603050405020304" pitchFamily="18" charset="0"/>
                <a:cs typeface="Times New Roman" panose="02020603050405020304" pitchFamily="18" charset="0"/>
              </a:rPr>
              <a:t>&lt; actual cost to goal (for underestimate)</a:t>
            </a:r>
          </a:p>
          <a:p>
            <a:endParaRPr lang="en-US" sz="2000" dirty="0">
              <a:latin typeface="Times New Roman" panose="02020603050405020304" pitchFamily="18" charset="0"/>
              <a:cs typeface="Times New Roman" panose="02020603050405020304" pitchFamily="18" charset="0"/>
            </a:endParaRPr>
          </a:p>
          <a:p>
            <a:r>
              <a:rPr lang="en-US" sz="2000" b="1" dirty="0">
                <a:solidFill>
                  <a:srgbClr val="FF0000"/>
                </a:solidFill>
                <a:latin typeface="Times New Roman" panose="02020603050405020304" pitchFamily="18" charset="0"/>
                <a:cs typeface="Times New Roman" panose="02020603050405020304" pitchFamily="18" charset="0"/>
              </a:rPr>
              <a:t>f(n) &lt;= actual cost (admissible function)</a:t>
            </a:r>
            <a:endParaRPr lang="en-US" sz="1400" b="1" dirty="0">
              <a:solidFill>
                <a:srgbClr val="FF0000"/>
              </a:solidFill>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22FF17B4-E20E-8162-C341-84471E5AF65C}"/>
              </a:ext>
            </a:extLst>
          </p:cNvPr>
          <p:cNvSpPr>
            <a:spLocks noGrp="1"/>
          </p:cNvSpPr>
          <p:nvPr>
            <p:ph type="sldNum" sz="quarter" idx="12"/>
          </p:nvPr>
        </p:nvSpPr>
        <p:spPr/>
        <p:txBody>
          <a:bodyPr/>
          <a:lstStyle/>
          <a:p>
            <a:fld id="{71C6F290-D301-4864-9490-340EF11588D9}" type="slidenum">
              <a:rPr lang="en-US" altLang="en-US" smtClean="0"/>
              <a:pPr/>
              <a:t>47</a:t>
            </a:fld>
            <a:endParaRPr lang="en-US" altLang="en-US" dirty="0"/>
          </a:p>
        </p:txBody>
      </p:sp>
    </p:spTree>
    <p:extLst>
      <p:ext uri="{BB962C8B-B14F-4D97-AF65-F5344CB8AC3E}">
        <p14:creationId xmlns:p14="http://schemas.microsoft.com/office/powerpoint/2010/main" val="11379357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1593A-0851-19F7-B11C-7214744DB683}"/>
              </a:ext>
            </a:extLst>
          </p:cNvPr>
          <p:cNvSpPr>
            <a:spLocks noGrp="1"/>
          </p:cNvSpPr>
          <p:nvPr>
            <p:ph type="title"/>
          </p:nvPr>
        </p:nvSpPr>
        <p:spPr>
          <a:xfrm>
            <a:off x="228600" y="0"/>
            <a:ext cx="7696200" cy="1219200"/>
          </a:xfrm>
        </p:spPr>
        <p:txBody>
          <a:bodyPr/>
          <a:lstStyle/>
          <a:p>
            <a:r>
              <a:rPr lang="en-US" dirty="0"/>
              <a:t>Problems that might appear with A* (underestimates)</a:t>
            </a:r>
          </a:p>
        </p:txBody>
      </p:sp>
      <p:pic>
        <p:nvPicPr>
          <p:cNvPr id="5" name="Content Placeholder 4">
            <a:extLst>
              <a:ext uri="{FF2B5EF4-FFF2-40B4-BE49-F238E27FC236}">
                <a16:creationId xmlns:a16="http://schemas.microsoft.com/office/drawing/2014/main" id="{F84A2C6B-CEE3-D17F-4B0B-024057516124}"/>
              </a:ext>
            </a:extLst>
          </p:cNvPr>
          <p:cNvPicPr>
            <a:picLocks noGrp="1" noChangeAspect="1"/>
          </p:cNvPicPr>
          <p:nvPr>
            <p:ph idx="1"/>
          </p:nvPr>
        </p:nvPicPr>
        <p:blipFill>
          <a:blip r:embed="rId2"/>
          <a:stretch>
            <a:fillRect/>
          </a:stretch>
        </p:blipFill>
        <p:spPr>
          <a:xfrm>
            <a:off x="838200" y="1371600"/>
            <a:ext cx="7010400" cy="4724400"/>
          </a:xfrm>
          <a:prstGeom prst="rect">
            <a:avLst/>
          </a:prstGeom>
        </p:spPr>
      </p:pic>
      <p:sp>
        <p:nvSpPr>
          <p:cNvPr id="4" name="Slide Number Placeholder 3">
            <a:extLst>
              <a:ext uri="{FF2B5EF4-FFF2-40B4-BE49-F238E27FC236}">
                <a16:creationId xmlns:a16="http://schemas.microsoft.com/office/drawing/2014/main" id="{C0450A28-0B1F-2BB8-3688-2D5CD9168222}"/>
              </a:ext>
            </a:extLst>
          </p:cNvPr>
          <p:cNvSpPr>
            <a:spLocks noGrp="1"/>
          </p:cNvSpPr>
          <p:nvPr>
            <p:ph type="sldNum" sz="quarter" idx="12"/>
          </p:nvPr>
        </p:nvSpPr>
        <p:spPr/>
        <p:txBody>
          <a:bodyPr/>
          <a:lstStyle/>
          <a:p>
            <a:fld id="{71C6F290-D301-4864-9490-340EF11588D9}" type="slidenum">
              <a:rPr lang="en-US" altLang="en-US" smtClean="0"/>
              <a:pPr/>
              <a:t>48</a:t>
            </a:fld>
            <a:endParaRPr lang="en-US" altLang="en-US" dirty="0"/>
          </a:p>
        </p:txBody>
      </p:sp>
    </p:spTree>
    <p:extLst>
      <p:ext uri="{BB962C8B-B14F-4D97-AF65-F5344CB8AC3E}">
        <p14:creationId xmlns:p14="http://schemas.microsoft.com/office/powerpoint/2010/main" val="4698217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A9BAF-C7B1-69E8-3F83-AF02D02AE302}"/>
              </a:ext>
            </a:extLst>
          </p:cNvPr>
          <p:cNvSpPr>
            <a:spLocks noGrp="1"/>
          </p:cNvSpPr>
          <p:nvPr>
            <p:ph type="title"/>
          </p:nvPr>
        </p:nvSpPr>
        <p:spPr>
          <a:xfrm>
            <a:off x="228600" y="457200"/>
            <a:ext cx="7696200" cy="609600"/>
          </a:xfrm>
        </p:spPr>
        <p:txBody>
          <a:bodyPr/>
          <a:lstStyle/>
          <a:p>
            <a:r>
              <a:rPr lang="en-US" dirty="0">
                <a:latin typeface="Times New Roman" panose="02020603050405020304" pitchFamily="18" charset="0"/>
                <a:cs typeface="Times New Roman" panose="02020603050405020304" pitchFamily="18" charset="0"/>
              </a:rPr>
              <a:t>Problems that might appear with A*</a:t>
            </a:r>
          </a:p>
        </p:txBody>
      </p:sp>
      <p:sp>
        <p:nvSpPr>
          <p:cNvPr id="3" name="Content Placeholder 2">
            <a:extLst>
              <a:ext uri="{FF2B5EF4-FFF2-40B4-BE49-F238E27FC236}">
                <a16:creationId xmlns:a16="http://schemas.microsoft.com/office/drawing/2014/main" id="{175A04B0-7548-25C7-5C2E-489148132536}"/>
              </a:ext>
            </a:extLst>
          </p:cNvPr>
          <p:cNvSpPr>
            <a:spLocks noGrp="1"/>
          </p:cNvSpPr>
          <p:nvPr>
            <p:ph idx="1"/>
          </p:nvPr>
        </p:nvSpPr>
        <p:spPr>
          <a:xfrm>
            <a:off x="236376" y="1066800"/>
            <a:ext cx="8602824" cy="4899965"/>
          </a:xfrm>
        </p:spPr>
        <p:txBody>
          <a:bodyPr/>
          <a:lstStyle/>
          <a:p>
            <a:r>
              <a:rPr lang="en-US" dirty="0">
                <a:latin typeface="Times New Roman" panose="02020603050405020304" pitchFamily="18" charset="0"/>
                <a:cs typeface="Times New Roman" panose="02020603050405020304" pitchFamily="18" charset="0"/>
              </a:rPr>
              <a:t>h' overestimates h: </a:t>
            </a:r>
            <a:r>
              <a:rPr lang="en-US" b="1" dirty="0">
                <a:latin typeface="Times New Roman" panose="02020603050405020304" pitchFamily="18" charset="0"/>
                <a:cs typeface="Times New Roman" panose="02020603050405020304" pitchFamily="18" charset="0"/>
              </a:rPr>
              <a:t>You are overestimating when the heuristic's estimate is higher than the actual final path cost. f(n) &gt; actual cost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We do not find the optimum solution </a:t>
            </a:r>
          </a:p>
          <a:p>
            <a:endParaRPr lang="en-US" dirty="0"/>
          </a:p>
        </p:txBody>
      </p:sp>
      <p:sp>
        <p:nvSpPr>
          <p:cNvPr id="4" name="Slide Number Placeholder 3">
            <a:extLst>
              <a:ext uri="{FF2B5EF4-FFF2-40B4-BE49-F238E27FC236}">
                <a16:creationId xmlns:a16="http://schemas.microsoft.com/office/drawing/2014/main" id="{B1B1DE1A-79EB-98A7-5F61-3282863BDC1B}"/>
              </a:ext>
            </a:extLst>
          </p:cNvPr>
          <p:cNvSpPr>
            <a:spLocks noGrp="1"/>
          </p:cNvSpPr>
          <p:nvPr>
            <p:ph type="sldNum" sz="quarter" idx="12"/>
          </p:nvPr>
        </p:nvSpPr>
        <p:spPr/>
        <p:txBody>
          <a:bodyPr/>
          <a:lstStyle/>
          <a:p>
            <a:fld id="{71C6F290-D301-4864-9490-340EF11588D9}" type="slidenum">
              <a:rPr lang="en-US" altLang="en-US" smtClean="0"/>
              <a:pPr/>
              <a:t>49</a:t>
            </a:fld>
            <a:endParaRPr lang="en-US" altLang="en-US" dirty="0"/>
          </a:p>
        </p:txBody>
      </p:sp>
      <p:pic>
        <p:nvPicPr>
          <p:cNvPr id="5" name="Picture 4">
            <a:extLst>
              <a:ext uri="{FF2B5EF4-FFF2-40B4-BE49-F238E27FC236}">
                <a16:creationId xmlns:a16="http://schemas.microsoft.com/office/drawing/2014/main" id="{596B7711-7E22-0570-0134-E9269949A4CB}"/>
              </a:ext>
            </a:extLst>
          </p:cNvPr>
          <p:cNvPicPr>
            <a:picLocks noChangeAspect="1"/>
          </p:cNvPicPr>
          <p:nvPr/>
        </p:nvPicPr>
        <p:blipFill>
          <a:blip r:embed="rId2"/>
          <a:stretch>
            <a:fillRect/>
          </a:stretch>
        </p:blipFill>
        <p:spPr>
          <a:xfrm>
            <a:off x="914400" y="2971800"/>
            <a:ext cx="7010400" cy="3733799"/>
          </a:xfrm>
          <a:prstGeom prst="rect">
            <a:avLst/>
          </a:prstGeom>
        </p:spPr>
      </p:pic>
    </p:spTree>
    <p:extLst>
      <p:ext uri="{BB962C8B-B14F-4D97-AF65-F5344CB8AC3E}">
        <p14:creationId xmlns:p14="http://schemas.microsoft.com/office/powerpoint/2010/main" val="8042085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49370-6792-0591-FB6A-E0B7A8169D1F}"/>
              </a:ext>
            </a:extLst>
          </p:cNvPr>
          <p:cNvSpPr>
            <a:spLocks noGrp="1"/>
          </p:cNvSpPr>
          <p:nvPr>
            <p:ph type="title"/>
          </p:nvPr>
        </p:nvSpPr>
        <p:spPr>
          <a:xfrm>
            <a:off x="242596" y="152400"/>
            <a:ext cx="7696200" cy="1303337"/>
          </a:xfrm>
        </p:spPr>
        <p:txBody>
          <a:bodyPr/>
          <a:lstStyle/>
          <a:p>
            <a:r>
              <a:rPr lang="en-US" dirty="0"/>
              <a:t>AO*  Algorithm</a:t>
            </a:r>
            <a:br>
              <a:rPr lang="en-US" dirty="0"/>
            </a:br>
            <a:endParaRPr lang="en-US" dirty="0"/>
          </a:p>
        </p:txBody>
      </p:sp>
      <p:sp>
        <p:nvSpPr>
          <p:cNvPr id="3" name="Content Placeholder 2">
            <a:extLst>
              <a:ext uri="{FF2B5EF4-FFF2-40B4-BE49-F238E27FC236}">
                <a16:creationId xmlns:a16="http://schemas.microsoft.com/office/drawing/2014/main" id="{D8DDF3EB-F68E-D72D-F5C2-0D95F2A32DDE}"/>
              </a:ext>
            </a:extLst>
          </p:cNvPr>
          <p:cNvSpPr>
            <a:spLocks noGrp="1"/>
          </p:cNvSpPr>
          <p:nvPr>
            <p:ph idx="1"/>
          </p:nvPr>
        </p:nvSpPr>
        <p:spPr>
          <a:xfrm>
            <a:off x="242596" y="1231641"/>
            <a:ext cx="8305800" cy="5486400"/>
          </a:xfrm>
        </p:spPr>
        <p:txBody>
          <a:bodyPr>
            <a:normAutofit/>
          </a:bodyPr>
          <a:lstStyle/>
          <a:p>
            <a:pPr algn="just"/>
            <a:r>
              <a:rPr lang="en-US" sz="2400" dirty="0">
                <a:latin typeface="Times New Roman" panose="02020603050405020304" pitchFamily="18" charset="0"/>
                <a:cs typeface="Times New Roman" panose="02020603050405020304" pitchFamily="18" charset="0"/>
              </a:rPr>
              <a:t>It is used for a problem that can be decomposed. This algorithm is used in AND-OR graph whereas the A* algorithm is used in OR graphs. One example of AND-OR graph is the integration problem, another example is the parse tree in natural language processing (see the class notes). In AO* algorithm, we have only one list called GRAPH.  To search an implicit AND-OR graph, it is necessary to do three things each step :</a:t>
            </a:r>
          </a:p>
        </p:txBody>
      </p:sp>
      <p:sp>
        <p:nvSpPr>
          <p:cNvPr id="4" name="Slide Number Placeholder 3">
            <a:extLst>
              <a:ext uri="{FF2B5EF4-FFF2-40B4-BE49-F238E27FC236}">
                <a16:creationId xmlns:a16="http://schemas.microsoft.com/office/drawing/2014/main" id="{DBEDE021-D439-48FA-DA56-0C620059B008}"/>
              </a:ext>
            </a:extLst>
          </p:cNvPr>
          <p:cNvSpPr>
            <a:spLocks noGrp="1"/>
          </p:cNvSpPr>
          <p:nvPr>
            <p:ph type="sldNum" sz="quarter" idx="12"/>
          </p:nvPr>
        </p:nvSpPr>
        <p:spPr/>
        <p:txBody>
          <a:bodyPr/>
          <a:lstStyle/>
          <a:p>
            <a:fld id="{71C6F290-D301-4864-9490-340EF11588D9}" type="slidenum">
              <a:rPr lang="en-US" altLang="en-US" smtClean="0"/>
              <a:pPr/>
              <a:t>50</a:t>
            </a:fld>
            <a:endParaRPr lang="en-US" altLang="en-US" dirty="0"/>
          </a:p>
        </p:txBody>
      </p:sp>
    </p:spTree>
    <p:extLst>
      <p:ext uri="{BB962C8B-B14F-4D97-AF65-F5344CB8AC3E}">
        <p14:creationId xmlns:p14="http://schemas.microsoft.com/office/powerpoint/2010/main" val="38555430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9E467-40B0-5E85-94C4-E5BD527EC9A1}"/>
              </a:ext>
            </a:extLst>
          </p:cNvPr>
          <p:cNvSpPr>
            <a:spLocks noGrp="1"/>
          </p:cNvSpPr>
          <p:nvPr>
            <p:ph type="title"/>
          </p:nvPr>
        </p:nvSpPr>
        <p:spPr>
          <a:xfrm>
            <a:off x="228600" y="228600"/>
            <a:ext cx="7696200" cy="762000"/>
          </a:xfrm>
        </p:spPr>
        <p:txBody>
          <a:bodyPr/>
          <a:lstStyle/>
          <a:p>
            <a:r>
              <a:rPr lang="en-US" dirty="0"/>
              <a:t>AO* algorithm</a:t>
            </a:r>
          </a:p>
        </p:txBody>
      </p:sp>
      <p:sp>
        <p:nvSpPr>
          <p:cNvPr id="3" name="Content Placeholder 2">
            <a:extLst>
              <a:ext uri="{FF2B5EF4-FFF2-40B4-BE49-F238E27FC236}">
                <a16:creationId xmlns:a16="http://schemas.microsoft.com/office/drawing/2014/main" id="{09673742-BBFF-50A2-7DF9-C92FBE347CD5}"/>
              </a:ext>
            </a:extLst>
          </p:cNvPr>
          <p:cNvSpPr>
            <a:spLocks noGrp="1"/>
          </p:cNvSpPr>
          <p:nvPr>
            <p:ph idx="1"/>
          </p:nvPr>
        </p:nvSpPr>
        <p:spPr>
          <a:xfrm>
            <a:off x="228600" y="1123990"/>
            <a:ext cx="8763000" cy="5353010"/>
          </a:xfrm>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1. Traverse the graph, starting at the initial node and following the current best path and accumulate the set of nodes that are on that path and have not yet been expanded.</a:t>
            </a:r>
          </a:p>
          <a:p>
            <a:pPr algn="just"/>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2. Pick one of these unexpanded nodes and expand it. Add its successors to the graph and complete f' (using only h' and ignoring g ).</a:t>
            </a:r>
          </a:p>
          <a:p>
            <a:pPr algn="just"/>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3. Change f' estimate of the newly expanded node to reflect the new information provided by its successors. Propagate this change backward through the graph. At each node that is visited while going up the graph, decide which of its successors arcs is the most promising and mark it as part of the current best path.</a:t>
            </a:r>
          </a:p>
          <a:p>
            <a:endParaRPr lang="en-US" dirty="0"/>
          </a:p>
        </p:txBody>
      </p:sp>
      <p:sp>
        <p:nvSpPr>
          <p:cNvPr id="4" name="Slide Number Placeholder 3">
            <a:extLst>
              <a:ext uri="{FF2B5EF4-FFF2-40B4-BE49-F238E27FC236}">
                <a16:creationId xmlns:a16="http://schemas.microsoft.com/office/drawing/2014/main" id="{3D0CC2FF-BACF-7A09-9451-69E1327CD0AF}"/>
              </a:ext>
            </a:extLst>
          </p:cNvPr>
          <p:cNvSpPr>
            <a:spLocks noGrp="1"/>
          </p:cNvSpPr>
          <p:nvPr>
            <p:ph type="sldNum" sz="quarter" idx="12"/>
          </p:nvPr>
        </p:nvSpPr>
        <p:spPr/>
        <p:txBody>
          <a:bodyPr/>
          <a:lstStyle/>
          <a:p>
            <a:fld id="{71C6F290-D301-4864-9490-340EF11588D9}" type="slidenum">
              <a:rPr lang="en-US" altLang="en-US" smtClean="0"/>
              <a:pPr/>
              <a:t>51</a:t>
            </a:fld>
            <a:endParaRPr lang="en-US" altLang="en-US" dirty="0"/>
          </a:p>
        </p:txBody>
      </p:sp>
    </p:spTree>
    <p:extLst>
      <p:ext uri="{BB962C8B-B14F-4D97-AF65-F5344CB8AC3E}">
        <p14:creationId xmlns:p14="http://schemas.microsoft.com/office/powerpoint/2010/main" val="28162963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2BC61-0026-0365-E494-8C4B603341B5}"/>
              </a:ext>
            </a:extLst>
          </p:cNvPr>
          <p:cNvSpPr>
            <a:spLocks noGrp="1"/>
          </p:cNvSpPr>
          <p:nvPr>
            <p:ph type="title"/>
          </p:nvPr>
        </p:nvSpPr>
        <p:spPr>
          <a:xfrm>
            <a:off x="228600" y="228600"/>
            <a:ext cx="7696200" cy="537369"/>
          </a:xfrm>
        </p:spPr>
        <p:txBody>
          <a:bodyPr/>
          <a:lstStyle/>
          <a:p>
            <a:r>
              <a:rPr lang="en-US" dirty="0"/>
              <a:t>AO* algorithm</a:t>
            </a:r>
          </a:p>
        </p:txBody>
      </p:sp>
      <p:pic>
        <p:nvPicPr>
          <p:cNvPr id="32" name="Content Placeholder 31">
            <a:extLst>
              <a:ext uri="{FF2B5EF4-FFF2-40B4-BE49-F238E27FC236}">
                <a16:creationId xmlns:a16="http://schemas.microsoft.com/office/drawing/2014/main" id="{3EED65AA-1A83-134D-11B3-53877261F86D}"/>
              </a:ext>
            </a:extLst>
          </p:cNvPr>
          <p:cNvPicPr>
            <a:picLocks noGrp="1" noChangeAspect="1"/>
          </p:cNvPicPr>
          <p:nvPr>
            <p:ph idx="1"/>
          </p:nvPr>
        </p:nvPicPr>
        <p:blipFill>
          <a:blip r:embed="rId2"/>
          <a:stretch>
            <a:fillRect/>
          </a:stretch>
        </p:blipFill>
        <p:spPr>
          <a:xfrm>
            <a:off x="228600" y="933450"/>
            <a:ext cx="8382000" cy="5676900"/>
          </a:xfrm>
          <a:prstGeom prst="rect">
            <a:avLst/>
          </a:prstGeom>
        </p:spPr>
      </p:pic>
      <p:sp>
        <p:nvSpPr>
          <p:cNvPr id="4" name="Slide Number Placeholder 3">
            <a:extLst>
              <a:ext uri="{FF2B5EF4-FFF2-40B4-BE49-F238E27FC236}">
                <a16:creationId xmlns:a16="http://schemas.microsoft.com/office/drawing/2014/main" id="{29C79DE8-045D-EA8D-21ED-3716BCBCEF8E}"/>
              </a:ext>
            </a:extLst>
          </p:cNvPr>
          <p:cNvSpPr>
            <a:spLocks noGrp="1"/>
          </p:cNvSpPr>
          <p:nvPr>
            <p:ph type="sldNum" sz="quarter" idx="12"/>
          </p:nvPr>
        </p:nvSpPr>
        <p:spPr/>
        <p:txBody>
          <a:bodyPr/>
          <a:lstStyle/>
          <a:p>
            <a:fld id="{71C6F290-D301-4864-9490-340EF11588D9}" type="slidenum">
              <a:rPr lang="en-US" altLang="en-US" smtClean="0"/>
              <a:pPr/>
              <a:t>52</a:t>
            </a:fld>
            <a:endParaRPr lang="en-US" altLang="en-US" dirty="0"/>
          </a:p>
        </p:txBody>
      </p:sp>
    </p:spTree>
    <p:extLst>
      <p:ext uri="{BB962C8B-B14F-4D97-AF65-F5344CB8AC3E}">
        <p14:creationId xmlns:p14="http://schemas.microsoft.com/office/powerpoint/2010/main" val="3507425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B7C29-41FF-74E0-16F4-DB7AA9533652}"/>
              </a:ext>
            </a:extLst>
          </p:cNvPr>
          <p:cNvSpPr>
            <a:spLocks noGrp="1"/>
          </p:cNvSpPr>
          <p:nvPr>
            <p:ph type="title"/>
          </p:nvPr>
        </p:nvSpPr>
        <p:spPr>
          <a:xfrm>
            <a:off x="228600" y="228600"/>
            <a:ext cx="7696200" cy="693737"/>
          </a:xfrm>
        </p:spPr>
        <p:txBody>
          <a:bodyPr/>
          <a:lstStyle/>
          <a:p>
            <a:r>
              <a:rPr lang="en-US" dirty="0"/>
              <a:t>AO* algorithm</a:t>
            </a:r>
          </a:p>
        </p:txBody>
      </p:sp>
      <p:sp>
        <p:nvSpPr>
          <p:cNvPr id="3" name="Content Placeholder 2">
            <a:extLst>
              <a:ext uri="{FF2B5EF4-FFF2-40B4-BE49-F238E27FC236}">
                <a16:creationId xmlns:a16="http://schemas.microsoft.com/office/drawing/2014/main" id="{209D582D-032F-7789-E160-00A1AEE426D9}"/>
              </a:ext>
            </a:extLst>
          </p:cNvPr>
          <p:cNvSpPr>
            <a:spLocks noGrp="1"/>
          </p:cNvSpPr>
          <p:nvPr>
            <p:ph idx="1"/>
          </p:nvPr>
        </p:nvSpPr>
        <p:spPr>
          <a:xfrm>
            <a:off x="228600" y="1143000"/>
            <a:ext cx="8305800" cy="5486400"/>
          </a:xfrm>
        </p:spPr>
        <p:txBody>
          <a:bodyPr/>
          <a:lstStyle/>
          <a:p>
            <a:r>
              <a:rPr lang="en-US" sz="2000" dirty="0">
                <a:solidFill>
                  <a:srgbClr val="FF0000"/>
                </a:solidFill>
              </a:rPr>
              <a:t>There are main differences between A* and AO*</a:t>
            </a:r>
          </a:p>
          <a:p>
            <a:r>
              <a:rPr lang="en-US" sz="2000" dirty="0">
                <a:latin typeface="Times New Roman" panose="02020603050405020304" pitchFamily="18" charset="0"/>
                <a:cs typeface="Times New Roman" panose="02020603050405020304" pitchFamily="18" charset="0"/>
              </a:rPr>
              <a:t>2.	In A*, the desired path from one node to another was always the one with the lowest cost, but  this is not always the case when searching an AND-OR graph.</a:t>
            </a:r>
          </a:p>
          <a:p>
            <a:r>
              <a:rPr lang="en-US" sz="2000" dirty="0">
                <a:latin typeface="Times New Roman" panose="02020603050405020304" pitchFamily="18" charset="0"/>
                <a:cs typeface="Times New Roman" panose="02020603050405020304" pitchFamily="18" charset="0"/>
              </a:rPr>
              <a:t>3.	Consider the example shown in the figure below:</a:t>
            </a:r>
          </a:p>
          <a:p>
            <a:endParaRPr lang="en-US" dirty="0"/>
          </a:p>
        </p:txBody>
      </p:sp>
      <p:sp>
        <p:nvSpPr>
          <p:cNvPr id="4" name="Slide Number Placeholder 3">
            <a:extLst>
              <a:ext uri="{FF2B5EF4-FFF2-40B4-BE49-F238E27FC236}">
                <a16:creationId xmlns:a16="http://schemas.microsoft.com/office/drawing/2014/main" id="{C5D8CD60-B80C-D7A4-D778-6CE7A554EBE0}"/>
              </a:ext>
            </a:extLst>
          </p:cNvPr>
          <p:cNvSpPr>
            <a:spLocks noGrp="1"/>
          </p:cNvSpPr>
          <p:nvPr>
            <p:ph type="sldNum" sz="quarter" idx="12"/>
          </p:nvPr>
        </p:nvSpPr>
        <p:spPr/>
        <p:txBody>
          <a:bodyPr/>
          <a:lstStyle/>
          <a:p>
            <a:fld id="{71C6F290-D301-4864-9490-340EF11588D9}" type="slidenum">
              <a:rPr lang="en-US" altLang="en-US" smtClean="0"/>
              <a:pPr/>
              <a:t>53</a:t>
            </a:fld>
            <a:endParaRPr lang="en-US" altLang="en-US" dirty="0"/>
          </a:p>
        </p:txBody>
      </p:sp>
      <p:pic>
        <p:nvPicPr>
          <p:cNvPr id="5" name="Picture 4">
            <a:extLst>
              <a:ext uri="{FF2B5EF4-FFF2-40B4-BE49-F238E27FC236}">
                <a16:creationId xmlns:a16="http://schemas.microsoft.com/office/drawing/2014/main" id="{72B1334E-0159-4F95-E487-D4F23DC0B186}"/>
              </a:ext>
            </a:extLst>
          </p:cNvPr>
          <p:cNvPicPr>
            <a:picLocks noChangeAspect="1"/>
          </p:cNvPicPr>
          <p:nvPr/>
        </p:nvPicPr>
        <p:blipFill>
          <a:blip r:embed="rId2"/>
          <a:stretch>
            <a:fillRect/>
          </a:stretch>
        </p:blipFill>
        <p:spPr>
          <a:xfrm>
            <a:off x="609600" y="2895600"/>
            <a:ext cx="7315200" cy="3581400"/>
          </a:xfrm>
          <a:prstGeom prst="rect">
            <a:avLst/>
          </a:prstGeom>
        </p:spPr>
      </p:pic>
    </p:spTree>
    <p:extLst>
      <p:ext uri="{BB962C8B-B14F-4D97-AF65-F5344CB8AC3E}">
        <p14:creationId xmlns:p14="http://schemas.microsoft.com/office/powerpoint/2010/main" val="1889760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16590-4D3C-DC48-954C-D8DD0CE2E1B8}"/>
              </a:ext>
            </a:extLst>
          </p:cNvPr>
          <p:cNvSpPr>
            <a:spLocks noGrp="1"/>
          </p:cNvSpPr>
          <p:nvPr>
            <p:ph type="title"/>
          </p:nvPr>
        </p:nvSpPr>
        <p:spPr>
          <a:xfrm>
            <a:off x="228600" y="228600"/>
            <a:ext cx="7696200" cy="762000"/>
          </a:xfrm>
        </p:spPr>
        <p:txBody>
          <a:bodyPr/>
          <a:lstStyle/>
          <a:p>
            <a:r>
              <a:rPr lang="en-US" dirty="0"/>
              <a:t>AO* algorithm</a:t>
            </a:r>
          </a:p>
        </p:txBody>
      </p:sp>
      <p:sp>
        <p:nvSpPr>
          <p:cNvPr id="3" name="Content Placeholder 2">
            <a:extLst>
              <a:ext uri="{FF2B5EF4-FFF2-40B4-BE49-F238E27FC236}">
                <a16:creationId xmlns:a16="http://schemas.microsoft.com/office/drawing/2014/main" id="{5005E0E1-260F-BC8E-1997-11B2798DD2E9}"/>
              </a:ext>
            </a:extLst>
          </p:cNvPr>
          <p:cNvSpPr>
            <a:spLocks noGrp="1"/>
          </p:cNvSpPr>
          <p:nvPr>
            <p:ph idx="1"/>
          </p:nvPr>
        </p:nvSpPr>
        <p:spPr>
          <a:xfrm>
            <a:off x="76200" y="1447800"/>
            <a:ext cx="9067800" cy="5257800"/>
          </a:xfrm>
        </p:spPr>
        <p:txBody>
          <a:bodyPr>
            <a:normAutofit/>
          </a:bodyPr>
          <a:lstStyle/>
          <a:p>
            <a:pPr algn="just"/>
            <a:r>
              <a:rPr lang="en-US" dirty="0">
                <a:latin typeface="Times New Roman" panose="02020603050405020304" pitchFamily="18" charset="0"/>
                <a:cs typeface="Times New Roman" panose="02020603050405020304" pitchFamily="18" charset="0"/>
              </a:rPr>
              <a:t>Despite the path through 10 to 5 is longer, but it should be followed because node four is unsolvable which means a solution through path 3 and 4 can not be reachable. </a:t>
            </a:r>
          </a:p>
          <a:p>
            <a:pPr algn="just"/>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3.In AO* there is no OPEN and CLOSE lists, we have only Graph list G.</a:t>
            </a:r>
          </a:p>
          <a:p>
            <a:pPr algn="just"/>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4.In AO*, g is not used because the longer path might be better (g is not becoming an important issue). </a:t>
            </a:r>
          </a:p>
          <a:p>
            <a:endParaRPr lang="en-US" dirty="0"/>
          </a:p>
        </p:txBody>
      </p:sp>
      <p:sp>
        <p:nvSpPr>
          <p:cNvPr id="4" name="Slide Number Placeholder 3">
            <a:extLst>
              <a:ext uri="{FF2B5EF4-FFF2-40B4-BE49-F238E27FC236}">
                <a16:creationId xmlns:a16="http://schemas.microsoft.com/office/drawing/2014/main" id="{BF7B1B64-A3D2-433A-63AE-E092F5D1BA55}"/>
              </a:ext>
            </a:extLst>
          </p:cNvPr>
          <p:cNvSpPr>
            <a:spLocks noGrp="1"/>
          </p:cNvSpPr>
          <p:nvPr>
            <p:ph type="sldNum" sz="quarter" idx="12"/>
          </p:nvPr>
        </p:nvSpPr>
        <p:spPr/>
        <p:txBody>
          <a:bodyPr/>
          <a:lstStyle/>
          <a:p>
            <a:fld id="{71C6F290-D301-4864-9490-340EF11588D9}" type="slidenum">
              <a:rPr lang="en-US" altLang="en-US" smtClean="0"/>
              <a:pPr/>
              <a:t>54</a:t>
            </a:fld>
            <a:endParaRPr lang="en-US" altLang="en-US" dirty="0"/>
          </a:p>
        </p:txBody>
      </p:sp>
    </p:spTree>
    <p:extLst>
      <p:ext uri="{BB962C8B-B14F-4D97-AF65-F5344CB8AC3E}">
        <p14:creationId xmlns:p14="http://schemas.microsoft.com/office/powerpoint/2010/main" val="40672830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CA55A-7BDD-0F2F-D6BF-D82D6CB83CDE}"/>
              </a:ext>
            </a:extLst>
          </p:cNvPr>
          <p:cNvSpPr>
            <a:spLocks noGrp="1"/>
          </p:cNvSpPr>
          <p:nvPr>
            <p:ph type="title"/>
          </p:nvPr>
        </p:nvSpPr>
        <p:spPr>
          <a:xfrm>
            <a:off x="228600" y="152400"/>
            <a:ext cx="7696200" cy="1219200"/>
          </a:xfrm>
        </p:spPr>
        <p:txBody>
          <a:bodyPr/>
          <a:lstStyle/>
          <a:p>
            <a:r>
              <a:rPr lang="en-US" dirty="0"/>
              <a:t>Some of AND-OR graph examples</a:t>
            </a:r>
            <a:br>
              <a:rPr lang="en-US" dirty="0"/>
            </a:br>
            <a:endParaRPr lang="en-US" dirty="0"/>
          </a:p>
        </p:txBody>
      </p:sp>
      <p:sp>
        <p:nvSpPr>
          <p:cNvPr id="3" name="Content Placeholder 2">
            <a:extLst>
              <a:ext uri="{FF2B5EF4-FFF2-40B4-BE49-F238E27FC236}">
                <a16:creationId xmlns:a16="http://schemas.microsoft.com/office/drawing/2014/main" id="{2B6695E6-F66B-B381-D6EB-601936796C20}"/>
              </a:ext>
            </a:extLst>
          </p:cNvPr>
          <p:cNvSpPr>
            <a:spLocks noGrp="1"/>
          </p:cNvSpPr>
          <p:nvPr>
            <p:ph idx="1"/>
          </p:nvPr>
        </p:nvSpPr>
        <p:spPr>
          <a:xfrm>
            <a:off x="76200" y="838200"/>
            <a:ext cx="8839200" cy="5867400"/>
          </a:xfrm>
        </p:spPr>
        <p:txBody>
          <a:bodyPr/>
          <a:lstStyle/>
          <a:p>
            <a:r>
              <a:rPr lang="en-US" dirty="0"/>
              <a:t>Integration problem</a:t>
            </a:r>
          </a:p>
          <a:p>
            <a:endParaRPr lang="en-US" dirty="0"/>
          </a:p>
        </p:txBody>
      </p:sp>
      <p:sp>
        <p:nvSpPr>
          <p:cNvPr id="4" name="Slide Number Placeholder 3">
            <a:extLst>
              <a:ext uri="{FF2B5EF4-FFF2-40B4-BE49-F238E27FC236}">
                <a16:creationId xmlns:a16="http://schemas.microsoft.com/office/drawing/2014/main" id="{6407145A-A345-02E5-5C80-DFF31A4F0D5E}"/>
              </a:ext>
            </a:extLst>
          </p:cNvPr>
          <p:cNvSpPr>
            <a:spLocks noGrp="1"/>
          </p:cNvSpPr>
          <p:nvPr>
            <p:ph type="sldNum" sz="quarter" idx="12"/>
          </p:nvPr>
        </p:nvSpPr>
        <p:spPr/>
        <p:txBody>
          <a:bodyPr/>
          <a:lstStyle/>
          <a:p>
            <a:fld id="{71C6F290-D301-4864-9490-340EF11588D9}" type="slidenum">
              <a:rPr lang="en-US" altLang="en-US" smtClean="0"/>
              <a:pPr/>
              <a:t>55</a:t>
            </a:fld>
            <a:endParaRPr lang="en-US" altLang="en-US" dirty="0"/>
          </a:p>
        </p:txBody>
      </p:sp>
      <p:pic>
        <p:nvPicPr>
          <p:cNvPr id="5" name="Picture 4">
            <a:extLst>
              <a:ext uri="{FF2B5EF4-FFF2-40B4-BE49-F238E27FC236}">
                <a16:creationId xmlns:a16="http://schemas.microsoft.com/office/drawing/2014/main" id="{7A1B0987-2BE7-FF41-89A0-0E03A09287C2}"/>
              </a:ext>
            </a:extLst>
          </p:cNvPr>
          <p:cNvPicPr>
            <a:picLocks noChangeAspect="1"/>
          </p:cNvPicPr>
          <p:nvPr/>
        </p:nvPicPr>
        <p:blipFill>
          <a:blip r:embed="rId2"/>
          <a:stretch>
            <a:fillRect/>
          </a:stretch>
        </p:blipFill>
        <p:spPr>
          <a:xfrm>
            <a:off x="381000" y="1709166"/>
            <a:ext cx="7848600" cy="4658868"/>
          </a:xfrm>
          <a:prstGeom prst="rect">
            <a:avLst/>
          </a:prstGeom>
        </p:spPr>
      </p:pic>
    </p:spTree>
    <p:extLst>
      <p:ext uri="{BB962C8B-B14F-4D97-AF65-F5344CB8AC3E}">
        <p14:creationId xmlns:p14="http://schemas.microsoft.com/office/powerpoint/2010/main" val="12427618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9C3A1-28A1-5928-6E85-7A86468D59DE}"/>
              </a:ext>
            </a:extLst>
          </p:cNvPr>
          <p:cNvSpPr>
            <a:spLocks noGrp="1"/>
          </p:cNvSpPr>
          <p:nvPr>
            <p:ph type="title"/>
          </p:nvPr>
        </p:nvSpPr>
        <p:spPr>
          <a:xfrm>
            <a:off x="228600" y="152400"/>
            <a:ext cx="7696200" cy="609600"/>
          </a:xfrm>
        </p:spPr>
        <p:txBody>
          <a:bodyPr/>
          <a:lstStyle/>
          <a:p>
            <a:r>
              <a:rPr lang="en-US" dirty="0"/>
              <a:t>Some of AND-OR graph examples</a:t>
            </a:r>
          </a:p>
        </p:txBody>
      </p:sp>
      <p:sp>
        <p:nvSpPr>
          <p:cNvPr id="3" name="Content Placeholder 2">
            <a:extLst>
              <a:ext uri="{FF2B5EF4-FFF2-40B4-BE49-F238E27FC236}">
                <a16:creationId xmlns:a16="http://schemas.microsoft.com/office/drawing/2014/main" id="{15DE3973-6F70-30AC-14A0-81588CCE8BA9}"/>
              </a:ext>
            </a:extLst>
          </p:cNvPr>
          <p:cNvSpPr>
            <a:spLocks noGrp="1"/>
          </p:cNvSpPr>
          <p:nvPr>
            <p:ph idx="1"/>
          </p:nvPr>
        </p:nvSpPr>
        <p:spPr>
          <a:xfrm>
            <a:off x="227045" y="617376"/>
            <a:ext cx="8610600" cy="5867400"/>
          </a:xfrm>
        </p:spPr>
        <p:txBody>
          <a:bodyPr/>
          <a:lstStyle/>
          <a:p>
            <a:r>
              <a:rPr lang="en-US" dirty="0">
                <a:solidFill>
                  <a:srgbClr val="FF0000"/>
                </a:solidFill>
              </a:rPr>
              <a:t>NLP</a:t>
            </a:r>
          </a:p>
          <a:p>
            <a:endParaRPr lang="en-US" dirty="0">
              <a:solidFill>
                <a:srgbClr val="FF0000"/>
              </a:solidFill>
            </a:endParaRPr>
          </a:p>
        </p:txBody>
      </p:sp>
      <p:sp>
        <p:nvSpPr>
          <p:cNvPr id="4" name="Slide Number Placeholder 3">
            <a:extLst>
              <a:ext uri="{FF2B5EF4-FFF2-40B4-BE49-F238E27FC236}">
                <a16:creationId xmlns:a16="http://schemas.microsoft.com/office/drawing/2014/main" id="{ED11C0F6-8F16-C672-E5FC-2077703DD913}"/>
              </a:ext>
            </a:extLst>
          </p:cNvPr>
          <p:cNvSpPr>
            <a:spLocks noGrp="1"/>
          </p:cNvSpPr>
          <p:nvPr>
            <p:ph type="sldNum" sz="quarter" idx="12"/>
          </p:nvPr>
        </p:nvSpPr>
        <p:spPr/>
        <p:txBody>
          <a:bodyPr/>
          <a:lstStyle/>
          <a:p>
            <a:fld id="{71C6F290-D301-4864-9490-340EF11588D9}" type="slidenum">
              <a:rPr lang="en-US" altLang="en-US" smtClean="0"/>
              <a:pPr/>
              <a:t>56</a:t>
            </a:fld>
            <a:endParaRPr lang="en-US" altLang="en-US" dirty="0"/>
          </a:p>
        </p:txBody>
      </p:sp>
      <p:pic>
        <p:nvPicPr>
          <p:cNvPr id="6" name="Picture 5">
            <a:extLst>
              <a:ext uri="{FF2B5EF4-FFF2-40B4-BE49-F238E27FC236}">
                <a16:creationId xmlns:a16="http://schemas.microsoft.com/office/drawing/2014/main" id="{05D6842B-96F8-A5B8-27D6-7BE46031F710}"/>
              </a:ext>
            </a:extLst>
          </p:cNvPr>
          <p:cNvPicPr>
            <a:picLocks noChangeAspect="1"/>
          </p:cNvPicPr>
          <p:nvPr/>
        </p:nvPicPr>
        <p:blipFill>
          <a:blip r:embed="rId2"/>
          <a:stretch>
            <a:fillRect/>
          </a:stretch>
        </p:blipFill>
        <p:spPr>
          <a:xfrm>
            <a:off x="457200" y="1219200"/>
            <a:ext cx="8007858" cy="5486400"/>
          </a:xfrm>
          <a:prstGeom prst="rect">
            <a:avLst/>
          </a:prstGeom>
        </p:spPr>
      </p:pic>
    </p:spTree>
    <p:extLst>
      <p:ext uri="{BB962C8B-B14F-4D97-AF65-F5344CB8AC3E}">
        <p14:creationId xmlns:p14="http://schemas.microsoft.com/office/powerpoint/2010/main" val="34415362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674C6-3049-F535-2983-83F10DA0A714}"/>
              </a:ext>
            </a:extLst>
          </p:cNvPr>
          <p:cNvSpPr>
            <a:spLocks noGrp="1"/>
          </p:cNvSpPr>
          <p:nvPr>
            <p:ph type="title"/>
          </p:nvPr>
        </p:nvSpPr>
        <p:spPr>
          <a:xfrm>
            <a:off x="228600" y="228600"/>
            <a:ext cx="7696200" cy="609600"/>
          </a:xfrm>
        </p:spPr>
        <p:txBody>
          <a:bodyPr/>
          <a:lstStyle/>
          <a:p>
            <a:r>
              <a:rPr lang="en-US" dirty="0"/>
              <a:t>Some of AND-OR graph examples</a:t>
            </a:r>
          </a:p>
        </p:txBody>
      </p:sp>
      <p:pic>
        <p:nvPicPr>
          <p:cNvPr id="5" name="Content Placeholder 4">
            <a:extLst>
              <a:ext uri="{FF2B5EF4-FFF2-40B4-BE49-F238E27FC236}">
                <a16:creationId xmlns:a16="http://schemas.microsoft.com/office/drawing/2014/main" id="{9AD59794-171F-C34F-E4AB-7B89F3AF3D92}"/>
              </a:ext>
            </a:extLst>
          </p:cNvPr>
          <p:cNvPicPr>
            <a:picLocks noGrp="1" noChangeAspect="1"/>
          </p:cNvPicPr>
          <p:nvPr>
            <p:ph idx="1"/>
          </p:nvPr>
        </p:nvPicPr>
        <p:blipFill>
          <a:blip r:embed="rId2"/>
          <a:stretch>
            <a:fillRect/>
          </a:stretch>
        </p:blipFill>
        <p:spPr>
          <a:xfrm>
            <a:off x="304800" y="990600"/>
            <a:ext cx="8001000" cy="5303583"/>
          </a:xfrm>
          <a:prstGeom prst="rect">
            <a:avLst/>
          </a:prstGeom>
        </p:spPr>
      </p:pic>
      <p:sp>
        <p:nvSpPr>
          <p:cNvPr id="4" name="Slide Number Placeholder 3">
            <a:extLst>
              <a:ext uri="{FF2B5EF4-FFF2-40B4-BE49-F238E27FC236}">
                <a16:creationId xmlns:a16="http://schemas.microsoft.com/office/drawing/2014/main" id="{87F654AB-73E5-A2F3-0E0B-434605D735F3}"/>
              </a:ext>
            </a:extLst>
          </p:cNvPr>
          <p:cNvSpPr>
            <a:spLocks noGrp="1"/>
          </p:cNvSpPr>
          <p:nvPr>
            <p:ph type="sldNum" sz="quarter" idx="12"/>
          </p:nvPr>
        </p:nvSpPr>
        <p:spPr/>
        <p:txBody>
          <a:bodyPr/>
          <a:lstStyle/>
          <a:p>
            <a:fld id="{71C6F290-D301-4864-9490-340EF11588D9}" type="slidenum">
              <a:rPr lang="en-US" altLang="en-US" smtClean="0"/>
              <a:pPr/>
              <a:t>57</a:t>
            </a:fld>
            <a:endParaRPr lang="en-US" altLang="en-US" dirty="0"/>
          </a:p>
        </p:txBody>
      </p:sp>
      <p:pic>
        <p:nvPicPr>
          <p:cNvPr id="7" name="Picture 6">
            <a:extLst>
              <a:ext uri="{FF2B5EF4-FFF2-40B4-BE49-F238E27FC236}">
                <a16:creationId xmlns:a16="http://schemas.microsoft.com/office/drawing/2014/main" id="{EDF9BF79-E257-2172-5BF5-FD48D135E8CA}"/>
              </a:ext>
            </a:extLst>
          </p:cNvPr>
          <p:cNvPicPr>
            <a:picLocks noChangeAspect="1"/>
          </p:cNvPicPr>
          <p:nvPr/>
        </p:nvPicPr>
        <p:blipFill>
          <a:blip r:embed="rId3"/>
          <a:stretch>
            <a:fillRect/>
          </a:stretch>
        </p:blipFill>
        <p:spPr>
          <a:xfrm>
            <a:off x="264367" y="3048000"/>
            <a:ext cx="5831633" cy="2819400"/>
          </a:xfrm>
          <a:prstGeom prst="rect">
            <a:avLst/>
          </a:prstGeom>
        </p:spPr>
      </p:pic>
    </p:spTree>
    <p:extLst>
      <p:ext uri="{BB962C8B-B14F-4D97-AF65-F5344CB8AC3E}">
        <p14:creationId xmlns:p14="http://schemas.microsoft.com/office/powerpoint/2010/main" val="32978178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FAEF1D-9AFA-2746-9193-62298DC14DDF}"/>
              </a:ext>
            </a:extLst>
          </p:cNvPr>
          <p:cNvSpPr>
            <a:spLocks noGrp="1"/>
          </p:cNvSpPr>
          <p:nvPr>
            <p:ph type="sldNum" sz="quarter" idx="12"/>
          </p:nvPr>
        </p:nvSpPr>
        <p:spPr/>
        <p:txBody>
          <a:bodyPr/>
          <a:lstStyle/>
          <a:p>
            <a:fld id="{AC3460AA-1533-4548-8781-A6D0EAE276D6}" type="slidenum">
              <a:rPr lang="en-US" altLang="en-US" smtClean="0"/>
              <a:pPr/>
              <a:t>58</a:t>
            </a:fld>
            <a:endParaRPr lang="en-US" altLang="en-US" dirty="0"/>
          </a:p>
        </p:txBody>
      </p:sp>
      <p:sp>
        <p:nvSpPr>
          <p:cNvPr id="7" name="TextBox 6">
            <a:extLst>
              <a:ext uri="{FF2B5EF4-FFF2-40B4-BE49-F238E27FC236}">
                <a16:creationId xmlns:a16="http://schemas.microsoft.com/office/drawing/2014/main" id="{D8A544A4-31B2-1F6F-5A10-D0522B1F4D31}"/>
              </a:ext>
            </a:extLst>
          </p:cNvPr>
          <p:cNvSpPr txBox="1"/>
          <p:nvPr/>
        </p:nvSpPr>
        <p:spPr>
          <a:xfrm>
            <a:off x="114300" y="152400"/>
            <a:ext cx="8915400" cy="5958554"/>
          </a:xfrm>
          <a:prstGeom prst="rect">
            <a:avLst/>
          </a:prstGeom>
          <a:noFill/>
        </p:spPr>
        <p:txBody>
          <a:bodyPr wrap="square" rtlCol="0">
            <a:spAutoFit/>
          </a:bodyPr>
          <a:lstStyle/>
          <a:p>
            <a:pPr>
              <a:buNone/>
            </a:pPr>
            <a:r>
              <a:rPr lang="en-US" sz="1400" dirty="0"/>
              <a:t>sentence --&gt; </a:t>
            </a:r>
            <a:r>
              <a:rPr lang="en-US" sz="1400" dirty="0" err="1"/>
              <a:t>noun_phrase</a:t>
            </a:r>
            <a:r>
              <a:rPr lang="en-US" sz="1400" dirty="0"/>
              <a:t>, </a:t>
            </a:r>
            <a:r>
              <a:rPr lang="en-US" sz="1400" dirty="0" err="1"/>
              <a:t>verb_phrase</a:t>
            </a:r>
            <a:r>
              <a:rPr lang="en-US" sz="1400" dirty="0"/>
              <a:t>.</a:t>
            </a:r>
          </a:p>
          <a:p>
            <a:pPr>
              <a:buNone/>
            </a:pPr>
            <a:r>
              <a:rPr lang="en-US" sz="1400" dirty="0"/>
              <a:t>% 2. A noun phrase is a noun</a:t>
            </a:r>
          </a:p>
          <a:p>
            <a:pPr>
              <a:buNone/>
            </a:pPr>
            <a:r>
              <a:rPr lang="en-US" sz="1400" dirty="0" err="1"/>
              <a:t>noun_phrase</a:t>
            </a:r>
            <a:r>
              <a:rPr lang="en-US" sz="1400" dirty="0"/>
              <a:t> --&gt; noun.</a:t>
            </a:r>
          </a:p>
          <a:p>
            <a:pPr>
              <a:buNone/>
            </a:pPr>
            <a:r>
              <a:rPr lang="en-US" sz="1400" dirty="0"/>
              <a:t>% 3. A noun phrase is an article followed by a noun</a:t>
            </a:r>
          </a:p>
          <a:p>
            <a:pPr>
              <a:buNone/>
            </a:pPr>
            <a:r>
              <a:rPr lang="en-US" sz="1400" dirty="0" err="1"/>
              <a:t>noun_phrase</a:t>
            </a:r>
            <a:r>
              <a:rPr lang="en-US" sz="1400" dirty="0"/>
              <a:t> --&gt; article, noun.</a:t>
            </a:r>
          </a:p>
          <a:p>
            <a:pPr>
              <a:buNone/>
            </a:pPr>
            <a:r>
              <a:rPr lang="en-US" sz="1400" dirty="0"/>
              <a:t>% 4. A verb phrase is a verb</a:t>
            </a:r>
          </a:p>
          <a:p>
            <a:pPr>
              <a:buNone/>
            </a:pPr>
            <a:r>
              <a:rPr lang="en-US" sz="1400" dirty="0" err="1"/>
              <a:t>verb_phrase</a:t>
            </a:r>
            <a:r>
              <a:rPr lang="en-US" sz="1400" dirty="0"/>
              <a:t> --&gt; verb.</a:t>
            </a:r>
          </a:p>
          <a:p>
            <a:pPr>
              <a:buNone/>
            </a:pPr>
            <a:r>
              <a:rPr lang="en-US" sz="1400" dirty="0"/>
              <a:t>% 5. A verb phrase is a verb followed by a noun phrase</a:t>
            </a:r>
          </a:p>
          <a:p>
            <a:pPr>
              <a:buNone/>
            </a:pPr>
            <a:r>
              <a:rPr lang="en-US" sz="1400" dirty="0" err="1"/>
              <a:t>verb_phrase</a:t>
            </a:r>
            <a:r>
              <a:rPr lang="en-US" sz="1400" dirty="0"/>
              <a:t> --&gt; verb, </a:t>
            </a:r>
            <a:r>
              <a:rPr lang="en-US" sz="1400" dirty="0" err="1"/>
              <a:t>noun_phrase</a:t>
            </a:r>
            <a:r>
              <a:rPr lang="en-US" sz="1400" dirty="0"/>
              <a:t>.</a:t>
            </a:r>
          </a:p>
          <a:p>
            <a:pPr>
              <a:buNone/>
            </a:pPr>
            <a:r>
              <a:rPr lang="en-US" sz="1400" dirty="0"/>
              <a:t>% ----------- Terminals -----------</a:t>
            </a:r>
          </a:p>
          <a:p>
            <a:pPr>
              <a:buNone/>
            </a:pPr>
            <a:r>
              <a:rPr lang="en-US" sz="1400" dirty="0"/>
              <a:t>% 6. Articles</a:t>
            </a:r>
          </a:p>
          <a:p>
            <a:pPr>
              <a:buNone/>
            </a:pPr>
            <a:r>
              <a:rPr lang="en-US" sz="1400" dirty="0"/>
              <a:t>article --&gt; [a].</a:t>
            </a:r>
          </a:p>
          <a:p>
            <a:pPr>
              <a:buNone/>
            </a:pPr>
            <a:r>
              <a:rPr lang="en-US" sz="1400" dirty="0"/>
              <a:t>article --&gt; [the].</a:t>
            </a:r>
          </a:p>
          <a:p>
            <a:pPr>
              <a:buNone/>
            </a:pPr>
            <a:endParaRPr lang="en-US" sz="1400" dirty="0"/>
          </a:p>
          <a:p>
            <a:pPr>
              <a:buNone/>
            </a:pPr>
            <a:r>
              <a:rPr lang="en-US" sz="1400" dirty="0"/>
              <a:t>% 7. Nouns</a:t>
            </a:r>
          </a:p>
          <a:p>
            <a:pPr>
              <a:buNone/>
            </a:pPr>
            <a:r>
              <a:rPr lang="en-US" sz="1400" dirty="0"/>
              <a:t>noun --&gt; [man].</a:t>
            </a:r>
          </a:p>
          <a:p>
            <a:pPr>
              <a:buNone/>
            </a:pPr>
            <a:r>
              <a:rPr lang="en-US" sz="1400" dirty="0"/>
              <a:t>noun --&gt; [dog].</a:t>
            </a:r>
          </a:p>
          <a:p>
            <a:pPr>
              <a:buNone/>
            </a:pPr>
            <a:endParaRPr lang="en-US" sz="1400" dirty="0"/>
          </a:p>
          <a:p>
            <a:pPr>
              <a:buNone/>
            </a:pPr>
            <a:r>
              <a:rPr lang="en-US" sz="1400" dirty="0"/>
              <a:t>% 8. Verbs</a:t>
            </a:r>
          </a:p>
          <a:p>
            <a:pPr>
              <a:buNone/>
            </a:pPr>
            <a:r>
              <a:rPr lang="en-US" sz="1400" dirty="0"/>
              <a:t>verb --&gt; [likes].</a:t>
            </a:r>
          </a:p>
          <a:p>
            <a:pPr>
              <a:buNone/>
            </a:pPr>
            <a:r>
              <a:rPr lang="en-US" sz="1400" dirty="0"/>
              <a:t>verb --&gt; [bites].</a:t>
            </a:r>
          </a:p>
          <a:p>
            <a:pPr>
              <a:buNone/>
            </a:pPr>
            <a:endParaRPr lang="en-US" dirty="0"/>
          </a:p>
        </p:txBody>
      </p:sp>
    </p:spTree>
    <p:extLst>
      <p:ext uri="{BB962C8B-B14F-4D97-AF65-F5344CB8AC3E}">
        <p14:creationId xmlns:p14="http://schemas.microsoft.com/office/powerpoint/2010/main" val="6592402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052364-0201-CB88-8F52-7151983B349B}"/>
              </a:ext>
            </a:extLst>
          </p:cNvPr>
          <p:cNvSpPr>
            <a:spLocks noGrp="1"/>
          </p:cNvSpPr>
          <p:nvPr>
            <p:ph type="sldNum" sz="quarter" idx="12"/>
          </p:nvPr>
        </p:nvSpPr>
        <p:spPr/>
        <p:txBody>
          <a:bodyPr/>
          <a:lstStyle/>
          <a:p>
            <a:fld id="{AC3460AA-1533-4548-8781-A6D0EAE276D6}" type="slidenum">
              <a:rPr lang="en-US" altLang="en-US" smtClean="0"/>
              <a:pPr/>
              <a:t>59</a:t>
            </a:fld>
            <a:endParaRPr lang="en-US" altLang="en-US" dirty="0"/>
          </a:p>
        </p:txBody>
      </p:sp>
      <p:sp>
        <p:nvSpPr>
          <p:cNvPr id="3" name="TextBox 2">
            <a:extLst>
              <a:ext uri="{FF2B5EF4-FFF2-40B4-BE49-F238E27FC236}">
                <a16:creationId xmlns:a16="http://schemas.microsoft.com/office/drawing/2014/main" id="{6A97EADB-318E-A6A9-0607-82058276660F}"/>
              </a:ext>
            </a:extLst>
          </p:cNvPr>
          <p:cNvSpPr txBox="1"/>
          <p:nvPr/>
        </p:nvSpPr>
        <p:spPr>
          <a:xfrm>
            <a:off x="533400" y="228600"/>
            <a:ext cx="8763000" cy="4093428"/>
          </a:xfrm>
          <a:prstGeom prst="rect">
            <a:avLst/>
          </a:prstGeom>
          <a:noFill/>
        </p:spPr>
        <p:txBody>
          <a:bodyPr wrap="square" rtlCol="0">
            <a:spAutoFit/>
          </a:bodyPr>
          <a:lstStyle/>
          <a:p>
            <a:pPr>
              <a:buNone/>
            </a:pPr>
            <a:r>
              <a:rPr lang="en-US" sz="2000" b="1" dirty="0">
                <a:solidFill>
                  <a:srgbClr val="FF0000"/>
                </a:solidFill>
              </a:rPr>
              <a:t>Goals</a:t>
            </a:r>
          </a:p>
          <a:p>
            <a:pPr>
              <a:buNone/>
            </a:pPr>
            <a:endParaRPr lang="en-US" sz="2000" dirty="0"/>
          </a:p>
          <a:p>
            <a:pPr>
              <a:buNone/>
            </a:pPr>
            <a:r>
              <a:rPr lang="en-US" sz="2000" dirty="0"/>
              <a:t>?- sentence([the, dog, bites, a, man], []).</a:t>
            </a:r>
          </a:p>
          <a:p>
            <a:pPr>
              <a:buNone/>
            </a:pPr>
            <a:r>
              <a:rPr lang="en-US" sz="2000" dirty="0"/>
              <a:t>?- sentence([a, man, likes, dog], [])</a:t>
            </a:r>
          </a:p>
          <a:p>
            <a:pPr>
              <a:buNone/>
            </a:pPr>
            <a:r>
              <a:rPr lang="en-US" sz="2000" dirty="0"/>
              <a:t>?- sentence([dog, likes, the, man], []).</a:t>
            </a:r>
          </a:p>
          <a:p>
            <a:pPr>
              <a:buNone/>
            </a:pPr>
            <a:r>
              <a:rPr lang="en-US" sz="2000" dirty="0"/>
              <a:t>?- sentence([the, dog, runs], []).</a:t>
            </a:r>
          </a:p>
          <a:p>
            <a:pPr>
              <a:buNone/>
            </a:pPr>
            <a:endParaRPr lang="en-US" sz="2000" dirty="0"/>
          </a:p>
          <a:p>
            <a:pPr>
              <a:buNone/>
            </a:pPr>
            <a:endParaRPr lang="en-US" sz="2000" dirty="0"/>
          </a:p>
          <a:p>
            <a:pPr>
              <a:buNone/>
            </a:pPr>
            <a:endParaRPr lang="en-US" sz="2000" dirty="0"/>
          </a:p>
          <a:p>
            <a:pPr>
              <a:buNone/>
            </a:pPr>
            <a:r>
              <a:rPr lang="en-US" sz="2000" dirty="0"/>
              <a:t>Generating sentences:</a:t>
            </a:r>
          </a:p>
          <a:p>
            <a:pPr>
              <a:buNone/>
            </a:pPr>
            <a:r>
              <a:rPr lang="en-US" sz="2000" dirty="0"/>
              <a:t>sentence(S, []).</a:t>
            </a:r>
          </a:p>
        </p:txBody>
      </p:sp>
    </p:spTree>
    <p:extLst>
      <p:ext uri="{BB962C8B-B14F-4D97-AF65-F5344CB8AC3E}">
        <p14:creationId xmlns:p14="http://schemas.microsoft.com/office/powerpoint/2010/main" val="23012390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978C445-2D06-4E92-7152-E5B4B7D06DE2}"/>
              </a:ext>
            </a:extLst>
          </p:cNvPr>
          <p:cNvSpPr>
            <a:spLocks noGrp="1"/>
          </p:cNvSpPr>
          <p:nvPr>
            <p:ph type="sldNum" sz="quarter" idx="12"/>
          </p:nvPr>
        </p:nvSpPr>
        <p:spPr/>
        <p:txBody>
          <a:bodyPr/>
          <a:lstStyle/>
          <a:p>
            <a:fld id="{AC3460AA-1533-4548-8781-A6D0EAE276D6}" type="slidenum">
              <a:rPr lang="en-US" altLang="en-US" smtClean="0"/>
              <a:pPr/>
              <a:t>60</a:t>
            </a:fld>
            <a:endParaRPr lang="en-US" altLang="en-US" dirty="0"/>
          </a:p>
        </p:txBody>
      </p:sp>
      <p:sp>
        <p:nvSpPr>
          <p:cNvPr id="5" name="TextBox 4">
            <a:extLst>
              <a:ext uri="{FF2B5EF4-FFF2-40B4-BE49-F238E27FC236}">
                <a16:creationId xmlns:a16="http://schemas.microsoft.com/office/drawing/2014/main" id="{01FACE08-A331-6B60-F7EE-41FABE494F56}"/>
              </a:ext>
            </a:extLst>
          </p:cNvPr>
          <p:cNvSpPr txBox="1"/>
          <p:nvPr/>
        </p:nvSpPr>
        <p:spPr>
          <a:xfrm>
            <a:off x="228600" y="152400"/>
            <a:ext cx="8763000" cy="6992684"/>
          </a:xfrm>
          <a:prstGeom prst="rect">
            <a:avLst/>
          </a:prstGeom>
          <a:noFill/>
        </p:spPr>
        <p:txBody>
          <a:bodyPr wrap="square" rtlCol="0">
            <a:spAutoFit/>
          </a:bodyPr>
          <a:lstStyle/>
          <a:p>
            <a:r>
              <a:rPr lang="en-US" sz="1400" dirty="0"/>
              <a:t>% Entry point: an utterance is a sentence that consumes the entire list</a:t>
            </a:r>
          </a:p>
          <a:p>
            <a:r>
              <a:rPr lang="en-US" sz="1400" dirty="0"/>
              <a:t>utterance(X) :- sentence(X, []).</a:t>
            </a:r>
          </a:p>
          <a:p>
            <a:endParaRPr lang="en-US" sz="1400" dirty="0"/>
          </a:p>
          <a:p>
            <a:r>
              <a:rPr lang="en-US" sz="1400" dirty="0"/>
              <a:t>% A sentence consists of a noun phrase followed by a verb phrase</a:t>
            </a:r>
          </a:p>
          <a:p>
            <a:r>
              <a:rPr lang="en-US" sz="1400" dirty="0"/>
              <a:t>sentence(Start, End) :- </a:t>
            </a:r>
            <a:r>
              <a:rPr lang="en-US" sz="1400" dirty="0" err="1"/>
              <a:t>nounphrase</a:t>
            </a:r>
            <a:r>
              <a:rPr lang="en-US" sz="1400" dirty="0"/>
              <a:t>(Start, Rest), </a:t>
            </a:r>
            <a:r>
              <a:rPr lang="en-US" sz="1400" dirty="0" err="1"/>
              <a:t>verbphrase</a:t>
            </a:r>
            <a:r>
              <a:rPr lang="en-US" sz="1400" dirty="0"/>
              <a:t>(Rest, End).</a:t>
            </a:r>
          </a:p>
          <a:p>
            <a:endParaRPr lang="en-US" sz="1400" dirty="0"/>
          </a:p>
          <a:p>
            <a:r>
              <a:rPr lang="en-US" sz="1400" dirty="0"/>
              <a:t>% A noun phrase can be a single noun</a:t>
            </a:r>
          </a:p>
          <a:p>
            <a:r>
              <a:rPr lang="en-US" sz="1400" dirty="0" err="1"/>
              <a:t>nounphrase</a:t>
            </a:r>
            <a:r>
              <a:rPr lang="en-US" sz="1400" dirty="0"/>
              <a:t>([</a:t>
            </a:r>
            <a:r>
              <a:rPr lang="en-US" sz="1400" dirty="0" err="1"/>
              <a:t>Noun|End</a:t>
            </a:r>
            <a:r>
              <a:rPr lang="en-US" sz="1400" dirty="0"/>
              <a:t>], End) :- noun(Noun).</a:t>
            </a:r>
          </a:p>
          <a:p>
            <a:endParaRPr lang="en-US" sz="1400" dirty="0"/>
          </a:p>
          <a:p>
            <a:r>
              <a:rPr lang="en-US" sz="1400" dirty="0"/>
              <a:t>% Or an article followed by a noun</a:t>
            </a:r>
          </a:p>
          <a:p>
            <a:r>
              <a:rPr lang="en-US" sz="1400" dirty="0" err="1"/>
              <a:t>nounphrase</a:t>
            </a:r>
            <a:r>
              <a:rPr lang="en-US" sz="1400" dirty="0"/>
              <a:t>([Article, </a:t>
            </a:r>
            <a:r>
              <a:rPr lang="en-US" sz="1400" dirty="0" err="1"/>
              <a:t>Noun|End</a:t>
            </a:r>
            <a:r>
              <a:rPr lang="en-US" sz="1400" dirty="0"/>
              <a:t>], End) :- article(Article), noun(Noun).</a:t>
            </a:r>
          </a:p>
          <a:p>
            <a:endParaRPr lang="en-US" sz="1400" dirty="0"/>
          </a:p>
          <a:p>
            <a:r>
              <a:rPr lang="en-US" sz="1400" dirty="0"/>
              <a:t>% A verb phrase can be a single verb</a:t>
            </a:r>
          </a:p>
          <a:p>
            <a:r>
              <a:rPr lang="en-US" sz="1400" dirty="0" err="1"/>
              <a:t>verbphrase</a:t>
            </a:r>
            <a:r>
              <a:rPr lang="en-US" sz="1400" dirty="0"/>
              <a:t>([</a:t>
            </a:r>
            <a:r>
              <a:rPr lang="en-US" sz="1400" dirty="0" err="1"/>
              <a:t>Verb|End</a:t>
            </a:r>
            <a:r>
              <a:rPr lang="en-US" sz="1400" dirty="0"/>
              <a:t>], End) :- verb(Verb).</a:t>
            </a:r>
          </a:p>
          <a:p>
            <a:endParaRPr lang="en-US" sz="1400" dirty="0"/>
          </a:p>
          <a:p>
            <a:r>
              <a:rPr lang="en-US" sz="1400" dirty="0"/>
              <a:t>% Or a verb followed by a noun phrase</a:t>
            </a:r>
          </a:p>
          <a:p>
            <a:r>
              <a:rPr lang="en-US" sz="1400" dirty="0" err="1"/>
              <a:t>verbphrase</a:t>
            </a:r>
            <a:r>
              <a:rPr lang="en-US" sz="1400" dirty="0"/>
              <a:t>([</a:t>
            </a:r>
            <a:r>
              <a:rPr lang="en-US" sz="1400" dirty="0" err="1"/>
              <a:t>Verb|Rest</a:t>
            </a:r>
            <a:r>
              <a:rPr lang="en-US" sz="1400" dirty="0"/>
              <a:t>], End) :- verb(Verb), </a:t>
            </a:r>
            <a:r>
              <a:rPr lang="en-US" sz="1400" dirty="0" err="1"/>
              <a:t>nounphrase</a:t>
            </a:r>
            <a:r>
              <a:rPr lang="en-US" sz="1400" dirty="0"/>
              <a:t>(Rest, End).</a:t>
            </a:r>
          </a:p>
          <a:p>
            <a:endParaRPr lang="en-US" sz="1400" dirty="0"/>
          </a:p>
          <a:p>
            <a:r>
              <a:rPr lang="en-US" sz="1400" dirty="0"/>
              <a:t>% Lexicon</a:t>
            </a:r>
          </a:p>
          <a:p>
            <a:r>
              <a:rPr lang="en-US" sz="1400" dirty="0"/>
              <a:t>article(a). </a:t>
            </a:r>
          </a:p>
          <a:p>
            <a:r>
              <a:rPr lang="en-US" sz="1400" dirty="0"/>
              <a:t>article(the). </a:t>
            </a:r>
          </a:p>
          <a:p>
            <a:r>
              <a:rPr lang="en-US" sz="1400" dirty="0"/>
              <a:t>noun(man). </a:t>
            </a:r>
          </a:p>
          <a:p>
            <a:r>
              <a:rPr lang="en-US" sz="1400" dirty="0"/>
              <a:t>noun(dog).</a:t>
            </a:r>
          </a:p>
          <a:p>
            <a:r>
              <a:rPr lang="en-US" sz="1400" dirty="0"/>
              <a:t>verb(likes).</a:t>
            </a:r>
          </a:p>
          <a:p>
            <a:r>
              <a:rPr lang="en-US" sz="1400" dirty="0"/>
              <a:t>verb(bites).</a:t>
            </a:r>
          </a:p>
          <a:p>
            <a:endParaRPr lang="en-US" dirty="0"/>
          </a:p>
        </p:txBody>
      </p:sp>
    </p:spTree>
    <p:extLst>
      <p:ext uri="{BB962C8B-B14F-4D97-AF65-F5344CB8AC3E}">
        <p14:creationId xmlns:p14="http://schemas.microsoft.com/office/powerpoint/2010/main" val="16770051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74B7C-FA2F-4A3C-5D73-27F6DE3C877E}"/>
              </a:ext>
            </a:extLst>
          </p:cNvPr>
          <p:cNvSpPr>
            <a:spLocks noGrp="1"/>
          </p:cNvSpPr>
          <p:nvPr>
            <p:ph type="title"/>
          </p:nvPr>
        </p:nvSpPr>
        <p:spPr>
          <a:xfrm>
            <a:off x="228600" y="228600"/>
            <a:ext cx="8153400" cy="693737"/>
          </a:xfrm>
        </p:spPr>
        <p:txBody>
          <a:bodyPr/>
          <a:lstStyle/>
          <a:p>
            <a:r>
              <a:rPr lang="en-US" dirty="0"/>
              <a:t>Some of AND-OR graph examples</a:t>
            </a:r>
          </a:p>
        </p:txBody>
      </p:sp>
      <p:sp>
        <p:nvSpPr>
          <p:cNvPr id="3" name="Content Placeholder 2">
            <a:extLst>
              <a:ext uri="{FF2B5EF4-FFF2-40B4-BE49-F238E27FC236}">
                <a16:creationId xmlns:a16="http://schemas.microsoft.com/office/drawing/2014/main" id="{58C6C320-4FB6-DDDA-D333-88C71786E0EC}"/>
              </a:ext>
            </a:extLst>
          </p:cNvPr>
          <p:cNvSpPr>
            <a:spLocks noGrp="1"/>
          </p:cNvSpPr>
          <p:nvPr>
            <p:ph idx="1"/>
          </p:nvPr>
        </p:nvSpPr>
        <p:spPr>
          <a:xfrm>
            <a:off x="381000" y="1211122"/>
            <a:ext cx="8153400" cy="5418277"/>
          </a:xfrm>
        </p:spPr>
        <p:txBody>
          <a:bodyPr>
            <a:normAutofit/>
          </a:bodyPr>
          <a:lstStyle/>
          <a:p>
            <a:r>
              <a:rPr lang="en-US" b="1" dirty="0">
                <a:solidFill>
                  <a:srgbClr val="FF0000"/>
                </a:solidFill>
              </a:rPr>
              <a:t>Goals:</a:t>
            </a:r>
          </a:p>
          <a:p>
            <a:r>
              <a:rPr lang="en-US" dirty="0"/>
              <a:t>u</a:t>
            </a:r>
            <a:r>
              <a:rPr lang="en-US" sz="2800" dirty="0"/>
              <a:t>tterance([the, dog, bites, the, man]).</a:t>
            </a:r>
          </a:p>
          <a:p>
            <a:r>
              <a:rPr lang="en-US" sz="2800" dirty="0"/>
              <a:t>utterance([ dog, bites, man]).</a:t>
            </a:r>
          </a:p>
          <a:p>
            <a:r>
              <a:rPr lang="en-US" dirty="0"/>
              <a:t>utterance([ bites, dog, man]).</a:t>
            </a:r>
          </a:p>
          <a:p>
            <a:endParaRPr lang="en-US" dirty="0"/>
          </a:p>
        </p:txBody>
      </p:sp>
      <p:sp>
        <p:nvSpPr>
          <p:cNvPr id="4" name="Slide Number Placeholder 3">
            <a:extLst>
              <a:ext uri="{FF2B5EF4-FFF2-40B4-BE49-F238E27FC236}">
                <a16:creationId xmlns:a16="http://schemas.microsoft.com/office/drawing/2014/main" id="{2FC01C08-1902-968C-CD33-C7D53003B258}"/>
              </a:ext>
            </a:extLst>
          </p:cNvPr>
          <p:cNvSpPr>
            <a:spLocks noGrp="1"/>
          </p:cNvSpPr>
          <p:nvPr>
            <p:ph type="sldNum" sz="quarter" idx="12"/>
          </p:nvPr>
        </p:nvSpPr>
        <p:spPr/>
        <p:txBody>
          <a:bodyPr/>
          <a:lstStyle/>
          <a:p>
            <a:fld id="{71C6F290-D301-4864-9490-340EF11588D9}" type="slidenum">
              <a:rPr lang="en-US" altLang="en-US" smtClean="0"/>
              <a:pPr/>
              <a:t>61</a:t>
            </a:fld>
            <a:endParaRPr lang="en-US" altLang="en-US" dirty="0"/>
          </a:p>
        </p:txBody>
      </p:sp>
    </p:spTree>
    <p:extLst>
      <p:ext uri="{BB962C8B-B14F-4D97-AF65-F5344CB8AC3E}">
        <p14:creationId xmlns:p14="http://schemas.microsoft.com/office/powerpoint/2010/main" val="1313098453"/>
      </p:ext>
    </p:extLst>
  </p:cSld>
  <p:clrMapOvr>
    <a:masterClrMapping/>
  </p:clrMapOvr>
</p:sld>
</file>

<file path=ppt/theme/theme1.xml><?xml version="1.0" encoding="utf-8"?>
<a:theme xmlns:a="http://schemas.openxmlformats.org/drawingml/2006/main" name="Sales training presentation">
  <a:themeElements>
    <a:clrScheme name="Sales Training_final2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Sales Training_final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692150" marR="0" indent="-347663" algn="l" defTabSz="914400" rtl="0" eaLnBrk="1" fontAlgn="base" latinLnBrk="0" hangingPunct="1">
          <a:lnSpc>
            <a:spcPct val="100000"/>
          </a:lnSpc>
          <a:spcBef>
            <a:spcPct val="20000"/>
          </a:spcBef>
          <a:spcAft>
            <a:spcPct val="0"/>
          </a:spcAft>
          <a:buClr>
            <a:schemeClr val="accent2"/>
          </a:buClr>
          <a:buSzPct val="70000"/>
          <a:buFont typeface="Wingdings" pitchFamily="2" charset="2"/>
          <a:buChar char="l"/>
          <a:tabLst/>
          <a:defRPr kumimoji="0" lang="en-US" sz="2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692150" marR="0" indent="-347663" algn="l" defTabSz="914400" rtl="0" eaLnBrk="1" fontAlgn="base" latinLnBrk="0" hangingPunct="1">
          <a:lnSpc>
            <a:spcPct val="100000"/>
          </a:lnSpc>
          <a:spcBef>
            <a:spcPct val="20000"/>
          </a:spcBef>
          <a:spcAft>
            <a:spcPct val="0"/>
          </a:spcAft>
          <a:buClr>
            <a:schemeClr val="accent2"/>
          </a:buClr>
          <a:buSzPct val="70000"/>
          <a:buFont typeface="Wingdings" pitchFamily="2" charset="2"/>
          <a:buChar char="l"/>
          <a:tabLst/>
          <a:defRPr kumimoji="0" lang="en-US" sz="2600" b="0" i="0" u="none" strike="noStrike" cap="none" normalizeH="0" baseline="0" smtClean="0">
            <a:ln>
              <a:noFill/>
            </a:ln>
            <a:solidFill>
              <a:schemeClr val="tx1"/>
            </a:solidFill>
            <a:effectLst/>
            <a:latin typeface="Arial" charset="0"/>
          </a:defRPr>
        </a:defPPr>
      </a:lstStyle>
    </a:lnDef>
  </a:objectDefaults>
  <a:extraClrSchemeLst>
    <a:extraClrScheme>
      <a:clrScheme name="Sales Training_final2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Sales Training_final2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Sales Training_final2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Sales Training_final2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Sales Training_final2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Sales Training_final2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Sales Training_final2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Sales Training_final2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Sales Training_final2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Sales Training_final2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Sales training presentation.potx" id="{3181A242-BAE2-485E-97E8-919259126601}" vid="{819B686A-E690-42F4-91DA-6D012EEA393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Sales training slides</Template>
  <TotalTime>1116</TotalTime>
  <Words>3623</Words>
  <Application>Microsoft Office PowerPoint</Application>
  <PresentationFormat>On-screen Show (4:3)</PresentationFormat>
  <Paragraphs>490</Paragraphs>
  <Slides>61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61</vt:i4>
      </vt:variant>
    </vt:vector>
  </HeadingPairs>
  <TitlesOfParts>
    <vt:vector size="66" baseType="lpstr">
      <vt:lpstr>Arial</vt:lpstr>
      <vt:lpstr>Courier New</vt:lpstr>
      <vt:lpstr>Times New Roman</vt:lpstr>
      <vt:lpstr>Wingdings</vt:lpstr>
      <vt:lpstr>Sales training presentation</vt:lpstr>
      <vt:lpstr>Chapter 3</vt:lpstr>
      <vt:lpstr>Search Algorithms Overview</vt:lpstr>
      <vt:lpstr>Uninformed vs. Informed Search</vt:lpstr>
      <vt:lpstr>Uninformed Search Algorithms</vt:lpstr>
      <vt:lpstr>Uninformed Search Algorithms</vt:lpstr>
      <vt:lpstr>Breadth-First Search (BFS)</vt:lpstr>
      <vt:lpstr>Breadth-First Search (BFS)</vt:lpstr>
      <vt:lpstr>Uninformed Search Algorithms</vt:lpstr>
      <vt:lpstr>Uninformed Search Algorithms</vt:lpstr>
      <vt:lpstr>Depth-First Search (DFS)</vt:lpstr>
      <vt:lpstr>Depth-First Search (DFS)</vt:lpstr>
      <vt:lpstr>Depth-First Search (DFS)</vt:lpstr>
      <vt:lpstr>Notes</vt:lpstr>
      <vt:lpstr>Notes</vt:lpstr>
      <vt:lpstr>Informed (Heuristic) Search Algorithms</vt:lpstr>
      <vt:lpstr>Best First Search Algorithm</vt:lpstr>
      <vt:lpstr>Best First Search Algorithm</vt:lpstr>
      <vt:lpstr>BFS Example</vt:lpstr>
      <vt:lpstr>BFS: Priority Q usage</vt:lpstr>
      <vt:lpstr>BFS: Priority Q usage</vt:lpstr>
      <vt:lpstr>BFS: Priority Q usage</vt:lpstr>
      <vt:lpstr>BFS Example</vt:lpstr>
      <vt:lpstr>BFS algorithm</vt:lpstr>
      <vt:lpstr>BFS algorithm</vt:lpstr>
      <vt:lpstr>BFS algorithm</vt:lpstr>
      <vt:lpstr>Informed (Heuristic) Search Algorithms</vt:lpstr>
      <vt:lpstr>Informed (Heuristic) Search Algorithms</vt:lpstr>
      <vt:lpstr>Informed (Heuristic) Search Algorithms</vt:lpstr>
      <vt:lpstr>Informed (Heuristic) Search Algorithms</vt:lpstr>
      <vt:lpstr>Informed (Heuristic) Search Algorithms</vt:lpstr>
      <vt:lpstr>Admissible Heuristic Function</vt:lpstr>
      <vt:lpstr>Greedy Best-First Search</vt:lpstr>
      <vt:lpstr>Informed (Heuristic) Search Algorithms</vt:lpstr>
      <vt:lpstr>A* algorithm</vt:lpstr>
      <vt:lpstr>PowerPoint Presentation</vt:lpstr>
      <vt:lpstr>PowerPoint Presentation</vt:lpstr>
      <vt:lpstr>A* Example</vt:lpstr>
      <vt:lpstr>A* Example</vt:lpstr>
      <vt:lpstr>A* Example</vt:lpstr>
      <vt:lpstr>A* algorithm</vt:lpstr>
      <vt:lpstr>Informed (Heuristic) Search Algorithms</vt:lpstr>
      <vt:lpstr>PowerPoint Presentation</vt:lpstr>
      <vt:lpstr>A* Example</vt:lpstr>
      <vt:lpstr>A* Example</vt:lpstr>
      <vt:lpstr>A* Search Exercise  </vt:lpstr>
      <vt:lpstr>BFS versus A* in terms of App.</vt:lpstr>
      <vt:lpstr>   Problems that might appear with A*</vt:lpstr>
      <vt:lpstr>Problems that might appear with A* (underestimates)</vt:lpstr>
      <vt:lpstr>Problems that might appear with A*</vt:lpstr>
      <vt:lpstr>AO*  Algorithm </vt:lpstr>
      <vt:lpstr>AO* algorithm</vt:lpstr>
      <vt:lpstr>AO* algorithm</vt:lpstr>
      <vt:lpstr>AO* algorithm</vt:lpstr>
      <vt:lpstr>AO* algorithm</vt:lpstr>
      <vt:lpstr>Some of AND-OR graph examples </vt:lpstr>
      <vt:lpstr>Some of AND-OR graph examples</vt:lpstr>
      <vt:lpstr>Some of AND-OR graph examples</vt:lpstr>
      <vt:lpstr>PowerPoint Presentation</vt:lpstr>
      <vt:lpstr>PowerPoint Presentation</vt:lpstr>
      <vt:lpstr>PowerPoint Presentation</vt:lpstr>
      <vt:lpstr>Some of AND-OR graph examples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Darwish</dc:creator>
  <cp:lastModifiedBy>Dr. NABIL M. A. HEWAHI</cp:lastModifiedBy>
  <cp:revision>287</cp:revision>
  <dcterms:created xsi:type="dcterms:W3CDTF">2025-04-22T07:31:40Z</dcterms:created>
  <dcterms:modified xsi:type="dcterms:W3CDTF">2025-10-01T19:22:13Z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