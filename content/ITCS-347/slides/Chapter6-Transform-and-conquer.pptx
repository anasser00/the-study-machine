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5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1" r:id="rId7"/>
    <p:sldId id="274" r:id="rId8"/>
    <p:sldId id="275" r:id="rId9"/>
    <p:sldId id="277" r:id="rId10"/>
    <p:sldId id="264" r:id="rId11"/>
    <p:sldId id="280" r:id="rId12"/>
    <p:sldId id="279" r:id="rId13"/>
    <p:sldId id="281" r:id="rId14"/>
    <p:sldId id="283" r:id="rId15"/>
    <p:sldId id="265" r:id="rId16"/>
    <p:sldId id="266" r:id="rId17"/>
    <p:sldId id="282" r:id="rId18"/>
    <p:sldId id="268" r:id="rId19"/>
    <p:sldId id="284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DC7065-B106-4D02-BE15-85E2DD443558}" v="77" dt="2024-11-07T15:36:17.4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1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Bu Hawraa" userId="c298b3438ccd2c24" providerId="LiveId" clId="{6DDC7065-B106-4D02-BE15-85E2DD443558}"/>
    <pc:docChg chg="undo custSel delSld modSld">
      <pc:chgData name="Ali Bu Hawraa" userId="c298b3438ccd2c24" providerId="LiveId" clId="{6DDC7065-B106-4D02-BE15-85E2DD443558}" dt="2024-11-07T15:47:42.140" v="419" actId="1076"/>
      <pc:docMkLst>
        <pc:docMk/>
      </pc:docMkLst>
      <pc:sldChg chg="modSp mod">
        <pc:chgData name="Ali Bu Hawraa" userId="c298b3438ccd2c24" providerId="LiveId" clId="{6DDC7065-B106-4D02-BE15-85E2DD443558}" dt="2024-11-07T15:07:49.993" v="16" actId="20577"/>
        <pc:sldMkLst>
          <pc:docMk/>
          <pc:sldMk cId="1003038459" sldId="264"/>
        </pc:sldMkLst>
        <pc:spChg chg="mod">
          <ac:chgData name="Ali Bu Hawraa" userId="c298b3438ccd2c24" providerId="LiveId" clId="{6DDC7065-B106-4D02-BE15-85E2DD443558}" dt="2024-11-07T15:07:49.993" v="16" actId="20577"/>
          <ac:spMkLst>
            <pc:docMk/>
            <pc:sldMk cId="1003038459" sldId="264"/>
            <ac:spMk id="2" creationId="{00000000-0000-0000-0000-000000000000}"/>
          </ac:spMkLst>
        </pc:spChg>
      </pc:sldChg>
      <pc:sldChg chg="modSp">
        <pc:chgData name="Ali Bu Hawraa" userId="c298b3438ccd2c24" providerId="LiveId" clId="{6DDC7065-B106-4D02-BE15-85E2DD443558}" dt="2024-11-07T15:33:12.173" v="360"/>
        <pc:sldMkLst>
          <pc:docMk/>
          <pc:sldMk cId="2293262924" sldId="265"/>
        </pc:sldMkLst>
        <pc:spChg chg="mod">
          <ac:chgData name="Ali Bu Hawraa" userId="c298b3438ccd2c24" providerId="LiveId" clId="{6DDC7065-B106-4D02-BE15-85E2DD443558}" dt="2024-11-07T15:33:12.173" v="360"/>
          <ac:spMkLst>
            <pc:docMk/>
            <pc:sldMk cId="2293262924" sldId="265"/>
            <ac:spMk id="23" creationId="{00000000-0000-0000-0000-000000000000}"/>
          </ac:spMkLst>
        </pc:spChg>
      </pc:sldChg>
      <pc:sldChg chg="addSp delSp modSp mod modAnim">
        <pc:chgData name="Ali Bu Hawraa" userId="c298b3438ccd2c24" providerId="LiveId" clId="{6DDC7065-B106-4D02-BE15-85E2DD443558}" dt="2024-11-07T15:36:17.446" v="416"/>
        <pc:sldMkLst>
          <pc:docMk/>
          <pc:sldMk cId="1110473750" sldId="266"/>
        </pc:sldMkLst>
        <pc:spChg chg="add del mod">
          <ac:chgData name="Ali Bu Hawraa" userId="c298b3438ccd2c24" providerId="LiveId" clId="{6DDC7065-B106-4D02-BE15-85E2DD443558}" dt="2024-11-07T15:34:57.402" v="370" actId="478"/>
          <ac:spMkLst>
            <pc:docMk/>
            <pc:sldMk cId="1110473750" sldId="266"/>
            <ac:spMk id="8" creationId="{E7995266-6631-9461-4033-9F67B4FFC15D}"/>
          </ac:spMkLst>
        </pc:spChg>
        <pc:spChg chg="add mod">
          <ac:chgData name="Ali Bu Hawraa" userId="c298b3438ccd2c24" providerId="LiveId" clId="{6DDC7065-B106-4D02-BE15-85E2DD443558}" dt="2024-11-07T15:35:54.266" v="413" actId="1076"/>
          <ac:spMkLst>
            <pc:docMk/>
            <pc:sldMk cId="1110473750" sldId="266"/>
            <ac:spMk id="10" creationId="{A469C89C-FE4F-AD54-1C0A-CB5D1036709E}"/>
          </ac:spMkLst>
        </pc:spChg>
      </pc:sldChg>
      <pc:sldChg chg="del">
        <pc:chgData name="Ali Bu Hawraa" userId="c298b3438ccd2c24" providerId="LiveId" clId="{6DDC7065-B106-4D02-BE15-85E2DD443558}" dt="2024-11-07T15:08:02.946" v="17" actId="47"/>
        <pc:sldMkLst>
          <pc:docMk/>
          <pc:sldMk cId="2335578295" sldId="276"/>
        </pc:sldMkLst>
      </pc:sldChg>
      <pc:sldChg chg="modSp mod">
        <pc:chgData name="Ali Bu Hawraa" userId="c298b3438ccd2c24" providerId="LiveId" clId="{6DDC7065-B106-4D02-BE15-85E2DD443558}" dt="2024-11-07T15:07:22.579" v="13" actId="20577"/>
        <pc:sldMkLst>
          <pc:docMk/>
          <pc:sldMk cId="1876289677" sldId="277"/>
        </pc:sldMkLst>
        <pc:spChg chg="mod">
          <ac:chgData name="Ali Bu Hawraa" userId="c298b3438ccd2c24" providerId="LiveId" clId="{6DDC7065-B106-4D02-BE15-85E2DD443558}" dt="2024-11-07T15:07:22.579" v="13" actId="20577"/>
          <ac:spMkLst>
            <pc:docMk/>
            <pc:sldMk cId="1876289677" sldId="277"/>
            <ac:spMk id="2" creationId="{980ED41C-6182-7DDF-8F3B-05E937AD24B1}"/>
          </ac:spMkLst>
        </pc:spChg>
      </pc:sldChg>
      <pc:sldChg chg="modSp mod">
        <pc:chgData name="Ali Bu Hawraa" userId="c298b3438ccd2c24" providerId="LiveId" clId="{6DDC7065-B106-4D02-BE15-85E2DD443558}" dt="2024-11-07T15:09:16.752" v="28" actId="20577"/>
        <pc:sldMkLst>
          <pc:docMk/>
          <pc:sldMk cId="1425834263" sldId="279"/>
        </pc:sldMkLst>
        <pc:spChg chg="mod">
          <ac:chgData name="Ali Bu Hawraa" userId="c298b3438ccd2c24" providerId="LiveId" clId="{6DDC7065-B106-4D02-BE15-85E2DD443558}" dt="2024-11-07T15:09:16.752" v="28" actId="20577"/>
          <ac:spMkLst>
            <pc:docMk/>
            <pc:sldMk cId="1425834263" sldId="279"/>
            <ac:spMk id="2" creationId="{980ED41C-6182-7DDF-8F3B-05E937AD24B1}"/>
          </ac:spMkLst>
        </pc:spChg>
        <pc:spChg chg="mod">
          <ac:chgData name="Ali Bu Hawraa" userId="c298b3438ccd2c24" providerId="LiveId" clId="{6DDC7065-B106-4D02-BE15-85E2DD443558}" dt="2024-11-07T15:06:30.713" v="9" actId="14100"/>
          <ac:spMkLst>
            <pc:docMk/>
            <pc:sldMk cId="1425834263" sldId="279"/>
            <ac:spMk id="20" creationId="{A4775226-D422-1A0E-D435-B2EF4AB40941}"/>
          </ac:spMkLst>
        </pc:spChg>
        <pc:grpChg chg="mod">
          <ac:chgData name="Ali Bu Hawraa" userId="c298b3438ccd2c24" providerId="LiveId" clId="{6DDC7065-B106-4D02-BE15-85E2DD443558}" dt="2024-11-07T15:06:33.856" v="12" actId="1036"/>
          <ac:grpSpMkLst>
            <pc:docMk/>
            <pc:sldMk cId="1425834263" sldId="279"/>
            <ac:grpSpMk id="12" creationId="{EA7F4841-B4F3-80F8-C3A0-F9EDFF11F7D7}"/>
          </ac:grpSpMkLst>
        </pc:grpChg>
      </pc:sldChg>
      <pc:sldChg chg="modSp mod">
        <pc:chgData name="Ali Bu Hawraa" userId="c298b3438ccd2c24" providerId="LiveId" clId="{6DDC7065-B106-4D02-BE15-85E2DD443558}" dt="2024-11-07T15:08:32.414" v="18"/>
        <pc:sldMkLst>
          <pc:docMk/>
          <pc:sldMk cId="1693098955" sldId="280"/>
        </pc:sldMkLst>
        <pc:spChg chg="mod">
          <ac:chgData name="Ali Bu Hawraa" userId="c298b3438ccd2c24" providerId="LiveId" clId="{6DDC7065-B106-4D02-BE15-85E2DD443558}" dt="2024-11-07T15:08:32.414" v="18"/>
          <ac:spMkLst>
            <pc:docMk/>
            <pc:sldMk cId="1693098955" sldId="280"/>
            <ac:spMk id="2" creationId="{980ED41C-6182-7DDF-8F3B-05E937AD24B1}"/>
          </ac:spMkLst>
        </pc:spChg>
      </pc:sldChg>
      <pc:sldChg chg="modSp mod">
        <pc:chgData name="Ali Bu Hawraa" userId="c298b3438ccd2c24" providerId="LiveId" clId="{6DDC7065-B106-4D02-BE15-85E2DD443558}" dt="2024-11-07T15:34:30.436" v="367" actId="1037"/>
        <pc:sldMkLst>
          <pc:docMk/>
          <pc:sldMk cId="419171046" sldId="282"/>
        </pc:sldMkLst>
        <pc:spChg chg="mod">
          <ac:chgData name="Ali Bu Hawraa" userId="c298b3438ccd2c24" providerId="LiveId" clId="{6DDC7065-B106-4D02-BE15-85E2DD443558}" dt="2024-11-07T15:34:30.436" v="367" actId="1037"/>
          <ac:spMkLst>
            <pc:docMk/>
            <pc:sldMk cId="419171046" sldId="282"/>
            <ac:spMk id="126" creationId="{9074ED94-F8FD-C933-DD36-B1957935FF8A}"/>
          </ac:spMkLst>
        </pc:spChg>
      </pc:sldChg>
      <pc:sldChg chg="addSp modSp mod modAnim">
        <pc:chgData name="Ali Bu Hawraa" userId="c298b3438ccd2c24" providerId="LiveId" clId="{6DDC7065-B106-4D02-BE15-85E2DD443558}" dt="2024-11-07T15:31:11.986" v="359" actId="1038"/>
        <pc:sldMkLst>
          <pc:docMk/>
          <pc:sldMk cId="1651815095" sldId="283"/>
        </pc:sldMkLst>
        <pc:spChg chg="mod">
          <ac:chgData name="Ali Bu Hawraa" userId="c298b3438ccd2c24" providerId="LiveId" clId="{6DDC7065-B106-4D02-BE15-85E2DD443558}" dt="2024-11-07T15:09:52.076" v="42" actId="20577"/>
          <ac:spMkLst>
            <pc:docMk/>
            <pc:sldMk cId="1651815095" sldId="283"/>
            <ac:spMk id="2" creationId="{00000000-0000-0000-0000-000000000000}"/>
          </ac:spMkLst>
        </pc:spChg>
        <pc:spChg chg="mod">
          <ac:chgData name="Ali Bu Hawraa" userId="c298b3438ccd2c24" providerId="LiveId" clId="{6DDC7065-B106-4D02-BE15-85E2DD443558}" dt="2024-11-07T15:31:11.986" v="359" actId="1038"/>
          <ac:spMkLst>
            <pc:docMk/>
            <pc:sldMk cId="1651815095" sldId="283"/>
            <ac:spMk id="3" creationId="{00000000-0000-0000-0000-000000000000}"/>
          </ac:spMkLst>
        </pc:spChg>
        <pc:spChg chg="mod">
          <ac:chgData name="Ali Bu Hawraa" userId="c298b3438ccd2c24" providerId="LiveId" clId="{6DDC7065-B106-4D02-BE15-85E2DD443558}" dt="2024-11-07T15:31:11.986" v="359" actId="1038"/>
          <ac:spMkLst>
            <pc:docMk/>
            <pc:sldMk cId="1651815095" sldId="283"/>
            <ac:spMk id="100" creationId="{00000000-0000-0000-0000-000000000000}"/>
          </ac:spMkLst>
        </pc:spChg>
        <pc:spChg chg="mod">
          <ac:chgData name="Ali Bu Hawraa" userId="c298b3438ccd2c24" providerId="LiveId" clId="{6DDC7065-B106-4D02-BE15-85E2DD443558}" dt="2024-11-07T15:31:11.986" v="359" actId="1038"/>
          <ac:spMkLst>
            <pc:docMk/>
            <pc:sldMk cId="1651815095" sldId="283"/>
            <ac:spMk id="101" creationId="{00000000-0000-0000-0000-000000000000}"/>
          </ac:spMkLst>
        </pc:spChg>
        <pc:spChg chg="mod">
          <ac:chgData name="Ali Bu Hawraa" userId="c298b3438ccd2c24" providerId="LiveId" clId="{6DDC7065-B106-4D02-BE15-85E2DD443558}" dt="2024-11-07T15:31:11.986" v="359" actId="1038"/>
          <ac:spMkLst>
            <pc:docMk/>
            <pc:sldMk cId="1651815095" sldId="283"/>
            <ac:spMk id="102" creationId="{00000000-0000-0000-0000-000000000000}"/>
          </ac:spMkLst>
        </pc:spChg>
        <pc:grpChg chg="mod">
          <ac:chgData name="Ali Bu Hawraa" userId="c298b3438ccd2c24" providerId="LiveId" clId="{6DDC7065-B106-4D02-BE15-85E2DD443558}" dt="2024-11-07T15:22:14.109" v="297" actId="1035"/>
          <ac:grpSpMkLst>
            <pc:docMk/>
            <pc:sldMk cId="1651815095" sldId="283"/>
            <ac:grpSpMk id="23" creationId="{00000000-0000-0000-0000-000000000000}"/>
          </ac:grpSpMkLst>
        </pc:grpChg>
        <pc:grpChg chg="mod">
          <ac:chgData name="Ali Bu Hawraa" userId="c298b3438ccd2c24" providerId="LiveId" clId="{6DDC7065-B106-4D02-BE15-85E2DD443558}" dt="2024-11-07T15:22:14.109" v="297" actId="1035"/>
          <ac:grpSpMkLst>
            <pc:docMk/>
            <pc:sldMk cId="1651815095" sldId="283"/>
            <ac:grpSpMk id="37" creationId="{00000000-0000-0000-0000-000000000000}"/>
          </ac:grpSpMkLst>
        </pc:grpChg>
        <pc:grpChg chg="mod">
          <ac:chgData name="Ali Bu Hawraa" userId="c298b3438ccd2c24" providerId="LiveId" clId="{6DDC7065-B106-4D02-BE15-85E2DD443558}" dt="2024-11-07T15:22:14.109" v="297" actId="1035"/>
          <ac:grpSpMkLst>
            <pc:docMk/>
            <pc:sldMk cId="1651815095" sldId="283"/>
            <ac:grpSpMk id="46" creationId="{00000000-0000-0000-0000-000000000000}"/>
          </ac:grpSpMkLst>
        </pc:grpChg>
        <pc:grpChg chg="mod">
          <ac:chgData name="Ali Bu Hawraa" userId="c298b3438ccd2c24" providerId="LiveId" clId="{6DDC7065-B106-4D02-BE15-85E2DD443558}" dt="2024-11-07T15:23:02.028" v="320" actId="1036"/>
          <ac:grpSpMkLst>
            <pc:docMk/>
            <pc:sldMk cId="1651815095" sldId="283"/>
            <ac:grpSpMk id="52" creationId="{D45ED821-604C-4B17-779A-C0BBC41E0332}"/>
          </ac:grpSpMkLst>
        </pc:grpChg>
        <pc:grpChg chg="mod">
          <ac:chgData name="Ali Bu Hawraa" userId="c298b3438ccd2c24" providerId="LiveId" clId="{6DDC7065-B106-4D02-BE15-85E2DD443558}" dt="2024-11-07T15:22:37.863" v="310" actId="1076"/>
          <ac:grpSpMkLst>
            <pc:docMk/>
            <pc:sldMk cId="1651815095" sldId="283"/>
            <ac:grpSpMk id="55" creationId="{4B343BC5-3322-065D-1AD2-8CD3D8F242F5}"/>
          </ac:grpSpMkLst>
        </pc:grpChg>
        <pc:grpChg chg="mod">
          <ac:chgData name="Ali Bu Hawraa" userId="c298b3438ccd2c24" providerId="LiveId" clId="{6DDC7065-B106-4D02-BE15-85E2DD443558}" dt="2024-11-07T15:22:41.449" v="311" actId="1076"/>
          <ac:grpSpMkLst>
            <pc:docMk/>
            <pc:sldMk cId="1651815095" sldId="283"/>
            <ac:grpSpMk id="58" creationId="{51253EBC-3B7B-3C33-E36E-6D9C56793134}"/>
          </ac:grpSpMkLst>
        </pc:grpChg>
        <pc:grpChg chg="mod">
          <ac:chgData name="Ali Bu Hawraa" userId="c298b3438ccd2c24" providerId="LiveId" clId="{6DDC7065-B106-4D02-BE15-85E2DD443558}" dt="2024-11-07T15:22:06.692" v="288" actId="1035"/>
          <ac:grpSpMkLst>
            <pc:docMk/>
            <pc:sldMk cId="1651815095" sldId="283"/>
            <ac:grpSpMk id="64" creationId="{00000000-0000-0000-0000-000000000000}"/>
          </ac:grpSpMkLst>
        </pc:grpChg>
        <pc:grpChg chg="mod">
          <ac:chgData name="Ali Bu Hawraa" userId="c298b3438ccd2c24" providerId="LiveId" clId="{6DDC7065-B106-4D02-BE15-85E2DD443558}" dt="2024-11-07T15:22:06.692" v="288" actId="1035"/>
          <ac:grpSpMkLst>
            <pc:docMk/>
            <pc:sldMk cId="1651815095" sldId="283"/>
            <ac:grpSpMk id="76" creationId="{00000000-0000-0000-0000-000000000000}"/>
          </ac:grpSpMkLst>
        </pc:grpChg>
        <pc:grpChg chg="mod">
          <ac:chgData name="Ali Bu Hawraa" userId="c298b3438ccd2c24" providerId="LiveId" clId="{6DDC7065-B106-4D02-BE15-85E2DD443558}" dt="2024-11-07T15:22:06.692" v="288" actId="1035"/>
          <ac:grpSpMkLst>
            <pc:docMk/>
            <pc:sldMk cId="1651815095" sldId="283"/>
            <ac:grpSpMk id="88" creationId="{00000000-0000-0000-0000-000000000000}"/>
          </ac:grpSpMkLst>
        </pc:grpChg>
        <pc:graphicFrameChg chg="add mod modGraphic">
          <ac:chgData name="Ali Bu Hawraa" userId="c298b3438ccd2c24" providerId="LiveId" clId="{6DDC7065-B106-4D02-BE15-85E2DD443558}" dt="2024-11-07T15:21:39.236" v="278" actId="1036"/>
          <ac:graphicFrameMkLst>
            <pc:docMk/>
            <pc:sldMk cId="1651815095" sldId="283"/>
            <ac:graphicFrameMk id="7" creationId="{26AE9999-B25E-C489-431A-AF100BA87D1A}"/>
          </ac:graphicFrameMkLst>
        </pc:graphicFrameChg>
      </pc:sldChg>
      <pc:sldChg chg="delSp modSp mod delAnim">
        <pc:chgData name="Ali Bu Hawraa" userId="c298b3438ccd2c24" providerId="LiveId" clId="{6DDC7065-B106-4D02-BE15-85E2DD443558}" dt="2024-11-07T15:47:42.140" v="419" actId="1076"/>
        <pc:sldMkLst>
          <pc:docMk/>
          <pc:sldMk cId="3661099415" sldId="284"/>
        </pc:sldMkLst>
        <pc:grpChg chg="mod">
          <ac:chgData name="Ali Bu Hawraa" userId="c298b3438ccd2c24" providerId="LiveId" clId="{6DDC7065-B106-4D02-BE15-85E2DD443558}" dt="2024-11-07T15:47:42.140" v="419" actId="1076"/>
          <ac:grpSpMkLst>
            <pc:docMk/>
            <pc:sldMk cId="3661099415" sldId="284"/>
            <ac:grpSpMk id="12" creationId="{1A272F87-BB1A-FF2D-E609-1969744D63BF}"/>
          </ac:grpSpMkLst>
        </pc:grpChg>
        <pc:grpChg chg="del">
          <ac:chgData name="Ali Bu Hawraa" userId="c298b3438ccd2c24" providerId="LiveId" clId="{6DDC7065-B106-4D02-BE15-85E2DD443558}" dt="2024-11-07T15:47:09.485" v="417" actId="478"/>
          <ac:grpSpMkLst>
            <pc:docMk/>
            <pc:sldMk cId="3661099415" sldId="284"/>
            <ac:grpSpMk id="24" creationId="{1061891B-7D4A-7AE4-CAF5-538C4B95CD02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51B2A-3657-4CA0-9BBB-60AEB17C1837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013AC-8191-45AC-AEE3-80BEE0CA4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5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01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49" y="149779"/>
            <a:ext cx="11382373" cy="75174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056068"/>
            <a:ext cx="11382374" cy="5266392"/>
          </a:xfrm>
        </p:spPr>
        <p:txBody>
          <a:bodyPr/>
          <a:lstStyle>
            <a:lvl1pPr>
              <a:defRPr sz="2400">
                <a:latin typeface="Century Gothic" panose="020B0502020202020204" pitchFamily="34" charset="0"/>
              </a:defRPr>
            </a:lvl1pPr>
            <a:lvl2pPr>
              <a:defRPr sz="2200">
                <a:latin typeface="Century Gothic" panose="020B0502020202020204" pitchFamily="34" charset="0"/>
              </a:defRPr>
            </a:lvl2pPr>
            <a:lvl3pPr>
              <a:defRPr sz="2000">
                <a:latin typeface="Century Gothic" panose="020B0502020202020204" pitchFamily="34" charset="0"/>
              </a:defRPr>
            </a:lvl3pPr>
            <a:lvl4pPr>
              <a:defRPr sz="2000">
                <a:latin typeface="Century Gothic" panose="020B0502020202020204" pitchFamily="34" charset="0"/>
              </a:defRPr>
            </a:lvl4pPr>
            <a:lvl5pPr>
              <a:defRPr sz="2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64424" y="6414453"/>
            <a:ext cx="3273552" cy="365125"/>
          </a:xfrm>
        </p:spPr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1949" y="6414453"/>
            <a:ext cx="7053835" cy="365125"/>
          </a:xfrm>
        </p:spPr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361950" y="901521"/>
            <a:ext cx="1138237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cxnSpLocks/>
          </p:cNvCxnSpPr>
          <p:nvPr userDrawn="1"/>
        </p:nvCxnSpPr>
        <p:spPr>
          <a:xfrm>
            <a:off x="361950" y="6385788"/>
            <a:ext cx="107641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03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en-US"/>
              <a:t>Dr. Ali Alsaffar/Dr. Youssef Harrath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18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>
                <a:latin typeface="Century Gothic" panose="020B0502020202020204" pitchFamily="34" charset="0"/>
              </a:defRPr>
            </a:lvl1pPr>
            <a:lvl2pPr>
              <a:defRPr sz="1800">
                <a:latin typeface="Century Gothic" panose="020B0502020202020204" pitchFamily="34" charset="0"/>
              </a:defRPr>
            </a:lvl2pPr>
            <a:lvl3pPr>
              <a:defRPr sz="1600">
                <a:latin typeface="Century Gothic" panose="020B0502020202020204" pitchFamily="34" charset="0"/>
              </a:defRPr>
            </a:lvl3pPr>
            <a:lvl4pPr>
              <a:defRPr sz="1600">
                <a:latin typeface="Century Gothic" panose="020B0502020202020204" pitchFamily="34" charset="0"/>
              </a:defRPr>
            </a:lvl4pPr>
            <a:lvl5pPr>
              <a:defRPr sz="1600">
                <a:latin typeface="Century Gothic" panose="020B0502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>
                <a:latin typeface="Century Gothic" panose="020B0502020202020204" pitchFamily="34" charset="0"/>
              </a:defRPr>
            </a:lvl1pPr>
            <a:lvl2pPr>
              <a:defRPr sz="1800">
                <a:latin typeface="Century Gothic" panose="020B0502020202020204" pitchFamily="34" charset="0"/>
              </a:defRPr>
            </a:lvl2pPr>
            <a:lvl3pPr>
              <a:defRPr sz="1600">
                <a:latin typeface="Century Gothic" panose="020B0502020202020204" pitchFamily="34" charset="0"/>
              </a:defRPr>
            </a:lvl3pPr>
            <a:lvl4pPr>
              <a:defRPr sz="1600">
                <a:latin typeface="Century Gothic" panose="020B0502020202020204" pitchFamily="34" charset="0"/>
              </a:defRPr>
            </a:lvl4pPr>
            <a:lvl5pPr>
              <a:defRPr sz="1600">
                <a:latin typeface="Century Gothic" panose="020B0502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0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>
                <a:latin typeface="Century Gothic" panose="020B0502020202020204" pitchFamily="34" charset="0"/>
              </a:defRPr>
            </a:lvl1pPr>
            <a:lvl2pPr>
              <a:defRPr sz="1800">
                <a:latin typeface="Century Gothic" panose="020B0502020202020204" pitchFamily="34" charset="0"/>
              </a:defRPr>
            </a:lvl2pPr>
            <a:lvl3pPr>
              <a:defRPr sz="1600">
                <a:latin typeface="Century Gothic" panose="020B0502020202020204" pitchFamily="34" charset="0"/>
              </a:defRPr>
            </a:lvl3pPr>
            <a:lvl4pPr>
              <a:defRPr sz="1600">
                <a:latin typeface="Century Gothic" panose="020B0502020202020204" pitchFamily="34" charset="0"/>
              </a:defRPr>
            </a:lvl4pPr>
            <a:lvl5pPr>
              <a:defRPr sz="1600">
                <a:latin typeface="Century Gothic" panose="020B0502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>
                <a:latin typeface="Century Gothic" panose="020B0502020202020204" pitchFamily="34" charset="0"/>
              </a:defRPr>
            </a:lvl1pPr>
            <a:lvl2pPr>
              <a:defRPr sz="1800">
                <a:latin typeface="Century Gothic" panose="020B0502020202020204" pitchFamily="34" charset="0"/>
              </a:defRPr>
            </a:lvl2pPr>
            <a:lvl3pPr>
              <a:defRPr sz="1600">
                <a:latin typeface="Century Gothic" panose="020B0502020202020204" pitchFamily="34" charset="0"/>
              </a:defRPr>
            </a:lvl3pPr>
            <a:lvl4pPr>
              <a:defRPr sz="1600">
                <a:latin typeface="Century Gothic" panose="020B0502020202020204" pitchFamily="34" charset="0"/>
              </a:defRPr>
            </a:lvl4pPr>
            <a:lvl5pPr>
              <a:defRPr sz="1600">
                <a:latin typeface="Century Gothic" panose="020B0502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6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73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6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6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6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8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775" y="484632"/>
            <a:ext cx="11229975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775" y="2121408"/>
            <a:ext cx="11229975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5775" y="6272784"/>
            <a:ext cx="6930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Dr. Ali Alsaffar/Dr. Youssef Harrath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5018" y="1385604"/>
            <a:ext cx="10861964" cy="274305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Chapter 5</a:t>
            </a:r>
            <a:br>
              <a:rPr lang="en-US"/>
            </a:br>
            <a:r>
              <a:rPr lang="en-US" sz="6700"/>
              <a:t>Transform and conquer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2982" y="4932074"/>
            <a:ext cx="9144000" cy="1655762"/>
          </a:xfrm>
        </p:spPr>
        <p:txBody>
          <a:bodyPr/>
          <a:lstStyle/>
          <a:p>
            <a:r>
              <a:rPr lang="en-US"/>
              <a:t>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95345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20344"/>
            <a:ext cx="10058400" cy="968440"/>
          </a:xfrm>
        </p:spPr>
        <p:txBody>
          <a:bodyPr/>
          <a:lstStyle/>
          <a:p>
            <a:r>
              <a:rPr lang="en-US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Heaps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Constructing A Heap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Heap Operations: Insertion And Deletion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Heapsort.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98ACFB04-FC53-4C2C-AF63-0A99D80369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1869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1. Introduction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091" y="1053097"/>
            <a:ext cx="11377231" cy="5219687"/>
          </a:xfrm>
        </p:spPr>
        <p:txBody>
          <a:bodyPr>
            <a:normAutofit/>
          </a:bodyPr>
          <a:lstStyle/>
          <a:p>
            <a:pPr marL="339725" indent="-339725">
              <a:lnSpc>
                <a:spcPts val="3000"/>
              </a:lnSpc>
            </a:pPr>
            <a:r>
              <a:rPr lang="en-US" sz="2600"/>
              <a:t>This chapter deals with a design method that is based on the idea of transformation.</a:t>
            </a:r>
          </a:p>
          <a:p>
            <a:pPr marL="339725" indent="-339725">
              <a:lnSpc>
                <a:spcPts val="3000"/>
              </a:lnSpc>
            </a:pPr>
            <a:r>
              <a:rPr lang="en-US" sz="2600"/>
              <a:t>This method works as two-stage procedure</a:t>
            </a:r>
          </a:p>
          <a:p>
            <a:pPr lvl="1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en-US"/>
              <a:t> </a:t>
            </a:r>
            <a:r>
              <a:rPr lang="en-US">
                <a:solidFill>
                  <a:srgbClr val="00B0F0"/>
                </a:solidFill>
              </a:rPr>
              <a:t>Transformation</a:t>
            </a:r>
            <a:r>
              <a:rPr lang="en-US"/>
              <a:t> stage: modifies the problem to a simpler one.</a:t>
            </a:r>
          </a:p>
          <a:p>
            <a:pPr lvl="1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en-US"/>
              <a:t> </a:t>
            </a:r>
            <a:r>
              <a:rPr lang="en-US">
                <a:solidFill>
                  <a:srgbClr val="00B0F0"/>
                </a:solidFill>
              </a:rPr>
              <a:t>Conquering</a:t>
            </a:r>
            <a:r>
              <a:rPr lang="en-US"/>
              <a:t> stage solves the problem</a:t>
            </a:r>
          </a:p>
          <a:p>
            <a:pPr marL="339725" indent="-339725">
              <a:lnSpc>
                <a:spcPts val="3000"/>
              </a:lnSpc>
            </a:pPr>
            <a:r>
              <a:rPr lang="en-US" sz="2600"/>
              <a:t>Three variations of this idea:</a:t>
            </a:r>
          </a:p>
          <a:p>
            <a:pPr>
              <a:lnSpc>
                <a:spcPts val="3000"/>
              </a:lnSpc>
            </a:pPr>
            <a:endParaRPr lang="en-US"/>
          </a:p>
          <a:p>
            <a:pPr>
              <a:lnSpc>
                <a:spcPct val="150000"/>
              </a:lnSpc>
            </a:pPr>
            <a:endParaRPr lang="en-US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2178885" y="3978861"/>
            <a:ext cx="8949363" cy="2257128"/>
            <a:chOff x="2178885" y="3978861"/>
            <a:chExt cx="8949363" cy="2257128"/>
          </a:xfrm>
        </p:grpSpPr>
        <p:sp>
          <p:nvSpPr>
            <p:cNvPr id="7" name="TextBox 6"/>
            <p:cNvSpPr txBox="1"/>
            <p:nvPr/>
          </p:nvSpPr>
          <p:spPr>
            <a:xfrm>
              <a:off x="2178885" y="4645076"/>
              <a:ext cx="1746504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Century Gothic" panose="020B0502020202020204" pitchFamily="34" charset="0"/>
                </a:rPr>
                <a:t>Problem’s instance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49421" y="3978861"/>
              <a:ext cx="220828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Century Gothic" panose="020B0502020202020204" pitchFamily="34" charset="0"/>
                </a:rPr>
                <a:t>Simpler instance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255956" y="4783575"/>
              <a:ext cx="2795221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Century Gothic" panose="020B0502020202020204" pitchFamily="34" charset="0"/>
                </a:rPr>
                <a:t>Another representation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53147" y="5589658"/>
              <a:ext cx="3200835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Century Gothic" panose="020B0502020202020204" pitchFamily="34" charset="0"/>
                </a:rPr>
                <a:t>Another Problem’s instance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381744" y="4783575"/>
              <a:ext cx="17465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Century Gothic" panose="020B0502020202020204" pitchFamily="34" charset="0"/>
                </a:rPr>
                <a:t>Solution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4134394" y="4968241"/>
              <a:ext cx="73152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8332361" y="4968241"/>
              <a:ext cx="73152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6420968" y="4381560"/>
              <a:ext cx="465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Century Gothic" panose="020B0502020202020204" pitchFamily="34" charset="0"/>
                </a:rPr>
                <a:t>Or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20968" y="5186958"/>
              <a:ext cx="465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Century Gothic" panose="020B0502020202020204" pitchFamily="34" charset="0"/>
                </a:rPr>
                <a:t>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6979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Heaps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48" y="951565"/>
            <a:ext cx="11373845" cy="2601532"/>
          </a:xfrm>
        </p:spPr>
        <p:txBody>
          <a:bodyPr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</a:pPr>
            <a:r>
              <a:rPr lang="en-US" sz="2200">
                <a:solidFill>
                  <a:srgbClr val="0070C0"/>
                </a:solidFill>
              </a:rPr>
              <a:t>Definition</a:t>
            </a:r>
            <a:r>
              <a:rPr lang="en-US" sz="2200"/>
              <a:t>: A heap is a binary tree with keys assigned to its nodes under these conditions:</a:t>
            </a:r>
          </a:p>
          <a:p>
            <a:pPr lvl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/>
              <a:t> </a:t>
            </a:r>
            <a:r>
              <a:rPr lang="en-US" u="sng"/>
              <a:t>The tree’s </a:t>
            </a:r>
            <a:r>
              <a:rPr lang="en-US" u="sng">
                <a:solidFill>
                  <a:srgbClr val="00B0F0"/>
                </a:solidFill>
              </a:rPr>
              <a:t>shape requirement</a:t>
            </a:r>
            <a:r>
              <a:rPr lang="en-US"/>
              <a:t>: the tree is </a:t>
            </a:r>
            <a:r>
              <a:rPr lang="en-US">
                <a:solidFill>
                  <a:srgbClr val="00B050"/>
                </a:solidFill>
              </a:rPr>
              <a:t>complete</a:t>
            </a:r>
            <a:r>
              <a:rPr lang="en-US"/>
              <a:t> (all its levels are full except possibly the last level, where only some rightmost leaves may be missing)</a:t>
            </a:r>
          </a:p>
          <a:p>
            <a:pPr lvl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/>
              <a:t> </a:t>
            </a:r>
            <a:r>
              <a:rPr lang="en-US" u="sng"/>
              <a:t>The </a:t>
            </a:r>
            <a:r>
              <a:rPr lang="en-US" u="sng">
                <a:solidFill>
                  <a:srgbClr val="00B0F0"/>
                </a:solidFill>
              </a:rPr>
              <a:t>parental dominance requirement</a:t>
            </a:r>
            <a:r>
              <a:rPr lang="en-US"/>
              <a:t>: the key of each node is ≥ the keys of its children.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61948" y="3553097"/>
            <a:ext cx="3534750" cy="2400384"/>
            <a:chOff x="362056" y="3549450"/>
            <a:chExt cx="3534750" cy="2400384"/>
          </a:xfrm>
        </p:grpSpPr>
        <p:grpSp>
          <p:nvGrpSpPr>
            <p:cNvPr id="46" name="Group 45"/>
            <p:cNvGrpSpPr/>
            <p:nvPr/>
          </p:nvGrpSpPr>
          <p:grpSpPr>
            <a:xfrm>
              <a:off x="362056" y="3553097"/>
              <a:ext cx="3534750" cy="2396737"/>
              <a:chOff x="362056" y="3553097"/>
              <a:chExt cx="3534750" cy="239673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050853" y="3553097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3302446" y="4408233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956416" y="4409130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362056" y="5349913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1550776" y="5355474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2793001" y="5355474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1</a:t>
                </a:r>
              </a:p>
            </p:txBody>
          </p:sp>
          <p:cxnSp>
            <p:nvCxnSpPr>
              <p:cNvPr id="14" name="Straight Connector 13"/>
              <p:cNvCxnSpPr>
                <a:stCxn id="19" idx="3"/>
                <a:endCxn id="20" idx="0"/>
              </p:cNvCxnSpPr>
              <p:nvPr/>
            </p:nvCxnSpPr>
            <p:spPr>
              <a:xfrm flipH="1">
                <a:off x="659236" y="4916448"/>
                <a:ext cx="384222" cy="43346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>
                <a:stCxn id="19" idx="5"/>
                <a:endCxn id="21" idx="0"/>
              </p:cNvCxnSpPr>
              <p:nvPr/>
            </p:nvCxnSpPr>
            <p:spPr>
              <a:xfrm>
                <a:off x="1463734" y="4916448"/>
                <a:ext cx="384222" cy="43902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stCxn id="18" idx="3"/>
                <a:endCxn id="22" idx="0"/>
              </p:cNvCxnSpPr>
              <p:nvPr/>
            </p:nvCxnSpPr>
            <p:spPr>
              <a:xfrm flipH="1">
                <a:off x="3090181" y="4915551"/>
                <a:ext cx="299307" cy="4399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>
                <a:stCxn id="12" idx="3"/>
                <a:endCxn id="19" idx="7"/>
              </p:cNvCxnSpPr>
              <p:nvPr/>
            </p:nvCxnSpPr>
            <p:spPr>
              <a:xfrm flipH="1">
                <a:off x="1463734" y="4060415"/>
                <a:ext cx="674161" cy="4357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>
                <a:stCxn id="12" idx="5"/>
                <a:endCxn id="18" idx="1"/>
              </p:cNvCxnSpPr>
              <p:nvPr/>
            </p:nvCxnSpPr>
            <p:spPr>
              <a:xfrm>
                <a:off x="2558171" y="4060415"/>
                <a:ext cx="831317" cy="4348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TextBox 70"/>
            <p:cNvSpPr txBox="1"/>
            <p:nvPr/>
          </p:nvSpPr>
          <p:spPr>
            <a:xfrm>
              <a:off x="2900471" y="3549450"/>
              <a:ext cx="707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00B050"/>
                  </a:solidFill>
                  <a:sym typeface="Wingdings" panose="05000000000000000000" pitchFamily="2" charset="2"/>
                </a:rPr>
                <a:t></a:t>
              </a:r>
              <a:endParaRPr lang="en-US" sz="3600">
                <a:solidFill>
                  <a:srgbClr val="00B050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578622" y="3553097"/>
            <a:ext cx="2940390" cy="2467599"/>
            <a:chOff x="4991243" y="3532278"/>
            <a:chExt cx="2940390" cy="2467599"/>
          </a:xfrm>
        </p:grpSpPr>
        <p:sp>
          <p:nvSpPr>
            <p:cNvPr id="48" name="Oval 47"/>
            <p:cNvSpPr/>
            <p:nvPr/>
          </p:nvSpPr>
          <p:spPr>
            <a:xfrm>
              <a:off x="6085680" y="3603140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7337273" y="4458276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4991243" y="4459173"/>
              <a:ext cx="594360" cy="59436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2" name="Oval 51"/>
            <p:cNvSpPr/>
            <p:nvPr/>
          </p:nvSpPr>
          <p:spPr>
            <a:xfrm>
              <a:off x="5585603" y="540551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827828" y="540551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55" name="Straight Connector 54"/>
            <p:cNvCxnSpPr>
              <a:stCxn id="50" idx="5"/>
              <a:endCxn id="52" idx="0"/>
            </p:cNvCxnSpPr>
            <p:nvPr/>
          </p:nvCxnSpPr>
          <p:spPr>
            <a:xfrm>
              <a:off x="5498561" y="4966491"/>
              <a:ext cx="384222" cy="4390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9" idx="3"/>
              <a:endCxn id="53" idx="0"/>
            </p:cNvCxnSpPr>
            <p:nvPr/>
          </p:nvCxnSpPr>
          <p:spPr>
            <a:xfrm flipH="1">
              <a:off x="7125008" y="4965594"/>
              <a:ext cx="299307" cy="4399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48" idx="3"/>
              <a:endCxn id="50" idx="7"/>
            </p:cNvCxnSpPr>
            <p:nvPr/>
          </p:nvCxnSpPr>
          <p:spPr>
            <a:xfrm flipH="1">
              <a:off x="5498561" y="4110458"/>
              <a:ext cx="674161" cy="43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48" idx="5"/>
              <a:endCxn id="49" idx="1"/>
            </p:cNvCxnSpPr>
            <p:nvPr/>
          </p:nvCxnSpPr>
          <p:spPr>
            <a:xfrm>
              <a:off x="6592998" y="4110458"/>
              <a:ext cx="831317" cy="4348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6886680" y="3532278"/>
              <a:ext cx="707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FF0000"/>
                  </a:solidFill>
                  <a:sym typeface="Wingdings" panose="05000000000000000000" pitchFamily="2" charset="2"/>
                </a:rPr>
                <a:t></a:t>
              </a:r>
              <a:endParaRPr lang="en-US" sz="3600"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200936" y="3553097"/>
            <a:ext cx="3534750" cy="2488951"/>
            <a:chOff x="8201044" y="3464873"/>
            <a:chExt cx="3534750" cy="2488951"/>
          </a:xfrm>
        </p:grpSpPr>
        <p:grpSp>
          <p:nvGrpSpPr>
            <p:cNvPr id="59" name="Group 58"/>
            <p:cNvGrpSpPr/>
            <p:nvPr/>
          </p:nvGrpSpPr>
          <p:grpSpPr>
            <a:xfrm>
              <a:off x="8201044" y="3557087"/>
              <a:ext cx="3534750" cy="2396737"/>
              <a:chOff x="362056" y="3553097"/>
              <a:chExt cx="3534750" cy="2396737"/>
            </a:xfrm>
          </p:grpSpPr>
          <p:sp>
            <p:nvSpPr>
              <p:cNvPr id="60" name="Oval 59"/>
              <p:cNvSpPr/>
              <p:nvPr/>
            </p:nvSpPr>
            <p:spPr>
              <a:xfrm>
                <a:off x="2050853" y="3553097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3302446" y="4408233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956416" y="4409130"/>
                <a:ext cx="594360" cy="59436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362056" y="5349913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1550776" y="5355474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2793001" y="5355474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1</a:t>
                </a:r>
              </a:p>
            </p:txBody>
          </p:sp>
          <p:cxnSp>
            <p:nvCxnSpPr>
              <p:cNvPr id="66" name="Straight Connector 65"/>
              <p:cNvCxnSpPr>
                <a:stCxn id="62" idx="3"/>
                <a:endCxn id="63" idx="0"/>
              </p:cNvCxnSpPr>
              <p:nvPr/>
            </p:nvCxnSpPr>
            <p:spPr>
              <a:xfrm flipH="1">
                <a:off x="659236" y="4916448"/>
                <a:ext cx="384222" cy="43346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stCxn id="62" idx="5"/>
                <a:endCxn id="64" idx="0"/>
              </p:cNvCxnSpPr>
              <p:nvPr/>
            </p:nvCxnSpPr>
            <p:spPr>
              <a:xfrm>
                <a:off x="1463734" y="4916448"/>
                <a:ext cx="384222" cy="43902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>
                <a:stCxn id="61" idx="3"/>
                <a:endCxn id="65" idx="0"/>
              </p:cNvCxnSpPr>
              <p:nvPr/>
            </p:nvCxnSpPr>
            <p:spPr>
              <a:xfrm flipH="1">
                <a:off x="3090181" y="4915551"/>
                <a:ext cx="299307" cy="4399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60" idx="3"/>
                <a:endCxn id="62" idx="7"/>
              </p:cNvCxnSpPr>
              <p:nvPr/>
            </p:nvCxnSpPr>
            <p:spPr>
              <a:xfrm flipH="1">
                <a:off x="1463734" y="4060415"/>
                <a:ext cx="674161" cy="4357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>
                <a:stCxn id="60" idx="5"/>
                <a:endCxn id="61" idx="1"/>
              </p:cNvCxnSpPr>
              <p:nvPr/>
            </p:nvCxnSpPr>
            <p:spPr>
              <a:xfrm>
                <a:off x="2558171" y="4060415"/>
                <a:ext cx="831317" cy="4348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/>
            <p:cNvSpPr txBox="1"/>
            <p:nvPr/>
          </p:nvSpPr>
          <p:spPr>
            <a:xfrm>
              <a:off x="10711962" y="3464873"/>
              <a:ext cx="707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FF0000"/>
                  </a:solidFill>
                  <a:sym typeface="Wingdings" panose="05000000000000000000" pitchFamily="2" charset="2"/>
                </a:rPr>
                <a:t></a:t>
              </a:r>
              <a:endParaRPr lang="en-US" sz="36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99094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Heaps - </a:t>
            </a:r>
            <a:r>
              <a:rPr lang="en-US" sz="3200">
                <a:solidFill>
                  <a:srgbClr val="0070C0"/>
                </a:solidFill>
              </a:rPr>
              <a:t>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2832" y="1133997"/>
                <a:ext cx="7842828" cy="490631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ts val="3500"/>
                  </a:lnSpc>
                  <a:buFont typeface="+mj-lt"/>
                  <a:buAutoNum type="arabicPeriod"/>
                </a:pPr>
                <a:r>
                  <a:rPr lang="en-US"/>
                  <a:t>Key values in a heap are ordered top down: A sequence of values on any path from the root to a leaf is decreasing. No special order between the key values of the same level.</a:t>
                </a:r>
              </a:p>
              <a:p>
                <a:pPr marL="457200" indent="-457200">
                  <a:lnSpc>
                    <a:spcPts val="3500"/>
                  </a:lnSpc>
                  <a:buFont typeface="+mj-lt"/>
                  <a:buAutoNum type="arabicPeriod"/>
                </a:pPr>
                <a:r>
                  <a:rPr lang="en-US"/>
                  <a:t>There exists exactly one complete binary tree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nodes its height is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457200" indent="-457200">
                  <a:lnSpc>
                    <a:spcPts val="3500"/>
                  </a:lnSpc>
                  <a:buFont typeface="+mj-lt"/>
                  <a:buAutoNum type="arabicPeriod"/>
                </a:pPr>
                <a:r>
                  <a:rPr lang="en-US"/>
                  <a:t>The root of a heap always contains its largest element.</a:t>
                </a:r>
              </a:p>
              <a:p>
                <a:pPr marL="457200" indent="-457200">
                  <a:lnSpc>
                    <a:spcPts val="35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/>
                  <a:t>A node of a heap considered with all its descendants is also a heap.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832" y="1133997"/>
                <a:ext cx="7842828" cy="4906310"/>
              </a:xfrm>
              <a:blipFill>
                <a:blip r:embed="rId2"/>
                <a:stretch>
                  <a:fillRect l="-855" r="-1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5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969EA7-2E3D-F8CB-4ECA-5FEEEDDDD918}"/>
              </a:ext>
            </a:extLst>
          </p:cNvPr>
          <p:cNvGrpSpPr/>
          <p:nvPr/>
        </p:nvGrpSpPr>
        <p:grpSpPr>
          <a:xfrm>
            <a:off x="8463598" y="2029468"/>
            <a:ext cx="2884432" cy="2098673"/>
            <a:chOff x="624656" y="3553097"/>
            <a:chExt cx="3114590" cy="239673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F291E12-94A0-5EE2-2009-BAFAF48F096A}"/>
                </a:ext>
              </a:extLst>
            </p:cNvPr>
            <p:cNvSpPr/>
            <p:nvPr/>
          </p:nvSpPr>
          <p:spPr>
            <a:xfrm>
              <a:off x="2050853" y="355309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820F351-E65F-6A8C-6648-46BAD85CD57A}"/>
                </a:ext>
              </a:extLst>
            </p:cNvPr>
            <p:cNvSpPr/>
            <p:nvPr/>
          </p:nvSpPr>
          <p:spPr>
            <a:xfrm>
              <a:off x="3144886" y="440823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BB3275-A5C9-7E06-4F74-3900FC88B428}"/>
                </a:ext>
              </a:extLst>
            </p:cNvPr>
            <p:cNvSpPr/>
            <p:nvPr/>
          </p:nvSpPr>
          <p:spPr>
            <a:xfrm>
              <a:off x="1113978" y="4409130"/>
              <a:ext cx="594361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F898BF5-F716-FF80-516D-3898CF4C053E}"/>
                </a:ext>
              </a:extLst>
            </p:cNvPr>
            <p:cNvSpPr/>
            <p:nvPr/>
          </p:nvSpPr>
          <p:spPr>
            <a:xfrm>
              <a:off x="624656" y="5349913"/>
              <a:ext cx="594361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AF93FF-1112-5AC9-CAE9-6230E635F2D0}"/>
                </a:ext>
              </a:extLst>
            </p:cNvPr>
            <p:cNvSpPr/>
            <p:nvPr/>
          </p:nvSpPr>
          <p:spPr>
            <a:xfrm>
              <a:off x="1603295" y="5355474"/>
              <a:ext cx="594361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62FECD2-CB85-9557-5D99-94EEDEAFAAD6}"/>
                </a:ext>
              </a:extLst>
            </p:cNvPr>
            <p:cNvSpPr/>
            <p:nvPr/>
          </p:nvSpPr>
          <p:spPr>
            <a:xfrm>
              <a:off x="2635440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E002A33-DD63-E1EC-FD63-BBA0F608EB69}"/>
                </a:ext>
              </a:extLst>
            </p:cNvPr>
            <p:cNvCxnSpPr>
              <a:stCxn id="12" idx="3"/>
              <a:endCxn id="13" idx="0"/>
            </p:cNvCxnSpPr>
            <p:nvPr/>
          </p:nvCxnSpPr>
          <p:spPr>
            <a:xfrm flipH="1">
              <a:off x="921836" y="4916449"/>
              <a:ext cx="279182" cy="43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91FBD77-C7CD-68D2-1468-FEA542B8A5BA}"/>
                </a:ext>
              </a:extLst>
            </p:cNvPr>
            <p:cNvCxnSpPr>
              <a:stCxn id="12" idx="5"/>
              <a:endCxn id="14" idx="0"/>
            </p:cNvCxnSpPr>
            <p:nvPr/>
          </p:nvCxnSpPr>
          <p:spPr>
            <a:xfrm>
              <a:off x="1621295" y="4916449"/>
              <a:ext cx="279180" cy="439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4A6AC-933E-F10C-AB02-CB6A8343BE74}"/>
                </a:ext>
              </a:extLst>
            </p:cNvPr>
            <p:cNvCxnSpPr>
              <a:stCxn id="11" idx="3"/>
              <a:endCxn id="15" idx="0"/>
            </p:cNvCxnSpPr>
            <p:nvPr/>
          </p:nvCxnSpPr>
          <p:spPr>
            <a:xfrm flipH="1">
              <a:off x="2932619" y="4915551"/>
              <a:ext cx="299307" cy="4399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EF8A82E-691F-6543-265D-667BA2B12058}"/>
                </a:ext>
              </a:extLst>
            </p:cNvPr>
            <p:cNvCxnSpPr>
              <a:stCxn id="10" idx="3"/>
              <a:endCxn id="12" idx="7"/>
            </p:cNvCxnSpPr>
            <p:nvPr/>
          </p:nvCxnSpPr>
          <p:spPr>
            <a:xfrm flipH="1">
              <a:off x="1621297" y="4060415"/>
              <a:ext cx="516598" cy="43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A3DF0D3-E6A9-03F1-8513-F2027AB0E019}"/>
                </a:ext>
              </a:extLst>
            </p:cNvPr>
            <p:cNvCxnSpPr>
              <a:stCxn id="10" idx="5"/>
              <a:endCxn id="11" idx="1"/>
            </p:cNvCxnSpPr>
            <p:nvPr/>
          </p:nvCxnSpPr>
          <p:spPr>
            <a:xfrm>
              <a:off x="2558171" y="4060415"/>
              <a:ext cx="673756" cy="4348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B5572E0-BFD5-FF6E-04FF-CC22B3193FDF}"/>
              </a:ext>
            </a:extLst>
          </p:cNvPr>
          <p:cNvGrpSpPr/>
          <p:nvPr/>
        </p:nvGrpSpPr>
        <p:grpSpPr>
          <a:xfrm>
            <a:off x="9792085" y="1436980"/>
            <a:ext cx="807722" cy="592539"/>
            <a:chOff x="8176383" y="1694924"/>
            <a:chExt cx="807722" cy="592539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5123EAC-9CB5-DC9B-B78D-3EA1C0B3721E}"/>
                </a:ext>
              </a:extLst>
            </p:cNvPr>
            <p:cNvCxnSpPr>
              <a:cxnSpLocks/>
            </p:cNvCxnSpPr>
            <p:nvPr/>
          </p:nvCxnSpPr>
          <p:spPr>
            <a:xfrm>
              <a:off x="8434367" y="1939429"/>
              <a:ext cx="0" cy="34803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3EE8DB-8A1B-7A10-80CF-14CC68CBF06B}"/>
                </a:ext>
              </a:extLst>
            </p:cNvPr>
            <p:cNvSpPr txBox="1"/>
            <p:nvPr/>
          </p:nvSpPr>
          <p:spPr>
            <a:xfrm flipH="1">
              <a:off x="8176383" y="1694924"/>
              <a:ext cx="807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0B050"/>
                  </a:solidFill>
                  <a:latin typeface="Century Gothic" panose="020B0502020202020204" pitchFamily="34" charset="0"/>
                </a:rPr>
                <a:t>root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E65A8AF-5A06-7E3E-4BD3-5DF84E333B0F}"/>
              </a:ext>
            </a:extLst>
          </p:cNvPr>
          <p:cNvGrpSpPr/>
          <p:nvPr/>
        </p:nvGrpSpPr>
        <p:grpSpPr>
          <a:xfrm>
            <a:off x="8933428" y="4047055"/>
            <a:ext cx="1594686" cy="1116183"/>
            <a:chOff x="9232864" y="4138541"/>
            <a:chExt cx="1594686" cy="1116183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1B98F42-EC27-19C0-9800-BAF208C90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93136" y="4206998"/>
              <a:ext cx="334414" cy="70790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15A7DE-FFFC-FDAE-2A57-29ECD16B3834}"/>
                </a:ext>
              </a:extLst>
            </p:cNvPr>
            <p:cNvSpPr txBox="1"/>
            <p:nvPr/>
          </p:nvSpPr>
          <p:spPr>
            <a:xfrm flipH="1">
              <a:off x="9871813" y="4946947"/>
              <a:ext cx="9009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0B050"/>
                  </a:solidFill>
                  <a:latin typeface="Century Gothic" panose="020B0502020202020204" pitchFamily="34" charset="0"/>
                </a:rPr>
                <a:t>children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5A10D41-1433-AA15-E2BC-D68F0DF42A30}"/>
                </a:ext>
              </a:extLst>
            </p:cNvPr>
            <p:cNvCxnSpPr>
              <a:cxnSpLocks/>
              <a:endCxn id="13" idx="5"/>
            </p:cNvCxnSpPr>
            <p:nvPr/>
          </p:nvCxnSpPr>
          <p:spPr>
            <a:xfrm flipH="1" flipV="1">
              <a:off x="9232864" y="4138541"/>
              <a:ext cx="814186" cy="77635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0C82323-ED7B-A743-4169-C150D85C437B}"/>
                </a:ext>
              </a:extLst>
            </p:cNvPr>
            <p:cNvCxnSpPr>
              <a:cxnSpLocks/>
              <a:endCxn id="14" idx="4"/>
            </p:cNvCxnSpPr>
            <p:nvPr/>
          </p:nvCxnSpPr>
          <p:spPr>
            <a:xfrm flipH="1" flipV="1">
              <a:off x="9944575" y="4219627"/>
              <a:ext cx="337345" cy="69527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FADB8EA-54BD-901B-77A4-2949D85C734F}"/>
              </a:ext>
            </a:extLst>
          </p:cNvPr>
          <p:cNvCxnSpPr>
            <a:cxnSpLocks/>
          </p:cNvCxnSpPr>
          <p:nvPr/>
        </p:nvCxnSpPr>
        <p:spPr>
          <a:xfrm>
            <a:off x="11504480" y="2029468"/>
            <a:ext cx="0" cy="2093804"/>
          </a:xfrm>
          <a:prstGeom prst="straightConnector1">
            <a:avLst/>
          </a:prstGeom>
          <a:ln w="127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C04893C-4A2D-368F-0840-8B77330FDF00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0059624" y="2011696"/>
            <a:ext cx="1458248" cy="17772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CE1A5A6-8254-BAAB-3D23-B00E6FD545BE}"/>
              </a:ext>
            </a:extLst>
          </p:cNvPr>
          <p:cNvCxnSpPr>
            <a:cxnSpLocks/>
          </p:cNvCxnSpPr>
          <p:nvPr/>
        </p:nvCxnSpPr>
        <p:spPr>
          <a:xfrm flipH="1">
            <a:off x="9467201" y="4142322"/>
            <a:ext cx="2050671" cy="0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A6578F0-1CC0-0AF1-4DD5-E2DE532E67C5}"/>
              </a:ext>
            </a:extLst>
          </p:cNvPr>
          <p:cNvSpPr txBox="1"/>
          <p:nvPr/>
        </p:nvSpPr>
        <p:spPr>
          <a:xfrm rot="5400000" flipH="1">
            <a:off x="11281401" y="2975545"/>
            <a:ext cx="759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B050"/>
                </a:solidFill>
                <a:latin typeface="Century Gothic" panose="020B0502020202020204" pitchFamily="34" charset="0"/>
              </a:rPr>
              <a:t>height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BE17D5F-D619-5B04-BF7B-D89ED02B7CE4}"/>
              </a:ext>
            </a:extLst>
          </p:cNvPr>
          <p:cNvGrpSpPr/>
          <p:nvPr/>
        </p:nvGrpSpPr>
        <p:grpSpPr>
          <a:xfrm>
            <a:off x="8161692" y="2454076"/>
            <a:ext cx="942202" cy="1299167"/>
            <a:chOff x="9686429" y="5251564"/>
            <a:chExt cx="942202" cy="1299167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A0857A3-076C-5EA3-C79D-80AA761C92BC}"/>
                </a:ext>
              </a:extLst>
            </p:cNvPr>
            <p:cNvCxnSpPr>
              <a:cxnSpLocks/>
            </p:cNvCxnSpPr>
            <p:nvPr/>
          </p:nvCxnSpPr>
          <p:spPr>
            <a:xfrm>
              <a:off x="10263554" y="5492805"/>
              <a:ext cx="365077" cy="25348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77B633B-DA37-91C9-9682-2AC0B93C70F1}"/>
                </a:ext>
              </a:extLst>
            </p:cNvPr>
            <p:cNvSpPr txBox="1"/>
            <p:nvPr/>
          </p:nvSpPr>
          <p:spPr>
            <a:xfrm flipH="1">
              <a:off x="9686429" y="5251564"/>
              <a:ext cx="640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0B050"/>
                  </a:solidFill>
                  <a:latin typeface="Century Gothic" panose="020B0502020202020204" pitchFamily="34" charset="0"/>
                </a:rPr>
                <a:t>keys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486E8FD-8FA6-3B6F-38D3-6CD52468FA04}"/>
                </a:ext>
              </a:extLst>
            </p:cNvPr>
            <p:cNvCxnSpPr>
              <a:cxnSpLocks/>
            </p:cNvCxnSpPr>
            <p:nvPr/>
          </p:nvCxnSpPr>
          <p:spPr>
            <a:xfrm>
              <a:off x="10092191" y="5542685"/>
              <a:ext cx="124484" cy="100804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49952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617E-7AA4-6A85-2C1D-F67DA000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Heaps - </a:t>
            </a:r>
            <a:r>
              <a:rPr lang="en-US" sz="3200">
                <a:solidFill>
                  <a:srgbClr val="0070C0"/>
                </a:solidFill>
              </a:rPr>
              <a:t>properties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9C645-55DC-CA4B-A0B5-C4FF5A6D1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3500"/>
              </a:lnSpc>
            </a:pPr>
            <a:r>
              <a:rPr lang="en-US" b="0" i="0" u="none" strike="noStrike" baseline="0"/>
              <a:t>Based on the property of a heap we can classify heaps into two types:</a:t>
            </a:r>
          </a:p>
          <a:p>
            <a:pPr lvl="1">
              <a:lnSpc>
                <a:spcPts val="3500"/>
              </a:lnSpc>
              <a:spcAft>
                <a:spcPts val="0"/>
              </a:spcAft>
            </a:pPr>
            <a:r>
              <a:rPr lang="en-US" b="1" i="0" u="none" strike="noStrike" baseline="0"/>
              <a:t>Max-Heap: </a:t>
            </a:r>
            <a:r>
              <a:rPr lang="en-US" b="0" i="0" u="none" strike="noStrike" baseline="0"/>
              <a:t>The value of a node must be greater than or equal to the values of its children.</a:t>
            </a:r>
          </a:p>
          <a:p>
            <a:pPr lvl="1">
              <a:lnSpc>
                <a:spcPts val="3500"/>
              </a:lnSpc>
            </a:pPr>
            <a:r>
              <a:rPr lang="en-US" b="1" i="0" u="none" strike="noStrike" baseline="0"/>
              <a:t>Min-Heap: </a:t>
            </a:r>
            <a:r>
              <a:rPr lang="en-US" b="0" i="0" u="none" strike="noStrike" baseline="0"/>
              <a:t>The value of a node must be less than or equal to the values of its children.</a:t>
            </a:r>
            <a:endParaRPr lang="en-US"/>
          </a:p>
          <a:p>
            <a:pPr>
              <a:lnSpc>
                <a:spcPts val="3500"/>
              </a:lnSpc>
              <a:spcBef>
                <a:spcPts val="17400"/>
              </a:spcBef>
            </a:pPr>
            <a:r>
              <a:rPr lang="en-US" b="0" i="0" u="none" strike="noStrike" baseline="0"/>
              <a:t>We</a:t>
            </a:r>
            <a:r>
              <a:rPr lang="en-US" b="0" i="0" u="none" strike="noStrike"/>
              <a:t> will focus on </a:t>
            </a:r>
            <a:r>
              <a:rPr lang="en-US" b="1" i="0" u="none" strike="noStrike"/>
              <a:t>Max-Heap </a:t>
            </a:r>
            <a:r>
              <a:rPr lang="en-US" i="0" u="none" strike="noStrike"/>
              <a:t>(</a:t>
            </a:r>
            <a:r>
              <a:rPr lang="en-US" u="sng"/>
              <a:t>parental dominance)</a:t>
            </a:r>
            <a:r>
              <a:rPr lang="en-US" b="0" i="0" u="none" strike="noStrike"/>
              <a:t>.</a:t>
            </a:r>
            <a:endParaRPr lang="en-US" b="0" i="0" u="none" strike="noStrike" baseline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F0774-2C3A-1EB3-748C-ECB0DF29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5CEBA-1BCE-13F2-FAA2-E87DAACD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99268-F86E-DC38-4480-449970FE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6</a:t>
            </a:fld>
            <a:endParaRPr lang="en-US"/>
          </a:p>
        </p:txBody>
      </p:sp>
      <p:pic>
        <p:nvPicPr>
          <p:cNvPr id="21" name="Picture 20" descr="\documentclass{article}&#10;\usepackage{amsmath}&#10;\usepackage{tikz}&#10;\pagestyle{empty}&#10;&#10;\begin{document}&#10;\begin{tikzpicture}[&#10;  every node/.style = {minimum width = 2em, draw, circle},&#10;  shade/.style = {fill=black!15},&#10;  level 1/.style = {level distance = 1.2cm, sibling distance = 28mm},&#10;  level 2/.style = {sibling distance = 15mm},&#10;  level 3/.style = {sibling distance = 5mm}&#10;  ]&#10;  \node (root) {9}&#10;     child {node {8}&#10;        child {node {5}}&#10;        child {node {2}}&#10;     }&#10;     child {node {6}&#10;       child {node {1}}&#10;       child [missing]&#10;     };&#10;  \node [above of = root, draw=none, yshift=-3mm] {\textsc{Max-Heap}};&#10;\end{tikzpicture}&#10;\end{document} " title="IguanaTex Bitmap Display">
            <a:extLst>
              <a:ext uri="{FF2B5EF4-FFF2-40B4-BE49-F238E27FC236}">
                <a16:creationId xmlns:a16="http://schemas.microsoft.com/office/drawing/2014/main" id="{3F425368-2BF6-618B-B121-A3CDEDFD314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374" y="3162847"/>
            <a:ext cx="2771019" cy="2323811"/>
          </a:xfrm>
          <a:prstGeom prst="rect">
            <a:avLst/>
          </a:prstGeom>
        </p:spPr>
      </p:pic>
      <p:pic>
        <p:nvPicPr>
          <p:cNvPr id="19" name="Picture 18" descr="\documentclass{article}&#10;\usepackage{amsmath}&#10;\usepackage{tikz}&#10;\pagestyle{empty}&#10;&#10;\begin{document}&#10;\begin{tikzpicture}[&#10;  every node/.style = {minimum width = 2em, draw, circle},&#10;  shade/.style = {fill=black!15},&#10;  level 1/.style = {level distance = 1.2cm, sibling distance = 28mm},&#10;  level 2/.style = {sibling distance = 15mm},&#10;  level 3/.style = {sibling distance = 5mm},&#10;  emph/.style={edge from parent/.style={dashed, draw}},&#10;  norm/.style={edge from parent/.style={black,thin,draw}}&#10;  ]&#10;  \node (root) {1}&#10;     child {node {3}&#10;        child {node {4}}&#10;        child {node {5}}&#10;     }&#10;     child {node {2}&#10;       child {node {10}}&#10;       child [missing]&#10;     };&#10;  \node [above of = root, draw=none, yshift=-3mm] {\textsc{Min-Heap}};&#10;\end{tikzpicture}&#10;\end{document} " title="IguanaTex Bitmap Display">
            <a:extLst>
              <a:ext uri="{FF2B5EF4-FFF2-40B4-BE49-F238E27FC236}">
                <a16:creationId xmlns:a16="http://schemas.microsoft.com/office/drawing/2014/main" id="{DC07F5BF-A234-361D-6E5C-11FF75A76C2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289" y="3162846"/>
            <a:ext cx="2771019" cy="233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1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7A695-FEB0-6775-0A6D-9F5CDA8AE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Heaps - </a:t>
            </a:r>
            <a:r>
              <a:rPr lang="en-US" sz="3200">
                <a:solidFill>
                  <a:srgbClr val="0070C0"/>
                </a:solidFill>
              </a:rPr>
              <a:t>Representation</a:t>
            </a:r>
            <a:endParaRPr 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85606C-84C0-F7A8-B596-4CC7A1F285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200"/>
                  <a:t>A heap can be implemented as an </a:t>
                </a:r>
                <a:r>
                  <a:rPr lang="en-US" sz="2200">
                    <a:solidFill>
                      <a:srgbClr val="00B0F0"/>
                    </a:solidFill>
                  </a:rPr>
                  <a:t>array</a:t>
                </a:r>
                <a:r>
                  <a:rPr lang="en-US" sz="2200"/>
                  <a:t> with the following structure: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000"/>
                  <a:t>An array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sz="20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/>
                  <a:t> to hold the values of the heap.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000"/>
                  <a:t>An integer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/>
                  <a:t> as the heap size.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/>
                  <a:t> is 0,  the heap is empty.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200"/>
                  <a:t>It is convenient to store the heap’s elements in positions 1 to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/>
                  <a:t> leaving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/>
                  <a:t> unused, so that the heap can be represented by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/>
                  <a:t> as follows:</a:t>
                </a:r>
              </a:p>
              <a:p>
                <a:pPr marL="631825" lvl="1" indent="-182563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000"/>
                  <a:t>The </a:t>
                </a:r>
                <a:r>
                  <a:rPr lang="en-US" sz="200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root</a:t>
                </a:r>
                <a:r>
                  <a:rPr lang="en-US" sz="2000"/>
                  <a:t> element is at index 1.</a:t>
                </a:r>
              </a:p>
              <a:p>
                <a:pPr marL="631825" lvl="1" indent="-182563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000"/>
                  <a:t>Any node at index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/>
                  <a:t>, its </a:t>
                </a:r>
                <a:r>
                  <a:rPr lang="en-US" sz="200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left child </a:t>
                </a:r>
                <a:r>
                  <a:rPr lang="en-US" sz="2000"/>
                  <a:t>is at index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/>
                  <a:t>, </a:t>
                </a:r>
                <a:br>
                  <a:rPr lang="en-US" sz="2000"/>
                </a:br>
                <a:r>
                  <a:rPr lang="en-US" sz="2000"/>
                  <a:t>and its </a:t>
                </a:r>
                <a:r>
                  <a:rPr lang="en-US" sz="200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right child </a:t>
                </a:r>
                <a:r>
                  <a:rPr lang="en-US" sz="2000"/>
                  <a:t>is at index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/>
                  <a:t>.</a:t>
                </a:r>
              </a:p>
              <a:p>
                <a:pPr marL="631825" lvl="1" indent="-182563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000"/>
                  <a:t>Any node at index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/>
                  <a:t>, its </a:t>
                </a:r>
                <a:r>
                  <a:rPr lang="en-US" sz="200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parent</a:t>
                </a:r>
                <a:r>
                  <a:rPr lang="en-US" sz="2000"/>
                  <a:t> is at index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000"/>
                  <a:t>.</a:t>
                </a:r>
              </a:p>
              <a:p>
                <a:pPr marL="631825" lvl="1" indent="-182563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000"/>
                  <a:t>Parental node keys will be in the first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000"/>
                  <a:t> positions</a:t>
                </a:r>
                <a:br>
                  <a:rPr lang="en-US" sz="2000"/>
                </a:br>
                <a:r>
                  <a:rPr lang="en-US" sz="2000"/>
                  <a:t>and leaves will occupy the last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000"/>
                  <a:t>positions.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85606C-84C0-F7A8-B596-4CC7A1F285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6C1E7-C46E-378E-3DEE-5D51A0877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C271-3177-0494-4A3F-DBEF5712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9F3CA-CF12-929D-1752-D86BED7D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64ABEC4-0B6A-AC0D-1626-BCF9671513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3286767"/>
                  </p:ext>
                </p:extLst>
              </p:nvPr>
            </p:nvGraphicFramePr>
            <p:xfrm>
              <a:off x="7584773" y="4936919"/>
              <a:ext cx="4023360" cy="102884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70560">
                      <a:extLst>
                        <a:ext uri="{9D8B030D-6E8A-4147-A177-3AD203B41FA5}">
                          <a16:colId xmlns:a16="http://schemas.microsoft.com/office/drawing/2014/main" val="281332523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1851235551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521380138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3646427918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3769760567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1854765694"/>
                        </a:ext>
                      </a:extLst>
                    </a:gridCol>
                  </a:tblGrid>
                  <a:tr h="3429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⌈"/>
                                    <m:endChr m:val="⌉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22792980"/>
                      </a:ext>
                    </a:extLst>
                  </a:tr>
                  <a:tr h="342948"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73609673"/>
                      </a:ext>
                    </a:extLst>
                  </a:tr>
                  <a:tr h="3429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parents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leaves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458899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64ABEC4-0B6A-AC0D-1626-BCF9671513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3286767"/>
                  </p:ext>
                </p:extLst>
              </p:nvPr>
            </p:nvGraphicFramePr>
            <p:xfrm>
              <a:off x="7584773" y="4936919"/>
              <a:ext cx="4023360" cy="102884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70560">
                      <a:extLst>
                        <a:ext uri="{9D8B030D-6E8A-4147-A177-3AD203B41FA5}">
                          <a16:colId xmlns:a16="http://schemas.microsoft.com/office/drawing/2014/main" val="281332523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1851235551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521380138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3646427918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3769760567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1854765694"/>
                        </a:ext>
                      </a:extLst>
                    </a:gridCol>
                  </a:tblGrid>
                  <a:tr h="3429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099" t="-3509" r="-299099" b="-2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818" t="-3509" r="-201818" b="-2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1818" t="-3509" r="-1818" b="-2192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2792980"/>
                      </a:ext>
                    </a:extLst>
                  </a:tr>
                  <a:tr h="342948"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73609673"/>
                      </a:ext>
                    </a:extLst>
                  </a:tr>
                  <a:tr h="3429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parents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leaves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458899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730ED20-D32B-41DF-04E7-FE0519BD12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7173328"/>
                  </p:ext>
                </p:extLst>
              </p:nvPr>
            </p:nvGraphicFramePr>
            <p:xfrm>
              <a:off x="6908295" y="3519323"/>
              <a:ext cx="4699838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76142">
                      <a:extLst>
                        <a:ext uri="{9D8B030D-6E8A-4147-A177-3AD203B41FA5}">
                          <a16:colId xmlns:a16="http://schemas.microsoft.com/office/drawing/2014/main" val="1472169922"/>
                        </a:ext>
                      </a:extLst>
                    </a:gridCol>
                    <a:gridCol w="387195">
                      <a:extLst>
                        <a:ext uri="{9D8B030D-6E8A-4147-A177-3AD203B41FA5}">
                          <a16:colId xmlns:a16="http://schemas.microsoft.com/office/drawing/2014/main" val="2046536488"/>
                        </a:ext>
                      </a:extLst>
                    </a:gridCol>
                    <a:gridCol w="909125">
                      <a:extLst>
                        <a:ext uri="{9D8B030D-6E8A-4147-A177-3AD203B41FA5}">
                          <a16:colId xmlns:a16="http://schemas.microsoft.com/office/drawing/2014/main" val="1851235551"/>
                        </a:ext>
                      </a:extLst>
                    </a:gridCol>
                    <a:gridCol w="393642">
                      <a:extLst>
                        <a:ext uri="{9D8B030D-6E8A-4147-A177-3AD203B41FA5}">
                          <a16:colId xmlns:a16="http://schemas.microsoft.com/office/drawing/2014/main" val="2521380138"/>
                        </a:ext>
                      </a:extLst>
                    </a:gridCol>
                    <a:gridCol w="918497">
                      <a:extLst>
                        <a:ext uri="{9D8B030D-6E8A-4147-A177-3AD203B41FA5}">
                          <a16:colId xmlns:a16="http://schemas.microsoft.com/office/drawing/2014/main" val="3646427918"/>
                        </a:ext>
                      </a:extLst>
                    </a:gridCol>
                    <a:gridCol w="987219">
                      <a:extLst>
                        <a:ext uri="{9D8B030D-6E8A-4147-A177-3AD203B41FA5}">
                          <a16:colId xmlns:a16="http://schemas.microsoft.com/office/drawing/2014/main" val="3769760567"/>
                        </a:ext>
                      </a:extLst>
                    </a:gridCol>
                    <a:gridCol w="428018">
                      <a:extLst>
                        <a:ext uri="{9D8B030D-6E8A-4147-A177-3AD203B41FA5}">
                          <a16:colId xmlns:a16="http://schemas.microsoft.com/office/drawing/2014/main" val="3391220001"/>
                        </a:ext>
                      </a:extLst>
                    </a:gridCol>
                  </a:tblGrid>
                  <a:tr h="2336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22792980"/>
                      </a:ext>
                    </a:extLst>
                  </a:tr>
                  <a:tr h="5338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root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parent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left</a:t>
                          </a:r>
                        </a:p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child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Right</a:t>
                          </a:r>
                        </a:p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child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73609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730ED20-D32B-41DF-04E7-FE0519BD12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7173328"/>
                  </p:ext>
                </p:extLst>
              </p:nvPr>
            </p:nvGraphicFramePr>
            <p:xfrm>
              <a:off x="6908295" y="3519323"/>
              <a:ext cx="4699838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76142">
                      <a:extLst>
                        <a:ext uri="{9D8B030D-6E8A-4147-A177-3AD203B41FA5}">
                          <a16:colId xmlns:a16="http://schemas.microsoft.com/office/drawing/2014/main" val="1472169922"/>
                        </a:ext>
                      </a:extLst>
                    </a:gridCol>
                    <a:gridCol w="387195">
                      <a:extLst>
                        <a:ext uri="{9D8B030D-6E8A-4147-A177-3AD203B41FA5}">
                          <a16:colId xmlns:a16="http://schemas.microsoft.com/office/drawing/2014/main" val="2046536488"/>
                        </a:ext>
                      </a:extLst>
                    </a:gridCol>
                    <a:gridCol w="909125">
                      <a:extLst>
                        <a:ext uri="{9D8B030D-6E8A-4147-A177-3AD203B41FA5}">
                          <a16:colId xmlns:a16="http://schemas.microsoft.com/office/drawing/2014/main" val="1851235551"/>
                        </a:ext>
                      </a:extLst>
                    </a:gridCol>
                    <a:gridCol w="393642">
                      <a:extLst>
                        <a:ext uri="{9D8B030D-6E8A-4147-A177-3AD203B41FA5}">
                          <a16:colId xmlns:a16="http://schemas.microsoft.com/office/drawing/2014/main" val="2521380138"/>
                        </a:ext>
                      </a:extLst>
                    </a:gridCol>
                    <a:gridCol w="918497">
                      <a:extLst>
                        <a:ext uri="{9D8B030D-6E8A-4147-A177-3AD203B41FA5}">
                          <a16:colId xmlns:a16="http://schemas.microsoft.com/office/drawing/2014/main" val="3646427918"/>
                        </a:ext>
                      </a:extLst>
                    </a:gridCol>
                    <a:gridCol w="987219">
                      <a:extLst>
                        <a:ext uri="{9D8B030D-6E8A-4147-A177-3AD203B41FA5}">
                          <a16:colId xmlns:a16="http://schemas.microsoft.com/office/drawing/2014/main" val="3769760567"/>
                        </a:ext>
                      </a:extLst>
                    </a:gridCol>
                    <a:gridCol w="428018">
                      <a:extLst>
                        <a:ext uri="{9D8B030D-6E8A-4147-A177-3AD203B41FA5}">
                          <a16:colId xmlns:a16="http://schemas.microsoft.com/office/drawing/2014/main" val="3391220001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8121" t="-5455" r="-302013" b="-19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58278" t="-5455" r="-154967" b="-19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33951" t="-5455" r="-44444" b="-19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2279298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root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parent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left</a:t>
                          </a:r>
                        </a:p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child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Right</a:t>
                          </a:r>
                        </a:p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child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736096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417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5AEC-AAC5-2043-E532-C7C50C2EE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Heaps - </a:t>
            </a:r>
            <a:r>
              <a:rPr lang="en-US" sz="3200">
                <a:solidFill>
                  <a:srgbClr val="0070C0"/>
                </a:solidFill>
              </a:rPr>
              <a:t>Representation</a:t>
            </a:r>
            <a:endParaRPr 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1C43E8-7346-C311-A712-E738B5BD3C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1950" y="1056068"/>
                <a:ext cx="4832620" cy="5266392"/>
              </a:xfrm>
            </p:spPr>
            <p:txBody>
              <a:bodyPr/>
              <a:lstStyle/>
              <a:p>
                <a:r>
                  <a:rPr lang="en-US" sz="2800">
                    <a:solidFill>
                      <a:srgbClr val="00B0F0"/>
                    </a:solidFill>
                  </a:rPr>
                  <a:t>Example</a:t>
                </a:r>
                <a:endParaRPr lang="en-US">
                  <a:solidFill>
                    <a:srgbClr val="00B0F0"/>
                  </a:solidFill>
                </a:endParaRPr>
              </a:p>
              <a:p>
                <a:pPr lvl="1">
                  <a:lnSpc>
                    <a:spcPts val="3500"/>
                  </a:lnSpc>
                  <a:spcAft>
                    <a:spcPts val="600"/>
                  </a:spcAft>
                </a:pPr>
                <a:r>
                  <a:rPr lang="en-US">
                    <a:latin typeface="Century Gothic" panose="020B0502020202020204" pitchFamily="34" charset="0"/>
                  </a:rPr>
                  <a:t>Every element at position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>
                    <a:latin typeface="Century Gothic" panose="020B0502020202020204" pitchFamily="34" charset="0"/>
                  </a:rPr>
                  <a:t> in the first half of the array is  ≥  to the elements in positions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>
                    <a:latin typeface="Century Gothic" panose="020B0502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>
                    <a:latin typeface="Century Gothic" panose="020B0502020202020204" pitchFamily="34" charset="0"/>
                  </a:rPr>
                  <a:t>.</a:t>
                </a:r>
              </a:p>
              <a:p>
                <a:pPr lvl="1">
                  <a:lnSpc>
                    <a:spcPts val="35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]≥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⁡{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begChr m:val="[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],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en-US"/>
                  <a:t> </a:t>
                </a:r>
                <a:br>
                  <a:rPr lang="en-US"/>
                </a:b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/>
                  <a:t> 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1C43E8-7346-C311-A712-E738B5BD3C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0" y="1056068"/>
                <a:ext cx="4832620" cy="5266392"/>
              </a:xfrm>
              <a:blipFill>
                <a:blip r:embed="rId3"/>
                <a:stretch>
                  <a:fillRect l="-1639" t="-1852" r="-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F3D83-2001-181A-2467-142128EC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C28FA-26BD-FBF2-908D-DDAF2A26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EBD71-A1FC-A168-84FD-25D880197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8</a:t>
            </a:fld>
            <a:endParaRPr lang="en-US"/>
          </a:p>
        </p:txBody>
      </p:sp>
      <p:pic>
        <p:nvPicPr>
          <p:cNvPr id="11" name="Picture 10" descr="\documentclass{article}&#10;\usepackage{amsmath}&#10;\usepackage{tikz}&#10;\pagestyle{empty}&#10;&#10;\begin{document}&#10; \begin{tikzpicture}[label distance=-2mm,&#10;  every node/.style = {minimum width = 2em, draw, circle},&#10;  shade/.style = {fill=black!15},&#10;  level 1/.style = {level distance = 1.2cm, sibling distance = 50mm},&#10;  level 2/.style = {sibling distance = 25mm},&#10;  level 3/.style = {sibling distance = 15mm}&#10;  ]&#10;  \node [label=150:{\scriptsize 1}, shade] {16}&#10;  child {node [label=above:{\scriptsize 2}] {15}&#10;        child {node [label=above:{\scriptsize 4}] {14}&#10;              child {node [label=above:{\scriptsize 8}] {8}&#10;                 child {node [label=above:{\scriptsize 16}] {1}}&#10;                 child {edge from parent[draw = none]}&#10;              }&#10;              child {node [label=above:{\scriptsize 9}] {7}}}&#10;        child {node [label=above:{\scriptsize 5}] {5}&#10;              child {node [label=above:{\scriptsize 10}] {4}}&#10;              child {node [label=above:{\scriptsize 11}] {2}}}&#10;        }&#10;  child {node [label=above:{\scriptsize 3}] {13}&#10;        child {node [label=above:{\scriptsize 6}] {12}&#10;              child {node [label=above:{\scriptsize 12}] {11}}&#10;              child {node [label=above:{\scriptsize 13}] {6}}}&#10;        child {node [label=above:{\scriptsize 7}] {10}&#10;              child {node [label=above:{\scriptsize 14}] {3}}&#10;              child {node [label=above:{\scriptsize 15}] {9}}}&#10;              %child {edge from parent[draw = none]}}&#10;        };&#10;\end{tikzpicture}&#10;&#10;\bigskip&#10;\renewcommand{\arraystretch}{1.3}&#10;\begin{tabular}{c*{16}{c}}&#10;&amp; 1  &amp;  2 &amp;  3 &amp; 4 &amp;  5 &amp;  6 &amp; 7 &amp; 8 &amp; 9 &amp; 10 &amp; 11 &amp; 12 &amp; 13 &amp; 14 &amp; 15 &amp; 16\\\cline{2-17}&#10;$H$ &amp; \multicolumn{1}{|c}{16} &amp; \multicolumn{1}{|c}{15} &amp; \multicolumn{1}{|c}{13} &amp; \multicolumn{1}{|c}{14} &amp;&#10;\multicolumn{1}{|c}{5} &amp; \multicolumn{1}{|c}{12} &amp; \multicolumn{1}{|c}{10} &amp; \multicolumn{1}{|c}{8} &amp;&#10;\multicolumn{1}{|c}{7} &amp; \multicolumn{1}{|c}{4} &amp; \multicolumn{1}{|c}{2} &amp; \multicolumn{1}{|c}{11} &amp;&#10;\multicolumn{1}{|c}{6} &amp; \multicolumn{1}{|c}{3} &amp; \multicolumn{1}{|c}{9} &amp; \multicolumn{1}{|c|}{1}\\\cline{2-17}&#10;\multicolumn{9}{c|}{\large parents} &amp; \multicolumn{7}{c}{\large children}&#10;\end{tabular}&#10;\end{document} " title="IguanaTex Bitmap Display">
            <a:extLst>
              <a:ext uri="{FF2B5EF4-FFF2-40B4-BE49-F238E27FC236}">
                <a16:creationId xmlns:a16="http://schemas.microsoft.com/office/drawing/2014/main" id="{E3AC8CD1-6BFA-5688-D76D-66A24DF9E8E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155" y="1849750"/>
            <a:ext cx="6352610" cy="387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5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D41C-6182-7DDF-8F3B-05E937AD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Heaps – </a:t>
            </a:r>
            <a:r>
              <a:rPr lang="en-US" sz="3200" dirty="0" err="1">
                <a:solidFill>
                  <a:srgbClr val="0070C0"/>
                </a:solidFill>
              </a:rPr>
              <a:t>Heapify</a:t>
            </a:r>
            <a:r>
              <a:rPr lang="en-US" sz="3200" dirty="0">
                <a:solidFill>
                  <a:srgbClr val="0070C0"/>
                </a:solidFill>
              </a:rPr>
              <a:t> a Heap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0A9B9-B220-5F98-D506-81B0E7C43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57" y="2119605"/>
            <a:ext cx="8018121" cy="3892091"/>
          </a:xfrm>
        </p:spPr>
        <p:txBody>
          <a:bodyPr/>
          <a:lstStyle/>
          <a:p>
            <a:pPr marL="282575" indent="-282575">
              <a:lnSpc>
                <a:spcPts val="3300"/>
              </a:lnSpc>
            </a:pPr>
            <a:r>
              <a:rPr lang="en-US"/>
              <a:t>To </a:t>
            </a:r>
            <a:r>
              <a:rPr lang="en-US" err="1">
                <a:solidFill>
                  <a:srgbClr val="00B0F0"/>
                </a:solidFill>
              </a:rPr>
              <a:t>heapify</a:t>
            </a: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/>
              <a:t>a heap:</a:t>
            </a:r>
          </a:p>
          <a:p>
            <a:pPr marL="690563" lvl="1" indent="-417513">
              <a:lnSpc>
                <a:spcPts val="3300"/>
              </a:lnSpc>
            </a:pPr>
            <a:r>
              <a:rPr lang="en-US"/>
              <a:t>Start from the root. If the root is larger than its children, the heap property is satisfied, stop the algorithm. </a:t>
            </a:r>
          </a:p>
          <a:p>
            <a:pPr marL="690563" lvl="1" indent="-417513">
              <a:lnSpc>
                <a:spcPts val="3300"/>
              </a:lnSpc>
            </a:pPr>
            <a:r>
              <a:rPr lang="en-US"/>
              <a:t>Otherwise, swap it with the larger of its children (left or right).</a:t>
            </a:r>
          </a:p>
          <a:p>
            <a:pPr marL="690563" lvl="1" indent="-417513">
              <a:lnSpc>
                <a:spcPts val="3300"/>
              </a:lnSpc>
            </a:pPr>
            <a:r>
              <a:rPr lang="en-US"/>
              <a:t>Continue the process on the subtree of the larger child until the heap property is satisfied.  </a:t>
            </a:r>
          </a:p>
          <a:p>
            <a:pPr>
              <a:lnSpc>
                <a:spcPts val="3300"/>
              </a:lnSpc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8DE57-8E45-3186-1E04-14422BAC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67D5-BB1E-A345-B088-A203E30E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D1CDE-26B2-8983-E7D9-BC7FD9D7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9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B6A9C0-DAEF-0FF3-5422-58CF27CF2DF6}"/>
              </a:ext>
            </a:extLst>
          </p:cNvPr>
          <p:cNvGrpSpPr/>
          <p:nvPr/>
        </p:nvGrpSpPr>
        <p:grpSpPr>
          <a:xfrm>
            <a:off x="8641707" y="2582653"/>
            <a:ext cx="2953695" cy="2008998"/>
            <a:chOff x="362056" y="3553097"/>
            <a:chExt cx="3534750" cy="239673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2CAF2E0-FBC6-00A6-E822-AEA1007A7EEA}"/>
                </a:ext>
              </a:extLst>
            </p:cNvPr>
            <p:cNvSpPr/>
            <p:nvPr/>
          </p:nvSpPr>
          <p:spPr>
            <a:xfrm>
              <a:off x="2050853" y="355309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0872A9-374C-BF92-B2A0-6050927B0CEA}"/>
                </a:ext>
              </a:extLst>
            </p:cNvPr>
            <p:cNvSpPr/>
            <p:nvPr/>
          </p:nvSpPr>
          <p:spPr>
            <a:xfrm>
              <a:off x="3302446" y="440823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FD78D96-8FE3-0522-946B-607B2D18E2CB}"/>
                </a:ext>
              </a:extLst>
            </p:cNvPr>
            <p:cNvSpPr/>
            <p:nvPr/>
          </p:nvSpPr>
          <p:spPr>
            <a:xfrm>
              <a:off x="956416" y="4409130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A98545D-1B44-9E8E-3577-26FE108F70E2}"/>
                </a:ext>
              </a:extLst>
            </p:cNvPr>
            <p:cNvSpPr/>
            <p:nvPr/>
          </p:nvSpPr>
          <p:spPr>
            <a:xfrm>
              <a:off x="362056" y="534991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B6F77B-7C13-3343-8306-9CF11AF60F54}"/>
                </a:ext>
              </a:extLst>
            </p:cNvPr>
            <p:cNvSpPr/>
            <p:nvPr/>
          </p:nvSpPr>
          <p:spPr>
            <a:xfrm>
              <a:off x="1550776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E62D841-EEEF-9111-887B-6C746F3F5382}"/>
                </a:ext>
              </a:extLst>
            </p:cNvPr>
            <p:cNvSpPr/>
            <p:nvPr/>
          </p:nvSpPr>
          <p:spPr>
            <a:xfrm>
              <a:off x="2793001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C8934BF-9C15-3F59-20B3-5980693B4080}"/>
                </a:ext>
              </a:extLst>
            </p:cNvPr>
            <p:cNvCxnSpPr>
              <a:stCxn id="19" idx="3"/>
              <a:endCxn id="22" idx="0"/>
            </p:cNvCxnSpPr>
            <p:nvPr/>
          </p:nvCxnSpPr>
          <p:spPr>
            <a:xfrm flipH="1">
              <a:off x="659236" y="4916448"/>
              <a:ext cx="384222" cy="43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AC30F24-B94B-45A8-3DCC-326642959598}"/>
                </a:ext>
              </a:extLst>
            </p:cNvPr>
            <p:cNvCxnSpPr>
              <a:stCxn id="19" idx="5"/>
              <a:endCxn id="23" idx="0"/>
            </p:cNvCxnSpPr>
            <p:nvPr/>
          </p:nvCxnSpPr>
          <p:spPr>
            <a:xfrm>
              <a:off x="1463734" y="4916448"/>
              <a:ext cx="384222" cy="4390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7D8F285-694E-837D-3815-A4991185921C}"/>
                </a:ext>
              </a:extLst>
            </p:cNvPr>
            <p:cNvCxnSpPr>
              <a:cxnSpLocks/>
              <a:stCxn id="18" idx="3"/>
              <a:endCxn id="24" idx="0"/>
            </p:cNvCxnSpPr>
            <p:nvPr/>
          </p:nvCxnSpPr>
          <p:spPr>
            <a:xfrm flipH="1">
              <a:off x="3090181" y="4915551"/>
              <a:ext cx="299307" cy="439923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2FA3E40-45B8-5AD4-6C0A-B76EBD4AC757}"/>
                </a:ext>
              </a:extLst>
            </p:cNvPr>
            <p:cNvCxnSpPr>
              <a:stCxn id="17" idx="3"/>
              <a:endCxn id="19" idx="7"/>
            </p:cNvCxnSpPr>
            <p:nvPr/>
          </p:nvCxnSpPr>
          <p:spPr>
            <a:xfrm flipH="1">
              <a:off x="1463734" y="4060415"/>
              <a:ext cx="674161" cy="43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EC5939B-1676-5A20-8A55-11003564A054}"/>
                </a:ext>
              </a:extLst>
            </p:cNvPr>
            <p:cNvCxnSpPr>
              <a:stCxn id="17" idx="5"/>
              <a:endCxn id="18" idx="1"/>
            </p:cNvCxnSpPr>
            <p:nvPr/>
          </p:nvCxnSpPr>
          <p:spPr>
            <a:xfrm>
              <a:off x="2558171" y="4060415"/>
              <a:ext cx="831317" cy="43486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2BA98A78-4908-4CF4-249B-6878B9A826E8}"/>
              </a:ext>
            </a:extLst>
          </p:cNvPr>
          <p:cNvSpPr txBox="1">
            <a:spLocks/>
          </p:cNvSpPr>
          <p:nvPr/>
        </p:nvSpPr>
        <p:spPr>
          <a:xfrm>
            <a:off x="361950" y="1110568"/>
            <a:ext cx="11382372" cy="973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-282575">
              <a:lnSpc>
                <a:spcPts val="3300"/>
              </a:lnSpc>
            </a:pPr>
            <a:r>
              <a:rPr lang="en-US"/>
              <a:t>If a tree is a heap but its root is not satisfying the heap property, then we need to </a:t>
            </a:r>
            <a:r>
              <a:rPr lang="en-US" err="1">
                <a:solidFill>
                  <a:srgbClr val="00B0F0"/>
                </a:solidFill>
              </a:rPr>
              <a:t>heapify</a:t>
            </a:r>
            <a:r>
              <a:rPr lang="en-US"/>
              <a:t> (fix) this tree.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C1F6B46-7319-7D09-06C7-2B1215F88B1B}"/>
              </a:ext>
            </a:extLst>
          </p:cNvPr>
          <p:cNvGrpSpPr/>
          <p:nvPr/>
        </p:nvGrpSpPr>
        <p:grpSpPr>
          <a:xfrm>
            <a:off x="9523423" y="2022196"/>
            <a:ext cx="719852" cy="741818"/>
            <a:chOff x="8048286" y="1539319"/>
            <a:chExt cx="807722" cy="868605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0AEC674-FCD6-3CF2-B3DF-D9116B34F2E2}"/>
                </a:ext>
              </a:extLst>
            </p:cNvPr>
            <p:cNvCxnSpPr>
              <a:cxnSpLocks/>
            </p:cNvCxnSpPr>
            <p:nvPr/>
          </p:nvCxnSpPr>
          <p:spPr>
            <a:xfrm>
              <a:off x="8434367" y="1939429"/>
              <a:ext cx="387953" cy="46849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18281B6-CAA6-A9C5-0AC2-28E645B36C54}"/>
                </a:ext>
              </a:extLst>
            </p:cNvPr>
            <p:cNvSpPr txBox="1"/>
            <p:nvPr/>
          </p:nvSpPr>
          <p:spPr>
            <a:xfrm flipH="1">
              <a:off x="8048286" y="1539319"/>
              <a:ext cx="807722" cy="468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00B050"/>
                  </a:solidFill>
                  <a:latin typeface="Century Gothic" panose="020B0502020202020204" pitchFamily="34" charset="0"/>
                </a:rPr>
                <a:t>root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628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Heaps – </a:t>
            </a:r>
            <a:r>
              <a:rPr lang="en-US" sz="3200" dirty="0" err="1">
                <a:solidFill>
                  <a:srgbClr val="0070C0"/>
                </a:solidFill>
              </a:rPr>
              <a:t>Heapify</a:t>
            </a:r>
            <a:r>
              <a:rPr lang="en-US" sz="3200" dirty="0">
                <a:solidFill>
                  <a:srgbClr val="0070C0"/>
                </a:solidFill>
              </a:rPr>
              <a:t> a Heap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10</a:t>
            </a:fld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736551" y="3996798"/>
            <a:ext cx="2953695" cy="2008998"/>
            <a:chOff x="362056" y="3553097"/>
            <a:chExt cx="3534750" cy="2396737"/>
          </a:xfrm>
        </p:grpSpPr>
        <p:sp>
          <p:nvSpPr>
            <p:cNvPr id="12" name="Oval 11"/>
            <p:cNvSpPr/>
            <p:nvPr/>
          </p:nvSpPr>
          <p:spPr>
            <a:xfrm>
              <a:off x="2050853" y="355309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3302446" y="440823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956416" y="4409130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362056" y="534991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1550776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2793001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14" name="Straight Connector 13"/>
            <p:cNvCxnSpPr>
              <a:stCxn id="19" idx="3"/>
              <a:endCxn id="20" idx="0"/>
            </p:cNvCxnSpPr>
            <p:nvPr/>
          </p:nvCxnSpPr>
          <p:spPr>
            <a:xfrm flipH="1">
              <a:off x="659236" y="4916448"/>
              <a:ext cx="384222" cy="43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9" idx="5"/>
              <a:endCxn id="21" idx="0"/>
            </p:cNvCxnSpPr>
            <p:nvPr/>
          </p:nvCxnSpPr>
          <p:spPr>
            <a:xfrm>
              <a:off x="1463734" y="4916448"/>
              <a:ext cx="384222" cy="4390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cxnSpLocks/>
              <a:stCxn id="18" idx="3"/>
              <a:endCxn id="22" idx="0"/>
            </p:cNvCxnSpPr>
            <p:nvPr/>
          </p:nvCxnSpPr>
          <p:spPr>
            <a:xfrm flipH="1">
              <a:off x="3090181" y="4915551"/>
              <a:ext cx="299307" cy="439923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12" idx="3"/>
              <a:endCxn id="19" idx="7"/>
            </p:cNvCxnSpPr>
            <p:nvPr/>
          </p:nvCxnSpPr>
          <p:spPr>
            <a:xfrm flipH="1">
              <a:off x="1463734" y="4060415"/>
              <a:ext cx="674161" cy="43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12" idx="5"/>
              <a:endCxn id="18" idx="1"/>
            </p:cNvCxnSpPr>
            <p:nvPr/>
          </p:nvCxnSpPr>
          <p:spPr>
            <a:xfrm>
              <a:off x="2558171" y="4060415"/>
              <a:ext cx="831317" cy="434860"/>
            </a:xfrm>
            <a:prstGeom prst="line">
              <a:avLst/>
            </a:prstGeom>
            <a:ln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ight Arrow 2"/>
          <p:cNvSpPr/>
          <p:nvPr/>
        </p:nvSpPr>
        <p:spPr>
          <a:xfrm>
            <a:off x="4132282" y="4745526"/>
            <a:ext cx="685800" cy="29154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ight Arrow 99"/>
          <p:cNvSpPr/>
          <p:nvPr/>
        </p:nvSpPr>
        <p:spPr>
          <a:xfrm>
            <a:off x="8057250" y="4568704"/>
            <a:ext cx="685800" cy="29154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BB6AD0-C239-3D03-7EA4-6972E9317735}"/>
              </a:ext>
            </a:extLst>
          </p:cNvPr>
          <p:cNvGrpSpPr/>
          <p:nvPr/>
        </p:nvGrpSpPr>
        <p:grpSpPr>
          <a:xfrm>
            <a:off x="4654982" y="3958196"/>
            <a:ext cx="2953695" cy="2008998"/>
            <a:chOff x="362056" y="3553097"/>
            <a:chExt cx="3534750" cy="239673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36F2547-DFAE-4344-1F73-29ED5DE1E692}"/>
                </a:ext>
              </a:extLst>
            </p:cNvPr>
            <p:cNvSpPr/>
            <p:nvPr/>
          </p:nvSpPr>
          <p:spPr>
            <a:xfrm>
              <a:off x="2050853" y="355309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44F767C-7149-DAC8-6269-18B26C58068F}"/>
                </a:ext>
              </a:extLst>
            </p:cNvPr>
            <p:cNvSpPr/>
            <p:nvPr/>
          </p:nvSpPr>
          <p:spPr>
            <a:xfrm>
              <a:off x="3302446" y="440823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8F0C93A-2A7A-3812-A08B-9434EF1B7EF8}"/>
                </a:ext>
              </a:extLst>
            </p:cNvPr>
            <p:cNvSpPr/>
            <p:nvPr/>
          </p:nvSpPr>
          <p:spPr>
            <a:xfrm>
              <a:off x="956416" y="4409130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82D51AF-D0C5-0454-2C75-34D60F52DD02}"/>
                </a:ext>
              </a:extLst>
            </p:cNvPr>
            <p:cNvSpPr/>
            <p:nvPr/>
          </p:nvSpPr>
          <p:spPr>
            <a:xfrm>
              <a:off x="362056" y="534991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B0197B5-F036-5B63-90E9-B8EE34AD45E0}"/>
                </a:ext>
              </a:extLst>
            </p:cNvPr>
            <p:cNvSpPr/>
            <p:nvPr/>
          </p:nvSpPr>
          <p:spPr>
            <a:xfrm>
              <a:off x="1550776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8A5186C-F9FE-1D5B-C1E4-F3B995BCB2FF}"/>
                </a:ext>
              </a:extLst>
            </p:cNvPr>
            <p:cNvSpPr/>
            <p:nvPr/>
          </p:nvSpPr>
          <p:spPr>
            <a:xfrm>
              <a:off x="2793001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40EDF58-9CF2-C5EA-7C00-8DD143723C1E}"/>
                </a:ext>
              </a:extLst>
            </p:cNvPr>
            <p:cNvCxnSpPr>
              <a:stCxn id="16" idx="3"/>
              <a:endCxn id="17" idx="0"/>
            </p:cNvCxnSpPr>
            <p:nvPr/>
          </p:nvCxnSpPr>
          <p:spPr>
            <a:xfrm flipH="1">
              <a:off x="659236" y="4916448"/>
              <a:ext cx="384222" cy="43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B444AEF-393B-D504-FAFD-C262C343CCBF}"/>
                </a:ext>
              </a:extLst>
            </p:cNvPr>
            <p:cNvCxnSpPr>
              <a:stCxn id="16" idx="5"/>
              <a:endCxn id="52" idx="0"/>
            </p:cNvCxnSpPr>
            <p:nvPr/>
          </p:nvCxnSpPr>
          <p:spPr>
            <a:xfrm>
              <a:off x="1463734" y="4916448"/>
              <a:ext cx="384222" cy="4390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EEE3E71-0DCD-4858-A3B7-BA9679D8E183}"/>
                </a:ext>
              </a:extLst>
            </p:cNvPr>
            <p:cNvCxnSpPr>
              <a:cxnSpLocks/>
              <a:stCxn id="15" idx="3"/>
              <a:endCxn id="53" idx="0"/>
            </p:cNvCxnSpPr>
            <p:nvPr/>
          </p:nvCxnSpPr>
          <p:spPr>
            <a:xfrm flipH="1">
              <a:off x="3090181" y="4915551"/>
              <a:ext cx="299307" cy="439923"/>
            </a:xfrm>
            <a:prstGeom prst="line">
              <a:avLst/>
            </a:prstGeom>
            <a:ln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1E0043-33C4-9651-A6F3-6ECB14ABF0AE}"/>
                </a:ext>
              </a:extLst>
            </p:cNvPr>
            <p:cNvCxnSpPr>
              <a:stCxn id="13" idx="3"/>
              <a:endCxn id="16" idx="7"/>
            </p:cNvCxnSpPr>
            <p:nvPr/>
          </p:nvCxnSpPr>
          <p:spPr>
            <a:xfrm flipH="1">
              <a:off x="1463734" y="4060415"/>
              <a:ext cx="674161" cy="43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CC99021-EB84-C33A-9861-E965381C4B3E}"/>
                </a:ext>
              </a:extLst>
            </p:cNvPr>
            <p:cNvCxnSpPr>
              <a:stCxn id="13" idx="5"/>
              <a:endCxn id="15" idx="1"/>
            </p:cNvCxnSpPr>
            <p:nvPr/>
          </p:nvCxnSpPr>
          <p:spPr>
            <a:xfrm>
              <a:off x="2558171" y="4060415"/>
              <a:ext cx="831317" cy="43486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61FEC47-8FC1-78D1-1896-379248AC8420}"/>
              </a:ext>
            </a:extLst>
          </p:cNvPr>
          <p:cNvGrpSpPr/>
          <p:nvPr/>
        </p:nvGrpSpPr>
        <p:grpSpPr>
          <a:xfrm>
            <a:off x="8587320" y="4062038"/>
            <a:ext cx="2953695" cy="2008998"/>
            <a:chOff x="362056" y="3553097"/>
            <a:chExt cx="3534750" cy="2396737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8C10D74-E919-F979-1D68-B841F246676E}"/>
                </a:ext>
              </a:extLst>
            </p:cNvPr>
            <p:cNvSpPr/>
            <p:nvPr/>
          </p:nvSpPr>
          <p:spPr>
            <a:xfrm>
              <a:off x="2050853" y="355309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84419D4-ED84-FD3B-21F8-5EC1965BC075}"/>
                </a:ext>
              </a:extLst>
            </p:cNvPr>
            <p:cNvSpPr/>
            <p:nvPr/>
          </p:nvSpPr>
          <p:spPr>
            <a:xfrm>
              <a:off x="3302446" y="440823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9D5C447-D8B0-4138-6104-AB57210B745F}"/>
                </a:ext>
              </a:extLst>
            </p:cNvPr>
            <p:cNvSpPr/>
            <p:nvPr/>
          </p:nvSpPr>
          <p:spPr>
            <a:xfrm>
              <a:off x="956416" y="4409130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45D6036-FEEA-0C5B-96F9-3AA399E2CCA4}"/>
                </a:ext>
              </a:extLst>
            </p:cNvPr>
            <p:cNvSpPr/>
            <p:nvPr/>
          </p:nvSpPr>
          <p:spPr>
            <a:xfrm>
              <a:off x="362056" y="534991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91F4A625-6027-F9CA-03D8-E9EE489FEF50}"/>
                </a:ext>
              </a:extLst>
            </p:cNvPr>
            <p:cNvSpPr/>
            <p:nvPr/>
          </p:nvSpPr>
          <p:spPr>
            <a:xfrm>
              <a:off x="1550776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C6E976D-57F1-8B41-1FCD-21861E8F6759}"/>
                </a:ext>
              </a:extLst>
            </p:cNvPr>
            <p:cNvSpPr/>
            <p:nvPr/>
          </p:nvSpPr>
          <p:spPr>
            <a:xfrm>
              <a:off x="2793001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5A506AE-509F-CB4A-2758-A802D13A1DF0}"/>
                </a:ext>
              </a:extLst>
            </p:cNvPr>
            <p:cNvCxnSpPr>
              <a:stCxn id="62" idx="3"/>
              <a:endCxn id="63" idx="0"/>
            </p:cNvCxnSpPr>
            <p:nvPr/>
          </p:nvCxnSpPr>
          <p:spPr>
            <a:xfrm flipH="1">
              <a:off x="659236" y="4916448"/>
              <a:ext cx="384222" cy="43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909422C-0E65-D6E4-D185-36335AB9AA73}"/>
                </a:ext>
              </a:extLst>
            </p:cNvPr>
            <p:cNvCxnSpPr>
              <a:stCxn id="62" idx="5"/>
              <a:endCxn id="103" idx="0"/>
            </p:cNvCxnSpPr>
            <p:nvPr/>
          </p:nvCxnSpPr>
          <p:spPr>
            <a:xfrm>
              <a:off x="1463734" y="4916448"/>
              <a:ext cx="384222" cy="4390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37CBEC6-6C22-C761-7D0F-9A33D52E7F0F}"/>
                </a:ext>
              </a:extLst>
            </p:cNvPr>
            <p:cNvCxnSpPr>
              <a:stCxn id="61" idx="3"/>
              <a:endCxn id="104" idx="0"/>
            </p:cNvCxnSpPr>
            <p:nvPr/>
          </p:nvCxnSpPr>
          <p:spPr>
            <a:xfrm flipH="1">
              <a:off x="3090181" y="4915551"/>
              <a:ext cx="299307" cy="439923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6C50BA5-C547-911A-0CFA-2D25344F3A63}"/>
                </a:ext>
              </a:extLst>
            </p:cNvPr>
            <p:cNvCxnSpPr>
              <a:stCxn id="60" idx="3"/>
              <a:endCxn id="62" idx="7"/>
            </p:cNvCxnSpPr>
            <p:nvPr/>
          </p:nvCxnSpPr>
          <p:spPr>
            <a:xfrm flipH="1">
              <a:off x="1463734" y="4060415"/>
              <a:ext cx="674161" cy="43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91A02F7-44F2-6FC1-D922-86A90C5AE2BF}"/>
                </a:ext>
              </a:extLst>
            </p:cNvPr>
            <p:cNvCxnSpPr>
              <a:stCxn id="60" idx="5"/>
              <a:endCxn id="61" idx="1"/>
            </p:cNvCxnSpPr>
            <p:nvPr/>
          </p:nvCxnSpPr>
          <p:spPr>
            <a:xfrm>
              <a:off x="2558171" y="4060415"/>
              <a:ext cx="831317" cy="43486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A7D88-332A-5F2C-E0E0-00A7B9B7154F}"/>
              </a:ext>
            </a:extLst>
          </p:cNvPr>
          <p:cNvGrpSpPr/>
          <p:nvPr/>
        </p:nvGrpSpPr>
        <p:grpSpPr>
          <a:xfrm>
            <a:off x="2814737" y="1423939"/>
            <a:ext cx="6728921" cy="1874404"/>
            <a:chOff x="2814737" y="1423939"/>
            <a:chExt cx="6728921" cy="1874404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197C93E4-C1F9-3255-11F4-776E3B1B06C6}"/>
                </a:ext>
              </a:extLst>
            </p:cNvPr>
            <p:cNvSpPr/>
            <p:nvPr/>
          </p:nvSpPr>
          <p:spPr>
            <a:xfrm>
              <a:off x="2814737" y="1423939"/>
              <a:ext cx="6728921" cy="1874404"/>
            </a:xfrm>
            <a:prstGeom prst="roundRect">
              <a:avLst/>
            </a:prstGeom>
            <a:solidFill>
              <a:srgbClr val="FFF7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hspace*{0.4cm}&#10;\begin{minipage}{8cm}&#10;\begin{algorithmic}&#10;\State \textbf{Step 1} If $H[r]$ is larger than its children, stop the\\&#10;       \hspace*{12.5mm}algorithm.&#10;\State \textbf{Step 2} Swap $H[r]$ with the larger child.&#10;\State \textbf{Step 3} Assign the index of the larger child to $r$.\\&#10;        \hspace*{12.5mm}Goto \textbf{Step 1}.&#10;\end{algorithmic}&#10;\end{minipage}&#10;\end{document} " title="IguanaTex Bitmap Display">
              <a:extLst>
                <a:ext uri="{FF2B5EF4-FFF2-40B4-BE49-F238E27FC236}">
                  <a16:creationId xmlns:a16="http://schemas.microsoft.com/office/drawing/2014/main" id="{CD00D67D-BE24-EB97-C00F-2B012FC86E6F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3731" y="1577490"/>
              <a:ext cx="6030933" cy="1599086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BCD1909-AE5C-9581-9D48-AA6DF46FA086}"/>
              </a:ext>
            </a:extLst>
          </p:cNvPr>
          <p:cNvGrpSpPr/>
          <p:nvPr/>
        </p:nvGrpSpPr>
        <p:grpSpPr>
          <a:xfrm>
            <a:off x="2094885" y="3188750"/>
            <a:ext cx="719852" cy="768864"/>
            <a:chOff x="8048286" y="1539319"/>
            <a:chExt cx="807722" cy="900273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4905D403-46BD-39ED-729F-FB0CFA58B5A1}"/>
                </a:ext>
              </a:extLst>
            </p:cNvPr>
            <p:cNvCxnSpPr>
              <a:cxnSpLocks/>
            </p:cNvCxnSpPr>
            <p:nvPr/>
          </p:nvCxnSpPr>
          <p:spPr>
            <a:xfrm>
              <a:off x="8434367" y="1939428"/>
              <a:ext cx="17780" cy="50016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C9E9F81E-1213-2483-F36A-1A22B0D55DBC}"/>
                    </a:ext>
                  </a:extLst>
                </p:cNvPr>
                <p:cNvSpPr txBox="1"/>
                <p:nvPr/>
              </p:nvSpPr>
              <p:spPr>
                <a:xfrm flipH="1">
                  <a:off x="8048286" y="1539319"/>
                  <a:ext cx="807722" cy="468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000">
                    <a:solidFill>
                      <a:srgbClr val="00B050"/>
                    </a:solidFill>
                    <a:latin typeface="Century Gothic" panose="020B0502020202020204" pitchFamily="34" charset="0"/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C9E9F81E-1213-2483-F36A-1A22B0D55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048286" y="1539319"/>
                  <a:ext cx="807722" cy="4684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030384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81481E-6 L 0.403 0.1039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43" y="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D41C-6182-7DDF-8F3B-05E937AD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Heaps – </a:t>
            </a:r>
            <a:r>
              <a:rPr lang="en-US" sz="4000" dirty="0" err="1">
                <a:solidFill>
                  <a:srgbClr val="0070C0"/>
                </a:solidFill>
              </a:rPr>
              <a:t>Heapify</a:t>
            </a:r>
            <a:r>
              <a:rPr lang="en-US" sz="4000" dirty="0">
                <a:solidFill>
                  <a:srgbClr val="0070C0"/>
                </a:solidFill>
              </a:rPr>
              <a:t> a Heap</a:t>
            </a:r>
            <a:endParaRPr lang="en-US" sz="3200" dirty="0"/>
          </a:p>
        </p:txBody>
      </p:sp>
      <p:sp>
        <p:nvSpPr>
          <p:cNvPr id="3" name="Content Placeholder 2 1">
            <a:extLst>
              <a:ext uri="{FF2B5EF4-FFF2-40B4-BE49-F238E27FC236}">
                <a16:creationId xmlns:a16="http://schemas.microsoft.com/office/drawing/2014/main" id="{8670A9B9-B220-5F98-D506-81B0E7C43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56068"/>
            <a:ext cx="6875429" cy="5266392"/>
          </a:xfrm>
        </p:spPr>
        <p:txBody>
          <a:bodyPr/>
          <a:lstStyle/>
          <a:p>
            <a:pPr marL="282575" indent="-282575">
              <a:lnSpc>
                <a:spcPts val="3200"/>
              </a:lnSpc>
            </a:pPr>
            <a:r>
              <a:rPr lang="en-US">
                <a:solidFill>
                  <a:srgbClr val="00B0F0"/>
                </a:solidFill>
              </a:rPr>
              <a:t>The </a:t>
            </a:r>
            <a:r>
              <a:rPr lang="en-US" err="1">
                <a:solidFill>
                  <a:srgbClr val="00B0F0"/>
                </a:solidFill>
              </a:rPr>
              <a:t>Heapify</a:t>
            </a:r>
            <a:r>
              <a:rPr lang="en-US">
                <a:solidFill>
                  <a:srgbClr val="00B0F0"/>
                </a:solidFill>
              </a:rPr>
              <a:t> Algorithm</a:t>
            </a:r>
            <a:r>
              <a:rPr lang="en-US"/>
              <a:t>  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8DE57-8E45-3186-1E04-14422BAC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67D5-BB1E-A345-B088-A203E30E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D1CDE-26B2-8983-E7D9-BC7FD9D7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11</a:t>
            </a:fld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EEF2998-CC93-A951-BEE0-177914359D6E}"/>
              </a:ext>
            </a:extLst>
          </p:cNvPr>
          <p:cNvGrpSpPr/>
          <p:nvPr/>
        </p:nvGrpSpPr>
        <p:grpSpPr>
          <a:xfrm>
            <a:off x="726721" y="1604059"/>
            <a:ext cx="5751900" cy="4274075"/>
            <a:chOff x="726721" y="1527857"/>
            <a:chExt cx="5751900" cy="42740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2008DAD-C0D9-1CDF-D866-312A1B2AAEDD}"/>
                </a:ext>
              </a:extLst>
            </p:cNvPr>
            <p:cNvSpPr/>
            <p:nvPr/>
          </p:nvSpPr>
          <p:spPr>
            <a:xfrm>
              <a:off x="726721" y="1527857"/>
              <a:ext cx="5751900" cy="4274075"/>
            </a:xfrm>
            <a:prstGeom prst="rect">
              <a:avLst/>
            </a:prstGeom>
            <a:solidFill>
              <a:srgbClr val="FFF7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 descr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hspace*{0.4cm}&#10;\begin{minipage}{8cm}&#10;\begin{algorithmic}&#10;\Procedure{Heapify}{$H[1..n],root,size$}&#10;\State $k\gets root,\,key\gets H[k]$&#10;\State $heap\gets$ \textbf{false}&#10;\While {\textbf{not} $heap$ \textbf{and} $2*k\le size$}&#10;     \State $j\gets 2*k$&#10;     \If {$j&lt;size$}  // there are two children&#10;        \If {$H[j]&lt;H[j+1]$}&#10;           \State $j\gets j+1$&#10;        \EndIf&#10;     \EndIf&#10;     \If {$key\ge H[j]$}&#10;       \State $heap\gets$ \textbf{true}&#10;     \Else&#10;       \State $H[k]\gets H[j],\,k\gets j$&#10;     \EndIf&#10;\EndWhile&#10;\State $H[k]\gets key$&#10;\EndProcedure&#10;\end{algorithmic}&#10;\end{minipage}&#10;\end{document} " title="IguanaTex Bitmap Display">
              <a:extLst>
                <a:ext uri="{FF2B5EF4-FFF2-40B4-BE49-F238E27FC236}">
                  <a16:creationId xmlns:a16="http://schemas.microsoft.com/office/drawing/2014/main" id="{9378801A-CC0A-8A3B-9AB9-3291F5226CC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268" y="1658089"/>
              <a:ext cx="5436952" cy="3897905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2CEF890-25F4-4F55-6127-8B084EFD2910}"/>
              </a:ext>
            </a:extLst>
          </p:cNvPr>
          <p:cNvGrpSpPr/>
          <p:nvPr/>
        </p:nvGrpSpPr>
        <p:grpSpPr>
          <a:xfrm>
            <a:off x="7649169" y="2424501"/>
            <a:ext cx="2953695" cy="2008998"/>
            <a:chOff x="362056" y="3553097"/>
            <a:chExt cx="3534750" cy="239673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3F76492-5022-B399-0CBE-5FD835AC1141}"/>
                </a:ext>
              </a:extLst>
            </p:cNvPr>
            <p:cNvSpPr/>
            <p:nvPr/>
          </p:nvSpPr>
          <p:spPr>
            <a:xfrm>
              <a:off x="2050853" y="355309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3312FA3-2007-B92D-BBE5-124EBAC4BC02}"/>
                </a:ext>
              </a:extLst>
            </p:cNvPr>
            <p:cNvSpPr/>
            <p:nvPr/>
          </p:nvSpPr>
          <p:spPr>
            <a:xfrm>
              <a:off x="3302446" y="440823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4BBCB90-022F-7CBA-E840-C026D6157A80}"/>
                </a:ext>
              </a:extLst>
            </p:cNvPr>
            <p:cNvSpPr/>
            <p:nvPr/>
          </p:nvSpPr>
          <p:spPr>
            <a:xfrm>
              <a:off x="956416" y="4409130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C47D865-5A30-39DA-2384-0ECC750C0097}"/>
                </a:ext>
              </a:extLst>
            </p:cNvPr>
            <p:cNvSpPr/>
            <p:nvPr/>
          </p:nvSpPr>
          <p:spPr>
            <a:xfrm>
              <a:off x="362056" y="534991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80461D-1DFF-7D3B-C9E2-B511F376BD56}"/>
                </a:ext>
              </a:extLst>
            </p:cNvPr>
            <p:cNvSpPr/>
            <p:nvPr/>
          </p:nvSpPr>
          <p:spPr>
            <a:xfrm>
              <a:off x="1550776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B9B7F6C-4934-CD5E-51B7-643CBBCCE720}"/>
                </a:ext>
              </a:extLst>
            </p:cNvPr>
            <p:cNvSpPr/>
            <p:nvPr/>
          </p:nvSpPr>
          <p:spPr>
            <a:xfrm>
              <a:off x="2793001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140E596-B8F0-EA59-5F82-79A3943EF9A2}"/>
                </a:ext>
              </a:extLst>
            </p:cNvPr>
            <p:cNvCxnSpPr>
              <a:stCxn id="10" idx="3"/>
              <a:endCxn id="11" idx="0"/>
            </p:cNvCxnSpPr>
            <p:nvPr/>
          </p:nvCxnSpPr>
          <p:spPr>
            <a:xfrm flipH="1">
              <a:off x="659236" y="4916448"/>
              <a:ext cx="384222" cy="43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9582908-18A5-048B-613F-ABEFF3E15102}"/>
                </a:ext>
              </a:extLst>
            </p:cNvPr>
            <p:cNvCxnSpPr>
              <a:stCxn id="10" idx="5"/>
              <a:endCxn id="12" idx="0"/>
            </p:cNvCxnSpPr>
            <p:nvPr/>
          </p:nvCxnSpPr>
          <p:spPr>
            <a:xfrm>
              <a:off x="1463734" y="4916448"/>
              <a:ext cx="384222" cy="4390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E52FEE4-D9E5-C678-B2F1-62FED5A188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4169" y="4960551"/>
              <a:ext cx="232565" cy="413104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433A27F-22EA-1111-5861-809AB90C33CE}"/>
                </a:ext>
              </a:extLst>
            </p:cNvPr>
            <p:cNvCxnSpPr>
              <a:stCxn id="8" idx="3"/>
              <a:endCxn id="10" idx="7"/>
            </p:cNvCxnSpPr>
            <p:nvPr/>
          </p:nvCxnSpPr>
          <p:spPr>
            <a:xfrm flipH="1">
              <a:off x="1463734" y="4060415"/>
              <a:ext cx="674161" cy="43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85920F7-B61E-9F5B-5005-A86B017BDBF7}"/>
                </a:ext>
              </a:extLst>
            </p:cNvPr>
            <p:cNvCxnSpPr>
              <a:stCxn id="8" idx="5"/>
              <a:endCxn id="9" idx="1"/>
            </p:cNvCxnSpPr>
            <p:nvPr/>
          </p:nvCxnSpPr>
          <p:spPr>
            <a:xfrm>
              <a:off x="2558171" y="4060415"/>
              <a:ext cx="831317" cy="43486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18D915C-B75B-7193-3BC5-B40CC507E0D4}"/>
              </a:ext>
            </a:extLst>
          </p:cNvPr>
          <p:cNvGrpSpPr/>
          <p:nvPr/>
        </p:nvGrpSpPr>
        <p:grpSpPr>
          <a:xfrm>
            <a:off x="9160316" y="1898884"/>
            <a:ext cx="280873" cy="525618"/>
            <a:chOff x="8228299" y="2483029"/>
            <a:chExt cx="315158" cy="615454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A5BF733-751F-D177-3068-40A6CF76AD15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8390352" y="2810864"/>
              <a:ext cx="4432" cy="28761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A2F226E-655D-E5D8-8890-315CC5D9226F}"/>
                    </a:ext>
                  </a:extLst>
                </p:cNvPr>
                <p:cNvSpPr txBox="1"/>
                <p:nvPr/>
              </p:nvSpPr>
              <p:spPr>
                <a:xfrm flipH="1">
                  <a:off x="8228299" y="2483029"/>
                  <a:ext cx="315158" cy="360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sz="1400">
                    <a:solidFill>
                      <a:srgbClr val="00B050"/>
                    </a:solidFill>
                    <a:latin typeface="Century Gothic" panose="020B0502020202020204" pitchFamily="34" charset="0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A2F226E-655D-E5D8-8890-315CC5D922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228299" y="2483029"/>
                  <a:ext cx="315158" cy="3603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36FCA36-5714-A333-3A8A-1FF2359DFFE3}"/>
              </a:ext>
            </a:extLst>
          </p:cNvPr>
          <p:cNvGrpSpPr/>
          <p:nvPr/>
        </p:nvGrpSpPr>
        <p:grpSpPr>
          <a:xfrm>
            <a:off x="8233781" y="2597240"/>
            <a:ext cx="280873" cy="525618"/>
            <a:chOff x="8228299" y="2483029"/>
            <a:chExt cx="315158" cy="61545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EB89A94-9AD1-971F-A87F-60E116E47C9A}"/>
                </a:ext>
              </a:extLst>
            </p:cNvPr>
            <p:cNvCxnSpPr>
              <a:cxnSpLocks/>
            </p:cNvCxnSpPr>
            <p:nvPr/>
          </p:nvCxnSpPr>
          <p:spPr>
            <a:xfrm>
              <a:off x="8390352" y="2810864"/>
              <a:ext cx="4432" cy="28761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7584821-829D-016E-9478-FB5168813CC7}"/>
                    </a:ext>
                  </a:extLst>
                </p:cNvPr>
                <p:cNvSpPr txBox="1"/>
                <p:nvPr/>
              </p:nvSpPr>
              <p:spPr>
                <a:xfrm flipH="1">
                  <a:off x="8228299" y="2483029"/>
                  <a:ext cx="315158" cy="360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n-US" sz="1400">
                    <a:solidFill>
                      <a:srgbClr val="00B050"/>
                    </a:solidFill>
                    <a:latin typeface="Century Gothic" panose="020B0502020202020204" pitchFamily="34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7584821-829D-016E-9478-FB5168813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228299" y="2483029"/>
                  <a:ext cx="315158" cy="360382"/>
                </a:xfrm>
                <a:prstGeom prst="rect">
                  <a:avLst/>
                </a:prstGeom>
                <a:blipFill>
                  <a:blip r:embed="rId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83E5698A-3DD8-1AFC-DD5A-E94988F80E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2900935"/>
                  </p:ext>
                </p:extLst>
              </p:nvPr>
            </p:nvGraphicFramePr>
            <p:xfrm>
              <a:off x="7323781" y="4806176"/>
              <a:ext cx="4023360" cy="102884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70560">
                      <a:extLst>
                        <a:ext uri="{9D8B030D-6E8A-4147-A177-3AD203B41FA5}">
                          <a16:colId xmlns:a16="http://schemas.microsoft.com/office/drawing/2014/main" val="281332523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1851235551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521380138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3646427918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3769760567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1854765694"/>
                        </a:ext>
                      </a:extLst>
                    </a:gridCol>
                  </a:tblGrid>
                  <a:tr h="3429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22792980"/>
                      </a:ext>
                    </a:extLst>
                  </a:tr>
                  <a:tr h="3429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73609673"/>
                      </a:ext>
                    </a:extLst>
                  </a:tr>
                  <a:tr h="342948"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33294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83E5698A-3DD8-1AFC-DD5A-E94988F80E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2900935"/>
                  </p:ext>
                </p:extLst>
              </p:nvPr>
            </p:nvGraphicFramePr>
            <p:xfrm>
              <a:off x="7323781" y="4806176"/>
              <a:ext cx="4023360" cy="102884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70560">
                      <a:extLst>
                        <a:ext uri="{9D8B030D-6E8A-4147-A177-3AD203B41FA5}">
                          <a16:colId xmlns:a16="http://schemas.microsoft.com/office/drawing/2014/main" val="281332523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1851235551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521380138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3646427918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3769760567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1854765694"/>
                        </a:ext>
                      </a:extLst>
                    </a:gridCol>
                  </a:tblGrid>
                  <a:tr h="3429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01818" t="-3509" r="-181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2792980"/>
                      </a:ext>
                    </a:extLst>
                  </a:tr>
                  <a:tr h="3429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Century Gothic" panose="020B0502020202020204" pitchFamily="34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73609673"/>
                      </a:ext>
                    </a:extLst>
                  </a:tr>
                  <a:tr h="342948"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33294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E99D04C4-D8C9-64F9-7AA6-CBA57DBB24CE}"/>
              </a:ext>
            </a:extLst>
          </p:cNvPr>
          <p:cNvSpPr txBox="1"/>
          <p:nvPr/>
        </p:nvSpPr>
        <p:spPr>
          <a:xfrm>
            <a:off x="8855710" y="2435955"/>
            <a:ext cx="325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400647-3A1B-7744-C451-E9F0184B3C7D}"/>
              </a:ext>
            </a:extLst>
          </p:cNvPr>
          <p:cNvSpPr txBox="1"/>
          <p:nvPr/>
        </p:nvSpPr>
        <p:spPr>
          <a:xfrm>
            <a:off x="7896720" y="3092385"/>
            <a:ext cx="325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D1F0CA-1B69-66BE-4E13-2442E6BFC38F}"/>
              </a:ext>
            </a:extLst>
          </p:cNvPr>
          <p:cNvSpPr txBox="1"/>
          <p:nvPr/>
        </p:nvSpPr>
        <p:spPr>
          <a:xfrm>
            <a:off x="10534035" y="3002795"/>
            <a:ext cx="325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D6ABF6-B25C-BDFD-AAA9-52CFE7623A20}"/>
              </a:ext>
            </a:extLst>
          </p:cNvPr>
          <p:cNvSpPr txBox="1"/>
          <p:nvPr/>
        </p:nvSpPr>
        <p:spPr>
          <a:xfrm>
            <a:off x="7492925" y="3806809"/>
            <a:ext cx="325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F7C59D-DAB6-637D-6490-A673BC56806F}"/>
              </a:ext>
            </a:extLst>
          </p:cNvPr>
          <p:cNvSpPr txBox="1"/>
          <p:nvPr/>
        </p:nvSpPr>
        <p:spPr>
          <a:xfrm>
            <a:off x="8492201" y="3800166"/>
            <a:ext cx="325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C2EB3B-DDBE-0285-632E-18F05BF82391}"/>
              </a:ext>
            </a:extLst>
          </p:cNvPr>
          <p:cNvSpPr txBox="1"/>
          <p:nvPr/>
        </p:nvSpPr>
        <p:spPr>
          <a:xfrm>
            <a:off x="10133221" y="3896834"/>
            <a:ext cx="325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C8819C2-83EA-6DFA-482F-6B2A8729ECD1}"/>
                  </a:ext>
                </a:extLst>
              </p:cNvPr>
              <p:cNvSpPr txBox="1"/>
              <p:nvPr/>
            </p:nvSpPr>
            <p:spPr>
              <a:xfrm>
                <a:off x="9831610" y="1888864"/>
                <a:ext cx="8118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200">
                    <a:latin typeface="Century Gothic" panose="020B0502020202020204" pitchFamily="34" charset="0"/>
                  </a:rPr>
                  <a:t> </a:t>
                </a:r>
                <a:r>
                  <a:rPr lang="en-US" sz="1200"/>
                  <a:t>1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𝑖𝑧𝑒</m:t>
                    </m:r>
                  </m:oMath>
                </a14:m>
                <a:r>
                  <a:rPr lang="en-US" sz="1200">
                    <a:latin typeface="Century Gothic" panose="020B0502020202020204" pitchFamily="34" charset="0"/>
                  </a:rPr>
                  <a:t> = 6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C8819C2-83EA-6DFA-482F-6B2A8729E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610" y="1888864"/>
                <a:ext cx="811803" cy="461665"/>
              </a:xfrm>
              <a:prstGeom prst="rect">
                <a:avLst/>
              </a:prstGeom>
              <a:blipFill>
                <a:blip r:embed="rId7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55F5BCC4-DEC2-6064-34EA-A4A3FBAE549D}"/>
              </a:ext>
            </a:extLst>
          </p:cNvPr>
          <p:cNvSpPr txBox="1"/>
          <p:nvPr/>
        </p:nvSpPr>
        <p:spPr>
          <a:xfrm>
            <a:off x="9180875" y="2519002"/>
            <a:ext cx="341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BB77D1-B1D9-CA76-4F71-7CCF44EA2095}"/>
              </a:ext>
            </a:extLst>
          </p:cNvPr>
          <p:cNvSpPr txBox="1"/>
          <p:nvPr/>
        </p:nvSpPr>
        <p:spPr>
          <a:xfrm>
            <a:off x="10177164" y="3251897"/>
            <a:ext cx="356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C3FBF0-4647-FEBF-29F2-8FB9AF1DDA1A}"/>
              </a:ext>
            </a:extLst>
          </p:cNvPr>
          <p:cNvSpPr txBox="1"/>
          <p:nvPr/>
        </p:nvSpPr>
        <p:spPr>
          <a:xfrm>
            <a:off x="9788462" y="4054127"/>
            <a:ext cx="28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BC7DAC-9432-F91C-EBA5-636BF3ED38F2}"/>
              </a:ext>
            </a:extLst>
          </p:cNvPr>
          <p:cNvSpPr txBox="1"/>
          <p:nvPr/>
        </p:nvSpPr>
        <p:spPr>
          <a:xfrm>
            <a:off x="10176734" y="3251262"/>
            <a:ext cx="356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A085E7-9DC9-952F-C744-EE0F04B84DF5}"/>
              </a:ext>
            </a:extLst>
          </p:cNvPr>
          <p:cNvSpPr txBox="1"/>
          <p:nvPr/>
        </p:nvSpPr>
        <p:spPr>
          <a:xfrm>
            <a:off x="10314500" y="1892851"/>
            <a:ext cx="28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960B27-5B8F-24F7-5456-D424D6DAEC4C}"/>
              </a:ext>
            </a:extLst>
          </p:cNvPr>
          <p:cNvSpPr txBox="1"/>
          <p:nvPr/>
        </p:nvSpPr>
        <p:spPr>
          <a:xfrm>
            <a:off x="9788462" y="4054670"/>
            <a:ext cx="28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9309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1.85185E-6 L 0.15599 0.0048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86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96296E-6 L -0.08503 -0.1041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58" y="-5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6 L 0.09505 0.10555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53" y="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99 0.00486 L 0.11549 0.12338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6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093 L 0.0349 -0.1169 " pathEditMode="relative" ptsTypes="AA">
                                      <p:cBhvr>
                                        <p:cTn id="2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7 0.10555 L 0.05495 0.220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4" y="5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0116 L -0.04414 0.3162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2" y="1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20" grpId="0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ontent Placeholder 2 2">
                <a:extLst>
                  <a:ext uri="{FF2B5EF4-FFF2-40B4-BE49-F238E27FC236}">
                    <a16:creationId xmlns:a16="http://schemas.microsoft.com/office/drawing/2014/main" id="{A4775226-D422-1A0E-D435-B2EF4AB409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633" y="1015968"/>
                <a:ext cx="5070555" cy="52568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400"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200"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2575" indent="-282575">
                  <a:lnSpc>
                    <a:spcPts val="3200"/>
                  </a:lnSpc>
                  <a:spcBef>
                    <a:spcPts val="0"/>
                  </a:spcBef>
                </a:pPr>
                <a:r>
                  <a:rPr lang="en-US" dirty="0">
                    <a:solidFill>
                      <a:srgbClr val="00B0F0"/>
                    </a:solidFill>
                  </a:rPr>
                  <a:t>Bottom-up heap Algorithm</a:t>
                </a:r>
              </a:p>
              <a:p>
                <a:pPr marL="556895" lvl="1" indent="-282575">
                  <a:lnSpc>
                    <a:spcPts val="3200"/>
                  </a:lnSpc>
                  <a:spcBef>
                    <a:spcPts val="0"/>
                  </a:spcBef>
                </a:pPr>
                <a:r>
                  <a:rPr lang="en-US" dirty="0"/>
                  <a:t>A heap is constructed by a </a:t>
                </a:r>
                <a:r>
                  <a:rPr lang="en-US" dirty="0">
                    <a:solidFill>
                      <a:srgbClr val="00B0F0"/>
                    </a:solidFill>
                  </a:rPr>
                  <a:t>bottom-up </a:t>
                </a:r>
                <a:r>
                  <a:rPr lang="en-US" dirty="0"/>
                  <a:t>heap construction algorithm.</a:t>
                </a:r>
              </a:p>
              <a:p>
                <a:pPr marL="556895" lvl="1" indent="-282575">
                  <a:lnSpc>
                    <a:spcPts val="3200"/>
                  </a:lnSpc>
                  <a:spcBef>
                    <a:spcPts val="0"/>
                  </a:spcBef>
                </a:pPr>
                <a:r>
                  <a:rPr lang="en-US" dirty="0"/>
                  <a:t>The algorithm </a:t>
                </a:r>
                <a:r>
                  <a:rPr lang="en-US" b="1" dirty="0" err="1"/>
                  <a:t>Heapifies</a:t>
                </a:r>
                <a:r>
                  <a:rPr lang="en-US" b="1" dirty="0"/>
                  <a:t> </a:t>
                </a:r>
                <a:r>
                  <a:rPr lang="en-US" dirty="0"/>
                  <a:t>the tree (fix the heap) at each parental node starting with the last parental node located at index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 in the heap array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0" name="Content Placeholder 2 2">
                <a:extLst>
                  <a:ext uri="{FF2B5EF4-FFF2-40B4-BE49-F238E27FC236}">
                    <a16:creationId xmlns:a16="http://schemas.microsoft.com/office/drawing/2014/main" id="{A4775226-D422-1A0E-D435-B2EF4AB40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33" y="1015968"/>
                <a:ext cx="5070555" cy="5256815"/>
              </a:xfrm>
              <a:prstGeom prst="rect">
                <a:avLst/>
              </a:prstGeom>
              <a:blipFill>
                <a:blip r:embed="rId4"/>
                <a:stretch>
                  <a:fillRect l="-1082" t="-812" r="-2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80ED41C-6182-7DDF-8F3B-05E937AD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Constructing A Heap</a:t>
            </a:r>
            <a:r>
              <a:rPr lang="en-US" sz="3200" dirty="0"/>
              <a:t> – </a:t>
            </a:r>
            <a:r>
              <a:rPr lang="en-US" sz="3200" dirty="0">
                <a:solidFill>
                  <a:srgbClr val="0070C0"/>
                </a:solidFill>
              </a:rPr>
              <a:t>the Algorithm</a:t>
            </a:r>
            <a:endParaRPr lang="en-US" sz="3200" dirty="0"/>
          </a:p>
        </p:txBody>
      </p:sp>
      <p:sp>
        <p:nvSpPr>
          <p:cNvPr id="3" name="Content Placeholder 2 1">
            <a:extLst>
              <a:ext uri="{FF2B5EF4-FFF2-40B4-BE49-F238E27FC236}">
                <a16:creationId xmlns:a16="http://schemas.microsoft.com/office/drawing/2014/main" id="{8670A9B9-B220-5F98-D506-81B0E7C43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9835" y="1015969"/>
            <a:ext cx="6194487" cy="4917898"/>
          </a:xfrm>
        </p:spPr>
        <p:txBody>
          <a:bodyPr/>
          <a:lstStyle/>
          <a:p>
            <a:pPr marL="282575" indent="-282575">
              <a:lnSpc>
                <a:spcPts val="3200"/>
              </a:lnSpc>
            </a:pPr>
            <a:r>
              <a:rPr lang="en-US">
                <a:solidFill>
                  <a:srgbClr val="00B0F0"/>
                </a:solidFill>
              </a:rPr>
              <a:t>The </a:t>
            </a:r>
            <a:r>
              <a:rPr lang="en-US" err="1">
                <a:solidFill>
                  <a:srgbClr val="00B0F0"/>
                </a:solidFill>
              </a:rPr>
              <a:t>Heapify</a:t>
            </a:r>
            <a:r>
              <a:rPr lang="en-US">
                <a:solidFill>
                  <a:srgbClr val="00B0F0"/>
                </a:solidFill>
              </a:rPr>
              <a:t> Algorithm</a:t>
            </a:r>
            <a:r>
              <a:rPr lang="en-US"/>
              <a:t>  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8DE57-8E45-3186-1E04-14422BAC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67D5-BB1E-A345-B088-A203E30E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D1CDE-26B2-8983-E7D9-BC7FD9D7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12</a:t>
            </a:fld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EEF2998-CC93-A951-BEE0-177914359D6E}"/>
              </a:ext>
            </a:extLst>
          </p:cNvPr>
          <p:cNvGrpSpPr/>
          <p:nvPr/>
        </p:nvGrpSpPr>
        <p:grpSpPr>
          <a:xfrm>
            <a:off x="5992422" y="1534055"/>
            <a:ext cx="5751900" cy="4274075"/>
            <a:chOff x="726721" y="1527857"/>
            <a:chExt cx="5751900" cy="42740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2008DAD-C0D9-1CDF-D866-312A1B2AAEDD}"/>
                </a:ext>
              </a:extLst>
            </p:cNvPr>
            <p:cNvSpPr/>
            <p:nvPr/>
          </p:nvSpPr>
          <p:spPr>
            <a:xfrm>
              <a:off x="726721" y="1527857"/>
              <a:ext cx="5751900" cy="4274075"/>
            </a:xfrm>
            <a:prstGeom prst="rect">
              <a:avLst/>
            </a:prstGeom>
            <a:solidFill>
              <a:srgbClr val="FFF7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 descr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hspace*{0.4cm}&#10;\begin{minipage}{8cm}&#10;\begin{algorithmic}&#10;\Procedure{Heapify}{$H[1..n],root,size$}&#10;\State $k\gets root,\,key\gets H[k]$&#10;\State $heap\gets$ \textbf{false}&#10;\While {\textbf{not} $heap$ \textbf{and} $2*k\le size$}&#10;     \State $j\gets 2*k$&#10;     \If {$j&lt;size$}  // there are two children&#10;        \If {$H[j]&lt;H[j+1]$}&#10;           \State $j\gets j+1$&#10;        \EndIf&#10;     \EndIf&#10;     \If {$key\ge H[j]$}&#10;       \State $heap\gets$ \textbf{true}&#10;     \Else&#10;       \State $H[k]\gets H[j],\,k\gets j$&#10;     \EndIf&#10;\EndWhile&#10;\State $H[k]\gets key$&#10;\EndProcedure&#10;\end{algorithmic}&#10;\end{minipage}&#10;\end{document} " title="IguanaTex Bitmap Display">
              <a:extLst>
                <a:ext uri="{FF2B5EF4-FFF2-40B4-BE49-F238E27FC236}">
                  <a16:creationId xmlns:a16="http://schemas.microsoft.com/office/drawing/2014/main" id="{9378801A-CC0A-8A3B-9AB9-3291F5226CC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268" y="1658089"/>
              <a:ext cx="5436952" cy="3897905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7F4841-B4F3-80F8-C3A0-F9EDFF11F7D7}"/>
              </a:ext>
            </a:extLst>
          </p:cNvPr>
          <p:cNvGrpSpPr/>
          <p:nvPr/>
        </p:nvGrpSpPr>
        <p:grpSpPr>
          <a:xfrm>
            <a:off x="932026" y="4898975"/>
            <a:ext cx="4542162" cy="1177763"/>
            <a:chOff x="820272" y="1750263"/>
            <a:chExt cx="4542162" cy="11777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452F1E2-1123-3F59-4FC0-6E092BBF821B}"/>
                </a:ext>
              </a:extLst>
            </p:cNvPr>
            <p:cNvSpPr/>
            <p:nvPr/>
          </p:nvSpPr>
          <p:spPr>
            <a:xfrm>
              <a:off x="820272" y="1750263"/>
              <a:ext cx="4542162" cy="1177763"/>
            </a:xfrm>
            <a:prstGeom prst="rect">
              <a:avLst/>
            </a:prstGeom>
            <a:solidFill>
              <a:srgbClr val="FFF7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hspace*{0.4cm}&#10;\begin{minipage}{8cm}&#10;\begin{algorithmic}&#10;\Procedure{HeapBottomUp}{$H[1..n]$}&#10;\For {$i\gets \lfloor n/2\rfloor$ \textbf{downto} 1}&#10;   \State \Call{Heapify}{$H,i,n$}&#10;\EndFor&#10;\EndProcedure&#10;\end{algorithmic}&#10;\end{minipage}&#10;\end{document} " title="IguanaTex Bitmap Display">
              <a:extLst>
                <a:ext uri="{FF2B5EF4-FFF2-40B4-BE49-F238E27FC236}">
                  <a16:creationId xmlns:a16="http://schemas.microsoft.com/office/drawing/2014/main" id="{6D5F75A3-B9E9-3CE6-CD62-6643B022225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7044" y="1911547"/>
              <a:ext cx="4341333" cy="862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5834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D41C-6182-7DDF-8F3B-05E937AD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Constructing A Heap – </a:t>
            </a:r>
            <a:r>
              <a:rPr lang="en-US" sz="3200" dirty="0">
                <a:solidFill>
                  <a:srgbClr val="0070C0"/>
                </a:solidFill>
              </a:rPr>
              <a:t>the efficiency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8DE57-8E45-3186-1E04-14422BAC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67D5-BB1E-A345-B088-A203E30E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D1CDE-26B2-8983-E7D9-BC7FD9D7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A5FBE78-0096-BD2F-3882-F932E013AA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1949" y="1024791"/>
                <a:ext cx="11382374" cy="5266392"/>
              </a:xfrm>
            </p:spPr>
            <p:txBody>
              <a:bodyPr>
                <a:normAutofit lnSpcReduction="10000"/>
              </a:bodyPr>
              <a:lstStyle/>
              <a:p>
                <a:pPr marL="282575" indent="-282575">
                  <a:lnSpc>
                    <a:spcPts val="3000"/>
                  </a:lnSpc>
                  <a:spcBef>
                    <a:spcPts val="600"/>
                  </a:spcBef>
                </a:pPr>
                <a:r>
                  <a:rPr lang="en-US"/>
                  <a:t>Each key on level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of the tree will travel to the leaf level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/>
                  <a:t> in the </a:t>
                </a:r>
                <a:r>
                  <a:rPr lang="en-US">
                    <a:solidFill>
                      <a:srgbClr val="00B0F0"/>
                    </a:solidFill>
                  </a:rPr>
                  <a:t>worst case </a:t>
                </a:r>
                <a:r>
                  <a:rPr lang="en-US"/>
                  <a:t>of the heap construction algorithm.</a:t>
                </a:r>
              </a:p>
              <a:p>
                <a:pPr marL="282575" indent="-282575">
                  <a:lnSpc>
                    <a:spcPts val="3000"/>
                  </a:lnSpc>
                  <a:spcBef>
                    <a:spcPts val="600"/>
                  </a:spcBef>
                </a:pPr>
                <a:r>
                  <a:rPr lang="en-US"/>
                  <a:t>Moving to the next level down requires </a:t>
                </a:r>
                <a:r>
                  <a:rPr lang="en-US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two comparisons</a:t>
                </a:r>
                <a:r>
                  <a:rPr lang="en-US"/>
                  <a:t> (one to find the larger child and the other to determine whether the exchange is required).</a:t>
                </a:r>
              </a:p>
              <a:p>
                <a:pPr marL="282575" indent="-282575">
                  <a:lnSpc>
                    <a:spcPts val="3000"/>
                  </a:lnSpc>
                  <a:spcBef>
                    <a:spcPts val="600"/>
                  </a:spcBef>
                </a:pPr>
                <a:r>
                  <a:rPr lang="en-US"/>
                  <a:t>The total number of key comparisons involving a key on level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will be</a:t>
                </a:r>
                <a:br>
                  <a:rPr lang="en-US"/>
                </a:b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marL="282575" indent="-282575">
                  <a:lnSpc>
                    <a:spcPts val="3000"/>
                  </a:lnSpc>
                  <a:spcBef>
                    <a:spcPts val="600"/>
                  </a:spcBef>
                  <a:spcAft>
                    <a:spcPts val="4200"/>
                  </a:spcAft>
                </a:pPr>
                <a:r>
                  <a:rPr lang="en-US"/>
                  <a:t>Since the number of keys at level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/>
                  <a:t>, then the total number of key comparisons in the </a:t>
                </a:r>
                <a:r>
                  <a:rPr lang="en-US">
                    <a:solidFill>
                      <a:srgbClr val="00B0F0"/>
                    </a:solidFill>
                  </a:rPr>
                  <a:t>worst case </a:t>
                </a:r>
                <a:r>
                  <a:rPr lang="en-US"/>
                  <a:t>for each key at level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will be</a:t>
                </a:r>
              </a:p>
              <a:p>
                <a:pPr marL="0" indent="0" algn="ctr">
                  <a:lnSpc>
                    <a:spcPts val="3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𝑤𝑜𝑟𝑠𝑡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/>
              </a:p>
              <a:p>
                <a:pPr marL="282575" indent="-282575">
                  <a:lnSpc>
                    <a:spcPct val="120000"/>
                  </a:lnSpc>
                </a:pPr>
                <a:r>
                  <a:rPr lang="en-US"/>
                  <a:t>Prove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𝑤𝑜𝑟𝑠𝑡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A5FBE78-0096-BD2F-3882-F932E013AA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49" y="1024791"/>
                <a:ext cx="11382374" cy="5266392"/>
              </a:xfrm>
              <a:blipFill>
                <a:blip r:embed="rId2"/>
                <a:stretch>
                  <a:fillRect l="-482" t="-926" r="-321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15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Constructing A Heap – </a:t>
            </a:r>
            <a:r>
              <a:rPr lang="en-US" sz="3200" dirty="0">
                <a:solidFill>
                  <a:srgbClr val="0070C0"/>
                </a:solidFill>
              </a:rPr>
              <a:t>example: {2, 9, 7, 6, 5, 8}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14</a:t>
            </a:fld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873761" y="2123440"/>
            <a:ext cx="2743200" cy="1917409"/>
            <a:chOff x="362056" y="3553097"/>
            <a:chExt cx="3534750" cy="2396737"/>
          </a:xfrm>
        </p:grpSpPr>
        <p:sp>
          <p:nvSpPr>
            <p:cNvPr id="12" name="Oval 11"/>
            <p:cNvSpPr/>
            <p:nvPr/>
          </p:nvSpPr>
          <p:spPr>
            <a:xfrm>
              <a:off x="2050853" y="355309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3302446" y="440823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956416" y="4409130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362056" y="534991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1550776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2793001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14" name="Straight Connector 13"/>
            <p:cNvCxnSpPr>
              <a:stCxn id="19" idx="3"/>
              <a:endCxn id="20" idx="0"/>
            </p:cNvCxnSpPr>
            <p:nvPr/>
          </p:nvCxnSpPr>
          <p:spPr>
            <a:xfrm flipH="1">
              <a:off x="659236" y="4916448"/>
              <a:ext cx="384222" cy="43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9" idx="5"/>
              <a:endCxn id="21" idx="0"/>
            </p:cNvCxnSpPr>
            <p:nvPr/>
          </p:nvCxnSpPr>
          <p:spPr>
            <a:xfrm>
              <a:off x="1463734" y="4916448"/>
              <a:ext cx="384222" cy="4390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18" idx="3"/>
              <a:endCxn id="22" idx="0"/>
            </p:cNvCxnSpPr>
            <p:nvPr/>
          </p:nvCxnSpPr>
          <p:spPr>
            <a:xfrm flipH="1">
              <a:off x="3090181" y="4915551"/>
              <a:ext cx="299307" cy="439923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12" idx="3"/>
              <a:endCxn id="19" idx="7"/>
            </p:cNvCxnSpPr>
            <p:nvPr/>
          </p:nvCxnSpPr>
          <p:spPr>
            <a:xfrm flipH="1">
              <a:off x="1463734" y="4060415"/>
              <a:ext cx="674161" cy="43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12" idx="5"/>
              <a:endCxn id="18" idx="1"/>
            </p:cNvCxnSpPr>
            <p:nvPr/>
          </p:nvCxnSpPr>
          <p:spPr>
            <a:xfrm>
              <a:off x="2558171" y="4060415"/>
              <a:ext cx="831317" cy="4348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525785" y="2123440"/>
            <a:ext cx="2743200" cy="1917409"/>
            <a:chOff x="362056" y="3553097"/>
            <a:chExt cx="3534750" cy="2396737"/>
          </a:xfrm>
        </p:grpSpPr>
        <p:sp>
          <p:nvSpPr>
            <p:cNvPr id="24" name="Oval 23"/>
            <p:cNvSpPr/>
            <p:nvPr/>
          </p:nvSpPr>
          <p:spPr>
            <a:xfrm>
              <a:off x="2050853" y="355309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3302446" y="440823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956416" y="4409130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362056" y="534991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1550776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2793001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31" name="Straight Connector 30"/>
            <p:cNvCxnSpPr>
              <a:stCxn id="26" idx="3"/>
              <a:endCxn id="27" idx="0"/>
            </p:cNvCxnSpPr>
            <p:nvPr/>
          </p:nvCxnSpPr>
          <p:spPr>
            <a:xfrm flipH="1">
              <a:off x="659236" y="4916448"/>
              <a:ext cx="384222" cy="43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26" idx="5"/>
              <a:endCxn id="29" idx="0"/>
            </p:cNvCxnSpPr>
            <p:nvPr/>
          </p:nvCxnSpPr>
          <p:spPr>
            <a:xfrm>
              <a:off x="1463734" y="4916448"/>
              <a:ext cx="384222" cy="4390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25" idx="3"/>
              <a:endCxn id="30" idx="0"/>
            </p:cNvCxnSpPr>
            <p:nvPr/>
          </p:nvCxnSpPr>
          <p:spPr>
            <a:xfrm flipH="1">
              <a:off x="3090181" y="4915551"/>
              <a:ext cx="299307" cy="4399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4" idx="3"/>
              <a:endCxn id="26" idx="7"/>
            </p:cNvCxnSpPr>
            <p:nvPr/>
          </p:nvCxnSpPr>
          <p:spPr>
            <a:xfrm flipH="1">
              <a:off x="1463734" y="4060415"/>
              <a:ext cx="674161" cy="43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24" idx="5"/>
              <a:endCxn id="25" idx="1"/>
            </p:cNvCxnSpPr>
            <p:nvPr/>
          </p:nvCxnSpPr>
          <p:spPr>
            <a:xfrm>
              <a:off x="2558171" y="4060415"/>
              <a:ext cx="831317" cy="4348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8177809" y="2123440"/>
            <a:ext cx="2743200" cy="1917409"/>
            <a:chOff x="362056" y="3553097"/>
            <a:chExt cx="3534750" cy="2396737"/>
          </a:xfrm>
        </p:grpSpPr>
        <p:sp>
          <p:nvSpPr>
            <p:cNvPr id="39" name="Oval 38"/>
            <p:cNvSpPr/>
            <p:nvPr/>
          </p:nvSpPr>
          <p:spPr>
            <a:xfrm>
              <a:off x="2050853" y="355309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3302446" y="440823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956416" y="4409130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362056" y="534991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1550776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2793001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47" name="Straight Connector 46"/>
            <p:cNvCxnSpPr>
              <a:stCxn id="42" idx="3"/>
              <a:endCxn id="43" idx="0"/>
            </p:cNvCxnSpPr>
            <p:nvPr/>
          </p:nvCxnSpPr>
          <p:spPr>
            <a:xfrm flipH="1">
              <a:off x="659236" y="4916448"/>
              <a:ext cx="384222" cy="433465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2" idx="5"/>
              <a:endCxn id="44" idx="0"/>
            </p:cNvCxnSpPr>
            <p:nvPr/>
          </p:nvCxnSpPr>
          <p:spPr>
            <a:xfrm>
              <a:off x="1463734" y="4916448"/>
              <a:ext cx="384222" cy="439026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40" idx="3"/>
              <a:endCxn id="45" idx="0"/>
            </p:cNvCxnSpPr>
            <p:nvPr/>
          </p:nvCxnSpPr>
          <p:spPr>
            <a:xfrm flipH="1">
              <a:off x="3090181" y="4915551"/>
              <a:ext cx="299307" cy="4399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9" idx="3"/>
              <a:endCxn id="42" idx="7"/>
            </p:cNvCxnSpPr>
            <p:nvPr/>
          </p:nvCxnSpPr>
          <p:spPr>
            <a:xfrm flipH="1">
              <a:off x="1463734" y="4060415"/>
              <a:ext cx="674161" cy="43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39" idx="5"/>
              <a:endCxn id="40" idx="1"/>
            </p:cNvCxnSpPr>
            <p:nvPr/>
          </p:nvCxnSpPr>
          <p:spPr>
            <a:xfrm>
              <a:off x="2558171" y="4060415"/>
              <a:ext cx="831317" cy="4348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/>
          <p:cNvGrpSpPr/>
          <p:nvPr/>
        </p:nvGrpSpPr>
        <p:grpSpPr>
          <a:xfrm>
            <a:off x="872877" y="4275753"/>
            <a:ext cx="2743200" cy="1917409"/>
            <a:chOff x="362056" y="3553097"/>
            <a:chExt cx="3534750" cy="2396737"/>
          </a:xfrm>
        </p:grpSpPr>
        <p:sp>
          <p:nvSpPr>
            <p:cNvPr id="65" name="Oval 64"/>
            <p:cNvSpPr/>
            <p:nvPr/>
          </p:nvSpPr>
          <p:spPr>
            <a:xfrm>
              <a:off x="2050853" y="355309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6" name="Oval 65"/>
            <p:cNvSpPr/>
            <p:nvPr/>
          </p:nvSpPr>
          <p:spPr>
            <a:xfrm>
              <a:off x="3302446" y="440823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7" name="Oval 66"/>
            <p:cNvSpPr/>
            <p:nvPr/>
          </p:nvSpPr>
          <p:spPr>
            <a:xfrm>
              <a:off x="956416" y="4409130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8" name="Oval 67"/>
            <p:cNvSpPr/>
            <p:nvPr/>
          </p:nvSpPr>
          <p:spPr>
            <a:xfrm>
              <a:off x="362056" y="534991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9" name="Oval 68"/>
            <p:cNvSpPr/>
            <p:nvPr/>
          </p:nvSpPr>
          <p:spPr>
            <a:xfrm>
              <a:off x="1550776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0" name="Oval 69"/>
            <p:cNvSpPr/>
            <p:nvPr/>
          </p:nvSpPr>
          <p:spPr>
            <a:xfrm>
              <a:off x="2793001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71" name="Straight Connector 70"/>
            <p:cNvCxnSpPr>
              <a:stCxn id="67" idx="3"/>
              <a:endCxn id="68" idx="0"/>
            </p:cNvCxnSpPr>
            <p:nvPr/>
          </p:nvCxnSpPr>
          <p:spPr>
            <a:xfrm flipH="1">
              <a:off x="659236" y="4916448"/>
              <a:ext cx="384222" cy="43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67" idx="5"/>
              <a:endCxn id="69" idx="0"/>
            </p:cNvCxnSpPr>
            <p:nvPr/>
          </p:nvCxnSpPr>
          <p:spPr>
            <a:xfrm>
              <a:off x="1463734" y="4916448"/>
              <a:ext cx="384222" cy="4390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66" idx="3"/>
              <a:endCxn id="70" idx="0"/>
            </p:cNvCxnSpPr>
            <p:nvPr/>
          </p:nvCxnSpPr>
          <p:spPr>
            <a:xfrm flipH="1">
              <a:off x="3090181" y="4915551"/>
              <a:ext cx="299307" cy="4399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65" idx="3"/>
              <a:endCxn id="67" idx="7"/>
            </p:cNvCxnSpPr>
            <p:nvPr/>
          </p:nvCxnSpPr>
          <p:spPr>
            <a:xfrm flipH="1">
              <a:off x="1463734" y="4060415"/>
              <a:ext cx="674161" cy="435757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65" idx="5"/>
              <a:endCxn id="66" idx="1"/>
            </p:cNvCxnSpPr>
            <p:nvPr/>
          </p:nvCxnSpPr>
          <p:spPr>
            <a:xfrm>
              <a:off x="2558171" y="4060415"/>
              <a:ext cx="831317" cy="43486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4524901" y="4275753"/>
            <a:ext cx="2743200" cy="1917409"/>
            <a:chOff x="362056" y="3553097"/>
            <a:chExt cx="3534750" cy="2396737"/>
          </a:xfrm>
        </p:grpSpPr>
        <p:sp>
          <p:nvSpPr>
            <p:cNvPr id="77" name="Oval 76"/>
            <p:cNvSpPr/>
            <p:nvPr/>
          </p:nvSpPr>
          <p:spPr>
            <a:xfrm>
              <a:off x="2050853" y="355309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8" name="Oval 77"/>
            <p:cNvSpPr/>
            <p:nvPr/>
          </p:nvSpPr>
          <p:spPr>
            <a:xfrm>
              <a:off x="3302446" y="440823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9" name="Oval 78"/>
            <p:cNvSpPr/>
            <p:nvPr/>
          </p:nvSpPr>
          <p:spPr>
            <a:xfrm>
              <a:off x="956416" y="4409130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0" name="Oval 79"/>
            <p:cNvSpPr/>
            <p:nvPr/>
          </p:nvSpPr>
          <p:spPr>
            <a:xfrm>
              <a:off x="362056" y="534991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1" name="Oval 80"/>
            <p:cNvSpPr/>
            <p:nvPr/>
          </p:nvSpPr>
          <p:spPr>
            <a:xfrm>
              <a:off x="1550776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2" name="Oval 81"/>
            <p:cNvSpPr/>
            <p:nvPr/>
          </p:nvSpPr>
          <p:spPr>
            <a:xfrm>
              <a:off x="2793001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83" name="Straight Connector 82"/>
            <p:cNvCxnSpPr>
              <a:stCxn id="79" idx="3"/>
              <a:endCxn id="80" idx="0"/>
            </p:cNvCxnSpPr>
            <p:nvPr/>
          </p:nvCxnSpPr>
          <p:spPr>
            <a:xfrm flipH="1">
              <a:off x="659236" y="4916448"/>
              <a:ext cx="384222" cy="433465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79" idx="5"/>
              <a:endCxn id="81" idx="0"/>
            </p:cNvCxnSpPr>
            <p:nvPr/>
          </p:nvCxnSpPr>
          <p:spPr>
            <a:xfrm>
              <a:off x="1463734" y="4916448"/>
              <a:ext cx="384222" cy="439026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78" idx="3"/>
              <a:endCxn id="82" idx="0"/>
            </p:cNvCxnSpPr>
            <p:nvPr/>
          </p:nvCxnSpPr>
          <p:spPr>
            <a:xfrm flipH="1">
              <a:off x="3090181" y="4915551"/>
              <a:ext cx="299307" cy="4399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77" idx="3"/>
              <a:endCxn id="79" idx="7"/>
            </p:cNvCxnSpPr>
            <p:nvPr/>
          </p:nvCxnSpPr>
          <p:spPr>
            <a:xfrm flipH="1">
              <a:off x="1463734" y="4060415"/>
              <a:ext cx="674161" cy="43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77" idx="5"/>
              <a:endCxn id="78" idx="1"/>
            </p:cNvCxnSpPr>
            <p:nvPr/>
          </p:nvCxnSpPr>
          <p:spPr>
            <a:xfrm>
              <a:off x="2558171" y="4060415"/>
              <a:ext cx="831317" cy="4348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8176925" y="4275753"/>
            <a:ext cx="2743200" cy="1917409"/>
            <a:chOff x="362056" y="3553097"/>
            <a:chExt cx="3534750" cy="2396737"/>
          </a:xfrm>
        </p:grpSpPr>
        <p:sp>
          <p:nvSpPr>
            <p:cNvPr id="89" name="Oval 88"/>
            <p:cNvSpPr/>
            <p:nvPr/>
          </p:nvSpPr>
          <p:spPr>
            <a:xfrm>
              <a:off x="2050853" y="3553097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0" name="Oval 89"/>
            <p:cNvSpPr/>
            <p:nvPr/>
          </p:nvSpPr>
          <p:spPr>
            <a:xfrm>
              <a:off x="3302446" y="440823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1" name="Oval 90"/>
            <p:cNvSpPr/>
            <p:nvPr/>
          </p:nvSpPr>
          <p:spPr>
            <a:xfrm>
              <a:off x="956416" y="4409130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92" name="Oval 91"/>
            <p:cNvSpPr/>
            <p:nvPr/>
          </p:nvSpPr>
          <p:spPr>
            <a:xfrm>
              <a:off x="362056" y="5349913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3" name="Oval 92"/>
            <p:cNvSpPr/>
            <p:nvPr/>
          </p:nvSpPr>
          <p:spPr>
            <a:xfrm>
              <a:off x="1550776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4" name="Oval 93"/>
            <p:cNvSpPr/>
            <p:nvPr/>
          </p:nvSpPr>
          <p:spPr>
            <a:xfrm>
              <a:off x="2793001" y="5355474"/>
              <a:ext cx="594360" cy="594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95" name="Straight Connector 94"/>
            <p:cNvCxnSpPr>
              <a:stCxn id="91" idx="3"/>
              <a:endCxn id="92" idx="0"/>
            </p:cNvCxnSpPr>
            <p:nvPr/>
          </p:nvCxnSpPr>
          <p:spPr>
            <a:xfrm flipH="1">
              <a:off x="659236" y="4916448"/>
              <a:ext cx="384222" cy="4334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>
              <a:stCxn id="91" idx="5"/>
              <a:endCxn id="93" idx="0"/>
            </p:cNvCxnSpPr>
            <p:nvPr/>
          </p:nvCxnSpPr>
          <p:spPr>
            <a:xfrm>
              <a:off x="1463734" y="4916448"/>
              <a:ext cx="384222" cy="4390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stCxn id="90" idx="3"/>
              <a:endCxn id="94" idx="0"/>
            </p:cNvCxnSpPr>
            <p:nvPr/>
          </p:nvCxnSpPr>
          <p:spPr>
            <a:xfrm flipH="1">
              <a:off x="3090181" y="4915551"/>
              <a:ext cx="299307" cy="4399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89" idx="3"/>
              <a:endCxn id="91" idx="7"/>
            </p:cNvCxnSpPr>
            <p:nvPr/>
          </p:nvCxnSpPr>
          <p:spPr>
            <a:xfrm flipH="1">
              <a:off x="1463734" y="4060415"/>
              <a:ext cx="674161" cy="4357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89" idx="5"/>
              <a:endCxn id="90" idx="1"/>
            </p:cNvCxnSpPr>
            <p:nvPr/>
          </p:nvCxnSpPr>
          <p:spPr>
            <a:xfrm>
              <a:off x="2558171" y="4060415"/>
              <a:ext cx="831317" cy="4348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ight Arrow 2"/>
          <p:cNvSpPr/>
          <p:nvPr/>
        </p:nvSpPr>
        <p:spPr>
          <a:xfrm>
            <a:off x="3886805" y="2772755"/>
            <a:ext cx="854720" cy="407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ight Arrow 99"/>
          <p:cNvSpPr/>
          <p:nvPr/>
        </p:nvSpPr>
        <p:spPr>
          <a:xfrm>
            <a:off x="7606280" y="2772755"/>
            <a:ext cx="854720" cy="407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Arrow 100"/>
          <p:cNvSpPr/>
          <p:nvPr/>
        </p:nvSpPr>
        <p:spPr>
          <a:xfrm>
            <a:off x="3853986" y="5038812"/>
            <a:ext cx="854720" cy="407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ight Arrow 101"/>
          <p:cNvSpPr/>
          <p:nvPr/>
        </p:nvSpPr>
        <p:spPr>
          <a:xfrm>
            <a:off x="7600172" y="5038812"/>
            <a:ext cx="854720" cy="407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45ED821-604C-4B17-779A-C0BBC41E0332}"/>
              </a:ext>
            </a:extLst>
          </p:cNvPr>
          <p:cNvGrpSpPr/>
          <p:nvPr/>
        </p:nvGrpSpPr>
        <p:grpSpPr>
          <a:xfrm>
            <a:off x="3236925" y="2043737"/>
            <a:ext cx="350055" cy="734185"/>
            <a:chOff x="8228299" y="2483029"/>
            <a:chExt cx="315158" cy="615454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E0CFBA7-6461-54A0-94B0-722F296BB68D}"/>
                </a:ext>
              </a:extLst>
            </p:cNvPr>
            <p:cNvCxnSpPr>
              <a:cxnSpLocks/>
            </p:cNvCxnSpPr>
            <p:nvPr/>
          </p:nvCxnSpPr>
          <p:spPr>
            <a:xfrm>
              <a:off x="8390352" y="2810864"/>
              <a:ext cx="4432" cy="28761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E6EB660-9645-DA2C-A64C-0D0853A35DAF}"/>
                    </a:ext>
                  </a:extLst>
                </p:cNvPr>
                <p:cNvSpPr txBox="1"/>
                <p:nvPr/>
              </p:nvSpPr>
              <p:spPr>
                <a:xfrm flipH="1">
                  <a:off x="8228299" y="2483029"/>
                  <a:ext cx="315158" cy="360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sz="1400" dirty="0">
                    <a:solidFill>
                      <a:srgbClr val="00B050"/>
                    </a:solidFill>
                    <a:latin typeface="Century Gothic" panose="020B0502020202020204" pitchFamily="34" charset="0"/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E6EB660-9645-DA2C-A64C-0D0853A35D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228299" y="2483029"/>
                  <a:ext cx="315158" cy="36038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B343BC5-3322-065D-1AD2-8CD3D8F242F5}"/>
              </a:ext>
            </a:extLst>
          </p:cNvPr>
          <p:cNvGrpSpPr/>
          <p:nvPr/>
        </p:nvGrpSpPr>
        <p:grpSpPr>
          <a:xfrm>
            <a:off x="8691066" y="2064763"/>
            <a:ext cx="350055" cy="734185"/>
            <a:chOff x="8228299" y="2483029"/>
            <a:chExt cx="315158" cy="615454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28B27A3-2CBD-2852-C6FB-B526FFCD50B0}"/>
                </a:ext>
              </a:extLst>
            </p:cNvPr>
            <p:cNvCxnSpPr>
              <a:cxnSpLocks/>
            </p:cNvCxnSpPr>
            <p:nvPr/>
          </p:nvCxnSpPr>
          <p:spPr>
            <a:xfrm>
              <a:off x="8390352" y="2810864"/>
              <a:ext cx="4432" cy="28761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F0A0287E-AFCF-73D8-555E-6ACEEF400EF2}"/>
                    </a:ext>
                  </a:extLst>
                </p:cNvPr>
                <p:cNvSpPr txBox="1"/>
                <p:nvPr/>
              </p:nvSpPr>
              <p:spPr>
                <a:xfrm flipH="1">
                  <a:off x="8228299" y="2483029"/>
                  <a:ext cx="315158" cy="360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sz="1400" dirty="0">
                    <a:solidFill>
                      <a:srgbClr val="00B050"/>
                    </a:solidFill>
                    <a:latin typeface="Century Gothic" panose="020B0502020202020204" pitchFamily="34" charset="0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F0A0287E-AFCF-73D8-555E-6ACEEF400E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228299" y="2483029"/>
                  <a:ext cx="315158" cy="36038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1253EBC-3B7B-3C33-E36E-6D9C56793134}"/>
              </a:ext>
            </a:extLst>
          </p:cNvPr>
          <p:cNvGrpSpPr/>
          <p:nvPr/>
        </p:nvGrpSpPr>
        <p:grpSpPr>
          <a:xfrm>
            <a:off x="2655983" y="4103931"/>
            <a:ext cx="772762" cy="429905"/>
            <a:chOff x="8317715" y="2772647"/>
            <a:chExt cx="695726" cy="360382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E438D767-DDA4-95FE-DB32-75B7C081FA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7715" y="2957323"/>
              <a:ext cx="346804" cy="11851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BA7E9D31-E162-B134-C5CD-A3010E347FCD}"/>
                    </a:ext>
                  </a:extLst>
                </p:cNvPr>
                <p:cNvSpPr txBox="1"/>
                <p:nvPr/>
              </p:nvSpPr>
              <p:spPr>
                <a:xfrm flipH="1">
                  <a:off x="8698283" y="2772647"/>
                  <a:ext cx="315158" cy="360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sz="1400">
                    <a:solidFill>
                      <a:srgbClr val="00B050"/>
                    </a:solidFill>
                    <a:latin typeface="Century Gothic" panose="020B0502020202020204" pitchFamily="34" charset="0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BA7E9D31-E162-B134-C5CD-A3010E347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698283" y="2772647"/>
                  <a:ext cx="315158" cy="36038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6AE9999-B25E-C489-431A-AF100BA87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682557"/>
              </p:ext>
            </p:extLst>
          </p:nvPr>
        </p:nvGraphicFramePr>
        <p:xfrm>
          <a:off x="2838027" y="1112302"/>
          <a:ext cx="651594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3378151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63356158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6016882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135156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3517590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2255784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21934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Index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935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628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8150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0" grpId="0" animBg="1"/>
      <p:bldP spid="101" grpId="0" animBg="1"/>
      <p:bldP spid="10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Heap Operations - </a:t>
            </a:r>
            <a:r>
              <a:rPr lang="en-US" sz="3200">
                <a:solidFill>
                  <a:srgbClr val="0070C0"/>
                </a:solidFill>
              </a:rPr>
              <a:t>Insertion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9680" y="1063162"/>
                <a:ext cx="11374642" cy="520962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ts val="3500"/>
                  </a:lnSpc>
                  <a:spcBef>
                    <a:spcPts val="0"/>
                  </a:spcBef>
                </a:pPr>
                <a:r>
                  <a:rPr lang="en-US" dirty="0"/>
                  <a:t>The insertion of a new key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into a heap is done as follows:</a:t>
                </a:r>
              </a:p>
              <a:p>
                <a:pPr marL="617220" lvl="1" indent="-342900">
                  <a:lnSpc>
                    <a:spcPts val="3500"/>
                  </a:lnSpc>
                  <a:buFont typeface="+mj-lt"/>
                  <a:buAutoNum type="arabicPeriod"/>
                </a:pPr>
                <a:r>
                  <a:rPr lang="en-US" dirty="0"/>
                  <a:t>Attach a new node with key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after the last leaf of the existing heap.</a:t>
                </a:r>
              </a:p>
              <a:p>
                <a:pPr marL="617220" lvl="1" indent="-342900">
                  <a:lnSpc>
                    <a:spcPts val="3500"/>
                  </a:lnSpc>
                  <a:buFont typeface="+mj-lt"/>
                  <a:buAutoNum type="arabicPeriod"/>
                </a:pPr>
                <a:r>
                  <a:rPr lang="en-US" dirty="0"/>
                  <a:t>Sift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up to its appropriate place in the new heap:</a:t>
                </a:r>
              </a:p>
              <a:p>
                <a:pPr marL="891540" lvl="2" indent="-342900">
                  <a:lnSpc>
                    <a:spcPts val="3500"/>
                  </a:lnSpc>
                  <a:buFont typeface="+mj-lt"/>
                  <a:buAutoNum type="alphaLcPeriod"/>
                </a:pPr>
                <a:r>
                  <a:rPr lang="en-US" dirty="0"/>
                  <a:t>Compare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with its parent’s key. If the parent is ≥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stop. Otherwise swap them and compare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with its new parent. </a:t>
                </a:r>
              </a:p>
              <a:p>
                <a:pPr marL="891540" lvl="2" indent="-342900">
                  <a:lnSpc>
                    <a:spcPts val="3500"/>
                  </a:lnSpc>
                  <a:buFont typeface="+mj-lt"/>
                  <a:buAutoNum type="alphaLcPeriod"/>
                </a:pPr>
                <a:r>
                  <a:rPr lang="en-US" dirty="0"/>
                  <a:t>Continue swapping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with its new parent</a:t>
                </a:r>
                <a:br>
                  <a:rPr lang="en-US" dirty="0"/>
                </a:br>
                <a:r>
                  <a:rPr lang="en-US" dirty="0"/>
                  <a:t>until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not greater than its last parent or it </a:t>
                </a:r>
                <a:br>
                  <a:rPr lang="en-US" dirty="0"/>
                </a:br>
                <a:r>
                  <a:rPr lang="en-US" dirty="0"/>
                  <a:t>reaches the root.</a:t>
                </a:r>
              </a:p>
              <a:p>
                <a:pPr>
                  <a:lnSpc>
                    <a:spcPts val="3500"/>
                  </a:lnSpc>
                </a:pPr>
                <a:r>
                  <a:rPr lang="en-US" dirty="0"/>
                  <a:t>The complexity of insertion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9680" y="1063162"/>
                <a:ext cx="11374642" cy="5209621"/>
              </a:xfrm>
              <a:blipFill>
                <a:blip r:embed="rId3"/>
                <a:stretch>
                  <a:fillRect l="-482" t="-234" r="-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EED357CF-B4FB-3460-5C2D-E15CBDA463D1}"/>
              </a:ext>
            </a:extLst>
          </p:cNvPr>
          <p:cNvGrpSpPr/>
          <p:nvPr/>
        </p:nvGrpSpPr>
        <p:grpSpPr>
          <a:xfrm>
            <a:off x="6839085" y="3192228"/>
            <a:ext cx="4746557" cy="3080556"/>
            <a:chOff x="7301310" y="3289354"/>
            <a:chExt cx="4746557" cy="308055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98E376B-9DA1-1303-1D90-153EC601430A}"/>
                </a:ext>
              </a:extLst>
            </p:cNvPr>
            <p:cNvSpPr/>
            <p:nvPr/>
          </p:nvSpPr>
          <p:spPr>
            <a:xfrm>
              <a:off x="7301310" y="3289354"/>
              <a:ext cx="4746557" cy="3080556"/>
            </a:xfrm>
            <a:prstGeom prst="roundRect">
              <a:avLst/>
            </a:prstGeom>
            <a:solidFill>
              <a:srgbClr val="FFF7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Picture 31" descr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hspace*{0.4cm}&#10;\begin{minipage}{8cm}&#10;\begin{algorithmic}&#10;\Procedure{HeapInsert}{$H[1..n],key$}&#10;   \State $n\gets n+1,\,H[n]\gets key$&#10;   \State $child\gets n$&#10;   \State $parent\gets child/2$&#10;   \While {$parent \ge 1$ \textbf{and}\\&#10;\hspace*{1cm}$H[parent] &lt; H[child]$}&#10;       \State \Call{Swap}{$H[parent], H[child]$}&#10;       \State $child\gets parent$&#10;       \State $parent\gets child/2$&#10;   \EndWhile&#10;\EndProcedure&#10;\end{algorithmic}&#10;\end{minipage}&#10;\end{document} " title="IguanaTex Bitmap Display">
              <a:extLst>
                <a:ext uri="{FF2B5EF4-FFF2-40B4-BE49-F238E27FC236}">
                  <a16:creationId xmlns:a16="http://schemas.microsoft.com/office/drawing/2014/main" id="{981D732D-FBEE-C16A-5D6F-158FE1B3C99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0782" y="3463992"/>
              <a:ext cx="4292571" cy="26834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32629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Heap Operations - </a:t>
            </a:r>
            <a:r>
              <a:rPr lang="en-US" sz="3200">
                <a:solidFill>
                  <a:srgbClr val="0070C0"/>
                </a:solidFill>
              </a:rPr>
              <a:t>Insertion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16</a:t>
            </a:fld>
            <a:endParaRPr lang="en-US"/>
          </a:p>
        </p:txBody>
      </p:sp>
      <p:sp>
        <p:nvSpPr>
          <p:cNvPr id="3" name="Right Arrow 2"/>
          <p:cNvSpPr/>
          <p:nvPr/>
        </p:nvSpPr>
        <p:spPr>
          <a:xfrm>
            <a:off x="3553719" y="2729069"/>
            <a:ext cx="685800" cy="29154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ight Arrow 99"/>
          <p:cNvSpPr/>
          <p:nvPr/>
        </p:nvSpPr>
        <p:spPr>
          <a:xfrm>
            <a:off x="7583430" y="2729069"/>
            <a:ext cx="685800" cy="29154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334875" y="2660313"/>
            <a:ext cx="3461612" cy="2008998"/>
            <a:chOff x="416523" y="1564144"/>
            <a:chExt cx="3461612" cy="2008998"/>
          </a:xfrm>
        </p:grpSpPr>
        <p:sp>
          <p:nvSpPr>
            <p:cNvPr id="12" name="Oval 11"/>
            <p:cNvSpPr/>
            <p:nvPr/>
          </p:nvSpPr>
          <p:spPr>
            <a:xfrm>
              <a:off x="1827709" y="1564144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2873561" y="2280938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913180" y="2281690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416523" y="3070275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1409837" y="3074936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2447860" y="3074936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14" name="Straight Connector 13"/>
            <p:cNvCxnSpPr>
              <a:stCxn id="19" idx="3"/>
              <a:endCxn id="20" idx="0"/>
            </p:cNvCxnSpPr>
            <p:nvPr/>
          </p:nvCxnSpPr>
          <p:spPr>
            <a:xfrm flipH="1">
              <a:off x="664851" y="2706935"/>
              <a:ext cx="321062" cy="363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9" idx="5"/>
              <a:endCxn id="21" idx="0"/>
            </p:cNvCxnSpPr>
            <p:nvPr/>
          </p:nvCxnSpPr>
          <p:spPr>
            <a:xfrm>
              <a:off x="1337103" y="2706935"/>
              <a:ext cx="321062" cy="368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18" idx="3"/>
              <a:endCxn id="22" idx="0"/>
            </p:cNvCxnSpPr>
            <p:nvPr/>
          </p:nvCxnSpPr>
          <p:spPr>
            <a:xfrm flipH="1">
              <a:off x="2696189" y="2706183"/>
              <a:ext cx="250106" cy="368753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12" idx="3"/>
              <a:endCxn id="19" idx="7"/>
            </p:cNvCxnSpPr>
            <p:nvPr/>
          </p:nvCxnSpPr>
          <p:spPr>
            <a:xfrm flipH="1">
              <a:off x="1337103" y="1989389"/>
              <a:ext cx="563340" cy="365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12" idx="5"/>
              <a:endCxn id="18" idx="1"/>
            </p:cNvCxnSpPr>
            <p:nvPr/>
          </p:nvCxnSpPr>
          <p:spPr>
            <a:xfrm>
              <a:off x="2251633" y="1989389"/>
              <a:ext cx="694662" cy="3645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/>
            <p:cNvSpPr/>
            <p:nvPr/>
          </p:nvSpPr>
          <p:spPr>
            <a:xfrm>
              <a:off x="3381478" y="3070275"/>
              <a:ext cx="496657" cy="498206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104" name="Straight Connector 103"/>
            <p:cNvCxnSpPr>
              <a:stCxn id="18" idx="5"/>
              <a:endCxn id="103" idx="0"/>
            </p:cNvCxnSpPr>
            <p:nvPr/>
          </p:nvCxnSpPr>
          <p:spPr>
            <a:xfrm>
              <a:off x="3297484" y="2706183"/>
              <a:ext cx="332323" cy="364092"/>
            </a:xfrm>
            <a:prstGeom prst="line">
              <a:avLst/>
            </a:prstGeom>
            <a:ln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>
            <a:off x="4251960" y="2663889"/>
            <a:ext cx="3461612" cy="2008998"/>
            <a:chOff x="416523" y="1564144"/>
            <a:chExt cx="3461612" cy="2008998"/>
          </a:xfrm>
        </p:grpSpPr>
        <p:sp>
          <p:nvSpPr>
            <p:cNvPr id="106" name="Oval 105"/>
            <p:cNvSpPr/>
            <p:nvPr/>
          </p:nvSpPr>
          <p:spPr>
            <a:xfrm>
              <a:off x="1827709" y="1564144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7" name="Oval 106"/>
            <p:cNvSpPr/>
            <p:nvPr/>
          </p:nvSpPr>
          <p:spPr>
            <a:xfrm>
              <a:off x="2873561" y="2280938"/>
              <a:ext cx="496657" cy="498206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08" name="Oval 107"/>
            <p:cNvSpPr/>
            <p:nvPr/>
          </p:nvSpPr>
          <p:spPr>
            <a:xfrm>
              <a:off x="913180" y="2281690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9" name="Oval 108"/>
            <p:cNvSpPr/>
            <p:nvPr/>
          </p:nvSpPr>
          <p:spPr>
            <a:xfrm>
              <a:off x="416523" y="3070275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0" name="Oval 109"/>
            <p:cNvSpPr/>
            <p:nvPr/>
          </p:nvSpPr>
          <p:spPr>
            <a:xfrm>
              <a:off x="1409837" y="3074936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2447860" y="3074936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112" name="Straight Connector 111"/>
            <p:cNvCxnSpPr>
              <a:stCxn id="108" idx="3"/>
              <a:endCxn id="109" idx="0"/>
            </p:cNvCxnSpPr>
            <p:nvPr/>
          </p:nvCxnSpPr>
          <p:spPr>
            <a:xfrm flipH="1">
              <a:off x="664851" y="2706935"/>
              <a:ext cx="321062" cy="363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>
              <a:stCxn id="108" idx="5"/>
              <a:endCxn id="110" idx="0"/>
            </p:cNvCxnSpPr>
            <p:nvPr/>
          </p:nvCxnSpPr>
          <p:spPr>
            <a:xfrm>
              <a:off x="1337103" y="2706935"/>
              <a:ext cx="321062" cy="368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>
              <a:stCxn id="107" idx="3"/>
              <a:endCxn id="111" idx="0"/>
            </p:cNvCxnSpPr>
            <p:nvPr/>
          </p:nvCxnSpPr>
          <p:spPr>
            <a:xfrm flipH="1">
              <a:off x="2696189" y="2706183"/>
              <a:ext cx="250106" cy="368753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>
              <a:stCxn id="106" idx="3"/>
              <a:endCxn id="108" idx="7"/>
            </p:cNvCxnSpPr>
            <p:nvPr/>
          </p:nvCxnSpPr>
          <p:spPr>
            <a:xfrm flipH="1">
              <a:off x="1337103" y="1989389"/>
              <a:ext cx="563340" cy="365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>
              <a:stCxn id="106" idx="5"/>
              <a:endCxn id="107" idx="1"/>
            </p:cNvCxnSpPr>
            <p:nvPr/>
          </p:nvCxnSpPr>
          <p:spPr>
            <a:xfrm>
              <a:off x="2251633" y="1989389"/>
              <a:ext cx="694662" cy="364509"/>
            </a:xfrm>
            <a:prstGeom prst="line">
              <a:avLst/>
            </a:prstGeom>
            <a:ln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/>
            <p:cNvSpPr/>
            <p:nvPr/>
          </p:nvSpPr>
          <p:spPr>
            <a:xfrm>
              <a:off x="3381478" y="3070275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118" name="Straight Connector 117"/>
            <p:cNvCxnSpPr>
              <a:stCxn id="107" idx="5"/>
              <a:endCxn id="117" idx="0"/>
            </p:cNvCxnSpPr>
            <p:nvPr/>
          </p:nvCxnSpPr>
          <p:spPr>
            <a:xfrm>
              <a:off x="3297484" y="2706183"/>
              <a:ext cx="332323" cy="36409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/>
          <p:cNvGrpSpPr/>
          <p:nvPr/>
        </p:nvGrpSpPr>
        <p:grpSpPr>
          <a:xfrm>
            <a:off x="8176538" y="2643087"/>
            <a:ext cx="3461612" cy="2008998"/>
            <a:chOff x="416523" y="1564144"/>
            <a:chExt cx="3461612" cy="2008998"/>
          </a:xfrm>
        </p:grpSpPr>
        <p:sp>
          <p:nvSpPr>
            <p:cNvPr id="120" name="Oval 119"/>
            <p:cNvSpPr/>
            <p:nvPr/>
          </p:nvSpPr>
          <p:spPr>
            <a:xfrm>
              <a:off x="1827709" y="1564144"/>
              <a:ext cx="496657" cy="498206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21" name="Oval 120"/>
            <p:cNvSpPr/>
            <p:nvPr/>
          </p:nvSpPr>
          <p:spPr>
            <a:xfrm>
              <a:off x="2873561" y="2280938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22" name="Oval 121"/>
            <p:cNvSpPr/>
            <p:nvPr/>
          </p:nvSpPr>
          <p:spPr>
            <a:xfrm>
              <a:off x="913180" y="2281690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3" name="Oval 122"/>
            <p:cNvSpPr/>
            <p:nvPr/>
          </p:nvSpPr>
          <p:spPr>
            <a:xfrm>
              <a:off x="416523" y="3070275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4" name="Oval 123"/>
            <p:cNvSpPr/>
            <p:nvPr/>
          </p:nvSpPr>
          <p:spPr>
            <a:xfrm>
              <a:off x="1409837" y="3074936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5" name="Oval 124"/>
            <p:cNvSpPr/>
            <p:nvPr/>
          </p:nvSpPr>
          <p:spPr>
            <a:xfrm>
              <a:off x="2447860" y="3074936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126" name="Straight Connector 125"/>
            <p:cNvCxnSpPr>
              <a:stCxn id="122" idx="3"/>
              <a:endCxn id="123" idx="0"/>
            </p:cNvCxnSpPr>
            <p:nvPr/>
          </p:nvCxnSpPr>
          <p:spPr>
            <a:xfrm flipH="1">
              <a:off x="664851" y="2706935"/>
              <a:ext cx="321062" cy="363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122" idx="5"/>
              <a:endCxn id="124" idx="0"/>
            </p:cNvCxnSpPr>
            <p:nvPr/>
          </p:nvCxnSpPr>
          <p:spPr>
            <a:xfrm>
              <a:off x="1337103" y="2706935"/>
              <a:ext cx="321062" cy="368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21" idx="3"/>
              <a:endCxn id="125" idx="0"/>
            </p:cNvCxnSpPr>
            <p:nvPr/>
          </p:nvCxnSpPr>
          <p:spPr>
            <a:xfrm flipH="1">
              <a:off x="2696189" y="2706183"/>
              <a:ext cx="250106" cy="368753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stCxn id="120" idx="3"/>
              <a:endCxn id="122" idx="7"/>
            </p:cNvCxnSpPr>
            <p:nvPr/>
          </p:nvCxnSpPr>
          <p:spPr>
            <a:xfrm flipH="1">
              <a:off x="1337103" y="1989389"/>
              <a:ext cx="563340" cy="365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120" idx="5"/>
              <a:endCxn id="121" idx="1"/>
            </p:cNvCxnSpPr>
            <p:nvPr/>
          </p:nvCxnSpPr>
          <p:spPr>
            <a:xfrm>
              <a:off x="2251633" y="1989389"/>
              <a:ext cx="694662" cy="364509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Oval 130"/>
            <p:cNvSpPr/>
            <p:nvPr/>
          </p:nvSpPr>
          <p:spPr>
            <a:xfrm>
              <a:off x="3381478" y="3070275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132" name="Straight Connector 131"/>
            <p:cNvCxnSpPr>
              <a:stCxn id="121" idx="5"/>
              <a:endCxn id="131" idx="0"/>
            </p:cNvCxnSpPr>
            <p:nvPr/>
          </p:nvCxnSpPr>
          <p:spPr>
            <a:xfrm>
              <a:off x="3297484" y="2706183"/>
              <a:ext cx="332323" cy="36409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469C89C-FE4F-AD54-1C0A-CB5D10367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1285995"/>
            <a:ext cx="6000640" cy="876112"/>
          </a:xfrm>
        </p:spPr>
        <p:txBody>
          <a:bodyPr>
            <a:normAutofit/>
          </a:bodyPr>
          <a:lstStyle/>
          <a:p>
            <a:pPr>
              <a:lnSpc>
                <a:spcPts val="3500"/>
              </a:lnSpc>
              <a:spcBef>
                <a:spcPts val="0"/>
              </a:spcBef>
            </a:pPr>
            <a:r>
              <a:rPr lang="en-US" dirty="0"/>
              <a:t>Insert the key 10 to the below heap. </a:t>
            </a:r>
          </a:p>
        </p:txBody>
      </p:sp>
    </p:spTree>
    <p:extLst>
      <p:ext uri="{BB962C8B-B14F-4D97-AF65-F5344CB8AC3E}">
        <p14:creationId xmlns:p14="http://schemas.microsoft.com/office/powerpoint/2010/main" val="11104737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773ED-9486-82B7-0D4B-57EC6161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Heap Operations – </a:t>
            </a:r>
            <a:r>
              <a:rPr lang="en-US" sz="3200">
                <a:solidFill>
                  <a:srgbClr val="0070C0"/>
                </a:solidFill>
              </a:rPr>
              <a:t>maximum Key Deletion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1C32C9-C45B-BE6B-E550-D8718D4E28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ts val="3500"/>
                  </a:lnSpc>
                  <a:spcBef>
                    <a:spcPts val="0"/>
                  </a:spcBef>
                </a:pPr>
                <a:r>
                  <a:rPr lang="en-US" dirty="0"/>
                  <a:t>How can we delete the maximum key (the root) from a heap?</a:t>
                </a:r>
              </a:p>
              <a:p>
                <a:pPr marL="731520" lvl="1" indent="-457200">
                  <a:lnSpc>
                    <a:spcPts val="35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US" dirty="0"/>
                  <a:t>Exchange the root’s key with the last key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of the heap.</a:t>
                </a:r>
              </a:p>
              <a:p>
                <a:pPr marL="731520" lvl="1" indent="-457200">
                  <a:lnSpc>
                    <a:spcPts val="35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US" dirty="0"/>
                  <a:t>Decrease the heap’s size by 1.</a:t>
                </a:r>
              </a:p>
              <a:p>
                <a:pPr marL="731520" lvl="1" indent="-457200">
                  <a:lnSpc>
                    <a:spcPts val="35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US" dirty="0" err="1">
                    <a:solidFill>
                      <a:srgbClr val="00B0F0"/>
                    </a:solidFill>
                  </a:rPr>
                  <a:t>Heapify</a:t>
                </a:r>
                <a:r>
                  <a:rPr lang="en-US" dirty="0"/>
                  <a:t> the smaller tree by sifting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down the tree </a:t>
                </a:r>
                <a:br>
                  <a:rPr lang="en-US" dirty="0"/>
                </a:br>
                <a:r>
                  <a:rPr lang="en-US" dirty="0"/>
                  <a:t>applying </a:t>
                </a:r>
                <a:r>
                  <a:rPr lang="en-US" cap="small" dirty="0" err="1"/>
                  <a:t>Heapify</a:t>
                </a:r>
                <a:r>
                  <a:rPr lang="en-US" dirty="0"/>
                  <a:t> algorithm.</a:t>
                </a:r>
              </a:p>
              <a:p>
                <a:pPr>
                  <a:spcBef>
                    <a:spcPts val="18600"/>
                  </a:spcBef>
                </a:pPr>
                <a:r>
                  <a:rPr lang="en-US" dirty="0"/>
                  <a:t>The complexity of Maximum Key Deletion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1C32C9-C45B-BE6B-E550-D8718D4E28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A2B48-4D23-C60F-C6A4-C4A484853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37F9C-50F2-4554-949E-8CBE403F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D3834-30DB-1F5F-ECC8-ED5D0C315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17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C7C19F-7554-87F6-71D6-EAFF64B8E61A}"/>
              </a:ext>
            </a:extLst>
          </p:cNvPr>
          <p:cNvGrpSpPr/>
          <p:nvPr/>
        </p:nvGrpSpPr>
        <p:grpSpPr>
          <a:xfrm>
            <a:off x="1134874" y="3570664"/>
            <a:ext cx="5999347" cy="1874404"/>
            <a:chOff x="2500399" y="3193153"/>
            <a:chExt cx="5999347" cy="187440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9E5823D-1D78-1904-628C-D5D88931262F}"/>
                </a:ext>
              </a:extLst>
            </p:cNvPr>
            <p:cNvSpPr/>
            <p:nvPr/>
          </p:nvSpPr>
          <p:spPr>
            <a:xfrm>
              <a:off x="2500399" y="3193153"/>
              <a:ext cx="5999347" cy="1874404"/>
            </a:xfrm>
            <a:prstGeom prst="roundRect">
              <a:avLst/>
            </a:prstGeom>
            <a:solidFill>
              <a:srgbClr val="FFF7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begin{algorithmic}[indLines=false]&#10;\Procedure{MaxKeyDelete}{$H[1..n],size$}&#10;  \LComment{Exchange root with last key K}&#10;  \State \Call{Swap}{$H[1], H[size]$}&#10;  \State $size\gets size-1$&#10;  \State \Call{Heapify}{$H, 1, size$}&#10;\EndProcedure&#10;\end{algorithmic}&#10;\end{document} " title="IguanaTex Bitmap Display">
              <a:extLst>
                <a:ext uri="{FF2B5EF4-FFF2-40B4-BE49-F238E27FC236}">
                  <a16:creationId xmlns:a16="http://schemas.microsoft.com/office/drawing/2014/main" id="{B532B9E3-E265-0A6A-5299-9FAFE1EA313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9394" y="3346705"/>
              <a:ext cx="5382247" cy="1630934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52E4485-48D3-658C-30DB-728D3FFF27E2}"/>
              </a:ext>
            </a:extLst>
          </p:cNvPr>
          <p:cNvGrpSpPr/>
          <p:nvPr/>
        </p:nvGrpSpPr>
        <p:grpSpPr>
          <a:xfrm rot="20132494">
            <a:off x="10253991" y="1793588"/>
            <a:ext cx="839961" cy="1163587"/>
            <a:chOff x="9094355" y="5158873"/>
            <a:chExt cx="839961" cy="116358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8D84D776-0391-536A-E4A5-AF47800D72C9}"/>
                </a:ext>
              </a:extLst>
            </p:cNvPr>
            <p:cNvCxnSpPr>
              <a:cxnSpLocks/>
            </p:cNvCxnSpPr>
            <p:nvPr/>
          </p:nvCxnSpPr>
          <p:spPr>
            <a:xfrm>
              <a:off x="9419867" y="5915874"/>
              <a:ext cx="0" cy="40658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9488CF1-3616-3381-3215-F96D3DDBEC48}"/>
                </a:ext>
              </a:extLst>
            </p:cNvPr>
            <p:cNvSpPr txBox="1"/>
            <p:nvPr/>
          </p:nvSpPr>
          <p:spPr>
            <a:xfrm flipH="1">
              <a:off x="9094355" y="5550749"/>
              <a:ext cx="8399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0B050"/>
                  </a:solidFill>
                  <a:latin typeface="Century Gothic" panose="020B0502020202020204" pitchFamily="34" charset="0"/>
                </a:rPr>
                <a:t>swap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9C972763-33CB-C4DE-D4A8-E5180A2F0E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9867" y="5158873"/>
              <a:ext cx="0" cy="44922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F53F86E-6CB2-A873-3E25-A5E27A1A8DE1}"/>
              </a:ext>
            </a:extLst>
          </p:cNvPr>
          <p:cNvGrpSpPr/>
          <p:nvPr/>
        </p:nvGrpSpPr>
        <p:grpSpPr>
          <a:xfrm>
            <a:off x="8462903" y="964075"/>
            <a:ext cx="3366498" cy="2441873"/>
            <a:chOff x="7383234" y="2893909"/>
            <a:chExt cx="3366498" cy="2441873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2E151B0-5736-DD98-ECCF-6B750899786E}"/>
                </a:ext>
              </a:extLst>
            </p:cNvPr>
            <p:cNvGrpSpPr/>
            <p:nvPr/>
          </p:nvGrpSpPr>
          <p:grpSpPr>
            <a:xfrm>
              <a:off x="7383234" y="3326783"/>
              <a:ext cx="3366498" cy="2008999"/>
              <a:chOff x="8128037" y="2817632"/>
              <a:chExt cx="3366498" cy="2008999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DDDB908D-2A4E-41F4-F141-11CCB64854E6}"/>
                  </a:ext>
                </a:extLst>
              </p:cNvPr>
              <p:cNvGrpSpPr/>
              <p:nvPr/>
            </p:nvGrpSpPr>
            <p:grpSpPr>
              <a:xfrm>
                <a:off x="8284281" y="2817632"/>
                <a:ext cx="2953695" cy="2008999"/>
                <a:chOff x="362056" y="3553093"/>
                <a:chExt cx="3534753" cy="2396736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4C658140-053A-CE94-B8C4-E825F9A62740}"/>
                    </a:ext>
                  </a:extLst>
                </p:cNvPr>
                <p:cNvSpPr/>
                <p:nvPr/>
              </p:nvSpPr>
              <p:spPr>
                <a:xfrm>
                  <a:off x="2050854" y="3553093"/>
                  <a:ext cx="594361" cy="59436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E6C367E-7019-1D23-EE13-7600EAAC864D}"/>
                    </a:ext>
                  </a:extLst>
                </p:cNvPr>
                <p:cNvSpPr/>
                <p:nvPr/>
              </p:nvSpPr>
              <p:spPr>
                <a:xfrm>
                  <a:off x="3302448" y="4408228"/>
                  <a:ext cx="594361" cy="59436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FBE9B80-34E2-3B3F-1DA4-3FC72AF0131D}"/>
                    </a:ext>
                  </a:extLst>
                </p:cNvPr>
                <p:cNvSpPr/>
                <p:nvPr/>
              </p:nvSpPr>
              <p:spPr>
                <a:xfrm>
                  <a:off x="956417" y="4409125"/>
                  <a:ext cx="594361" cy="59436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B839CCC-DC58-9AB0-0A5B-5A5B68062D04}"/>
                    </a:ext>
                  </a:extLst>
                </p:cNvPr>
                <p:cNvSpPr/>
                <p:nvPr/>
              </p:nvSpPr>
              <p:spPr>
                <a:xfrm>
                  <a:off x="362056" y="5349907"/>
                  <a:ext cx="594360" cy="59436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973615A7-52FB-4A52-782B-DFDD3C7DCBC1}"/>
                    </a:ext>
                  </a:extLst>
                </p:cNvPr>
                <p:cNvSpPr/>
                <p:nvPr/>
              </p:nvSpPr>
              <p:spPr>
                <a:xfrm>
                  <a:off x="1550777" y="5355468"/>
                  <a:ext cx="594360" cy="59436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BCC26157-82CB-E441-22D5-A04833A0BBEE}"/>
                    </a:ext>
                  </a:extLst>
                </p:cNvPr>
                <p:cNvSpPr/>
                <p:nvPr/>
              </p:nvSpPr>
              <p:spPr>
                <a:xfrm>
                  <a:off x="2793002" y="5355469"/>
                  <a:ext cx="594360" cy="59436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E64D0045-05C2-D4E4-6DD4-1A82F9AEDD90}"/>
                    </a:ext>
                  </a:extLst>
                </p:cNvPr>
                <p:cNvCxnSpPr>
                  <a:stCxn id="49" idx="3"/>
                  <a:endCxn id="50" idx="0"/>
                </p:cNvCxnSpPr>
                <p:nvPr/>
              </p:nvCxnSpPr>
              <p:spPr>
                <a:xfrm flipH="1">
                  <a:off x="659236" y="4916444"/>
                  <a:ext cx="384222" cy="43346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24590E39-AB5A-66B3-DA87-B53E3B8A961D}"/>
                    </a:ext>
                  </a:extLst>
                </p:cNvPr>
                <p:cNvCxnSpPr>
                  <a:stCxn id="49" idx="5"/>
                  <a:endCxn id="51" idx="0"/>
                </p:cNvCxnSpPr>
                <p:nvPr/>
              </p:nvCxnSpPr>
              <p:spPr>
                <a:xfrm>
                  <a:off x="1463735" y="4916444"/>
                  <a:ext cx="384222" cy="43902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668CFB4-446E-AFB4-F3DA-2D3B4D5E7A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04171" y="4960548"/>
                  <a:ext cx="232565" cy="41310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6D944C9-C241-92DC-5F8D-7E100BE00B87}"/>
                    </a:ext>
                  </a:extLst>
                </p:cNvPr>
                <p:cNvCxnSpPr>
                  <a:stCxn id="47" idx="3"/>
                  <a:endCxn id="49" idx="7"/>
                </p:cNvCxnSpPr>
                <p:nvPr/>
              </p:nvCxnSpPr>
              <p:spPr>
                <a:xfrm flipH="1">
                  <a:off x="1463734" y="4060417"/>
                  <a:ext cx="674161" cy="4357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1AE1CC59-D6E6-870A-BF3D-CF0F1D09BD64}"/>
                    </a:ext>
                  </a:extLst>
                </p:cNvPr>
                <p:cNvCxnSpPr>
                  <a:stCxn id="47" idx="5"/>
                  <a:endCxn id="48" idx="1"/>
                </p:cNvCxnSpPr>
                <p:nvPr/>
              </p:nvCxnSpPr>
              <p:spPr>
                <a:xfrm>
                  <a:off x="2558171" y="4060415"/>
                  <a:ext cx="831317" cy="43486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F1BEA2E-10CF-B625-CD7D-5D0EBCF5252A}"/>
                  </a:ext>
                </a:extLst>
              </p:cNvPr>
              <p:cNvSpPr txBox="1"/>
              <p:nvPr/>
            </p:nvSpPr>
            <p:spPr>
              <a:xfrm>
                <a:off x="9490822" y="2829086"/>
                <a:ext cx="3253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72A01C2-6057-4FFD-24F9-9B39D8834065}"/>
                  </a:ext>
                </a:extLst>
              </p:cNvPr>
              <p:cNvSpPr txBox="1"/>
              <p:nvPr/>
            </p:nvSpPr>
            <p:spPr>
              <a:xfrm>
                <a:off x="8531832" y="3485516"/>
                <a:ext cx="3253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DA286CA-B598-29C6-A936-C71BC290707C}"/>
                  </a:ext>
                </a:extLst>
              </p:cNvPr>
              <p:cNvSpPr txBox="1"/>
              <p:nvPr/>
            </p:nvSpPr>
            <p:spPr>
              <a:xfrm>
                <a:off x="11169147" y="3395926"/>
                <a:ext cx="3253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899FDC8-68E1-A205-39A6-52CAC3CFCC66}"/>
                  </a:ext>
                </a:extLst>
              </p:cNvPr>
              <p:cNvSpPr txBox="1"/>
              <p:nvPr/>
            </p:nvSpPr>
            <p:spPr>
              <a:xfrm>
                <a:off x="8128037" y="4199940"/>
                <a:ext cx="3253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5A9F90F-B175-3A2F-9425-610F9D2FC078}"/>
                  </a:ext>
                </a:extLst>
              </p:cNvPr>
              <p:cNvSpPr txBox="1"/>
              <p:nvPr/>
            </p:nvSpPr>
            <p:spPr>
              <a:xfrm>
                <a:off x="9127313" y="4193297"/>
                <a:ext cx="3253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5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69D170D-98D1-E837-0456-482565853EF4}"/>
                  </a:ext>
                </a:extLst>
              </p:cNvPr>
              <p:cNvSpPr txBox="1"/>
              <p:nvPr/>
            </p:nvSpPr>
            <p:spPr>
              <a:xfrm>
                <a:off x="10768333" y="4289965"/>
                <a:ext cx="3253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6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5374F345-CAF5-9D48-E0AA-ED01E63EFB10}"/>
                </a:ext>
              </a:extLst>
            </p:cNvPr>
            <p:cNvGrpSpPr/>
            <p:nvPr/>
          </p:nvGrpSpPr>
          <p:grpSpPr>
            <a:xfrm>
              <a:off x="9198992" y="2893909"/>
              <a:ext cx="1459055" cy="505837"/>
              <a:chOff x="8394211" y="2595862"/>
              <a:chExt cx="1637156" cy="592293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8680D301-C289-9730-A2AB-5399C7FB92EE}"/>
                  </a:ext>
                </a:extLst>
              </p:cNvPr>
              <p:cNvCxnSpPr>
                <a:cxnSpLocks/>
                <a:endCxn id="47" idx="7"/>
              </p:cNvCxnSpPr>
              <p:nvPr/>
            </p:nvCxnSpPr>
            <p:spPr>
              <a:xfrm flipH="1">
                <a:off x="8591240" y="2930931"/>
                <a:ext cx="311238" cy="257224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A20F186-6895-EEB0-476D-62E29F735F01}"/>
                  </a:ext>
                </a:extLst>
              </p:cNvPr>
              <p:cNvSpPr txBox="1"/>
              <p:nvPr/>
            </p:nvSpPr>
            <p:spPr>
              <a:xfrm flipH="1">
                <a:off x="8394211" y="2595862"/>
                <a:ext cx="1637156" cy="368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0B050"/>
                    </a:solidFill>
                    <a:latin typeface="Century Gothic" panose="020B0502020202020204" pitchFamily="34" charset="0"/>
                  </a:rPr>
                  <a:t>Maximum Key</a:t>
                </a:r>
              </a:p>
            </p:txBody>
          </p:sp>
        </p:grp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9A23D27-0667-E573-183A-7706CCA21425}"/>
              </a:ext>
            </a:extLst>
          </p:cNvPr>
          <p:cNvCxnSpPr>
            <a:cxnSpLocks/>
            <a:endCxn id="69" idx="2"/>
          </p:cNvCxnSpPr>
          <p:nvPr/>
        </p:nvCxnSpPr>
        <p:spPr>
          <a:xfrm flipV="1">
            <a:off x="10512421" y="3146281"/>
            <a:ext cx="753472" cy="1545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D9582CA-9DE9-24F8-AA0E-A4047CC30B99}"/>
              </a:ext>
            </a:extLst>
          </p:cNvPr>
          <p:cNvGrpSpPr/>
          <p:nvPr/>
        </p:nvGrpSpPr>
        <p:grpSpPr>
          <a:xfrm>
            <a:off x="8533524" y="4242338"/>
            <a:ext cx="3366498" cy="2008998"/>
            <a:chOff x="8128037" y="2817632"/>
            <a:chExt cx="3366498" cy="2008998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980AC615-FA14-82D5-640F-B540884843A6}"/>
                </a:ext>
              </a:extLst>
            </p:cNvPr>
            <p:cNvGrpSpPr/>
            <p:nvPr/>
          </p:nvGrpSpPr>
          <p:grpSpPr>
            <a:xfrm>
              <a:off x="8284281" y="2817632"/>
              <a:ext cx="2953695" cy="2008998"/>
              <a:chOff x="362056" y="3553093"/>
              <a:chExt cx="3534753" cy="2396735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849186B0-DF66-3BF2-13DA-286A2A5FA2BF}"/>
                  </a:ext>
                </a:extLst>
              </p:cNvPr>
              <p:cNvSpPr/>
              <p:nvPr/>
            </p:nvSpPr>
            <p:spPr>
              <a:xfrm>
                <a:off x="2050854" y="3553093"/>
                <a:ext cx="594361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A23BF284-C806-F500-117F-04728AA3A873}"/>
                  </a:ext>
                </a:extLst>
              </p:cNvPr>
              <p:cNvSpPr/>
              <p:nvPr/>
            </p:nvSpPr>
            <p:spPr>
              <a:xfrm>
                <a:off x="3302448" y="4408228"/>
                <a:ext cx="594361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5304693B-FCEA-25B2-FBD5-C3D4073693B6}"/>
                  </a:ext>
                </a:extLst>
              </p:cNvPr>
              <p:cNvSpPr/>
              <p:nvPr/>
            </p:nvSpPr>
            <p:spPr>
              <a:xfrm>
                <a:off x="956417" y="4409125"/>
                <a:ext cx="594361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B993D1A8-767A-FDCF-220A-B6D12A48274F}"/>
                  </a:ext>
                </a:extLst>
              </p:cNvPr>
              <p:cNvSpPr/>
              <p:nvPr/>
            </p:nvSpPr>
            <p:spPr>
              <a:xfrm>
                <a:off x="362056" y="5349907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321564B3-B7E9-36B8-8A76-C161C27FC217}"/>
                  </a:ext>
                </a:extLst>
              </p:cNvPr>
              <p:cNvSpPr/>
              <p:nvPr/>
            </p:nvSpPr>
            <p:spPr>
              <a:xfrm>
                <a:off x="1550777" y="5355468"/>
                <a:ext cx="594360" cy="5943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5</a:t>
                </a:r>
              </a:p>
            </p:txBody>
          </p: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AA33041D-CA59-6717-F3E9-3D2DADCF524E}"/>
                  </a:ext>
                </a:extLst>
              </p:cNvPr>
              <p:cNvCxnSpPr>
                <a:stCxn id="114" idx="3"/>
                <a:endCxn id="115" idx="0"/>
              </p:cNvCxnSpPr>
              <p:nvPr/>
            </p:nvCxnSpPr>
            <p:spPr>
              <a:xfrm flipH="1">
                <a:off x="659236" y="4916444"/>
                <a:ext cx="384222" cy="43346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5B4A2E32-92AC-47A2-C452-A82C7CE0BA85}"/>
                  </a:ext>
                </a:extLst>
              </p:cNvPr>
              <p:cNvCxnSpPr>
                <a:stCxn id="114" idx="5"/>
                <a:endCxn id="116" idx="0"/>
              </p:cNvCxnSpPr>
              <p:nvPr/>
            </p:nvCxnSpPr>
            <p:spPr>
              <a:xfrm>
                <a:off x="1463735" y="4916444"/>
                <a:ext cx="384222" cy="4390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422CDEB4-AED7-29DA-56D4-8B80BAA290EE}"/>
                  </a:ext>
                </a:extLst>
              </p:cNvPr>
              <p:cNvCxnSpPr>
                <a:stCxn id="112" idx="3"/>
                <a:endCxn id="114" idx="7"/>
              </p:cNvCxnSpPr>
              <p:nvPr/>
            </p:nvCxnSpPr>
            <p:spPr>
              <a:xfrm flipH="1">
                <a:off x="1463734" y="4060417"/>
                <a:ext cx="674161" cy="4357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F8611F7A-7837-C02A-D99B-CE45CD540CA6}"/>
                  </a:ext>
                </a:extLst>
              </p:cNvPr>
              <p:cNvCxnSpPr>
                <a:stCxn id="112" idx="5"/>
                <a:endCxn id="113" idx="1"/>
              </p:cNvCxnSpPr>
              <p:nvPr/>
            </p:nvCxnSpPr>
            <p:spPr>
              <a:xfrm>
                <a:off x="2558171" y="4060415"/>
                <a:ext cx="831317" cy="43486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BB6CCAF-F8A6-8603-4773-D927482E186D}"/>
                </a:ext>
              </a:extLst>
            </p:cNvPr>
            <p:cNvSpPr txBox="1"/>
            <p:nvPr/>
          </p:nvSpPr>
          <p:spPr>
            <a:xfrm>
              <a:off x="9452923" y="3012390"/>
              <a:ext cx="3253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1D99EF0-3683-68E6-B22D-18812A10B25E}"/>
                </a:ext>
              </a:extLst>
            </p:cNvPr>
            <p:cNvSpPr txBox="1"/>
            <p:nvPr/>
          </p:nvSpPr>
          <p:spPr>
            <a:xfrm>
              <a:off x="8531832" y="3485516"/>
              <a:ext cx="3253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401E25E-6480-B434-334F-AC13D984A539}"/>
                </a:ext>
              </a:extLst>
            </p:cNvPr>
            <p:cNvSpPr txBox="1"/>
            <p:nvPr/>
          </p:nvSpPr>
          <p:spPr>
            <a:xfrm>
              <a:off x="11169147" y="3395926"/>
              <a:ext cx="3253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3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10479E1-F40B-E14E-9C12-310DE7679F3C}"/>
                </a:ext>
              </a:extLst>
            </p:cNvPr>
            <p:cNvSpPr txBox="1"/>
            <p:nvPr/>
          </p:nvSpPr>
          <p:spPr>
            <a:xfrm>
              <a:off x="8128037" y="4199940"/>
              <a:ext cx="3253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4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6E429FB-17B7-52D2-F305-E504C1D0BE44}"/>
                </a:ext>
              </a:extLst>
            </p:cNvPr>
            <p:cNvSpPr txBox="1"/>
            <p:nvPr/>
          </p:nvSpPr>
          <p:spPr>
            <a:xfrm>
              <a:off x="9127313" y="4193297"/>
              <a:ext cx="3253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5</a:t>
              </a:r>
            </a:p>
          </p:txBody>
        </p:sp>
      </p:grpSp>
      <p:sp>
        <p:nvSpPr>
          <p:cNvPr id="126" name="Arrow: Down 125">
            <a:extLst>
              <a:ext uri="{FF2B5EF4-FFF2-40B4-BE49-F238E27FC236}">
                <a16:creationId xmlns:a16="http://schemas.microsoft.com/office/drawing/2014/main" id="{9074ED94-F8FD-C933-DD36-B1957935FF8A}"/>
              </a:ext>
            </a:extLst>
          </p:cNvPr>
          <p:cNvSpPr/>
          <p:nvPr/>
        </p:nvSpPr>
        <p:spPr>
          <a:xfrm>
            <a:off x="10134317" y="3551010"/>
            <a:ext cx="423922" cy="575217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83039748-4231-357D-4F5A-4EFC54533C73}"/>
              </a:ext>
            </a:extLst>
          </p:cNvPr>
          <p:cNvGrpSpPr/>
          <p:nvPr/>
        </p:nvGrpSpPr>
        <p:grpSpPr>
          <a:xfrm>
            <a:off x="8479955" y="4086640"/>
            <a:ext cx="1558406" cy="307777"/>
            <a:chOff x="8472046" y="4171299"/>
            <a:chExt cx="1558406" cy="307777"/>
          </a:xfrm>
        </p:grpSpPr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78F05595-1E3A-09CC-AA21-FCCF9C4E0502}"/>
                </a:ext>
              </a:extLst>
            </p:cNvPr>
            <p:cNvCxnSpPr>
              <a:cxnSpLocks/>
            </p:cNvCxnSpPr>
            <p:nvPr/>
          </p:nvCxnSpPr>
          <p:spPr>
            <a:xfrm>
              <a:off x="9320568" y="4377209"/>
              <a:ext cx="709884" cy="5375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319DCAF-76FA-4CEF-9524-9C4805FE99BE}"/>
                </a:ext>
              </a:extLst>
            </p:cNvPr>
            <p:cNvSpPr txBox="1"/>
            <p:nvPr/>
          </p:nvSpPr>
          <p:spPr>
            <a:xfrm flipH="1">
              <a:off x="8472046" y="4171299"/>
              <a:ext cx="9224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err="1">
                  <a:solidFill>
                    <a:srgbClr val="00B050"/>
                  </a:solidFill>
                  <a:latin typeface="Century Gothic" panose="020B0502020202020204" pitchFamily="34" charset="0"/>
                </a:rPr>
                <a:t>Heapify</a:t>
              </a:r>
              <a:endParaRPr lang="en-US" sz="1400">
                <a:solidFill>
                  <a:srgbClr val="00B050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299213B-9F7D-64B6-1039-5CB4D9858627}"/>
              </a:ext>
            </a:extLst>
          </p:cNvPr>
          <p:cNvSpPr txBox="1"/>
          <p:nvPr/>
        </p:nvSpPr>
        <p:spPr>
          <a:xfrm>
            <a:off x="10151076" y="1507552"/>
            <a:ext cx="325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6AE179-2207-4349-1DDE-2A8D3EAD7E40}"/>
              </a:ext>
            </a:extLst>
          </p:cNvPr>
          <p:cNvSpPr txBox="1"/>
          <p:nvPr/>
        </p:nvSpPr>
        <p:spPr>
          <a:xfrm>
            <a:off x="10777811" y="3015109"/>
            <a:ext cx="325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917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34 -0.00371 L 0.04961 0.22037 " pathEditMode="relative" ptsTypes="AA">
                                      <p:cBhvr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35 0.00787 L -0.05378 -0.22338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8" y="-1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7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Heap Operations – </a:t>
            </a:r>
            <a:r>
              <a:rPr lang="en-US" sz="3200">
                <a:solidFill>
                  <a:srgbClr val="0070C0"/>
                </a:solidFill>
              </a:rPr>
              <a:t>maximum Key Deletion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18</a:t>
            </a:fld>
            <a:endParaRPr lang="en-US"/>
          </a:p>
        </p:txBody>
      </p:sp>
      <p:sp>
        <p:nvSpPr>
          <p:cNvPr id="3" name="Right Arrow 2"/>
          <p:cNvSpPr/>
          <p:nvPr/>
        </p:nvSpPr>
        <p:spPr>
          <a:xfrm>
            <a:off x="7621524" y="3730262"/>
            <a:ext cx="685800" cy="29154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ight Arrow 99"/>
          <p:cNvSpPr/>
          <p:nvPr/>
        </p:nvSpPr>
        <p:spPr>
          <a:xfrm>
            <a:off x="4055701" y="3682488"/>
            <a:ext cx="685800" cy="29154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458246" y="1101927"/>
            <a:ext cx="2953695" cy="2008998"/>
            <a:chOff x="416523" y="1564144"/>
            <a:chExt cx="2953695" cy="2008998"/>
          </a:xfrm>
        </p:grpSpPr>
        <p:sp>
          <p:nvSpPr>
            <p:cNvPr id="12" name="Oval 11"/>
            <p:cNvSpPr/>
            <p:nvPr/>
          </p:nvSpPr>
          <p:spPr>
            <a:xfrm>
              <a:off x="1827709" y="1564144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2873561" y="2280938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913180" y="2281690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416523" y="3070275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1409837" y="3074936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2447860" y="3074936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14" name="Straight Connector 13"/>
            <p:cNvCxnSpPr>
              <a:stCxn id="19" idx="3"/>
              <a:endCxn id="20" idx="0"/>
            </p:cNvCxnSpPr>
            <p:nvPr/>
          </p:nvCxnSpPr>
          <p:spPr>
            <a:xfrm flipH="1">
              <a:off x="664851" y="2706935"/>
              <a:ext cx="321062" cy="363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9" idx="5"/>
              <a:endCxn id="21" idx="0"/>
            </p:cNvCxnSpPr>
            <p:nvPr/>
          </p:nvCxnSpPr>
          <p:spPr>
            <a:xfrm>
              <a:off x="1337103" y="2706935"/>
              <a:ext cx="321062" cy="368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18" idx="3"/>
              <a:endCxn id="22" idx="0"/>
            </p:cNvCxnSpPr>
            <p:nvPr/>
          </p:nvCxnSpPr>
          <p:spPr>
            <a:xfrm flipH="1">
              <a:off x="2696189" y="2706183"/>
              <a:ext cx="250106" cy="368753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12" idx="3"/>
              <a:endCxn id="19" idx="7"/>
            </p:cNvCxnSpPr>
            <p:nvPr/>
          </p:nvCxnSpPr>
          <p:spPr>
            <a:xfrm flipH="1">
              <a:off x="1337103" y="1989389"/>
              <a:ext cx="563340" cy="365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12" idx="5"/>
              <a:endCxn id="18" idx="1"/>
            </p:cNvCxnSpPr>
            <p:nvPr/>
          </p:nvCxnSpPr>
          <p:spPr>
            <a:xfrm>
              <a:off x="2251633" y="1989389"/>
              <a:ext cx="694662" cy="3645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940897" y="3523604"/>
            <a:ext cx="2953695" cy="2008998"/>
            <a:chOff x="416523" y="1564144"/>
            <a:chExt cx="2953695" cy="2008998"/>
          </a:xfrm>
        </p:grpSpPr>
        <p:sp>
          <p:nvSpPr>
            <p:cNvPr id="51" name="Oval 50"/>
            <p:cNvSpPr/>
            <p:nvPr/>
          </p:nvSpPr>
          <p:spPr>
            <a:xfrm>
              <a:off x="1827709" y="1564144"/>
              <a:ext cx="496657" cy="498206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" name="Oval 51"/>
            <p:cNvSpPr/>
            <p:nvPr/>
          </p:nvSpPr>
          <p:spPr>
            <a:xfrm>
              <a:off x="2873561" y="2280938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913180" y="2281690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416523" y="3070275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1409837" y="3074936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6" name="Oval 55"/>
            <p:cNvSpPr/>
            <p:nvPr/>
          </p:nvSpPr>
          <p:spPr>
            <a:xfrm>
              <a:off x="2447860" y="3074936"/>
              <a:ext cx="496657" cy="498206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57" name="Straight Connector 56"/>
            <p:cNvCxnSpPr>
              <a:stCxn id="53" idx="3"/>
              <a:endCxn id="54" idx="0"/>
            </p:cNvCxnSpPr>
            <p:nvPr/>
          </p:nvCxnSpPr>
          <p:spPr>
            <a:xfrm flipH="1">
              <a:off x="664851" y="2706935"/>
              <a:ext cx="321062" cy="363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53" idx="5"/>
              <a:endCxn id="55" idx="0"/>
            </p:cNvCxnSpPr>
            <p:nvPr/>
          </p:nvCxnSpPr>
          <p:spPr>
            <a:xfrm>
              <a:off x="1337103" y="2706935"/>
              <a:ext cx="321062" cy="368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52" idx="3"/>
              <a:endCxn id="56" idx="0"/>
            </p:cNvCxnSpPr>
            <p:nvPr/>
          </p:nvCxnSpPr>
          <p:spPr>
            <a:xfrm flipH="1">
              <a:off x="2696189" y="2706183"/>
              <a:ext cx="250106" cy="368753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51" idx="3"/>
              <a:endCxn id="53" idx="7"/>
            </p:cNvCxnSpPr>
            <p:nvPr/>
          </p:nvCxnSpPr>
          <p:spPr>
            <a:xfrm flipH="1">
              <a:off x="1337103" y="1989389"/>
              <a:ext cx="563340" cy="365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51" idx="5"/>
              <a:endCxn id="52" idx="1"/>
            </p:cNvCxnSpPr>
            <p:nvPr/>
          </p:nvCxnSpPr>
          <p:spPr>
            <a:xfrm>
              <a:off x="2251633" y="1989389"/>
              <a:ext cx="694662" cy="3645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/>
          <p:cNvGrpSpPr/>
          <p:nvPr/>
        </p:nvGrpSpPr>
        <p:grpSpPr>
          <a:xfrm>
            <a:off x="4463074" y="3523604"/>
            <a:ext cx="2953695" cy="2008998"/>
            <a:chOff x="416523" y="1564144"/>
            <a:chExt cx="2953695" cy="2008998"/>
          </a:xfrm>
        </p:grpSpPr>
        <p:sp>
          <p:nvSpPr>
            <p:cNvPr id="63" name="Oval 62"/>
            <p:cNvSpPr/>
            <p:nvPr/>
          </p:nvSpPr>
          <p:spPr>
            <a:xfrm>
              <a:off x="1827709" y="1564144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4" name="Oval 63"/>
            <p:cNvSpPr/>
            <p:nvPr/>
          </p:nvSpPr>
          <p:spPr>
            <a:xfrm>
              <a:off x="2873561" y="2280938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5" name="Oval 64"/>
            <p:cNvSpPr/>
            <p:nvPr/>
          </p:nvSpPr>
          <p:spPr>
            <a:xfrm>
              <a:off x="913180" y="2281690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6" name="Oval 65"/>
            <p:cNvSpPr/>
            <p:nvPr/>
          </p:nvSpPr>
          <p:spPr>
            <a:xfrm>
              <a:off x="416523" y="3070275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/>
            <p:cNvSpPr/>
            <p:nvPr/>
          </p:nvSpPr>
          <p:spPr>
            <a:xfrm>
              <a:off x="1409837" y="3074936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69" name="Straight Connector 68"/>
            <p:cNvCxnSpPr>
              <a:stCxn id="65" idx="3"/>
              <a:endCxn id="66" idx="0"/>
            </p:cNvCxnSpPr>
            <p:nvPr/>
          </p:nvCxnSpPr>
          <p:spPr>
            <a:xfrm flipH="1">
              <a:off x="664851" y="2706935"/>
              <a:ext cx="321062" cy="363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65" idx="5"/>
              <a:endCxn id="67" idx="0"/>
            </p:cNvCxnSpPr>
            <p:nvPr/>
          </p:nvCxnSpPr>
          <p:spPr>
            <a:xfrm>
              <a:off x="1337103" y="2706935"/>
              <a:ext cx="321062" cy="368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63" idx="3"/>
              <a:endCxn id="65" idx="7"/>
            </p:cNvCxnSpPr>
            <p:nvPr/>
          </p:nvCxnSpPr>
          <p:spPr>
            <a:xfrm flipH="1">
              <a:off x="1337103" y="1989389"/>
              <a:ext cx="563340" cy="365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63" idx="5"/>
              <a:endCxn id="64" idx="1"/>
            </p:cNvCxnSpPr>
            <p:nvPr/>
          </p:nvCxnSpPr>
          <p:spPr>
            <a:xfrm>
              <a:off x="2251633" y="1989389"/>
              <a:ext cx="694662" cy="3645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7985251" y="3523604"/>
            <a:ext cx="2953695" cy="2008998"/>
            <a:chOff x="416523" y="1564144"/>
            <a:chExt cx="2953695" cy="2008998"/>
          </a:xfrm>
        </p:grpSpPr>
        <p:sp>
          <p:nvSpPr>
            <p:cNvPr id="75" name="Oval 74"/>
            <p:cNvSpPr/>
            <p:nvPr/>
          </p:nvSpPr>
          <p:spPr>
            <a:xfrm>
              <a:off x="1827709" y="1564144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6" name="Oval 75"/>
            <p:cNvSpPr/>
            <p:nvPr/>
          </p:nvSpPr>
          <p:spPr>
            <a:xfrm>
              <a:off x="2873561" y="2280938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7" name="Oval 76"/>
            <p:cNvSpPr/>
            <p:nvPr/>
          </p:nvSpPr>
          <p:spPr>
            <a:xfrm>
              <a:off x="913180" y="2281690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8" name="Oval 77"/>
            <p:cNvSpPr/>
            <p:nvPr/>
          </p:nvSpPr>
          <p:spPr>
            <a:xfrm>
              <a:off x="416523" y="3070275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9" name="Oval 78"/>
            <p:cNvSpPr/>
            <p:nvPr/>
          </p:nvSpPr>
          <p:spPr>
            <a:xfrm>
              <a:off x="1409837" y="3074936"/>
              <a:ext cx="496657" cy="49820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80" name="Straight Connector 79"/>
            <p:cNvCxnSpPr>
              <a:stCxn id="77" idx="3"/>
              <a:endCxn id="78" idx="0"/>
            </p:cNvCxnSpPr>
            <p:nvPr/>
          </p:nvCxnSpPr>
          <p:spPr>
            <a:xfrm flipH="1">
              <a:off x="664851" y="2706935"/>
              <a:ext cx="321062" cy="363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77" idx="5"/>
              <a:endCxn id="79" idx="0"/>
            </p:cNvCxnSpPr>
            <p:nvPr/>
          </p:nvCxnSpPr>
          <p:spPr>
            <a:xfrm>
              <a:off x="1337103" y="2706935"/>
              <a:ext cx="321062" cy="368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75" idx="3"/>
              <a:endCxn id="77" idx="7"/>
            </p:cNvCxnSpPr>
            <p:nvPr/>
          </p:nvCxnSpPr>
          <p:spPr>
            <a:xfrm flipH="1">
              <a:off x="1337103" y="1989389"/>
              <a:ext cx="563340" cy="365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75" idx="5"/>
              <a:endCxn id="76" idx="1"/>
            </p:cNvCxnSpPr>
            <p:nvPr/>
          </p:nvCxnSpPr>
          <p:spPr>
            <a:xfrm>
              <a:off x="2251633" y="1989389"/>
              <a:ext cx="694662" cy="3645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554529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5. Heap sort</a:t>
            </a:r>
            <a:r>
              <a:rPr lang="en-US" sz="320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1949" y="975844"/>
                <a:ext cx="6893738" cy="529693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en-US" dirty="0"/>
                  <a:t>Heapsort is a two-stage algorithm:</a:t>
                </a:r>
              </a:p>
              <a:p>
                <a:pPr marL="617220" lvl="1" indent="-342900">
                  <a:lnSpc>
                    <a:spcPts val="3500"/>
                  </a:lnSpc>
                  <a:buFont typeface="+mj-lt"/>
                  <a:buAutoNum type="arabicPeriod"/>
                </a:pPr>
                <a:r>
                  <a:rPr lang="en-US" dirty="0">
                    <a:solidFill>
                      <a:srgbClr val="00B0F0"/>
                    </a:solidFill>
                  </a:rPr>
                  <a:t>Heap construction</a:t>
                </a:r>
                <a:r>
                  <a:rPr lang="en-US" dirty="0"/>
                  <a:t>: Construct a heap for a given array</a:t>
                </a:r>
              </a:p>
              <a:p>
                <a:pPr marL="617220" lvl="1" indent="-342900">
                  <a:lnSpc>
                    <a:spcPts val="3500"/>
                  </a:lnSpc>
                  <a:buFont typeface="+mj-lt"/>
                  <a:buAutoNum type="arabicPeriod"/>
                </a:pPr>
                <a:r>
                  <a:rPr lang="en-US" dirty="0">
                    <a:solidFill>
                      <a:srgbClr val="00B0F0"/>
                    </a:solidFill>
                  </a:rPr>
                  <a:t>Maximum deletion</a:t>
                </a:r>
                <a:r>
                  <a:rPr lang="en-US" dirty="0"/>
                  <a:t>: Apply the root-deletion operation n-1 times to the remaining heap. Each time, the deleted element is placed at the end of the array.</a:t>
                </a:r>
              </a:p>
              <a:p>
                <a:pPr>
                  <a:lnSpc>
                    <a:spcPts val="3500"/>
                  </a:lnSpc>
                </a:pPr>
                <a:r>
                  <a:rPr lang="en-US" dirty="0"/>
                  <a:t>The complexity of heapsort algorithm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49" y="975844"/>
                <a:ext cx="6893738" cy="5296939"/>
              </a:xfrm>
              <a:blipFill>
                <a:blip r:embed="rId4"/>
                <a:stretch>
                  <a:fillRect l="-796" r="-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1A272F87-BB1A-FF2D-E609-1969744D63BF}"/>
              </a:ext>
            </a:extLst>
          </p:cNvPr>
          <p:cNvGrpSpPr/>
          <p:nvPr/>
        </p:nvGrpSpPr>
        <p:grpSpPr>
          <a:xfrm>
            <a:off x="7311861" y="2297266"/>
            <a:ext cx="4319307" cy="2263467"/>
            <a:chOff x="1037597" y="4082074"/>
            <a:chExt cx="4319307" cy="2263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399463F-C495-6946-57DC-4804FD7CDCF7}"/>
                </a:ext>
              </a:extLst>
            </p:cNvPr>
            <p:cNvSpPr/>
            <p:nvPr/>
          </p:nvSpPr>
          <p:spPr>
            <a:xfrm>
              <a:off x="1037597" y="4082074"/>
              <a:ext cx="4319307" cy="2263467"/>
            </a:xfrm>
            <a:prstGeom prst="roundRect">
              <a:avLst/>
            </a:prstGeom>
            <a:solidFill>
              <a:srgbClr val="FFF7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begin{algorithmic}[indLines=false]&#10;\Procedure{Heapsort}{$H[1..n]$}&#10;  \LComment{Construct the heap}&#10;  \State \Call{HeapBottomUp}{$H[1..n]$}&#10;  \LComment{Maximum deletions}&#10;  \For {$i\gets n$ \textbf{down to} 2}&#10;      \State \Call{MaxKeyDelete}{$H,i$}&#10;  \EndFor&#10;\EndProcedure&#10;\end{algorithmic}&#10;\end{document} " title="IguanaTex Bitmap Display">
              <a:extLst>
                <a:ext uri="{FF2B5EF4-FFF2-40B4-BE49-F238E27FC236}">
                  <a16:creationId xmlns:a16="http://schemas.microsoft.com/office/drawing/2014/main" id="{6B87AE81-5F67-39D6-D4BD-6C77C25AB4C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4645" y="4228973"/>
              <a:ext cx="3907200" cy="20332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10994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Heap sort – </a:t>
            </a:r>
            <a:r>
              <a:rPr lang="en-US" sz="3200">
                <a:solidFill>
                  <a:srgbClr val="00B0F0"/>
                </a:solidFill>
              </a:rPr>
              <a:t>Example (2, 9, 7, 6, 5, 8)</a:t>
            </a:r>
            <a:r>
              <a:rPr lang="en-US" sz="320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35221" y="2111889"/>
            <a:ext cx="30415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Stage 1: heap construction</a:t>
            </a:r>
          </a:p>
          <a:p>
            <a:pPr>
              <a:lnSpc>
                <a:spcPct val="150000"/>
              </a:lnSpc>
            </a:pPr>
            <a:r>
              <a:rPr lang="en-US"/>
              <a:t>2    9    </a:t>
            </a:r>
            <a:r>
              <a:rPr lang="en-US" b="1">
                <a:solidFill>
                  <a:srgbClr val="FF0000"/>
                </a:solidFill>
              </a:rPr>
              <a:t>7</a:t>
            </a:r>
            <a:r>
              <a:rPr lang="en-US"/>
              <a:t>    6    5    8</a:t>
            </a:r>
          </a:p>
          <a:p>
            <a:pPr>
              <a:lnSpc>
                <a:spcPct val="150000"/>
              </a:lnSpc>
            </a:pPr>
            <a:r>
              <a:rPr lang="en-US"/>
              <a:t>2    </a:t>
            </a:r>
            <a:r>
              <a:rPr lang="en-US" b="1">
                <a:solidFill>
                  <a:srgbClr val="FF0000"/>
                </a:solidFill>
              </a:rPr>
              <a:t>9</a:t>
            </a:r>
            <a:r>
              <a:rPr lang="en-US"/>
              <a:t>    8    6    5    7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00"/>
                </a:solidFill>
              </a:rPr>
              <a:t>2</a:t>
            </a:r>
            <a:r>
              <a:rPr lang="en-US"/>
              <a:t>    9    8    6    5    7</a:t>
            </a:r>
          </a:p>
          <a:p>
            <a:pPr>
              <a:lnSpc>
                <a:spcPct val="150000"/>
              </a:lnSpc>
            </a:pPr>
            <a:r>
              <a:rPr lang="en-US"/>
              <a:t>9    </a:t>
            </a:r>
            <a:r>
              <a:rPr lang="en-US" b="1">
                <a:solidFill>
                  <a:srgbClr val="FF0000"/>
                </a:solidFill>
              </a:rPr>
              <a:t>2</a:t>
            </a:r>
            <a:r>
              <a:rPr lang="en-US"/>
              <a:t>    8    6    5    7</a:t>
            </a:r>
          </a:p>
          <a:p>
            <a:pPr>
              <a:lnSpc>
                <a:spcPct val="150000"/>
              </a:lnSpc>
            </a:pPr>
            <a:r>
              <a:rPr lang="en-US"/>
              <a:t>9    6    8    2    5    7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556" y="1118831"/>
            <a:ext cx="34763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Stage 2: maximum deletions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00"/>
                </a:solidFill>
              </a:rPr>
              <a:t>9</a:t>
            </a:r>
            <a:r>
              <a:rPr lang="en-US"/>
              <a:t>    6    8    2    5    7</a:t>
            </a:r>
          </a:p>
          <a:p>
            <a:pPr marL="342900" indent="-342900">
              <a:lnSpc>
                <a:spcPct val="150000"/>
              </a:lnSpc>
              <a:buAutoNum type="arabicPlain" startAt="7"/>
            </a:pPr>
            <a:r>
              <a:rPr lang="en-US"/>
              <a:t>6    8    2    5    </a:t>
            </a:r>
            <a:r>
              <a:rPr lang="en-US" b="1">
                <a:solidFill>
                  <a:srgbClr val="FF0000"/>
                </a:solidFill>
              </a:rPr>
              <a:t>9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00"/>
                </a:solidFill>
              </a:rPr>
              <a:t>8</a:t>
            </a:r>
            <a:r>
              <a:rPr lang="en-US"/>
              <a:t>    6    7    2    5</a:t>
            </a:r>
          </a:p>
          <a:p>
            <a:pPr>
              <a:lnSpc>
                <a:spcPct val="150000"/>
              </a:lnSpc>
            </a:pPr>
            <a:r>
              <a:rPr lang="en-US"/>
              <a:t>5    6    7    2    </a:t>
            </a:r>
            <a:r>
              <a:rPr lang="en-US" b="1">
                <a:solidFill>
                  <a:srgbClr val="FF0000"/>
                </a:solidFill>
              </a:rPr>
              <a:t>8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00"/>
                </a:solidFill>
              </a:rPr>
              <a:t>7</a:t>
            </a:r>
            <a:r>
              <a:rPr lang="en-US"/>
              <a:t>    6    5    2 </a:t>
            </a:r>
            <a:endParaRPr lang="en-US" b="1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/>
              <a:t>2    6    5    </a:t>
            </a:r>
            <a:r>
              <a:rPr lang="en-US" b="1">
                <a:solidFill>
                  <a:srgbClr val="FF0000"/>
                </a:solidFill>
              </a:rPr>
              <a:t>7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00"/>
                </a:solidFill>
              </a:rPr>
              <a:t>6</a:t>
            </a:r>
            <a:r>
              <a:rPr lang="en-US"/>
              <a:t>    2    5</a:t>
            </a:r>
          </a:p>
          <a:p>
            <a:pPr>
              <a:lnSpc>
                <a:spcPct val="150000"/>
              </a:lnSpc>
            </a:pPr>
            <a:r>
              <a:rPr lang="en-US"/>
              <a:t>5    2    </a:t>
            </a:r>
            <a:r>
              <a:rPr lang="en-US" b="1">
                <a:solidFill>
                  <a:srgbClr val="FF0000"/>
                </a:solidFill>
              </a:rPr>
              <a:t>6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00"/>
                </a:solidFill>
              </a:rPr>
              <a:t>5</a:t>
            </a:r>
            <a:r>
              <a:rPr lang="en-US"/>
              <a:t>    2</a:t>
            </a:r>
          </a:p>
          <a:p>
            <a:pPr>
              <a:lnSpc>
                <a:spcPct val="150000"/>
              </a:lnSpc>
            </a:pPr>
            <a:r>
              <a:rPr lang="en-US"/>
              <a:t>2    </a:t>
            </a:r>
            <a:r>
              <a:rPr lang="en-US" b="1">
                <a:solidFill>
                  <a:srgbClr val="FF0000"/>
                </a:solidFill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036200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0.677"/>
  <p:tag name="ORIGINALWIDTH" val="1515.211"/>
  <p:tag name="OUTPUTTYPE" val="PNG"/>
  <p:tag name="IGUANATEXVERSION" val="160"/>
  <p:tag name="LATEXADDIN" val="\documentclass{article}&#10;\usepackage{amsmath}&#10;\usepackage{tikz}&#10;\pagestyle{empty}&#10;&#10;\begin{document}&#10;\begin{tikzpicture}[&#10;  every node/.style = {minimum width = 2em, draw, circle},&#10;  shade/.style = {fill=black!15},&#10;  level 1/.style = {level distance = 1.2cm, sibling distance = 28mm},&#10;  level 2/.style = {sibling distance = 15mm},&#10;  level 3/.style = {sibling distance = 5mm}&#10;  ]&#10;  \node (root) {9}&#10;     child {node {8}&#10;        child {node {5}}&#10;        child {node {2}}&#10;     }&#10;     child {node {6}&#10;       child {node {1}}&#10;       child [missing]&#10;     };&#10;  \node [above of = root, draw=none, yshift=-3mm] {\textsc{Max-Heap}};&#10;\end{tikzpicture}&#10;\end{document} "/>
  <p:tag name="IGUANATEXSIZE" val="18"/>
  <p:tag name="IGUANATEXCURSOR" val="0"/>
  <p:tag name="TRANSPARENCY" val="True"/>
  <p:tag name="LATEXENGINEID" val="1"/>
  <p:tag name="TEMPFOLDER" val="c:\temp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8.178"/>
  <p:tag name="ORIGINALWIDTH" val="1515.211"/>
  <p:tag name="OUTPUTTYPE" val="PNG"/>
  <p:tag name="IGUANATEXVERSION" val="160"/>
  <p:tag name="LATEXADDIN" val="\documentclass{article}&#10;\usepackage{amsmath}&#10;\usepackage{tikz}&#10;\pagestyle{empty}&#10;&#10;\begin{document}&#10;\begin{tikzpicture}[&#10;  every node/.style = {minimum width = 2em, draw, circle},&#10;  shade/.style = {fill=black!15},&#10;  level 1/.style = {level distance = 1.2cm, sibling distance = 28mm},&#10;  level 2/.style = {sibling distance = 15mm},&#10;  level 3/.style = {sibling distance = 5mm},&#10;  emph/.style={edge from parent/.style={dashed, draw}},&#10;  norm/.style={edge from parent/.style={black,thin,draw}}&#10;  ]&#10;  \node (root) {1}&#10;     child {node {3}&#10;        child {node {4}}&#10;        child {node {5}}&#10;     }&#10;     child {node {2}&#10;       child {node {10}}&#10;       child [missing]&#10;     };&#10;  \node [above of = root, draw=none, yshift=-3mm] {\textsc{Min-Heap}};&#10;\end{tikzpicture}&#10;\end{document} "/>
  <p:tag name="IGUANATEXSIZE" val="18"/>
  <p:tag name="IGUANATEXCURSOR" val="0"/>
  <p:tag name="TRANSPARENCY" val="True"/>
  <p:tag name="LATEXENGINEID" val="1"/>
  <p:tag name="TEMPFOLDER" val="c:\temp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26.631"/>
  <p:tag name="ORIGINALWIDTH" val="4466.123"/>
  <p:tag name="OUTPUTTYPE" val="PNG"/>
  <p:tag name="IGUANATEXVERSION" val="160"/>
  <p:tag name="LATEXADDIN" val="\documentclass{article}&#10;\usepackage{amsmath}&#10;\usepackage{tikz}&#10;\pagestyle{empty}&#10;&#10;\begin{document}&#10; \begin{tikzpicture}[label distance=-2mm,&#10;  every node/.style = {minimum width = 2em, draw, circle},&#10;  shade/.style = {fill=black!15},&#10;  level 1/.style = {level distance = 1.2cm, sibling distance = 50mm},&#10;  level 2/.style = {sibling distance = 25mm},&#10;  level 3/.style = {sibling distance = 15mm}&#10;  ]&#10;  \node [label=150:{\scriptsize 1}, shade] {16}&#10;  child {node [label=above:{\scriptsize 2}] {15}&#10;        child {node [label=above:{\scriptsize 4}] {14}&#10;              child {node [label=above:{\scriptsize 8}] {8}&#10;                 child {node [label=above:{\scriptsize 16}] {1}}&#10;                 child {edge from parent[draw = none]}&#10;              }&#10;              child {node [label=above:{\scriptsize 9}] {7}}}&#10;        child {node [label=above:{\scriptsize 5}] {5}&#10;              child {node [label=above:{\scriptsize 10}] {4}}&#10;              child {node [label=above:{\scriptsize 11}] {2}}}&#10;        }&#10;  child {node [label=above:{\scriptsize 3}] {13}&#10;        child {node [label=above:{\scriptsize 6}] {12}&#10;              child {node [label=above:{\scriptsize 12}] {11}}&#10;              child {node [label=above:{\scriptsize 13}] {6}}}&#10;        child {node [label=above:{\scriptsize 7}] {10}&#10;              child {node [label=above:{\scriptsize 14}] {3}}&#10;              child {node [label=above:{\scriptsize 15}] {9}}}&#10;              %child {edge from parent[draw = none]}}&#10;        };&#10;\end{tikzpicture}&#10;&#10;\bigskip&#10;\renewcommand{\arraystretch}{1.3}&#10;\begin{tabular}{c*{16}{c}}&#10;&amp; 1  &amp;  2 &amp;  3 &amp; 4 &amp;  5 &amp;  6 &amp; 7 &amp; 8 &amp; 9 &amp; 10 &amp; 11 &amp; 12 &amp; 13 &amp; 14 &amp; 15 &amp; 16\\\cline{2-17}&#10;$H$ &amp; \multicolumn{1}{|c}{16} &amp; \multicolumn{1}{|c}{15} &amp; \multicolumn{1}{|c}{13} &amp; \multicolumn{1}{|c}{14} &amp;&#10;\multicolumn{1}{|c}{5} &amp; \multicolumn{1}{|c}{12} &amp; \multicolumn{1}{|c}{10} &amp; \multicolumn{1}{|c}{8} &amp;&#10;\multicolumn{1}{|c}{7} &amp; \multicolumn{1}{|c}{4} &amp; \multicolumn{1}{|c}{2} &amp; \multicolumn{1}{|c}{11} &amp;&#10;\multicolumn{1}{|c}{6} &amp; \multicolumn{1}{|c}{3} &amp; \multicolumn{1}{|c}{9} &amp; \multicolumn{1}{|c|}{1}\\\cline{2-17}&#10;\multicolumn{9}{c|}{\large parents} &amp; \multicolumn{7}{c}{\large children}&#10;\end{tabular}&#10;\end{document} "/>
  <p:tag name="IGUANATEXSIZE" val="14"/>
  <p:tag name="IGUANATEXCURSOR" val="2131"/>
  <p:tag name="TRANSPARENCY" val="True"/>
  <p:tag name="LATEXENGINEID" val="1"/>
  <p:tag name="TEMPFOLDER" val="C:\Drive D\IganaTeXTempFolder\"/>
  <p:tag name="LATEXFORMHEIGHT" val="433.2"/>
  <p:tag name="LATEXFORMWIDTH" val="472.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5.4105"/>
  <p:tag name="ORIGINALWIDTH" val="2698.163"/>
  <p:tag name="OUTPUTTYPE" val="PNG"/>
  <p:tag name="IGUANATEXVERSION" val="160"/>
  <p:tag name="LATEXADDIN" val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hspace*{0.4cm}&#10;\begin{minipage}{8cm}&#10;\begin{algorithmic}&#10;\State \textbf{Step 1} If $H[r]$ is larger than its children, stop the\\&#10;       \hspace*{12.5mm}algorithm.&#10;\State \textbf{Step 2} Swap $H[r]$ with the larger child.&#10;\State \textbf{Step 3} Assign the index of the larger child to $r$.\\&#10;        \hspace*{12.5mm}Goto \textbf{Step 1}.&#10;\end{algorithmic}&#10;\end{minipage}&#10;\end{document} "/>
  <p:tag name="IGUANATEXSIZE" val="22"/>
  <p:tag name="IGUANATEXCURSOR" val="564"/>
  <p:tag name="TRANSPARENCY" val="True"/>
  <p:tag name="LATEXENGINEID" val="0"/>
  <p:tag name="TEMPFOLDER" val="c:\temp\"/>
  <p:tag name="LATEXFORMHEIGHT" val="390"/>
  <p:tag name="LATEXFORMWIDTH" val="423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8.26"/>
  <p:tag name="ORIGINALWIDTH" val="2675.666"/>
  <p:tag name="OUTPUTTYPE" val="PNG"/>
  <p:tag name="IGUANATEXVERSION" val="160"/>
  <p:tag name="LATEXADDIN" val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hspace*{0.4cm}&#10;\begin{minipage}{8cm}&#10;\begin{algorithmic}&#10;\Procedure{Heapify}{$H[1..n],root,size$}&#10;\State $k\gets root,\,key\gets H[k]$&#10;\State $heap\gets$ \textbf{false}&#10;\While {\textbf{not} $heap$ \textbf{and} $2*k\le size$}&#10;     \State $j\gets 2*k$&#10;     \If {$j&lt;size$}  // there are two children&#10;        \If {$H[j]&lt;H[j+1]$}&#10;           \State $j\gets j+1$&#10;        \EndIf&#10;     \EndIf&#10;     \If {$key\ge H[j]$}&#10;       \State $heap\gets$ \textbf{true}&#10;     \Else&#10;       \State $H[k]\gets H[j],\,k\gets j$&#10;     \EndIf&#10;\EndWhile&#10;\State $H[k]\gets key$&#10;\EndProcedure&#10;\end{algorithmic}&#10;\end{minipage}&#10;\end{document} "/>
  <p:tag name="IGUANATEXSIZE" val="20"/>
  <p:tag name="IGUANATEXCURSOR" val="331"/>
  <p:tag name="TRANSPARENCY" val="True"/>
  <p:tag name="LATEXENGINEID" val="0"/>
  <p:tag name="TEMPFOLDER" val="c:\temp\"/>
  <p:tag name="LATEXFORMHEIGHT" val="390"/>
  <p:tag name="LATEXFORMWIDTH" val="423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4.4469"/>
  <p:tag name="ORIGINALWIDTH" val="2136.483"/>
  <p:tag name="OUTPUTTYPE" val="PNG"/>
  <p:tag name="IGUANATEXVERSION" val="160"/>
  <p:tag name="LATEXADDIN" val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hspace*{0.4cm}&#10;\begin{minipage}{8cm}&#10;\begin{algorithmic}&#10;\Procedure{HeapBottomUp}{$H[1..n]$}&#10;\For {$i\gets \lfloor n/2\rfloor$ \textbf{downto} 1}&#10;   \State \Call{Heapify}{$H,i,n$}&#10;\EndFor&#10;\EndProcedure&#10;\end{algorithmic}&#10;\end{minipage}&#10;\end{document} "/>
  <p:tag name="IGUANATEXSIZE" val="20"/>
  <p:tag name="IGUANATEXCURSOR" val="331"/>
  <p:tag name="TRANSPARENCY" val="True"/>
  <p:tag name="LATEXENGINEID" val="0"/>
  <p:tag name="TEMPFOLDER" val="c:\temp\"/>
  <p:tag name="LATEXFORMHEIGHT" val="390"/>
  <p:tag name="LATEXFORMWIDTH" val="423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8.26"/>
  <p:tag name="ORIGINALWIDTH" val="2675.666"/>
  <p:tag name="OUTPUTTYPE" val="PNG"/>
  <p:tag name="IGUANATEXVERSION" val="160"/>
  <p:tag name="LATEXADDIN" val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hspace*{0.4cm}&#10;\begin{minipage}{8cm}&#10;\begin{algorithmic}&#10;\Procedure{Heapify}{$H[1..n],root,size$}&#10;\State $k\gets root,\,key\gets H[k]$&#10;\State $heap\gets$ \textbf{false}&#10;\While {\textbf{not} $heap$ \textbf{and} $2*k\le size$}&#10;     \State $j\gets 2*k$&#10;     \If {$j&lt;size$}  // there are two children&#10;        \If {$H[j]&lt;H[j+1]$}&#10;           \State $j\gets j+1$&#10;        \EndIf&#10;     \EndIf&#10;     \If {$key\ge H[j]$}&#10;       \State $heap\gets$ \textbf{true}&#10;     \Else&#10;       \State $H[k]\gets H[j],\,k\gets j$&#10;     \EndIf&#10;\EndWhile&#10;\State $H[k]\gets key$&#10;\EndProcedure&#10;\end{algorithmic}&#10;\end{minipage}&#10;\end{document} "/>
  <p:tag name="IGUANATEXSIZE" val="20"/>
  <p:tag name="IGUANATEXCURSOR" val="331"/>
  <p:tag name="TRANSPARENCY" val="True"/>
  <p:tag name="LATEXENGINEID" val="0"/>
  <p:tag name="TEMPFOLDER" val="c:\temp\"/>
  <p:tag name="LATEXFORMHEIGHT" val="390"/>
  <p:tag name="LATEXFORMWIDTH" val="423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20.585"/>
  <p:tag name="ORIGINALWIDTH" val="2112.486"/>
  <p:tag name="OUTPUTTYPE" val="PNG"/>
  <p:tag name="IGUANATEXVERSION" val="160"/>
  <p:tag name="LATEXADDIN" val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hspace*{0.4cm}&#10;\begin{minipage}{8cm}&#10;\begin{algorithmic}&#10;\Procedure{HeapInsert}{$H[1..n],key$}&#10;   \State $n\gets n+1,\,H[n]\gets key$&#10;   \State $child\gets n$&#10;   \State $parent\gets child/2$&#10;   \While {$parent \ge 1$ \textbf{and}\\&#10;\hspace*{1cm}$H[parent] &lt; H[child]$}&#10;       \State \Call{Swap}{$H[parent], H[child]$}&#10;       \State $child\gets parent$&#10;       \State $parent\gets child/2$&#10;   \EndWhile&#10;\EndProcedure&#10;\end{algorithmic}&#10;\end{minipage}&#10;\end{document} "/>
  <p:tag name="IGUANATEXSIZE" val="20"/>
  <p:tag name="IGUANATEXCURSOR" val="491"/>
  <p:tag name="TRANSPARENCY" val="True"/>
  <p:tag name="LATEXENGINEID" val="0"/>
  <p:tag name="TEMPFOLDER" val="c:\temp\"/>
  <p:tag name="LATEXFORMHEIGHT" val="390"/>
  <p:tag name="LATEXFORMWIDTH" val="423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9.6588"/>
  <p:tag name="ORIGINALWIDTH" val="2407.949"/>
  <p:tag name="OUTPUTTYPE" val="PNG"/>
  <p:tag name="IGUANATEXVERSION" val="160"/>
  <p:tag name="LATEXADDIN" val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begin{algorithmic}[indLines=false]&#10;\Procedure{MaxKeyDelete}{$H[1..n],size$}&#10;  \LComment{Exchange root with last key K}&#10;  \State \Call{Swap}{$H[1], H[size]$}&#10;  \State $size\gets size-1$&#10;  \State \Call{Heapify}{$H, 1, size$}&#10;\EndProcedure&#10;\end{algorithmic}&#10;\end{document} "/>
  <p:tag name="IGUANATEXSIZE" val="22"/>
  <p:tag name="IGUANATEXCURSOR" val="280"/>
  <p:tag name="TRANSPARENCY" val="True"/>
  <p:tag name="LATEXENGINEID" val="0"/>
  <p:tag name="TEMPFOLDER" val="c:\temp\"/>
  <p:tag name="LATEXFORMHEIGHT" val="390"/>
  <p:tag name="LATEXFORMWIDTH" val="423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9.6363"/>
  <p:tag name="ORIGINALWIDTH" val="1748.031"/>
  <p:tag name="OUTPUTTYPE" val="PNG"/>
  <p:tag name="IGUANATEXVERSION" val="160"/>
  <p:tag name="LATEXADDIN" val="\documentclass{article}&#10;\usepackage{amsmath,amssymb}&#10;\usepackage{enumitem}&#10;\usepackage[beginLComment=//~,endLComment=~,indLines=false]{algpseudocodex}&#10;\pagestyle{empty}&#10;\begin{document}&#10;\algrenewcommand\algorithmicprocedure{\textbf{Algorithm}}&#10;&#10;\begin{algorithmic}[indLines=false]&#10;\Procedure{Heapsort}{$H[1..n]$}&#10;  \LComment{Construct the heap}&#10;  \State \Call{HeapBottomUp}{$H[1..n]$}&#10;  \LComment{Maximum deletions}&#10;  \For {$i\gets n$ \textbf{down to} 2}&#10;      \State \Call{MaxKeyDelete}{$H,i$}&#10;  \EndFor&#10;\EndProcedure&#10;\end{algorithmic}&#10;\end{document} "/>
  <p:tag name="IGUANATEXSIZE" val="22"/>
  <p:tag name="IGUANATEXCURSOR" val="280"/>
  <p:tag name="TRANSPARENCY" val="True"/>
  <p:tag name="LATEXENGINEID" val="0"/>
  <p:tag name="TEMPFOLDER" val="c:\temp\"/>
  <p:tag name="LATEXFORMHEIGHT" val="390"/>
  <p:tag name="LATEXFORMWIDTH" val="423"/>
  <p:tag name="LATEXFORMWRAP" val="True"/>
  <p:tag name="BITMAPVECTOR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45</TotalTime>
  <Words>1639</Words>
  <Application>Microsoft Office PowerPoint</Application>
  <PresentationFormat>Widescreen</PresentationFormat>
  <Paragraphs>397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Cambria Math</vt:lpstr>
      <vt:lpstr>Century Gothic</vt:lpstr>
      <vt:lpstr>Rockwell</vt:lpstr>
      <vt:lpstr>Rockwell Condensed</vt:lpstr>
      <vt:lpstr>Times New Roman</vt:lpstr>
      <vt:lpstr>Wingdings</vt:lpstr>
      <vt:lpstr>Wood Type</vt:lpstr>
      <vt:lpstr>Chapter 5 Transform and conquer</vt:lpstr>
      <vt:lpstr>Plan</vt:lpstr>
      <vt:lpstr>1. Introduction</vt:lpstr>
      <vt:lpstr>2. Heaps</vt:lpstr>
      <vt:lpstr>2. Heaps - properties</vt:lpstr>
      <vt:lpstr>2. Heaps - properties</vt:lpstr>
      <vt:lpstr>2. Heaps - Representation</vt:lpstr>
      <vt:lpstr>2. Heaps - Representation</vt:lpstr>
      <vt:lpstr>2. Heaps – Heapify a Heap</vt:lpstr>
      <vt:lpstr>2. Heaps – Heapify a Heap</vt:lpstr>
      <vt:lpstr>2. Heaps – Heapify a Heap</vt:lpstr>
      <vt:lpstr>3. Constructing A Heap – the Algorithm</vt:lpstr>
      <vt:lpstr>3. Constructing A Heap – the efficiency</vt:lpstr>
      <vt:lpstr>3. Constructing A Heap – example: {2, 9, 7, 6, 5, 8}</vt:lpstr>
      <vt:lpstr>4. Heap Operations - Insertion </vt:lpstr>
      <vt:lpstr>4. Heap Operations - Insertion </vt:lpstr>
      <vt:lpstr>4. Heap Operations – maximum Key Deletion</vt:lpstr>
      <vt:lpstr>4. Heap Operations – maximum Key Deletion</vt:lpstr>
      <vt:lpstr>5. Heap sort </vt:lpstr>
      <vt:lpstr>4. Heap sort – Example (2, 9, 7, 6, 5, 8)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 to Analysis and design of algorithms</dc:title>
  <dc:creator>Admin</dc:creator>
  <cp:lastModifiedBy>Ali Bu Hawraa</cp:lastModifiedBy>
  <cp:revision>2</cp:revision>
  <dcterms:created xsi:type="dcterms:W3CDTF">2021-02-05T17:22:48Z</dcterms:created>
  <dcterms:modified xsi:type="dcterms:W3CDTF">2024-11-07T15:47:47Z</dcterms:modified>
</cp:coreProperties>
</file>